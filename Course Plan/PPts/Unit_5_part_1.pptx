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81"/>
  </p:notesMasterIdLst>
  <p:sldIdLst>
    <p:sldId id="256" r:id="rId2"/>
    <p:sldId id="347" r:id="rId3"/>
    <p:sldId id="348" r:id="rId4"/>
    <p:sldId id="349" r:id="rId5"/>
    <p:sldId id="350" r:id="rId6"/>
    <p:sldId id="351" r:id="rId7"/>
    <p:sldId id="352" r:id="rId8"/>
    <p:sldId id="353" r:id="rId9"/>
    <p:sldId id="354" r:id="rId10"/>
    <p:sldId id="355" r:id="rId11"/>
    <p:sldId id="356" r:id="rId12"/>
    <p:sldId id="357" r:id="rId13"/>
    <p:sldId id="358" r:id="rId14"/>
    <p:sldId id="359" r:id="rId15"/>
    <p:sldId id="360" r:id="rId16"/>
    <p:sldId id="361" r:id="rId17"/>
    <p:sldId id="362" r:id="rId18"/>
    <p:sldId id="363" r:id="rId19"/>
    <p:sldId id="364" r:id="rId20"/>
    <p:sldId id="365" r:id="rId21"/>
    <p:sldId id="366" r:id="rId22"/>
    <p:sldId id="367" r:id="rId23"/>
    <p:sldId id="368" r:id="rId24"/>
    <p:sldId id="369" r:id="rId25"/>
    <p:sldId id="370" r:id="rId26"/>
    <p:sldId id="371" r:id="rId27"/>
    <p:sldId id="372" r:id="rId28"/>
    <p:sldId id="373" r:id="rId29"/>
    <p:sldId id="429" r:id="rId30"/>
    <p:sldId id="430" r:id="rId31"/>
    <p:sldId id="431" r:id="rId32"/>
    <p:sldId id="432" r:id="rId33"/>
    <p:sldId id="433" r:id="rId34"/>
    <p:sldId id="379" r:id="rId35"/>
    <p:sldId id="380" r:id="rId36"/>
    <p:sldId id="381" r:id="rId37"/>
    <p:sldId id="382" r:id="rId38"/>
    <p:sldId id="383" r:id="rId39"/>
    <p:sldId id="384" r:id="rId40"/>
    <p:sldId id="385" r:id="rId41"/>
    <p:sldId id="386" r:id="rId42"/>
    <p:sldId id="387" r:id="rId43"/>
    <p:sldId id="388" r:id="rId44"/>
    <p:sldId id="389" r:id="rId45"/>
    <p:sldId id="396" r:id="rId46"/>
    <p:sldId id="397" r:id="rId47"/>
    <p:sldId id="398" r:id="rId48"/>
    <p:sldId id="399" r:id="rId49"/>
    <p:sldId id="400" r:id="rId50"/>
    <p:sldId id="401" r:id="rId51"/>
    <p:sldId id="402" r:id="rId52"/>
    <p:sldId id="403" r:id="rId53"/>
    <p:sldId id="404" r:id="rId54"/>
    <p:sldId id="405" r:id="rId55"/>
    <p:sldId id="434" r:id="rId56"/>
    <p:sldId id="406" r:id="rId57"/>
    <p:sldId id="407" r:id="rId58"/>
    <p:sldId id="408" r:id="rId59"/>
    <p:sldId id="409" r:id="rId60"/>
    <p:sldId id="410" r:id="rId61"/>
    <p:sldId id="411" r:id="rId62"/>
    <p:sldId id="412" r:id="rId63"/>
    <p:sldId id="413" r:id="rId64"/>
    <p:sldId id="414" r:id="rId65"/>
    <p:sldId id="415" r:id="rId66"/>
    <p:sldId id="416" r:id="rId67"/>
    <p:sldId id="417" r:id="rId68"/>
    <p:sldId id="418" r:id="rId69"/>
    <p:sldId id="419" r:id="rId70"/>
    <p:sldId id="435" r:id="rId71"/>
    <p:sldId id="420" r:id="rId72"/>
    <p:sldId id="421" r:id="rId73"/>
    <p:sldId id="422" r:id="rId74"/>
    <p:sldId id="423" r:id="rId75"/>
    <p:sldId id="424" r:id="rId76"/>
    <p:sldId id="425" r:id="rId77"/>
    <p:sldId id="426" r:id="rId78"/>
    <p:sldId id="427" r:id="rId79"/>
    <p:sldId id="428" r:id="rId8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3883" autoAdjust="0"/>
  </p:normalViewPr>
  <p:slideViewPr>
    <p:cSldViewPr>
      <p:cViewPr>
        <p:scale>
          <a:sx n="72" d="100"/>
          <a:sy n="72" d="100"/>
        </p:scale>
        <p:origin x="1120" y="-40"/>
      </p:cViewPr>
      <p:guideLst>
        <p:guide orient="horz" pos="2160"/>
        <p:guide pos="288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presProps" Target="presProps.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image" Target="../media/image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FF7174-4669-498D-ABF4-7742B93763D8}" type="datetimeFigureOut">
              <a:rPr lang="en-IN" smtClean="0"/>
              <a:t>21-04-2026</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3C6DE39-288F-47F2-BA8C-AE8BCFC7B114}" type="slidenum">
              <a:rPr lang="en-IN" smtClean="0"/>
              <a:t>‹#›</a:t>
            </a:fld>
            <a:endParaRPr lang="en-IN"/>
          </a:p>
        </p:txBody>
      </p:sp>
    </p:spTree>
    <p:extLst>
      <p:ext uri="{BB962C8B-B14F-4D97-AF65-F5344CB8AC3E}">
        <p14:creationId xmlns:p14="http://schemas.microsoft.com/office/powerpoint/2010/main" val="34912940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p:cNvSpPr>
            <a:spLocks noGrp="1" noRot="1" noChangeAspect="1" noTextEdit="1"/>
          </p:cNvSpPr>
          <p:nvPr>
            <p:ph type="sldImg"/>
          </p:nvPr>
        </p:nvSpPr>
        <p:spPr>
          <a:ln/>
        </p:spPr>
      </p:sp>
      <p:sp>
        <p:nvSpPr>
          <p:cNvPr id="46083"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46084"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A39BB8CD-9F2F-4D9C-91F2-7BE8933388C6}" type="slidenum">
              <a:rPr lang="en-US" altLang="en-US" smtClean="0">
                <a:latin typeface="Arial" panose="020B0604020202020204" pitchFamily="34" charset="0"/>
              </a:rPr>
              <a:pPr/>
              <a:t>42</a:t>
            </a:fld>
            <a:endParaRPr lang="en-US" altLang="en-US" smtClean="0">
              <a:latin typeface="Arial" panose="020B0604020202020204" pitchFamily="34" charset="0"/>
            </a:endParaRPr>
          </a:p>
        </p:txBody>
      </p:sp>
    </p:spTree>
    <p:extLst>
      <p:ext uri="{BB962C8B-B14F-4D97-AF65-F5344CB8AC3E}">
        <p14:creationId xmlns:p14="http://schemas.microsoft.com/office/powerpoint/2010/main" val="31898039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smtClean="0"/>
              <a:t>Ans</a:t>
            </a:r>
            <a:r>
              <a:rPr lang="en-US" dirty="0" smtClean="0"/>
              <a:t> D</a:t>
            </a:r>
            <a:endParaRPr lang="en-US" dirty="0"/>
          </a:p>
        </p:txBody>
      </p:sp>
      <p:sp>
        <p:nvSpPr>
          <p:cNvPr id="4" name="Slide Number Placeholder 3"/>
          <p:cNvSpPr>
            <a:spLocks noGrp="1"/>
          </p:cNvSpPr>
          <p:nvPr>
            <p:ph type="sldNum" sz="quarter" idx="10"/>
          </p:nvPr>
        </p:nvSpPr>
        <p:spPr/>
        <p:txBody>
          <a:bodyPr/>
          <a:lstStyle/>
          <a:p>
            <a:fld id="{5ED033D8-1DB7-4E34-8C6A-A80AF3BD44F7}" type="slidenum">
              <a:rPr lang="en-US" smtClean="0"/>
              <a:t>67</a:t>
            </a:fld>
            <a:endParaRPr lang="en-US"/>
          </a:p>
        </p:txBody>
      </p:sp>
    </p:spTree>
    <p:extLst>
      <p:ext uri="{BB962C8B-B14F-4D97-AF65-F5344CB8AC3E}">
        <p14:creationId xmlns:p14="http://schemas.microsoft.com/office/powerpoint/2010/main" val="13351525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01646</a:t>
            </a:r>
            <a:r>
              <a:rPr lang="en-US" baseline="0" dirty="0" smtClean="0"/>
              <a:t> </a:t>
            </a:r>
            <a:r>
              <a:rPr lang="en-US" baseline="0" dirty="0" err="1" smtClean="0"/>
              <a:t>Ans</a:t>
            </a:r>
            <a:endParaRPr lang="en-US" dirty="0"/>
          </a:p>
        </p:txBody>
      </p:sp>
      <p:sp>
        <p:nvSpPr>
          <p:cNvPr id="4" name="Slide Number Placeholder 3"/>
          <p:cNvSpPr>
            <a:spLocks noGrp="1"/>
          </p:cNvSpPr>
          <p:nvPr>
            <p:ph type="sldNum" sz="quarter" idx="10"/>
          </p:nvPr>
        </p:nvSpPr>
        <p:spPr/>
        <p:txBody>
          <a:bodyPr/>
          <a:lstStyle/>
          <a:p>
            <a:fld id="{13C6DE39-288F-47F2-BA8C-AE8BCFC7B114}" type="slidenum">
              <a:rPr lang="en-IN" smtClean="0"/>
              <a:t>70</a:t>
            </a:fld>
            <a:endParaRPr lang="en-IN"/>
          </a:p>
        </p:txBody>
      </p:sp>
    </p:spTree>
    <p:extLst>
      <p:ext uri="{BB962C8B-B14F-4D97-AF65-F5344CB8AC3E}">
        <p14:creationId xmlns:p14="http://schemas.microsoft.com/office/powerpoint/2010/main" val="14681423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smtClean="0"/>
              <a:t>Ans</a:t>
            </a:r>
            <a:r>
              <a:rPr lang="en-US" dirty="0" smtClean="0"/>
              <a:t> C</a:t>
            </a:r>
            <a:endParaRPr lang="en-US" dirty="0"/>
          </a:p>
        </p:txBody>
      </p:sp>
      <p:sp>
        <p:nvSpPr>
          <p:cNvPr id="4" name="Slide Number Placeholder 3"/>
          <p:cNvSpPr>
            <a:spLocks noGrp="1"/>
          </p:cNvSpPr>
          <p:nvPr>
            <p:ph type="sldNum" sz="quarter" idx="10"/>
          </p:nvPr>
        </p:nvSpPr>
        <p:spPr/>
        <p:txBody>
          <a:bodyPr/>
          <a:lstStyle/>
          <a:p>
            <a:fld id="{5ED033D8-1DB7-4E34-8C6A-A80AF3BD44F7}" type="slidenum">
              <a:rPr lang="en-US" smtClean="0"/>
              <a:t>75</a:t>
            </a:fld>
            <a:endParaRPr lang="en-US"/>
          </a:p>
        </p:txBody>
      </p:sp>
    </p:spTree>
    <p:extLst>
      <p:ext uri="{BB962C8B-B14F-4D97-AF65-F5344CB8AC3E}">
        <p14:creationId xmlns:p14="http://schemas.microsoft.com/office/powerpoint/2010/main" val="10761393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8" name="Title 7"/>
          <p:cNvSpPr>
            <a:spLocks noGrp="1"/>
          </p:cNvSpPr>
          <p:nvPr>
            <p:ph type="ctrTitle"/>
          </p:nvPr>
        </p:nvSpPr>
        <p:spPr>
          <a:xfrm>
            <a:off x="2286000" y="3124200"/>
            <a:ext cx="6172200" cy="1894362"/>
          </a:xfrm>
        </p:spPr>
        <p:txBody>
          <a:bodyPr/>
          <a:lstStyle>
            <a:lvl1pPr>
              <a:defRPr b="1"/>
            </a:lvl1pPr>
          </a:lstStyle>
          <a:p>
            <a:r>
              <a:rPr kumimoji="0" lang="en-US"/>
              <a:t>Click to edit Master title style</a:t>
            </a:r>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bwMode="auto">
          <a:xfrm rot="5400000">
            <a:off x="7764621" y="1174097"/>
            <a:ext cx="2286000" cy="381000"/>
          </a:xfrm>
        </p:spPr>
        <p:txBody>
          <a:bodyPr/>
          <a:lstStyle/>
          <a:p>
            <a:fld id="{E7577929-AE19-4616-9215-540172FCC40F}" type="datetimeFigureOut">
              <a:rPr lang="en-US" smtClean="0"/>
              <a:t>4/21/2026</a:t>
            </a:fld>
            <a:endParaRPr lang="en-US"/>
          </a:p>
        </p:txBody>
      </p:sp>
      <p:sp>
        <p:nvSpPr>
          <p:cNvPr id="17" name="Footer Placeholder 16"/>
          <p:cNvSpPr>
            <a:spLocks noGrp="1"/>
          </p:cNvSpPr>
          <p:nvPr>
            <p:ph type="ftr" sz="quarter" idx="11"/>
          </p:nvPr>
        </p:nvSpPr>
        <p:spPr bwMode="auto">
          <a:xfrm rot="5400000">
            <a:off x="7077269" y="4181669"/>
            <a:ext cx="3657600" cy="384048"/>
          </a:xfrm>
        </p:spPr>
        <p:txBody>
          <a:bodyPr/>
          <a:lstStyle/>
          <a:p>
            <a:endParaRPr lang="en-US"/>
          </a:p>
        </p:txBody>
      </p:sp>
      <p:sp>
        <p:nvSpPr>
          <p:cNvPr id="10" name="Rectangle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Rectangle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Straight Connector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Straight Connector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Straight Connector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Rectangle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Oval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Oval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Oval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Slide Number Placeholder 28"/>
          <p:cNvSpPr>
            <a:spLocks noGrp="1"/>
          </p:cNvSpPr>
          <p:nvPr>
            <p:ph type="sldNum" sz="quarter" idx="12"/>
          </p:nvPr>
        </p:nvSpPr>
        <p:spPr bwMode="auto">
          <a:xfrm>
            <a:off x="1325544" y="4928702"/>
            <a:ext cx="609600" cy="517524"/>
          </a:xfrm>
        </p:spPr>
        <p:txBody>
          <a:bodyPr/>
          <a:lstStyle/>
          <a:p>
            <a:fld id="{472D444A-3CF8-4237-9BE3-778DFCA50DBB}"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8" name="Content Placeholder 7"/>
          <p:cNvSpPr>
            <a:spLocks noGrp="1"/>
          </p:cNvSpPr>
          <p:nvPr>
            <p:ph sz="quarter" idx="1"/>
          </p:nvPr>
        </p:nvSpPr>
        <p:spPr>
          <a:xfrm>
            <a:off x="457200" y="1600200"/>
            <a:ext cx="7467600" cy="4873752"/>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4"/>
          </p:nvPr>
        </p:nvSpPr>
        <p:spPr/>
        <p:txBody>
          <a:bodyPr rtlCol="0"/>
          <a:lstStyle/>
          <a:p>
            <a:fld id="{E7577929-AE19-4616-9215-540172FCC40F}" type="datetimeFigureOut">
              <a:rPr lang="en-US" smtClean="0"/>
              <a:t>4/21/2026</a:t>
            </a:fld>
            <a:endParaRPr lang="en-US"/>
          </a:p>
        </p:txBody>
      </p:sp>
      <p:sp>
        <p:nvSpPr>
          <p:cNvPr id="9" name="Slide Number Placeholder 8"/>
          <p:cNvSpPr>
            <a:spLocks noGrp="1"/>
          </p:cNvSpPr>
          <p:nvPr>
            <p:ph type="sldNum" sz="quarter" idx="15"/>
          </p:nvPr>
        </p:nvSpPr>
        <p:spPr/>
        <p:txBody>
          <a:bodyPr rtlCol="0"/>
          <a:lstStyle/>
          <a:p>
            <a:fld id="{472D444A-3CF8-4237-9BE3-778DFCA50DBB}" type="slidenum">
              <a:rPr lang="en-US" smtClean="0"/>
              <a:t>‹#›</a:t>
            </a:fld>
            <a:endParaRPr lang="en-US"/>
          </a:p>
        </p:txBody>
      </p:sp>
      <p:sp>
        <p:nvSpPr>
          <p:cNvPr id="10" name="Footer Placeholder 9"/>
          <p:cNvSpPr>
            <a:spLocks noGrp="1"/>
          </p:cNvSpPr>
          <p:nvPr>
            <p:ph type="ftr" sz="quarter" idx="16"/>
          </p:nvPr>
        </p:nvSpPr>
        <p:spPr/>
        <p:txBody>
          <a:bodyPr rtlCol="0"/>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kumimoji="0" lang="en-US"/>
              <a:t>Click to edit Master title style</a:t>
            </a:r>
          </a:p>
        </p:txBody>
      </p:sp>
      <p:sp>
        <p:nvSpPr>
          <p:cNvPr id="3" name="Text Placeholder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bwMode="auto">
          <a:xfrm rot="5400000">
            <a:off x="7763256" y="1170432"/>
            <a:ext cx="2286000" cy="381000"/>
          </a:xfrm>
        </p:spPr>
        <p:txBody>
          <a:bodyPr/>
          <a:lstStyle/>
          <a:p>
            <a:fld id="{E7577929-AE19-4616-9215-540172FCC40F}" type="datetimeFigureOut">
              <a:rPr lang="en-US" smtClean="0"/>
              <a:t>4/21/2026</a:t>
            </a:fld>
            <a:endParaRPr lang="en-US"/>
          </a:p>
        </p:txBody>
      </p:sp>
      <p:sp>
        <p:nvSpPr>
          <p:cNvPr id="5" name="Footer Placeholder 4"/>
          <p:cNvSpPr>
            <a:spLocks noGrp="1"/>
          </p:cNvSpPr>
          <p:nvPr>
            <p:ph type="ftr" sz="quarter" idx="11"/>
          </p:nvPr>
        </p:nvSpPr>
        <p:spPr bwMode="auto">
          <a:xfrm rot="5400000">
            <a:off x="7077456" y="4178808"/>
            <a:ext cx="3657600" cy="384048"/>
          </a:xfrm>
        </p:spPr>
        <p:txBody>
          <a:bodyPr/>
          <a:lstStyle/>
          <a:p>
            <a:endParaRPr lang="en-US"/>
          </a:p>
        </p:txBody>
      </p:sp>
      <p:sp>
        <p:nvSpPr>
          <p:cNvPr id="9" name="Rectangle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Straight Connector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Straight Connector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Rectangle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Oval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Oval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Oval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Straight Connector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Slide Number Placeholder 5"/>
          <p:cNvSpPr>
            <a:spLocks noGrp="1"/>
          </p:cNvSpPr>
          <p:nvPr>
            <p:ph type="sldNum" sz="quarter" idx="12"/>
          </p:nvPr>
        </p:nvSpPr>
        <p:spPr bwMode="auto">
          <a:xfrm>
            <a:off x="1340616" y="4928702"/>
            <a:ext cx="609600" cy="517524"/>
          </a:xfrm>
        </p:spPr>
        <p:txBody>
          <a:bodyPr/>
          <a:lstStyle/>
          <a:p>
            <a:fld id="{472D444A-3CF8-4237-9BE3-778DFCA50DBB}"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E7577929-AE19-4616-9215-540172FCC40F}" type="datetimeFigureOut">
              <a:rPr lang="en-US" smtClean="0"/>
              <a:t>4/21/2026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2D444A-3CF8-4237-9BE3-778DFCA50DBB}" type="slidenum">
              <a:rPr lang="en-US" smtClean="0"/>
              <a:t>‹#›</a:t>
            </a:fld>
            <a:endParaRPr lang="en-US"/>
          </a:p>
        </p:txBody>
      </p:sp>
      <p:sp>
        <p:nvSpPr>
          <p:cNvPr id="9" name="Content Placeholder 8"/>
          <p:cNvSpPr>
            <a:spLocks noGrp="1"/>
          </p:cNvSpPr>
          <p:nvPr>
            <p:ph sz="quarter" idx="1"/>
          </p:nvPr>
        </p:nvSpPr>
        <p:spPr>
          <a:xfrm>
            <a:off x="457200" y="1600200"/>
            <a:ext cx="36576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270248" y="1600200"/>
            <a:ext cx="36576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nchor="b"/>
          <a:lstStyle>
            <a:lvl1pPr>
              <a:defRPr/>
            </a:lvl1pPr>
          </a:lstStyle>
          <a:p>
            <a:r>
              <a:rPr kumimoji="0" lang="en-US"/>
              <a:t>Click to edit Master title style</a:t>
            </a:r>
          </a:p>
        </p:txBody>
      </p:sp>
      <p:sp>
        <p:nvSpPr>
          <p:cNvPr id="7" name="Date Placeholder 6"/>
          <p:cNvSpPr>
            <a:spLocks noGrp="1"/>
          </p:cNvSpPr>
          <p:nvPr>
            <p:ph type="dt" sz="half" idx="10"/>
          </p:nvPr>
        </p:nvSpPr>
        <p:spPr/>
        <p:txBody>
          <a:bodyPr/>
          <a:lstStyle/>
          <a:p>
            <a:fld id="{E7577929-AE19-4616-9215-540172FCC40F}" type="datetimeFigureOut">
              <a:rPr lang="en-US" smtClean="0"/>
              <a:t>4/21/2026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72D444A-3CF8-4237-9BE3-778DFCA50DBB}" type="slidenum">
              <a:rPr lang="en-US" smtClean="0"/>
              <a:t>‹#›</a:t>
            </a:fld>
            <a:endParaRPr lang="en-US"/>
          </a:p>
        </p:txBody>
      </p:sp>
      <p:sp>
        <p:nvSpPr>
          <p:cNvPr id="11" name="Content Placeholder 10"/>
          <p:cNvSpPr>
            <a:spLocks noGrp="1"/>
          </p:cNvSpPr>
          <p:nvPr>
            <p:ph sz="quarter" idx="2"/>
          </p:nvPr>
        </p:nvSpPr>
        <p:spPr>
          <a:xfrm>
            <a:off x="457200" y="2362200"/>
            <a:ext cx="3657600" cy="3886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371975" y="2362200"/>
            <a:ext cx="3657600" cy="3886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6" name="Date Placeholder 5"/>
          <p:cNvSpPr>
            <a:spLocks noGrp="1"/>
          </p:cNvSpPr>
          <p:nvPr>
            <p:ph type="dt" sz="half" idx="10"/>
          </p:nvPr>
        </p:nvSpPr>
        <p:spPr/>
        <p:txBody>
          <a:bodyPr rtlCol="0"/>
          <a:lstStyle/>
          <a:p>
            <a:fld id="{E7577929-AE19-4616-9215-540172FCC40F}" type="datetimeFigureOut">
              <a:rPr lang="en-US" smtClean="0"/>
              <a:t>4/21/2026</a:t>
            </a:fld>
            <a:endParaRPr lang="en-US"/>
          </a:p>
        </p:txBody>
      </p:sp>
      <p:sp>
        <p:nvSpPr>
          <p:cNvPr id="7" name="Slide Number Placeholder 6"/>
          <p:cNvSpPr>
            <a:spLocks noGrp="1"/>
          </p:cNvSpPr>
          <p:nvPr>
            <p:ph type="sldNum" sz="quarter" idx="11"/>
          </p:nvPr>
        </p:nvSpPr>
        <p:spPr/>
        <p:txBody>
          <a:bodyPr rtlCol="0"/>
          <a:lstStyle/>
          <a:p>
            <a:fld id="{472D444A-3CF8-4237-9BE3-778DFCA50DBB}" type="slidenum">
              <a:rPr lang="en-US" smtClean="0"/>
              <a:t>‹#›</a:t>
            </a:fld>
            <a:endParaRPr lang="en-US"/>
          </a:p>
        </p:txBody>
      </p:sp>
      <p:sp>
        <p:nvSpPr>
          <p:cNvPr id="8" name="Footer Placeholder 7"/>
          <p:cNvSpPr>
            <a:spLocks noGrp="1"/>
          </p:cNvSpPr>
          <p:nvPr>
            <p:ph type="ftr" sz="quarter" idx="12"/>
          </p:nvPr>
        </p:nvSpPr>
        <p:spPr/>
        <p:txBody>
          <a:bodyPr rtlCol="0"/>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7577929-AE19-4616-9215-540172FCC40F}" type="datetimeFigureOut">
              <a:rPr lang="en-US" smtClean="0"/>
              <a:t>4/21/2026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72D444A-3CF8-4237-9BE3-778DFCA50DB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n-US"/>
              <a:t>Click to edit Master title style</a:t>
            </a:r>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8" name="Straight Connector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Straight Connector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Straight Connector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Rectangle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Oval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Content Placeholder 17"/>
          <p:cNvSpPr>
            <a:spLocks noGrp="1"/>
          </p:cNvSpPr>
          <p:nvPr>
            <p:ph sz="quarter" idx="1"/>
          </p:nvPr>
        </p:nvSpPr>
        <p:spPr>
          <a:xfrm>
            <a:off x="304800" y="274320"/>
            <a:ext cx="5638800" cy="6327648"/>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1" name="Date Placeholder 20"/>
          <p:cNvSpPr>
            <a:spLocks noGrp="1"/>
          </p:cNvSpPr>
          <p:nvPr>
            <p:ph type="dt" sz="half" idx="14"/>
          </p:nvPr>
        </p:nvSpPr>
        <p:spPr/>
        <p:txBody>
          <a:bodyPr rtlCol="0"/>
          <a:lstStyle/>
          <a:p>
            <a:fld id="{E7577929-AE19-4616-9215-540172FCC40F}" type="datetimeFigureOut">
              <a:rPr lang="en-US" smtClean="0"/>
              <a:t>4/21/2026</a:t>
            </a:fld>
            <a:endParaRPr lang="en-US"/>
          </a:p>
        </p:txBody>
      </p:sp>
      <p:sp>
        <p:nvSpPr>
          <p:cNvPr id="22" name="Slide Number Placeholder 21"/>
          <p:cNvSpPr>
            <a:spLocks noGrp="1"/>
          </p:cNvSpPr>
          <p:nvPr>
            <p:ph type="sldNum" sz="quarter" idx="15"/>
          </p:nvPr>
        </p:nvSpPr>
        <p:spPr/>
        <p:txBody>
          <a:bodyPr rtlCol="0"/>
          <a:lstStyle/>
          <a:p>
            <a:fld id="{472D444A-3CF8-4237-9BE3-778DFCA50DBB}" type="slidenum">
              <a:rPr lang="en-US" smtClean="0"/>
              <a:t>‹#›</a:t>
            </a:fld>
            <a:endParaRPr lang="en-US"/>
          </a:p>
        </p:txBody>
      </p:sp>
      <p:sp>
        <p:nvSpPr>
          <p:cNvPr id="23" name="Footer Placeholder 22"/>
          <p:cNvSpPr>
            <a:spLocks noGrp="1"/>
          </p:cNvSpPr>
          <p:nvPr>
            <p:ph type="ftr" sz="quarter" idx="16"/>
          </p:nvPr>
        </p:nvSpPr>
        <p:spPr/>
        <p:txBody>
          <a:bodyPr rtlCol="0"/>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Oval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rot="5400000">
            <a:off x="3350133" y="3200400"/>
            <a:ext cx="6309360" cy="457200"/>
          </a:xfrm>
        </p:spPr>
        <p:txBody>
          <a:bodyPr anchor="b"/>
          <a:lstStyle>
            <a:lvl1pPr algn="l">
              <a:buNone/>
              <a:defRPr sz="2000" b="1"/>
            </a:lvl1pPr>
          </a:lstStyle>
          <a:p>
            <a:r>
              <a:rPr kumimoji="0" lang="en-US"/>
              <a:t>Click to edit Master title style</a:t>
            </a:r>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a:t>Click icon to add picture</a:t>
            </a:r>
            <a:endParaRPr kumimoji="0" lang="en-US" dirty="0"/>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10" name="Straight Connector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Rectangle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Straight Connector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Straight Connector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Straight Connector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Date Placeholder 16"/>
          <p:cNvSpPr>
            <a:spLocks noGrp="1"/>
          </p:cNvSpPr>
          <p:nvPr>
            <p:ph type="dt" sz="half" idx="10"/>
          </p:nvPr>
        </p:nvSpPr>
        <p:spPr/>
        <p:txBody>
          <a:bodyPr rtlCol="0"/>
          <a:lstStyle/>
          <a:p>
            <a:fld id="{E7577929-AE19-4616-9215-540172FCC40F}" type="datetimeFigureOut">
              <a:rPr lang="en-US" smtClean="0"/>
              <a:t>4/21/2026</a:t>
            </a:fld>
            <a:endParaRPr lang="en-US"/>
          </a:p>
        </p:txBody>
      </p:sp>
      <p:sp>
        <p:nvSpPr>
          <p:cNvPr id="18" name="Slide Number Placeholder 17"/>
          <p:cNvSpPr>
            <a:spLocks noGrp="1"/>
          </p:cNvSpPr>
          <p:nvPr>
            <p:ph type="sldNum" sz="quarter" idx="11"/>
          </p:nvPr>
        </p:nvSpPr>
        <p:spPr/>
        <p:txBody>
          <a:bodyPr rtlCol="0"/>
          <a:lstStyle/>
          <a:p>
            <a:fld id="{472D444A-3CF8-4237-9BE3-778DFCA50DBB}" type="slidenum">
              <a:rPr lang="en-US" smtClean="0"/>
              <a:t>‹#›</a:t>
            </a:fld>
            <a:endParaRPr lang="en-US"/>
          </a:p>
        </p:txBody>
      </p:sp>
      <p:sp>
        <p:nvSpPr>
          <p:cNvPr id="21" name="Footer Placeholder 20"/>
          <p:cNvSpPr>
            <a:spLocks noGrp="1"/>
          </p:cNvSpPr>
          <p:nvPr>
            <p:ph type="ftr" sz="quarter" idx="12"/>
          </p:nvPr>
        </p:nvSpPr>
        <p:spPr/>
        <p:txBody>
          <a:bodyPr rtlCol="0"/>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E7577929-AE19-4616-9215-540172FCC40F}"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2D444A-3CF8-4237-9BE3-778DFCA50DB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E7577929-AE19-4616-9215-540172FCC40F}"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2D444A-3CF8-4237-9BE3-778DFCA50DBB}"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150938" y="214313"/>
            <a:ext cx="7793037" cy="1462087"/>
          </a:xfrm>
        </p:spPr>
        <p:txBody>
          <a:bodyPr/>
          <a:lstStyle/>
          <a:p>
            <a:r>
              <a:rPr lang="en-US"/>
              <a:t>Click to edit Master title style</a:t>
            </a:r>
            <a:endParaRPr lang="en-IN"/>
          </a:p>
        </p:txBody>
      </p:sp>
      <p:sp>
        <p:nvSpPr>
          <p:cNvPr id="3" name="Text Placeholder 2"/>
          <p:cNvSpPr>
            <a:spLocks noGrp="1"/>
          </p:cNvSpPr>
          <p:nvPr>
            <p:ph type="body" sz="half" idx="1"/>
          </p:nvPr>
        </p:nvSpPr>
        <p:spPr>
          <a:xfrm>
            <a:off x="1182688" y="2017713"/>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5145088" y="2017713"/>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3"/>
          <p:cNvSpPr>
            <a:spLocks noGrp="1"/>
          </p:cNvSpPr>
          <p:nvPr>
            <p:ph type="dt" sz="half" idx="10"/>
          </p:nvPr>
        </p:nvSpPr>
        <p:spPr/>
        <p:txBody>
          <a:bodyPr/>
          <a:lstStyle>
            <a:lvl1pPr>
              <a:defRPr/>
            </a:lvl1pPr>
          </a:lstStyle>
          <a:p>
            <a:pPr>
              <a:defRPr/>
            </a:pPr>
            <a:endParaRPr lang="en-US" altLang="en-US"/>
          </a:p>
        </p:txBody>
      </p:sp>
      <p:sp>
        <p:nvSpPr>
          <p:cNvPr id="6" name="Footer Placeholder 4"/>
          <p:cNvSpPr>
            <a:spLocks noGrp="1"/>
          </p:cNvSpPr>
          <p:nvPr>
            <p:ph type="ftr" sz="quarter" idx="11"/>
          </p:nvPr>
        </p:nvSpPr>
        <p:spPr/>
        <p:txBody>
          <a:bodyPr/>
          <a:lstStyle>
            <a:lvl1pPr>
              <a:defRPr/>
            </a:lvl1pPr>
          </a:lstStyle>
          <a:p>
            <a:pPr>
              <a:defRPr/>
            </a:pPr>
            <a:endParaRPr lang="en-US" altLang="en-US"/>
          </a:p>
        </p:txBody>
      </p:sp>
      <p:sp>
        <p:nvSpPr>
          <p:cNvPr id="7" name="Slide Number Placeholder 5"/>
          <p:cNvSpPr>
            <a:spLocks noGrp="1"/>
          </p:cNvSpPr>
          <p:nvPr>
            <p:ph type="sldNum" sz="quarter" idx="12"/>
          </p:nvPr>
        </p:nvSpPr>
        <p:spPr/>
        <p:txBody>
          <a:bodyPr/>
          <a:lstStyle>
            <a:lvl1pPr>
              <a:defRPr/>
            </a:lvl1pPr>
          </a:lstStyle>
          <a:p>
            <a:pPr>
              <a:defRPr/>
            </a:pPr>
            <a:fld id="{6B191947-471F-41A1-8746-EF06FDDC2895}" type="slidenum">
              <a:rPr lang="en-US" altLang="en-US"/>
              <a:pPr>
                <a:defRPr/>
              </a:pPr>
              <a:t>‹#›</a:t>
            </a:fld>
            <a:endParaRPr lang="en-US" altLang="en-US"/>
          </a:p>
        </p:txBody>
      </p:sp>
    </p:spTree>
    <p:extLst>
      <p:ext uri="{BB962C8B-B14F-4D97-AF65-F5344CB8AC3E}">
        <p14:creationId xmlns:p14="http://schemas.microsoft.com/office/powerpoint/2010/main" val="35163007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1150938" y="214313"/>
            <a:ext cx="7793037" cy="1462087"/>
          </a:xfrm>
        </p:spPr>
        <p:txBody>
          <a:bodyPr/>
          <a:lstStyle/>
          <a:p>
            <a:r>
              <a:rPr lang="en-US"/>
              <a:t>Click to edit Master title style</a:t>
            </a:r>
            <a:endParaRPr lang="en-IN"/>
          </a:p>
        </p:txBody>
      </p:sp>
      <p:sp>
        <p:nvSpPr>
          <p:cNvPr id="3" name="Text Placeholder 2"/>
          <p:cNvSpPr>
            <a:spLocks noGrp="1"/>
          </p:cNvSpPr>
          <p:nvPr>
            <p:ph type="body" sz="half" idx="1"/>
          </p:nvPr>
        </p:nvSpPr>
        <p:spPr>
          <a:xfrm>
            <a:off x="1182688" y="2017713"/>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quarter" idx="2"/>
          </p:nvPr>
        </p:nvSpPr>
        <p:spPr>
          <a:xfrm>
            <a:off x="5145088" y="2017713"/>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Content Placeholder 4"/>
          <p:cNvSpPr>
            <a:spLocks noGrp="1"/>
          </p:cNvSpPr>
          <p:nvPr>
            <p:ph sz="quarter" idx="3"/>
          </p:nvPr>
        </p:nvSpPr>
        <p:spPr>
          <a:xfrm>
            <a:off x="5145088" y="4151313"/>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Date Placeholder 3"/>
          <p:cNvSpPr>
            <a:spLocks noGrp="1"/>
          </p:cNvSpPr>
          <p:nvPr>
            <p:ph type="dt" sz="half" idx="10"/>
          </p:nvPr>
        </p:nvSpPr>
        <p:spPr/>
        <p:txBody>
          <a:bodyPr/>
          <a:lstStyle>
            <a:lvl1pPr>
              <a:defRPr/>
            </a:lvl1pPr>
          </a:lstStyle>
          <a:p>
            <a:pPr>
              <a:defRPr/>
            </a:pPr>
            <a:endParaRPr lang="en-US" altLang="en-US"/>
          </a:p>
        </p:txBody>
      </p:sp>
      <p:sp>
        <p:nvSpPr>
          <p:cNvPr id="7" name="Footer Placeholder 4"/>
          <p:cNvSpPr>
            <a:spLocks noGrp="1"/>
          </p:cNvSpPr>
          <p:nvPr>
            <p:ph type="ftr" sz="quarter" idx="11"/>
          </p:nvPr>
        </p:nvSpPr>
        <p:spPr/>
        <p:txBody>
          <a:bodyPr/>
          <a:lstStyle>
            <a:lvl1pPr>
              <a:defRPr/>
            </a:lvl1pPr>
          </a:lstStyle>
          <a:p>
            <a:pPr>
              <a:defRPr/>
            </a:pPr>
            <a:endParaRPr lang="en-US" altLang="en-US"/>
          </a:p>
        </p:txBody>
      </p:sp>
      <p:sp>
        <p:nvSpPr>
          <p:cNvPr id="8" name="Slide Number Placeholder 5"/>
          <p:cNvSpPr>
            <a:spLocks noGrp="1"/>
          </p:cNvSpPr>
          <p:nvPr>
            <p:ph type="sldNum" sz="quarter" idx="12"/>
          </p:nvPr>
        </p:nvSpPr>
        <p:spPr/>
        <p:txBody>
          <a:bodyPr/>
          <a:lstStyle>
            <a:lvl1pPr>
              <a:defRPr/>
            </a:lvl1pPr>
          </a:lstStyle>
          <a:p>
            <a:pPr>
              <a:defRPr/>
            </a:pPr>
            <a:fld id="{B1F6450B-9067-46C9-9529-737739862281}" type="slidenum">
              <a:rPr lang="en-US" altLang="en-US"/>
              <a:pPr>
                <a:defRPr/>
              </a:pPr>
              <a:t>‹#›</a:t>
            </a:fld>
            <a:endParaRPr lang="en-US" altLang="en-US"/>
          </a:p>
        </p:txBody>
      </p:sp>
    </p:spTree>
    <p:extLst>
      <p:ext uri="{BB962C8B-B14F-4D97-AF65-F5344CB8AC3E}">
        <p14:creationId xmlns:p14="http://schemas.microsoft.com/office/powerpoint/2010/main" val="35566914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Title Placeholder 21"/>
          <p:cNvSpPr>
            <a:spLocks noGrp="1"/>
          </p:cNvSpPr>
          <p:nvPr>
            <p:ph type="title"/>
          </p:nvPr>
        </p:nvSpPr>
        <p:spPr>
          <a:xfrm>
            <a:off x="457200" y="274638"/>
            <a:ext cx="7467600" cy="1143000"/>
          </a:xfrm>
          <a:prstGeom prst="rect">
            <a:avLst/>
          </a:prstGeom>
        </p:spPr>
        <p:txBody>
          <a:bodyPr vert="horz" anchor="b">
            <a:normAutofit/>
          </a:bodyPr>
          <a:lstStyle/>
          <a:p>
            <a:r>
              <a:rPr kumimoji="0" lang="en-US"/>
              <a:t>Click to edit Master title style</a:t>
            </a:r>
          </a:p>
        </p:txBody>
      </p:sp>
      <p:sp>
        <p:nvSpPr>
          <p:cNvPr id="13" name="Text Placeholder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E7577929-AE19-4616-9215-540172FCC40F}" type="datetimeFigureOut">
              <a:rPr lang="en-US" smtClean="0"/>
              <a:t>4/21/2026</a:t>
            </a:fld>
            <a:endParaRPr lang="en-US"/>
          </a:p>
        </p:txBody>
      </p:sp>
      <p:sp>
        <p:nvSpPr>
          <p:cNvPr id="3" name="Footer Placeholder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en-US"/>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Straight Connector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Oval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472D444A-3CF8-4237-9BE3-778DFCA50DB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hyperlink" Target="http://en.wikipedia.org/wiki/Edge"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2.xml"/><Relationship Id="rId1" Type="http://schemas.openxmlformats.org/officeDocument/2006/relationships/vmlDrawing" Target="../drawings/vmlDrawing1.vml"/><Relationship Id="rId4" Type="http://schemas.openxmlformats.org/officeDocument/2006/relationships/image" Target="../media/image4.wm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3.xml"/><Relationship Id="rId1" Type="http://schemas.openxmlformats.org/officeDocument/2006/relationships/vmlDrawing" Target="../drawings/vmlDrawing2.vml"/><Relationship Id="rId6" Type="http://schemas.openxmlformats.org/officeDocument/2006/relationships/image" Target="../media/image6.wmf"/><Relationship Id="rId5" Type="http://schemas.openxmlformats.org/officeDocument/2006/relationships/oleObject" Target="../embeddings/oleObject3.bin"/><Relationship Id="rId4" Type="http://schemas.openxmlformats.org/officeDocument/2006/relationships/image" Target="../media/image5.wmf"/></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hyperlink" Target="https://www.geeksforgeeks.org/check-if-a-graph-is-strongly-unilaterally-or-weakly-connected/"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hyperlink" Target="https://www.geeksforgeeks.org/prims-minimum-spanning-tree-mst-greedy-algo-5/" TargetMode="External"/><Relationship Id="rId2" Type="http://schemas.openxmlformats.org/officeDocument/2006/relationships/hyperlink" Target="https://www.geeksforgeeks.org/kruskals-minimum-spanning-tree-algorithm-greedy-algo-2/" TargetMode="Externa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hyperlink" Target="https://www.geeksforgeeks.org/prims-minimum-spanning-tree-mst-greedy-algo-5/" TargetMode="Externa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hyperlink" Target="https://www.freecodecamp.org/news/dijkstras-shortest-path-algorithm-visual-introduction/" TargetMode="External"/><Relationship Id="rId2" Type="http://schemas.openxmlformats.org/officeDocument/2006/relationships/hyperlink" Target="https://www.geeksforgeeks.org/dijkstras-shortest-path-algorithm-greedy-algo-7/" TargetMode="Externa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hyperlink" Target="https://www.geeksforgeeks.org/graph-and-its-representations/" TargetMode="Externa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hyperlink" Target="https://www.geeksforgeeks.org/gate-gate-cs-2012-question-40/"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8" Type="http://schemas.openxmlformats.org/officeDocument/2006/relationships/hyperlink" Target="https://www.geeksforgeeks.org/dynamic-programming/" TargetMode="External"/><Relationship Id="rId3" Type="http://schemas.openxmlformats.org/officeDocument/2006/relationships/hyperlink" Target="https://www.geeksforgeeks.org/bfs-disconnected-graph/" TargetMode="External"/><Relationship Id="rId7" Type="http://schemas.openxmlformats.org/officeDocument/2006/relationships/hyperlink" Target="https://www.geeksforgeeks.org/dijkstras-shortest-path-algorithm-greedy-algo-7/" TargetMode="External"/><Relationship Id="rId2" Type="http://schemas.openxmlformats.org/officeDocument/2006/relationships/hyperlink" Target="https://www.geeksforgeeks.org/bellman-ford-algorithm-dp-23/" TargetMode="External"/><Relationship Id="rId1" Type="http://schemas.openxmlformats.org/officeDocument/2006/relationships/slideLayout" Target="../slideLayouts/slideLayout2.xml"/><Relationship Id="rId6" Type="http://schemas.openxmlformats.org/officeDocument/2006/relationships/hyperlink" Target="https://www.geeksforgeeks.org/kruskals-minimum-spanning-tree-algorithm-greedy-algo-2/" TargetMode="External"/><Relationship Id="rId5" Type="http://schemas.openxmlformats.org/officeDocument/2006/relationships/hyperlink" Target="https://www.geeksforgeeks.org/prims-minimum-spanning-tree-mst-greedy-algo-5/" TargetMode="External"/><Relationship Id="rId10" Type="http://schemas.openxmlformats.org/officeDocument/2006/relationships/hyperlink" Target="https://www.geeksforgeeks.org/floyd-warshall-algorithm-dp-16/" TargetMode="External"/><Relationship Id="rId4" Type="http://schemas.openxmlformats.org/officeDocument/2006/relationships/hyperlink" Target="https://www.geeksforgeeks.org/greedy-algorithms/" TargetMode="External"/><Relationship Id="rId9" Type="http://schemas.openxmlformats.org/officeDocument/2006/relationships/hyperlink" Target="https://www.geeksforgeeks.org/single-source-shortest-path-between-two-citie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86000" y="2133600"/>
            <a:ext cx="6172200" cy="1219200"/>
          </a:xfrm>
        </p:spPr>
        <p:txBody>
          <a:bodyPr>
            <a:normAutofit/>
          </a:bodyPr>
          <a:lstStyle/>
          <a:p>
            <a:r>
              <a:rPr lang="en-US" sz="5400" dirty="0" smtClean="0"/>
              <a:t>Graphs</a:t>
            </a:r>
            <a:endParaRPr lang="en-US" sz="5400" dirty="0"/>
          </a:p>
        </p:txBody>
      </p:sp>
      <p:sp>
        <p:nvSpPr>
          <p:cNvPr id="3" name="Subtitle 2"/>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65460774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pPr eaLnBrk="1" hangingPunct="1"/>
            <a:r>
              <a:rPr lang="en-US" altLang="en-US" smtClean="0"/>
              <a:t>Definitions - Graph</a:t>
            </a:r>
          </a:p>
        </p:txBody>
      </p:sp>
      <p:sp>
        <p:nvSpPr>
          <p:cNvPr id="4099" name="Rectangle 3"/>
          <p:cNvSpPr>
            <a:spLocks noGrp="1" noChangeArrowheads="1"/>
          </p:cNvSpPr>
          <p:nvPr>
            <p:ph idx="1"/>
          </p:nvPr>
        </p:nvSpPr>
        <p:spPr>
          <a:xfrm>
            <a:off x="663575" y="1173163"/>
            <a:ext cx="7924800" cy="2590800"/>
          </a:xfrm>
        </p:spPr>
        <p:txBody>
          <a:bodyPr/>
          <a:lstStyle/>
          <a:p>
            <a:pPr algn="just" eaLnBrk="1" hangingPunct="1">
              <a:buFont typeface="Wingdings" panose="05000000000000000000" pitchFamily="2" charset="2"/>
              <a:buNone/>
            </a:pPr>
            <a:r>
              <a:rPr lang="en-US" altLang="en-US" sz="2800" b="1" smtClean="0"/>
              <a:t>	</a:t>
            </a:r>
          </a:p>
          <a:p>
            <a:pPr algn="just" eaLnBrk="1" hangingPunct="1">
              <a:buFont typeface="Wingdings" panose="05000000000000000000" pitchFamily="2" charset="2"/>
              <a:buNone/>
            </a:pPr>
            <a:r>
              <a:rPr lang="en-US" altLang="en-US" sz="2800" b="1" smtClean="0"/>
              <a:t>	</a:t>
            </a:r>
            <a:r>
              <a:rPr lang="en-US" altLang="en-US" sz="2800" smtClean="0"/>
              <a:t>A generalization of the simple concept of a set of dots, links, </a:t>
            </a:r>
            <a:r>
              <a:rPr lang="en-US" altLang="en-US" sz="2800" smtClean="0">
                <a:hlinkClick r:id="rId2" tooltip="Edge"/>
              </a:rPr>
              <a:t>edges</a:t>
            </a:r>
            <a:r>
              <a:rPr lang="en-US" altLang="en-US" sz="2800" smtClean="0"/>
              <a:t> or arcs. </a:t>
            </a:r>
          </a:p>
          <a:p>
            <a:pPr algn="just" eaLnBrk="1" hangingPunct="1">
              <a:buFont typeface="Wingdings" panose="05000000000000000000" pitchFamily="2" charset="2"/>
              <a:buNone/>
            </a:pPr>
            <a:r>
              <a:rPr lang="en-US" altLang="en-US" b="1" smtClean="0"/>
              <a:t>	</a:t>
            </a:r>
            <a:r>
              <a:rPr lang="en-US" altLang="en-US" sz="2400" i="1" smtClean="0"/>
              <a:t>Representation: </a:t>
            </a:r>
            <a:r>
              <a:rPr lang="en-US" altLang="en-US" sz="2000" i="1" smtClean="0"/>
              <a:t>Graph G =(V, E) consists set of vertices denoted by V, or by V(G) and set of edges E, or E(G)</a:t>
            </a:r>
          </a:p>
        </p:txBody>
      </p:sp>
      <p:pic>
        <p:nvPicPr>
          <p:cNvPr id="4100" name="Picture 2" descr="A map of a metro system&#10;&#10;Description automatically generate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3429000"/>
            <a:ext cx="5238750" cy="316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5898364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eaLnBrk="1" hangingPunct="1"/>
            <a:r>
              <a:rPr lang="en-US" altLang="en-US" smtClean="0"/>
              <a:t>Definitions – Edge Type</a:t>
            </a:r>
          </a:p>
        </p:txBody>
      </p:sp>
      <p:sp>
        <p:nvSpPr>
          <p:cNvPr id="5123" name="Rectangle 3"/>
          <p:cNvSpPr>
            <a:spLocks noGrp="1" noChangeArrowheads="1"/>
          </p:cNvSpPr>
          <p:nvPr>
            <p:ph idx="1"/>
          </p:nvPr>
        </p:nvSpPr>
        <p:spPr/>
        <p:txBody>
          <a:bodyPr/>
          <a:lstStyle/>
          <a:p>
            <a:pPr algn="just" eaLnBrk="1" hangingPunct="1">
              <a:buFont typeface="Wingdings" panose="05000000000000000000" pitchFamily="2" charset="2"/>
              <a:buNone/>
            </a:pPr>
            <a:r>
              <a:rPr lang="en-US" altLang="en-US" sz="2400" smtClean="0"/>
              <a:t>	</a:t>
            </a:r>
            <a:r>
              <a:rPr lang="en-US" altLang="en-US" sz="2000" b="1" smtClean="0"/>
              <a:t>Directed:</a:t>
            </a:r>
            <a:r>
              <a:rPr lang="en-US" altLang="en-US" sz="2400" i="1" smtClean="0"/>
              <a:t> </a:t>
            </a:r>
            <a:r>
              <a:rPr lang="en-US" altLang="en-US" sz="2000" smtClean="0">
                <a:solidFill>
                  <a:srgbClr val="237AC1"/>
                </a:solidFill>
              </a:rPr>
              <a:t>Ordered pair of vertices.</a:t>
            </a:r>
            <a:r>
              <a:rPr lang="en-US" altLang="en-US" sz="2000" i="1" smtClean="0"/>
              <a:t> </a:t>
            </a:r>
            <a:r>
              <a:rPr lang="en-US" altLang="en-US" sz="2000" smtClean="0"/>
              <a:t>Represented as (u, v) directed from vertex u to v.</a:t>
            </a:r>
          </a:p>
          <a:p>
            <a:pPr algn="just" eaLnBrk="1" hangingPunct="1"/>
            <a:endParaRPr lang="en-US" altLang="en-US" sz="2000" i="1" smtClean="0"/>
          </a:p>
          <a:p>
            <a:pPr algn="just" eaLnBrk="1" hangingPunct="1">
              <a:buFont typeface="Wingdings" panose="05000000000000000000" pitchFamily="2" charset="2"/>
              <a:buNone/>
            </a:pPr>
            <a:endParaRPr lang="en-US" altLang="en-US" smtClean="0"/>
          </a:p>
          <a:p>
            <a:pPr algn="just" eaLnBrk="1" hangingPunct="1">
              <a:buFont typeface="Wingdings" panose="05000000000000000000" pitchFamily="2" charset="2"/>
              <a:buNone/>
            </a:pPr>
            <a:r>
              <a:rPr lang="en-US" altLang="en-US" sz="2000" smtClean="0"/>
              <a:t>	</a:t>
            </a:r>
          </a:p>
          <a:p>
            <a:pPr algn="just" eaLnBrk="1" hangingPunct="1">
              <a:buFont typeface="Wingdings" panose="05000000000000000000" pitchFamily="2" charset="2"/>
              <a:buNone/>
            </a:pPr>
            <a:r>
              <a:rPr lang="en-US" altLang="en-US" sz="2000" b="1" smtClean="0"/>
              <a:t>Undirected:</a:t>
            </a:r>
            <a:r>
              <a:rPr lang="en-US" altLang="en-US" sz="2400" smtClean="0"/>
              <a:t> </a:t>
            </a:r>
            <a:r>
              <a:rPr lang="en-US" altLang="en-US" sz="2000" smtClean="0">
                <a:solidFill>
                  <a:srgbClr val="237AC1"/>
                </a:solidFill>
              </a:rPr>
              <a:t>Unordered pair of vertices.</a:t>
            </a:r>
            <a:r>
              <a:rPr lang="en-US" altLang="en-US" sz="2000" i="1" smtClean="0"/>
              <a:t> </a:t>
            </a:r>
            <a:r>
              <a:rPr lang="en-US" altLang="en-US" sz="2000" smtClean="0"/>
              <a:t>Represented as {u, v}</a:t>
            </a:r>
            <a:r>
              <a:rPr lang="en-US" altLang="en-US" sz="2000" i="1" smtClean="0"/>
              <a:t>. </a:t>
            </a:r>
            <a:r>
              <a:rPr lang="en-US" altLang="en-US" sz="2000" smtClean="0"/>
              <a:t>Disregards any sense of direction and treats both end vertices interchangeably.</a:t>
            </a:r>
            <a:endParaRPr lang="en-US" altLang="en-US" sz="2000" i="1" smtClean="0"/>
          </a:p>
          <a:p>
            <a:pPr algn="just" eaLnBrk="1" hangingPunct="1"/>
            <a:endParaRPr lang="en-US" altLang="en-US" sz="2000" smtClean="0"/>
          </a:p>
          <a:p>
            <a:pPr algn="just" eaLnBrk="1" hangingPunct="1"/>
            <a:endParaRPr lang="en-US" altLang="en-US" smtClean="0"/>
          </a:p>
          <a:p>
            <a:pPr algn="just" eaLnBrk="1" hangingPunct="1">
              <a:buFont typeface="Wingdings" panose="05000000000000000000" pitchFamily="2" charset="2"/>
              <a:buNone/>
            </a:pPr>
            <a:endParaRPr lang="en-US" altLang="en-US" smtClean="0"/>
          </a:p>
          <a:p>
            <a:pPr algn="just" eaLnBrk="1" hangingPunct="1">
              <a:buFont typeface="Wingdings" panose="05000000000000000000" pitchFamily="2" charset="2"/>
              <a:buNone/>
            </a:pPr>
            <a:endParaRPr lang="en-US" altLang="en-US" smtClean="0"/>
          </a:p>
          <a:p>
            <a:pPr algn="just" eaLnBrk="1" hangingPunct="1">
              <a:buFont typeface="Wingdings" panose="05000000000000000000" pitchFamily="2" charset="2"/>
              <a:buNone/>
            </a:pPr>
            <a:endParaRPr lang="en-US" altLang="en-US" i="1" smtClean="0"/>
          </a:p>
        </p:txBody>
      </p:sp>
      <p:sp>
        <p:nvSpPr>
          <p:cNvPr id="5124" name="Oval 4"/>
          <p:cNvSpPr>
            <a:spLocks noChangeArrowheads="1"/>
          </p:cNvSpPr>
          <p:nvPr/>
        </p:nvSpPr>
        <p:spPr bwMode="auto">
          <a:xfrm>
            <a:off x="2514600" y="3048000"/>
            <a:ext cx="381000" cy="3048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u</a:t>
            </a:r>
          </a:p>
        </p:txBody>
      </p:sp>
      <p:sp>
        <p:nvSpPr>
          <p:cNvPr id="5125" name="Oval 10"/>
          <p:cNvSpPr>
            <a:spLocks noChangeArrowheads="1"/>
          </p:cNvSpPr>
          <p:nvPr/>
        </p:nvSpPr>
        <p:spPr bwMode="auto">
          <a:xfrm>
            <a:off x="5029200" y="3048000"/>
            <a:ext cx="381000" cy="3048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v</a:t>
            </a:r>
          </a:p>
        </p:txBody>
      </p:sp>
      <p:sp>
        <p:nvSpPr>
          <p:cNvPr id="5126" name="Line 11"/>
          <p:cNvSpPr>
            <a:spLocks noChangeShapeType="1"/>
          </p:cNvSpPr>
          <p:nvPr/>
        </p:nvSpPr>
        <p:spPr bwMode="auto">
          <a:xfrm>
            <a:off x="2895600" y="3200400"/>
            <a:ext cx="2133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127" name="Oval 12"/>
          <p:cNvSpPr>
            <a:spLocks noChangeArrowheads="1"/>
          </p:cNvSpPr>
          <p:nvPr/>
        </p:nvSpPr>
        <p:spPr bwMode="auto">
          <a:xfrm>
            <a:off x="2590800" y="5410200"/>
            <a:ext cx="381000" cy="3048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u</a:t>
            </a:r>
          </a:p>
        </p:txBody>
      </p:sp>
      <p:sp>
        <p:nvSpPr>
          <p:cNvPr id="5128" name="Oval 13"/>
          <p:cNvSpPr>
            <a:spLocks noChangeArrowheads="1"/>
          </p:cNvSpPr>
          <p:nvPr/>
        </p:nvSpPr>
        <p:spPr bwMode="auto">
          <a:xfrm>
            <a:off x="5105400" y="5410200"/>
            <a:ext cx="381000" cy="3048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v</a:t>
            </a:r>
          </a:p>
        </p:txBody>
      </p:sp>
      <p:sp>
        <p:nvSpPr>
          <p:cNvPr id="5129" name="Line 14"/>
          <p:cNvSpPr>
            <a:spLocks noChangeShapeType="1"/>
          </p:cNvSpPr>
          <p:nvPr/>
        </p:nvSpPr>
        <p:spPr bwMode="auto">
          <a:xfrm>
            <a:off x="2971800" y="5562600"/>
            <a:ext cx="2133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419314813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en-US" altLang="en-US" smtClean="0"/>
              <a:t>Definitions – Edge Type</a:t>
            </a:r>
          </a:p>
        </p:txBody>
      </p:sp>
      <p:sp>
        <p:nvSpPr>
          <p:cNvPr id="6147" name="Rectangle 3"/>
          <p:cNvSpPr>
            <a:spLocks noGrp="1" noChangeArrowheads="1"/>
          </p:cNvSpPr>
          <p:nvPr>
            <p:ph idx="1"/>
          </p:nvPr>
        </p:nvSpPr>
        <p:spPr/>
        <p:txBody>
          <a:bodyPr/>
          <a:lstStyle/>
          <a:p>
            <a:pPr algn="just" eaLnBrk="1" hangingPunct="1"/>
            <a:r>
              <a:rPr lang="en-US" altLang="en-US" sz="2400" b="1" smtClean="0"/>
              <a:t>Loop:</a:t>
            </a:r>
            <a:r>
              <a:rPr lang="en-US" altLang="en-US" sz="2400" i="1" smtClean="0"/>
              <a:t> </a:t>
            </a:r>
            <a:r>
              <a:rPr lang="en-US" altLang="en-US" sz="2400" smtClean="0"/>
              <a:t>A loop is an edge whose endpoints are equal i.e., an edge joining a vertex to it self is called a loop. Represented as {u, u} = {u}</a:t>
            </a:r>
          </a:p>
          <a:p>
            <a:pPr algn="just" eaLnBrk="1" hangingPunct="1">
              <a:buFont typeface="Wingdings" panose="05000000000000000000" pitchFamily="2" charset="2"/>
              <a:buNone/>
            </a:pPr>
            <a:endParaRPr lang="en-US" altLang="en-US" sz="2400" smtClean="0"/>
          </a:p>
          <a:p>
            <a:pPr algn="just" eaLnBrk="1" hangingPunct="1">
              <a:buFont typeface="Wingdings" panose="05000000000000000000" pitchFamily="2" charset="2"/>
              <a:buNone/>
            </a:pPr>
            <a:endParaRPr lang="en-US" altLang="en-US" sz="2400" smtClean="0"/>
          </a:p>
          <a:p>
            <a:pPr algn="just" eaLnBrk="1" hangingPunct="1">
              <a:buFont typeface="Wingdings" panose="05000000000000000000" pitchFamily="2" charset="2"/>
              <a:buNone/>
            </a:pPr>
            <a:endParaRPr lang="en-US" altLang="en-US" sz="2400" smtClean="0"/>
          </a:p>
          <a:p>
            <a:pPr algn="just" eaLnBrk="1" hangingPunct="1"/>
            <a:r>
              <a:rPr lang="en-US" altLang="en-US" sz="2400" b="1" smtClean="0"/>
              <a:t>Multiple Edges:</a:t>
            </a:r>
            <a:r>
              <a:rPr lang="en-US" altLang="en-US" sz="2400" smtClean="0"/>
              <a:t> Two or more edges joining the same pair of vertices.</a:t>
            </a:r>
            <a:r>
              <a:rPr lang="en-US" altLang="en-US" smtClean="0"/>
              <a:t> </a:t>
            </a:r>
          </a:p>
          <a:p>
            <a:pPr eaLnBrk="1" hangingPunct="1"/>
            <a:endParaRPr lang="en-US" altLang="en-US" smtClean="0"/>
          </a:p>
        </p:txBody>
      </p:sp>
      <p:sp>
        <p:nvSpPr>
          <p:cNvPr id="6148" name="Oval 4"/>
          <p:cNvSpPr>
            <a:spLocks noChangeArrowheads="1"/>
          </p:cNvSpPr>
          <p:nvPr/>
        </p:nvSpPr>
        <p:spPr bwMode="auto">
          <a:xfrm>
            <a:off x="4191000" y="3657600"/>
            <a:ext cx="457200" cy="3810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u</a:t>
            </a:r>
          </a:p>
        </p:txBody>
      </p:sp>
      <p:sp>
        <p:nvSpPr>
          <p:cNvPr id="6149" name="Line 11"/>
          <p:cNvSpPr>
            <a:spLocks noChangeShapeType="1"/>
          </p:cNvSpPr>
          <p:nvPr/>
        </p:nvSpPr>
        <p:spPr bwMode="auto">
          <a:xfrm>
            <a:off x="4648200" y="3733800"/>
            <a:ext cx="457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50" name="Line 12"/>
          <p:cNvSpPr>
            <a:spLocks noChangeShapeType="1"/>
          </p:cNvSpPr>
          <p:nvPr/>
        </p:nvSpPr>
        <p:spPr bwMode="auto">
          <a:xfrm>
            <a:off x="5105400" y="3733800"/>
            <a:ext cx="0" cy="228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51" name="Line 13"/>
          <p:cNvSpPr>
            <a:spLocks noChangeShapeType="1"/>
          </p:cNvSpPr>
          <p:nvPr/>
        </p:nvSpPr>
        <p:spPr bwMode="auto">
          <a:xfrm flipH="1">
            <a:off x="4648200" y="3962400"/>
            <a:ext cx="4572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6152"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122613" y="4952999"/>
            <a:ext cx="1790700" cy="1471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3816712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eaLnBrk="1" hangingPunct="1"/>
            <a:r>
              <a:rPr lang="en-US" altLang="en-US" smtClean="0"/>
              <a:t>Definitions – Graph Type</a:t>
            </a:r>
          </a:p>
        </p:txBody>
      </p:sp>
      <p:sp>
        <p:nvSpPr>
          <p:cNvPr id="7171" name="Rectangle 3"/>
          <p:cNvSpPr>
            <a:spLocks noGrp="1" noChangeArrowheads="1"/>
          </p:cNvSpPr>
          <p:nvPr>
            <p:ph idx="1"/>
          </p:nvPr>
        </p:nvSpPr>
        <p:spPr>
          <a:xfrm>
            <a:off x="457200" y="1676400"/>
            <a:ext cx="7772400" cy="4535488"/>
          </a:xfrm>
        </p:spPr>
        <p:txBody>
          <a:bodyPr/>
          <a:lstStyle/>
          <a:p>
            <a:pPr algn="just" eaLnBrk="1" hangingPunct="1">
              <a:buFont typeface="Wingdings" panose="05000000000000000000" pitchFamily="2" charset="2"/>
              <a:buNone/>
            </a:pPr>
            <a:r>
              <a:rPr lang="en-US" altLang="en-US" sz="2400" smtClean="0"/>
              <a:t>	</a:t>
            </a:r>
            <a:r>
              <a:rPr lang="en-US" altLang="en-US" sz="2000" b="1" smtClean="0"/>
              <a:t>Simple (Undirected) Graph:</a:t>
            </a:r>
            <a:r>
              <a:rPr lang="en-US" altLang="en-US" sz="2000" i="1" smtClean="0"/>
              <a:t> </a:t>
            </a:r>
            <a:r>
              <a:rPr lang="en-US" altLang="en-US" sz="2000" smtClean="0"/>
              <a:t>consists of V, a nonempty set of vertices, and E, a set of unordered pairs of distinct elements of V called edges (undirected) </a:t>
            </a:r>
          </a:p>
          <a:p>
            <a:pPr algn="just" eaLnBrk="1" hangingPunct="1">
              <a:buFont typeface="Wingdings" panose="05000000000000000000" pitchFamily="2" charset="2"/>
              <a:buNone/>
            </a:pPr>
            <a:r>
              <a:rPr lang="en-US" altLang="en-US" sz="2000" smtClean="0"/>
              <a:t>	</a:t>
            </a:r>
            <a:r>
              <a:rPr lang="en-US" altLang="en-US" sz="2000" smtClean="0">
                <a:solidFill>
                  <a:srgbClr val="237AC1"/>
                </a:solidFill>
              </a:rPr>
              <a:t>Representation Example: G(V, E), V = {u, v, w}, E = {{u, v}, {v, w}, {u, w}}</a:t>
            </a:r>
          </a:p>
          <a:p>
            <a:pPr algn="just" eaLnBrk="1" hangingPunct="1">
              <a:buFont typeface="Wingdings" panose="05000000000000000000" pitchFamily="2" charset="2"/>
              <a:buNone/>
            </a:pPr>
            <a:endParaRPr lang="en-US" altLang="en-US" sz="2400" smtClean="0">
              <a:solidFill>
                <a:srgbClr val="237AC1"/>
              </a:solidFill>
            </a:endParaRPr>
          </a:p>
          <a:p>
            <a:pPr algn="just" eaLnBrk="1" hangingPunct="1">
              <a:buFont typeface="Wingdings" panose="05000000000000000000" pitchFamily="2" charset="2"/>
              <a:buNone/>
            </a:pPr>
            <a:endParaRPr lang="en-US" altLang="en-US" sz="2400" smtClean="0"/>
          </a:p>
          <a:p>
            <a:pPr algn="just" eaLnBrk="1" hangingPunct="1">
              <a:buFont typeface="Wingdings" panose="05000000000000000000" pitchFamily="2" charset="2"/>
              <a:buNone/>
            </a:pPr>
            <a:endParaRPr lang="en-US" altLang="en-US" sz="2400" smtClean="0"/>
          </a:p>
          <a:p>
            <a:pPr algn="just" eaLnBrk="1" hangingPunct="1">
              <a:buFont typeface="Wingdings" panose="05000000000000000000" pitchFamily="2" charset="2"/>
              <a:buNone/>
            </a:pPr>
            <a:endParaRPr lang="en-US" altLang="en-US" sz="2400" smtClean="0"/>
          </a:p>
        </p:txBody>
      </p:sp>
      <p:sp>
        <p:nvSpPr>
          <p:cNvPr id="7172" name="Oval 5"/>
          <p:cNvSpPr>
            <a:spLocks noChangeArrowheads="1"/>
          </p:cNvSpPr>
          <p:nvPr/>
        </p:nvSpPr>
        <p:spPr bwMode="auto">
          <a:xfrm>
            <a:off x="2971800" y="3962400"/>
            <a:ext cx="381000" cy="3810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u</a:t>
            </a:r>
          </a:p>
        </p:txBody>
      </p:sp>
      <p:sp>
        <p:nvSpPr>
          <p:cNvPr id="7173" name="Oval 7"/>
          <p:cNvSpPr>
            <a:spLocks noChangeArrowheads="1"/>
          </p:cNvSpPr>
          <p:nvPr/>
        </p:nvSpPr>
        <p:spPr bwMode="auto">
          <a:xfrm>
            <a:off x="5105400" y="4038600"/>
            <a:ext cx="381000" cy="3810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v</a:t>
            </a:r>
          </a:p>
        </p:txBody>
      </p:sp>
      <p:sp>
        <p:nvSpPr>
          <p:cNvPr id="7174" name="Oval 8"/>
          <p:cNvSpPr>
            <a:spLocks noChangeArrowheads="1"/>
          </p:cNvSpPr>
          <p:nvPr/>
        </p:nvSpPr>
        <p:spPr bwMode="auto">
          <a:xfrm>
            <a:off x="3962400" y="5181600"/>
            <a:ext cx="381000" cy="3810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w</a:t>
            </a:r>
          </a:p>
        </p:txBody>
      </p:sp>
      <p:sp>
        <p:nvSpPr>
          <p:cNvPr id="7175" name="Line 9"/>
          <p:cNvSpPr>
            <a:spLocks noChangeShapeType="1"/>
          </p:cNvSpPr>
          <p:nvPr/>
        </p:nvSpPr>
        <p:spPr bwMode="auto">
          <a:xfrm>
            <a:off x="3352800" y="4191000"/>
            <a:ext cx="1752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76" name="Line 10"/>
          <p:cNvSpPr>
            <a:spLocks noChangeShapeType="1"/>
          </p:cNvSpPr>
          <p:nvPr/>
        </p:nvSpPr>
        <p:spPr bwMode="auto">
          <a:xfrm flipH="1">
            <a:off x="4267200" y="4419600"/>
            <a:ext cx="9144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77" name="Line 11"/>
          <p:cNvSpPr>
            <a:spLocks noChangeShapeType="1"/>
          </p:cNvSpPr>
          <p:nvPr/>
        </p:nvSpPr>
        <p:spPr bwMode="auto">
          <a:xfrm>
            <a:off x="3276600" y="4343400"/>
            <a:ext cx="762000" cy="838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167741682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r>
              <a:rPr lang="en-US" altLang="en-US" smtClean="0"/>
              <a:t>Definitions – Graph Type</a:t>
            </a:r>
          </a:p>
        </p:txBody>
      </p:sp>
      <p:sp>
        <p:nvSpPr>
          <p:cNvPr id="8195" name="Rectangle 3"/>
          <p:cNvSpPr>
            <a:spLocks noGrp="1" noChangeArrowheads="1"/>
          </p:cNvSpPr>
          <p:nvPr>
            <p:ph idx="1"/>
          </p:nvPr>
        </p:nvSpPr>
        <p:spPr>
          <a:xfrm>
            <a:off x="457200" y="1725613"/>
            <a:ext cx="7467600" cy="2057400"/>
          </a:xfrm>
        </p:spPr>
        <p:txBody>
          <a:bodyPr/>
          <a:lstStyle/>
          <a:p>
            <a:pPr algn="just" eaLnBrk="1" hangingPunct="1">
              <a:buFont typeface="Wingdings" panose="05000000000000000000" pitchFamily="2" charset="2"/>
              <a:buNone/>
            </a:pPr>
            <a:r>
              <a:rPr lang="en-US" altLang="en-US" sz="2400" smtClean="0"/>
              <a:t>	</a:t>
            </a:r>
            <a:r>
              <a:rPr lang="en-US" altLang="en-US" sz="2000" b="1" smtClean="0"/>
              <a:t>Multigraph:</a:t>
            </a:r>
            <a:r>
              <a:rPr lang="en-US" altLang="en-US" sz="2000" smtClean="0"/>
              <a:t> G(V,E), consists of set of vertices V, set of Edges E and a function f from E to {{u, v}| u, v  </a:t>
            </a:r>
            <a:r>
              <a:rPr lang="en-US" altLang="en-US" smtClean="0"/>
              <a:t>∈ </a:t>
            </a:r>
            <a:r>
              <a:rPr lang="en-US" altLang="en-US" sz="2000" smtClean="0"/>
              <a:t>V, u ≠ v}. The edges e1 and e2 are called multiple or parallel edges if f (e1) = f (e2).</a:t>
            </a:r>
          </a:p>
          <a:p>
            <a:pPr algn="just" eaLnBrk="1" hangingPunct="1">
              <a:buFont typeface="Wingdings" panose="05000000000000000000" pitchFamily="2" charset="2"/>
              <a:buNone/>
            </a:pPr>
            <a:r>
              <a:rPr lang="en-US" altLang="en-US" sz="2000" smtClean="0"/>
              <a:t>    </a:t>
            </a:r>
            <a:r>
              <a:rPr lang="en-US" altLang="en-US" sz="2000" smtClean="0">
                <a:solidFill>
                  <a:srgbClr val="237AC1"/>
                </a:solidFill>
              </a:rPr>
              <a:t>Representation Example: V = {u, v, w}, E = {e</a:t>
            </a:r>
            <a:r>
              <a:rPr lang="en-US" altLang="en-US" sz="2000" baseline="-25000" smtClean="0">
                <a:solidFill>
                  <a:srgbClr val="237AC1"/>
                </a:solidFill>
              </a:rPr>
              <a:t>1</a:t>
            </a:r>
            <a:r>
              <a:rPr lang="en-US" altLang="en-US" sz="2000" smtClean="0">
                <a:solidFill>
                  <a:srgbClr val="237AC1"/>
                </a:solidFill>
              </a:rPr>
              <a:t>, e</a:t>
            </a:r>
            <a:r>
              <a:rPr lang="en-US" altLang="en-US" sz="2000" baseline="-25000" smtClean="0">
                <a:solidFill>
                  <a:srgbClr val="237AC1"/>
                </a:solidFill>
              </a:rPr>
              <a:t>2</a:t>
            </a:r>
            <a:r>
              <a:rPr lang="en-US" altLang="en-US" sz="2000" smtClean="0">
                <a:solidFill>
                  <a:srgbClr val="237AC1"/>
                </a:solidFill>
              </a:rPr>
              <a:t>, e</a:t>
            </a:r>
            <a:r>
              <a:rPr lang="en-US" altLang="en-US" sz="2000" baseline="-25000" smtClean="0">
                <a:solidFill>
                  <a:srgbClr val="237AC1"/>
                </a:solidFill>
              </a:rPr>
              <a:t>3</a:t>
            </a:r>
            <a:r>
              <a:rPr lang="en-US" altLang="en-US" sz="2000" smtClean="0">
                <a:solidFill>
                  <a:srgbClr val="237AC1"/>
                </a:solidFill>
              </a:rPr>
              <a:t>}</a:t>
            </a:r>
          </a:p>
          <a:p>
            <a:pPr algn="just" eaLnBrk="1" hangingPunct="1">
              <a:buFont typeface="Wingdings" panose="05000000000000000000" pitchFamily="2" charset="2"/>
              <a:buNone/>
            </a:pPr>
            <a:endParaRPr lang="en-US" altLang="en-US" sz="2000" smtClean="0">
              <a:solidFill>
                <a:srgbClr val="237AC1"/>
              </a:solidFill>
            </a:endParaRPr>
          </a:p>
        </p:txBody>
      </p:sp>
      <p:sp>
        <p:nvSpPr>
          <p:cNvPr id="8196" name="Oval 4"/>
          <p:cNvSpPr>
            <a:spLocks noChangeArrowheads="1"/>
          </p:cNvSpPr>
          <p:nvPr/>
        </p:nvSpPr>
        <p:spPr bwMode="auto">
          <a:xfrm>
            <a:off x="2819400" y="4419600"/>
            <a:ext cx="381000" cy="3048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u</a:t>
            </a:r>
          </a:p>
        </p:txBody>
      </p:sp>
      <p:sp>
        <p:nvSpPr>
          <p:cNvPr id="8197" name="Oval 5"/>
          <p:cNvSpPr>
            <a:spLocks noChangeArrowheads="1"/>
          </p:cNvSpPr>
          <p:nvPr/>
        </p:nvSpPr>
        <p:spPr bwMode="auto">
          <a:xfrm>
            <a:off x="2819400" y="5486400"/>
            <a:ext cx="381000" cy="3048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v</a:t>
            </a:r>
          </a:p>
        </p:txBody>
      </p:sp>
      <p:sp>
        <p:nvSpPr>
          <p:cNvPr id="8198" name="Oval 6"/>
          <p:cNvSpPr>
            <a:spLocks noChangeArrowheads="1"/>
          </p:cNvSpPr>
          <p:nvPr/>
        </p:nvSpPr>
        <p:spPr bwMode="auto">
          <a:xfrm>
            <a:off x="4343400" y="4876800"/>
            <a:ext cx="381000" cy="3048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w</a:t>
            </a:r>
          </a:p>
        </p:txBody>
      </p:sp>
      <p:sp>
        <p:nvSpPr>
          <p:cNvPr id="8199" name="Line 7"/>
          <p:cNvSpPr>
            <a:spLocks noChangeShapeType="1"/>
          </p:cNvSpPr>
          <p:nvPr/>
        </p:nvSpPr>
        <p:spPr bwMode="auto">
          <a:xfrm flipV="1">
            <a:off x="3200400" y="5105400"/>
            <a:ext cx="11430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00" name="Line 8"/>
          <p:cNvSpPr>
            <a:spLocks noChangeShapeType="1"/>
          </p:cNvSpPr>
          <p:nvPr/>
        </p:nvSpPr>
        <p:spPr bwMode="auto">
          <a:xfrm>
            <a:off x="2895600" y="4724400"/>
            <a:ext cx="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01" name="Line 9"/>
          <p:cNvSpPr>
            <a:spLocks noChangeShapeType="1"/>
          </p:cNvSpPr>
          <p:nvPr/>
        </p:nvSpPr>
        <p:spPr bwMode="auto">
          <a:xfrm>
            <a:off x="3124200" y="4724400"/>
            <a:ext cx="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02" name="Rectangle 10"/>
          <p:cNvSpPr>
            <a:spLocks noChangeArrowheads="1"/>
          </p:cNvSpPr>
          <p:nvPr/>
        </p:nvSpPr>
        <p:spPr bwMode="auto">
          <a:xfrm>
            <a:off x="2438400" y="4876800"/>
            <a:ext cx="304800" cy="228600"/>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e</a:t>
            </a:r>
            <a:r>
              <a:rPr lang="en-US" altLang="en-US" baseline="-25000">
                <a:latin typeface="Tahoma" panose="020B0604030504040204" pitchFamily="34" charset="0"/>
              </a:rPr>
              <a:t>1</a:t>
            </a:r>
          </a:p>
        </p:txBody>
      </p:sp>
      <p:sp>
        <p:nvSpPr>
          <p:cNvPr id="8203" name="Rectangle 11"/>
          <p:cNvSpPr>
            <a:spLocks noChangeArrowheads="1"/>
          </p:cNvSpPr>
          <p:nvPr/>
        </p:nvSpPr>
        <p:spPr bwMode="auto">
          <a:xfrm>
            <a:off x="3200400" y="4800600"/>
            <a:ext cx="304800" cy="228600"/>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e</a:t>
            </a:r>
            <a:r>
              <a:rPr lang="en-US" altLang="en-US" baseline="-25000">
                <a:latin typeface="Tahoma" panose="020B0604030504040204" pitchFamily="34" charset="0"/>
              </a:rPr>
              <a:t>2</a:t>
            </a:r>
          </a:p>
        </p:txBody>
      </p:sp>
      <p:sp>
        <p:nvSpPr>
          <p:cNvPr id="8204" name="Rectangle 12"/>
          <p:cNvSpPr>
            <a:spLocks noChangeArrowheads="1"/>
          </p:cNvSpPr>
          <p:nvPr/>
        </p:nvSpPr>
        <p:spPr bwMode="auto">
          <a:xfrm>
            <a:off x="3886200" y="5410200"/>
            <a:ext cx="304800" cy="228600"/>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e</a:t>
            </a:r>
            <a:r>
              <a:rPr lang="en-US" altLang="en-US" baseline="-25000">
                <a:latin typeface="Tahoma" panose="020B0604030504040204" pitchFamily="34" charset="0"/>
              </a:rPr>
              <a:t>3</a:t>
            </a:r>
          </a:p>
        </p:txBody>
      </p:sp>
    </p:spTree>
    <p:extLst>
      <p:ext uri="{BB962C8B-B14F-4D97-AF65-F5344CB8AC3E}">
        <p14:creationId xmlns:p14="http://schemas.microsoft.com/office/powerpoint/2010/main" val="332304085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r>
              <a:rPr lang="en-US" altLang="en-US" smtClean="0"/>
              <a:t>Definitions – Graph Type</a:t>
            </a:r>
          </a:p>
        </p:txBody>
      </p:sp>
      <p:sp>
        <p:nvSpPr>
          <p:cNvPr id="9219" name="Rectangle 3"/>
          <p:cNvSpPr>
            <a:spLocks noGrp="1" noChangeArrowheads="1"/>
          </p:cNvSpPr>
          <p:nvPr>
            <p:ph idx="1"/>
          </p:nvPr>
        </p:nvSpPr>
        <p:spPr>
          <a:xfrm>
            <a:off x="438150" y="1768475"/>
            <a:ext cx="8077200" cy="1792288"/>
          </a:xfrm>
        </p:spPr>
        <p:txBody>
          <a:bodyPr>
            <a:normAutofit fontScale="62500" lnSpcReduction="20000"/>
          </a:bodyPr>
          <a:lstStyle/>
          <a:p>
            <a:pPr algn="just" eaLnBrk="1" hangingPunct="1">
              <a:buFont typeface="Wingdings" panose="05000000000000000000" pitchFamily="2" charset="2"/>
              <a:buNone/>
            </a:pPr>
            <a:r>
              <a:rPr lang="en-US" altLang="en-US" sz="2400" smtClean="0"/>
              <a:t>	</a:t>
            </a:r>
            <a:r>
              <a:rPr lang="en-US" altLang="en-US" sz="2000" b="1" smtClean="0"/>
              <a:t>Pseudograph:</a:t>
            </a:r>
            <a:r>
              <a:rPr lang="en-US" altLang="en-US" sz="2400" smtClean="0"/>
              <a:t> </a:t>
            </a:r>
            <a:r>
              <a:rPr lang="en-US" altLang="en-US" sz="2000" smtClean="0"/>
              <a:t>G(V,E), consists of set of vertices V, set of Edges E and a function F from E to {{u, v}| u, v Î V}. Loops allowed in such a graph.</a:t>
            </a:r>
          </a:p>
          <a:p>
            <a:pPr algn="just" eaLnBrk="1" hangingPunct="1">
              <a:buFont typeface="Wingdings" panose="05000000000000000000" pitchFamily="2" charset="2"/>
              <a:buNone/>
            </a:pPr>
            <a:r>
              <a:rPr lang="en-US" altLang="en-US" sz="2000" smtClean="0"/>
              <a:t>	</a:t>
            </a:r>
            <a:r>
              <a:rPr lang="en-US" altLang="en-US" sz="2000" smtClean="0">
                <a:solidFill>
                  <a:srgbClr val="237AC1"/>
                </a:solidFill>
              </a:rPr>
              <a:t>Representation Example: V = {u, v, w}, E = {e</a:t>
            </a:r>
            <a:r>
              <a:rPr lang="en-US" altLang="en-US" sz="2000" baseline="-25000" smtClean="0">
                <a:solidFill>
                  <a:srgbClr val="237AC1"/>
                </a:solidFill>
              </a:rPr>
              <a:t>1</a:t>
            </a:r>
            <a:r>
              <a:rPr lang="en-US" altLang="en-US" sz="2000" smtClean="0">
                <a:solidFill>
                  <a:srgbClr val="237AC1"/>
                </a:solidFill>
              </a:rPr>
              <a:t>, e</a:t>
            </a:r>
            <a:r>
              <a:rPr lang="en-US" altLang="en-US" sz="2000" baseline="-25000" smtClean="0">
                <a:solidFill>
                  <a:srgbClr val="237AC1"/>
                </a:solidFill>
              </a:rPr>
              <a:t>2</a:t>
            </a:r>
            <a:r>
              <a:rPr lang="en-US" altLang="en-US" sz="2000" smtClean="0">
                <a:solidFill>
                  <a:srgbClr val="237AC1"/>
                </a:solidFill>
              </a:rPr>
              <a:t>, e</a:t>
            </a:r>
            <a:r>
              <a:rPr lang="en-US" altLang="en-US" sz="2000" baseline="-25000" smtClean="0">
                <a:solidFill>
                  <a:srgbClr val="237AC1"/>
                </a:solidFill>
              </a:rPr>
              <a:t>3</a:t>
            </a:r>
            <a:r>
              <a:rPr lang="en-US" altLang="en-US" sz="2000" smtClean="0">
                <a:solidFill>
                  <a:srgbClr val="237AC1"/>
                </a:solidFill>
              </a:rPr>
              <a:t>, e</a:t>
            </a:r>
            <a:r>
              <a:rPr lang="en-US" altLang="en-US" sz="2000" baseline="-25000" smtClean="0">
                <a:solidFill>
                  <a:srgbClr val="237AC1"/>
                </a:solidFill>
              </a:rPr>
              <a:t>4</a:t>
            </a:r>
            <a:r>
              <a:rPr lang="en-US" altLang="en-US" sz="2000" smtClean="0">
                <a:solidFill>
                  <a:srgbClr val="237AC1"/>
                </a:solidFill>
              </a:rPr>
              <a:t>}</a:t>
            </a:r>
          </a:p>
          <a:p>
            <a:pPr algn="just" eaLnBrk="1" hangingPunct="1">
              <a:buFont typeface="Wingdings" panose="05000000000000000000" pitchFamily="2" charset="2"/>
              <a:buNone/>
            </a:pPr>
            <a:endParaRPr lang="en-US" altLang="en-US" sz="2000" smtClean="0">
              <a:solidFill>
                <a:srgbClr val="237AC1"/>
              </a:solidFill>
            </a:endParaRPr>
          </a:p>
          <a:p>
            <a:pPr algn="just" eaLnBrk="1" hangingPunct="1">
              <a:buFont typeface="Wingdings" panose="05000000000000000000" pitchFamily="2" charset="2"/>
              <a:buNone/>
            </a:pPr>
            <a:r>
              <a:rPr lang="en-US" altLang="en-US" smtClean="0"/>
              <a:t>A pseudograph is a graph in which loops (edges that connect a vertex to itself) and multiple edges (more than one edge connecting two vertices) can exist. A simple graph, on the other hand, does not support loops or numerous edges.</a:t>
            </a:r>
          </a:p>
          <a:p>
            <a:pPr algn="just" eaLnBrk="1" hangingPunct="1">
              <a:buFont typeface="Wingdings" panose="05000000000000000000" pitchFamily="2" charset="2"/>
              <a:buNone/>
            </a:pPr>
            <a:endParaRPr lang="en-US" altLang="en-US" sz="2000" smtClean="0">
              <a:solidFill>
                <a:srgbClr val="237AC1"/>
              </a:solidFill>
            </a:endParaRPr>
          </a:p>
          <a:p>
            <a:pPr algn="just" eaLnBrk="1" hangingPunct="1">
              <a:buFont typeface="Wingdings" panose="05000000000000000000" pitchFamily="2" charset="2"/>
              <a:buNone/>
            </a:pPr>
            <a:endParaRPr lang="en-US" altLang="en-US" sz="2000" smtClean="0"/>
          </a:p>
          <a:p>
            <a:pPr algn="just" eaLnBrk="1" hangingPunct="1">
              <a:buFont typeface="Wingdings" panose="05000000000000000000" pitchFamily="2" charset="2"/>
              <a:buNone/>
            </a:pPr>
            <a:endParaRPr lang="en-US" altLang="en-US" sz="2000" smtClean="0"/>
          </a:p>
        </p:txBody>
      </p:sp>
      <p:sp>
        <p:nvSpPr>
          <p:cNvPr id="9220" name="Oval 4"/>
          <p:cNvSpPr>
            <a:spLocks noChangeArrowheads="1"/>
          </p:cNvSpPr>
          <p:nvPr/>
        </p:nvSpPr>
        <p:spPr bwMode="auto">
          <a:xfrm>
            <a:off x="2819400" y="4419600"/>
            <a:ext cx="381000" cy="3048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u</a:t>
            </a:r>
          </a:p>
        </p:txBody>
      </p:sp>
      <p:sp>
        <p:nvSpPr>
          <p:cNvPr id="9221" name="Oval 5"/>
          <p:cNvSpPr>
            <a:spLocks noChangeArrowheads="1"/>
          </p:cNvSpPr>
          <p:nvPr/>
        </p:nvSpPr>
        <p:spPr bwMode="auto">
          <a:xfrm>
            <a:off x="2819400" y="5562600"/>
            <a:ext cx="381000" cy="3048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v</a:t>
            </a:r>
          </a:p>
        </p:txBody>
      </p:sp>
      <p:sp>
        <p:nvSpPr>
          <p:cNvPr id="9222" name="Oval 6"/>
          <p:cNvSpPr>
            <a:spLocks noChangeArrowheads="1"/>
          </p:cNvSpPr>
          <p:nvPr/>
        </p:nvSpPr>
        <p:spPr bwMode="auto">
          <a:xfrm>
            <a:off x="4572000" y="4876800"/>
            <a:ext cx="381000" cy="3048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w</a:t>
            </a:r>
          </a:p>
        </p:txBody>
      </p:sp>
      <p:sp>
        <p:nvSpPr>
          <p:cNvPr id="9223" name="Line 7"/>
          <p:cNvSpPr>
            <a:spLocks noChangeShapeType="1"/>
          </p:cNvSpPr>
          <p:nvPr/>
        </p:nvSpPr>
        <p:spPr bwMode="auto">
          <a:xfrm>
            <a:off x="2895600" y="4724400"/>
            <a:ext cx="0" cy="838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224" name="Line 8"/>
          <p:cNvSpPr>
            <a:spLocks noChangeShapeType="1"/>
          </p:cNvSpPr>
          <p:nvPr/>
        </p:nvSpPr>
        <p:spPr bwMode="auto">
          <a:xfrm>
            <a:off x="3124200" y="4724400"/>
            <a:ext cx="0" cy="838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225" name="Line 9"/>
          <p:cNvSpPr>
            <a:spLocks noChangeShapeType="1"/>
          </p:cNvSpPr>
          <p:nvPr/>
        </p:nvSpPr>
        <p:spPr bwMode="auto">
          <a:xfrm flipV="1">
            <a:off x="3200400" y="5105400"/>
            <a:ext cx="13716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226" name="Line 10"/>
          <p:cNvSpPr>
            <a:spLocks noChangeShapeType="1"/>
          </p:cNvSpPr>
          <p:nvPr/>
        </p:nvSpPr>
        <p:spPr bwMode="auto">
          <a:xfrm>
            <a:off x="4953000" y="4953000"/>
            <a:ext cx="457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227" name="Line 11"/>
          <p:cNvSpPr>
            <a:spLocks noChangeShapeType="1"/>
          </p:cNvSpPr>
          <p:nvPr/>
        </p:nvSpPr>
        <p:spPr bwMode="auto">
          <a:xfrm>
            <a:off x="5410200" y="4953000"/>
            <a:ext cx="0" cy="152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228" name="Line 12"/>
          <p:cNvSpPr>
            <a:spLocks noChangeShapeType="1"/>
          </p:cNvSpPr>
          <p:nvPr/>
        </p:nvSpPr>
        <p:spPr bwMode="auto">
          <a:xfrm flipH="1">
            <a:off x="4953000" y="5105400"/>
            <a:ext cx="457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229" name="Rectangle 13"/>
          <p:cNvSpPr>
            <a:spLocks noChangeArrowheads="1"/>
          </p:cNvSpPr>
          <p:nvPr/>
        </p:nvSpPr>
        <p:spPr bwMode="auto">
          <a:xfrm>
            <a:off x="2438400" y="4876800"/>
            <a:ext cx="304800" cy="228600"/>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e</a:t>
            </a:r>
            <a:r>
              <a:rPr lang="en-US" altLang="en-US" baseline="-25000">
                <a:latin typeface="Tahoma" panose="020B0604030504040204" pitchFamily="34" charset="0"/>
              </a:rPr>
              <a:t>1</a:t>
            </a:r>
          </a:p>
        </p:txBody>
      </p:sp>
      <p:sp>
        <p:nvSpPr>
          <p:cNvPr id="9230" name="Rectangle 14"/>
          <p:cNvSpPr>
            <a:spLocks noChangeArrowheads="1"/>
          </p:cNvSpPr>
          <p:nvPr/>
        </p:nvSpPr>
        <p:spPr bwMode="auto">
          <a:xfrm>
            <a:off x="3886200" y="5562600"/>
            <a:ext cx="304800" cy="228600"/>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e</a:t>
            </a:r>
            <a:r>
              <a:rPr lang="en-US" altLang="en-US" baseline="-25000">
                <a:latin typeface="Tahoma" panose="020B0604030504040204" pitchFamily="34" charset="0"/>
              </a:rPr>
              <a:t>3</a:t>
            </a:r>
          </a:p>
        </p:txBody>
      </p:sp>
      <p:sp>
        <p:nvSpPr>
          <p:cNvPr id="9231" name="Rectangle 15"/>
          <p:cNvSpPr>
            <a:spLocks noChangeArrowheads="1"/>
          </p:cNvSpPr>
          <p:nvPr/>
        </p:nvSpPr>
        <p:spPr bwMode="auto">
          <a:xfrm>
            <a:off x="3276600" y="5029200"/>
            <a:ext cx="304800" cy="228600"/>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e</a:t>
            </a:r>
            <a:r>
              <a:rPr lang="en-US" altLang="en-US" baseline="-25000">
                <a:latin typeface="Tahoma" panose="020B0604030504040204" pitchFamily="34" charset="0"/>
              </a:rPr>
              <a:t>2</a:t>
            </a:r>
          </a:p>
        </p:txBody>
      </p:sp>
      <p:sp>
        <p:nvSpPr>
          <p:cNvPr id="9232" name="Rectangle 16"/>
          <p:cNvSpPr>
            <a:spLocks noChangeArrowheads="1"/>
          </p:cNvSpPr>
          <p:nvPr/>
        </p:nvSpPr>
        <p:spPr bwMode="auto">
          <a:xfrm>
            <a:off x="5562600" y="4876800"/>
            <a:ext cx="304800" cy="228600"/>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e</a:t>
            </a:r>
            <a:r>
              <a:rPr lang="en-US" altLang="en-US" baseline="-25000">
                <a:latin typeface="Tahoma" panose="020B0604030504040204" pitchFamily="34" charset="0"/>
              </a:rPr>
              <a:t>4</a:t>
            </a:r>
          </a:p>
        </p:txBody>
      </p:sp>
    </p:spTree>
    <p:extLst>
      <p:ext uri="{BB962C8B-B14F-4D97-AF65-F5344CB8AC3E}">
        <p14:creationId xmlns:p14="http://schemas.microsoft.com/office/powerpoint/2010/main" val="35301115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r>
              <a:rPr lang="en-US" altLang="en-US" smtClean="0"/>
              <a:t>Different Types of Graphs</a:t>
            </a:r>
          </a:p>
        </p:txBody>
      </p:sp>
      <p:sp>
        <p:nvSpPr>
          <p:cNvPr id="10243" name="Content Placeholder 2"/>
          <p:cNvSpPr>
            <a:spLocks noGrp="1"/>
          </p:cNvSpPr>
          <p:nvPr>
            <p:ph idx="1"/>
          </p:nvPr>
        </p:nvSpPr>
        <p:spPr/>
        <p:txBody>
          <a:bodyPr/>
          <a:lstStyle/>
          <a:p>
            <a:r>
              <a:rPr lang="en-US" altLang="en-US" smtClean="0"/>
              <a:t>https://www.geeksforgeeks.org/graph-types-and-applications/</a:t>
            </a:r>
          </a:p>
        </p:txBody>
      </p:sp>
    </p:spTree>
    <p:extLst>
      <p:ext uri="{BB962C8B-B14F-4D97-AF65-F5344CB8AC3E}">
        <p14:creationId xmlns:p14="http://schemas.microsoft.com/office/powerpoint/2010/main" val="157658442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en-US" altLang="en-US" smtClean="0"/>
              <a:t>Definitions – Graph Type</a:t>
            </a:r>
          </a:p>
        </p:txBody>
      </p:sp>
      <p:sp>
        <p:nvSpPr>
          <p:cNvPr id="11267" name="Rectangle 3"/>
          <p:cNvSpPr>
            <a:spLocks noGrp="1" noChangeArrowheads="1"/>
          </p:cNvSpPr>
          <p:nvPr>
            <p:ph idx="1"/>
          </p:nvPr>
        </p:nvSpPr>
        <p:spPr>
          <a:xfrm>
            <a:off x="533400" y="1704975"/>
            <a:ext cx="7772400" cy="1752600"/>
          </a:xfrm>
        </p:spPr>
        <p:txBody>
          <a:bodyPr/>
          <a:lstStyle/>
          <a:p>
            <a:pPr eaLnBrk="1" hangingPunct="1">
              <a:buFont typeface="Wingdings" panose="05000000000000000000" pitchFamily="2" charset="2"/>
              <a:buNone/>
            </a:pPr>
            <a:r>
              <a:rPr lang="en-US" altLang="en-US" smtClean="0"/>
              <a:t>	</a:t>
            </a:r>
            <a:r>
              <a:rPr lang="en-US" altLang="en-US" sz="2000" b="1" smtClean="0"/>
              <a:t>Directed Graph:</a:t>
            </a:r>
            <a:r>
              <a:rPr lang="en-US" altLang="en-US" sz="2000" smtClean="0"/>
              <a:t> G(V, E), set of vertices V, and set of Edges E, that are ordered pair of elements of V (directed edges)</a:t>
            </a:r>
          </a:p>
          <a:p>
            <a:pPr eaLnBrk="1" hangingPunct="1">
              <a:buFont typeface="Wingdings" panose="05000000000000000000" pitchFamily="2" charset="2"/>
              <a:buNone/>
            </a:pPr>
            <a:r>
              <a:rPr lang="en-US" altLang="en-US" sz="2000" smtClean="0"/>
              <a:t>	</a:t>
            </a:r>
            <a:r>
              <a:rPr lang="en-US" altLang="en-US" sz="2000" smtClean="0">
                <a:solidFill>
                  <a:srgbClr val="237AC1"/>
                </a:solidFill>
              </a:rPr>
              <a:t>Representation</a:t>
            </a:r>
            <a:r>
              <a:rPr lang="en-US" altLang="en-US" sz="2000" smtClean="0"/>
              <a:t> </a:t>
            </a:r>
            <a:r>
              <a:rPr lang="en-US" altLang="en-US" sz="2000" smtClean="0">
                <a:solidFill>
                  <a:srgbClr val="237AC1"/>
                </a:solidFill>
              </a:rPr>
              <a:t>Example: G(V, E), V = {u, v, w}, E = {(u, v), (v, w), (w, u)}</a:t>
            </a:r>
          </a:p>
          <a:p>
            <a:pPr eaLnBrk="1" hangingPunct="1">
              <a:buFont typeface="Wingdings" panose="05000000000000000000" pitchFamily="2" charset="2"/>
              <a:buNone/>
            </a:pPr>
            <a:endParaRPr lang="en-US" altLang="en-US" sz="2000" smtClean="0"/>
          </a:p>
        </p:txBody>
      </p:sp>
      <p:sp>
        <p:nvSpPr>
          <p:cNvPr id="11268" name="Oval 4"/>
          <p:cNvSpPr>
            <a:spLocks noChangeArrowheads="1"/>
          </p:cNvSpPr>
          <p:nvPr/>
        </p:nvSpPr>
        <p:spPr bwMode="auto">
          <a:xfrm>
            <a:off x="2971800" y="3962400"/>
            <a:ext cx="381000" cy="3810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u</a:t>
            </a:r>
          </a:p>
        </p:txBody>
      </p:sp>
      <p:sp>
        <p:nvSpPr>
          <p:cNvPr id="11269" name="Oval 5"/>
          <p:cNvSpPr>
            <a:spLocks noChangeArrowheads="1"/>
          </p:cNvSpPr>
          <p:nvPr/>
        </p:nvSpPr>
        <p:spPr bwMode="auto">
          <a:xfrm>
            <a:off x="3886200" y="5257800"/>
            <a:ext cx="381000" cy="3810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w</a:t>
            </a:r>
          </a:p>
        </p:txBody>
      </p:sp>
      <p:sp>
        <p:nvSpPr>
          <p:cNvPr id="11270" name="Oval 6"/>
          <p:cNvSpPr>
            <a:spLocks noChangeArrowheads="1"/>
          </p:cNvSpPr>
          <p:nvPr/>
        </p:nvSpPr>
        <p:spPr bwMode="auto">
          <a:xfrm>
            <a:off x="4876800" y="3962400"/>
            <a:ext cx="381000" cy="3810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v</a:t>
            </a:r>
          </a:p>
        </p:txBody>
      </p:sp>
      <p:sp>
        <p:nvSpPr>
          <p:cNvPr id="11271" name="Line 7"/>
          <p:cNvSpPr>
            <a:spLocks noChangeShapeType="1"/>
          </p:cNvSpPr>
          <p:nvPr/>
        </p:nvSpPr>
        <p:spPr bwMode="auto">
          <a:xfrm>
            <a:off x="3352800" y="4114800"/>
            <a:ext cx="15240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72" name="Line 8"/>
          <p:cNvSpPr>
            <a:spLocks noChangeShapeType="1"/>
          </p:cNvSpPr>
          <p:nvPr/>
        </p:nvSpPr>
        <p:spPr bwMode="auto">
          <a:xfrm flipH="1">
            <a:off x="4191000" y="4343400"/>
            <a:ext cx="762000" cy="914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73" name="Line 9"/>
          <p:cNvSpPr>
            <a:spLocks noChangeShapeType="1"/>
          </p:cNvSpPr>
          <p:nvPr/>
        </p:nvSpPr>
        <p:spPr bwMode="auto">
          <a:xfrm flipH="1" flipV="1">
            <a:off x="3276600" y="4343400"/>
            <a:ext cx="685800" cy="914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15123282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r>
              <a:rPr lang="en-US" altLang="en-US" smtClean="0"/>
              <a:t>Definitions – Graph Type</a:t>
            </a:r>
          </a:p>
        </p:txBody>
      </p:sp>
      <p:sp>
        <p:nvSpPr>
          <p:cNvPr id="12291" name="Rectangle 3"/>
          <p:cNvSpPr>
            <a:spLocks noGrp="1" noChangeArrowheads="1"/>
          </p:cNvSpPr>
          <p:nvPr>
            <p:ph idx="1"/>
          </p:nvPr>
        </p:nvSpPr>
        <p:spPr>
          <a:xfrm>
            <a:off x="457200" y="1624013"/>
            <a:ext cx="7772400" cy="2097087"/>
          </a:xfrm>
        </p:spPr>
        <p:txBody>
          <a:bodyPr/>
          <a:lstStyle/>
          <a:p>
            <a:pPr algn="just" eaLnBrk="1" hangingPunct="1">
              <a:buFont typeface="Wingdings" panose="05000000000000000000" pitchFamily="2" charset="2"/>
              <a:buNone/>
            </a:pPr>
            <a:r>
              <a:rPr lang="en-US" altLang="en-US" sz="2000" b="1" smtClean="0"/>
              <a:t>	Directed Multigraph:</a:t>
            </a:r>
            <a:r>
              <a:rPr lang="en-US" altLang="en-US" smtClean="0"/>
              <a:t> </a:t>
            </a:r>
            <a:r>
              <a:rPr lang="en-US" altLang="en-US" sz="2000" smtClean="0"/>
              <a:t>G(V,E), consists of set of vertices V, set of Edges E and a function f from E to {{u, v}| u, v ∈ V}. The edges e1 and e2 are multiple edges if f(e1) = f(e2)</a:t>
            </a:r>
          </a:p>
          <a:p>
            <a:pPr algn="just" eaLnBrk="1" hangingPunct="1">
              <a:buFont typeface="Wingdings" panose="05000000000000000000" pitchFamily="2" charset="2"/>
              <a:buNone/>
            </a:pPr>
            <a:r>
              <a:rPr lang="en-US" altLang="en-US" sz="2000" smtClean="0"/>
              <a:t>	</a:t>
            </a:r>
            <a:r>
              <a:rPr lang="en-US" altLang="en-US" sz="2000" smtClean="0">
                <a:solidFill>
                  <a:srgbClr val="237AC1"/>
                </a:solidFill>
              </a:rPr>
              <a:t>Representation Example: V = {u, v, w}, E = {e</a:t>
            </a:r>
            <a:r>
              <a:rPr lang="en-US" altLang="en-US" sz="2000" baseline="-25000" smtClean="0">
                <a:solidFill>
                  <a:srgbClr val="237AC1"/>
                </a:solidFill>
              </a:rPr>
              <a:t>1</a:t>
            </a:r>
            <a:r>
              <a:rPr lang="en-US" altLang="en-US" sz="2000" smtClean="0">
                <a:solidFill>
                  <a:srgbClr val="237AC1"/>
                </a:solidFill>
              </a:rPr>
              <a:t>, e</a:t>
            </a:r>
            <a:r>
              <a:rPr lang="en-US" altLang="en-US" sz="2000" baseline="-25000" smtClean="0">
                <a:solidFill>
                  <a:srgbClr val="237AC1"/>
                </a:solidFill>
              </a:rPr>
              <a:t>2</a:t>
            </a:r>
            <a:r>
              <a:rPr lang="en-US" altLang="en-US" sz="2000" smtClean="0">
                <a:solidFill>
                  <a:srgbClr val="237AC1"/>
                </a:solidFill>
              </a:rPr>
              <a:t>, e</a:t>
            </a:r>
            <a:r>
              <a:rPr lang="en-US" altLang="en-US" sz="2000" baseline="-25000" smtClean="0">
                <a:solidFill>
                  <a:srgbClr val="237AC1"/>
                </a:solidFill>
              </a:rPr>
              <a:t>3</a:t>
            </a:r>
            <a:r>
              <a:rPr lang="en-US" altLang="en-US" sz="2000" smtClean="0">
                <a:solidFill>
                  <a:srgbClr val="237AC1"/>
                </a:solidFill>
              </a:rPr>
              <a:t>}</a:t>
            </a:r>
          </a:p>
        </p:txBody>
      </p:sp>
      <p:sp>
        <p:nvSpPr>
          <p:cNvPr id="12292" name="Oval 4"/>
          <p:cNvSpPr>
            <a:spLocks noChangeArrowheads="1"/>
          </p:cNvSpPr>
          <p:nvPr/>
        </p:nvSpPr>
        <p:spPr bwMode="auto">
          <a:xfrm>
            <a:off x="2971800" y="4267200"/>
            <a:ext cx="381000" cy="3810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u</a:t>
            </a:r>
          </a:p>
        </p:txBody>
      </p:sp>
      <p:sp>
        <p:nvSpPr>
          <p:cNvPr id="12293" name="Oval 5"/>
          <p:cNvSpPr>
            <a:spLocks noChangeArrowheads="1"/>
          </p:cNvSpPr>
          <p:nvPr/>
        </p:nvSpPr>
        <p:spPr bwMode="auto">
          <a:xfrm>
            <a:off x="4572000" y="4572000"/>
            <a:ext cx="381000" cy="3810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w</a:t>
            </a:r>
          </a:p>
        </p:txBody>
      </p:sp>
      <p:sp>
        <p:nvSpPr>
          <p:cNvPr id="12294" name="Oval 6"/>
          <p:cNvSpPr>
            <a:spLocks noChangeArrowheads="1"/>
          </p:cNvSpPr>
          <p:nvPr/>
        </p:nvSpPr>
        <p:spPr bwMode="auto">
          <a:xfrm>
            <a:off x="2971800" y="5410200"/>
            <a:ext cx="381000" cy="3810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v</a:t>
            </a:r>
          </a:p>
        </p:txBody>
      </p:sp>
      <p:sp>
        <p:nvSpPr>
          <p:cNvPr id="12295" name="Line 7"/>
          <p:cNvSpPr>
            <a:spLocks noChangeShapeType="1"/>
          </p:cNvSpPr>
          <p:nvPr/>
        </p:nvSpPr>
        <p:spPr bwMode="auto">
          <a:xfrm>
            <a:off x="3048000" y="4648200"/>
            <a:ext cx="0" cy="762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296" name="Line 8"/>
          <p:cNvSpPr>
            <a:spLocks noChangeShapeType="1"/>
          </p:cNvSpPr>
          <p:nvPr/>
        </p:nvSpPr>
        <p:spPr bwMode="auto">
          <a:xfrm>
            <a:off x="3200400" y="4648200"/>
            <a:ext cx="0" cy="762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297" name="Line 9"/>
          <p:cNvSpPr>
            <a:spLocks noChangeShapeType="1"/>
          </p:cNvSpPr>
          <p:nvPr/>
        </p:nvSpPr>
        <p:spPr bwMode="auto">
          <a:xfrm flipV="1">
            <a:off x="3352800" y="4876800"/>
            <a:ext cx="1219200" cy="685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298" name="Rectangle 13"/>
          <p:cNvSpPr>
            <a:spLocks noChangeArrowheads="1"/>
          </p:cNvSpPr>
          <p:nvPr/>
        </p:nvSpPr>
        <p:spPr bwMode="auto">
          <a:xfrm>
            <a:off x="2438400" y="4876800"/>
            <a:ext cx="304800" cy="228600"/>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e</a:t>
            </a:r>
            <a:r>
              <a:rPr lang="en-US" altLang="en-US" baseline="-25000">
                <a:latin typeface="Tahoma" panose="020B0604030504040204" pitchFamily="34" charset="0"/>
              </a:rPr>
              <a:t>1</a:t>
            </a:r>
          </a:p>
        </p:txBody>
      </p:sp>
      <p:sp>
        <p:nvSpPr>
          <p:cNvPr id="12299" name="Rectangle 14"/>
          <p:cNvSpPr>
            <a:spLocks noChangeArrowheads="1"/>
          </p:cNvSpPr>
          <p:nvPr/>
        </p:nvSpPr>
        <p:spPr bwMode="auto">
          <a:xfrm>
            <a:off x="3429000" y="4800600"/>
            <a:ext cx="304800" cy="228600"/>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e</a:t>
            </a:r>
            <a:r>
              <a:rPr lang="en-US" altLang="en-US" baseline="-25000">
                <a:latin typeface="Tahoma" panose="020B0604030504040204" pitchFamily="34" charset="0"/>
              </a:rPr>
              <a:t>2</a:t>
            </a:r>
          </a:p>
        </p:txBody>
      </p:sp>
      <p:sp>
        <p:nvSpPr>
          <p:cNvPr id="12300" name="Rectangle 15"/>
          <p:cNvSpPr>
            <a:spLocks noChangeArrowheads="1"/>
          </p:cNvSpPr>
          <p:nvPr/>
        </p:nvSpPr>
        <p:spPr bwMode="auto">
          <a:xfrm>
            <a:off x="4038600" y="5410200"/>
            <a:ext cx="304800" cy="228600"/>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e</a:t>
            </a:r>
            <a:r>
              <a:rPr lang="en-US" altLang="en-US" baseline="-25000">
                <a:latin typeface="Tahoma" panose="020B0604030504040204" pitchFamily="34" charset="0"/>
              </a:rPr>
              <a:t>3</a:t>
            </a:r>
          </a:p>
        </p:txBody>
      </p:sp>
    </p:spTree>
    <p:extLst>
      <p:ext uri="{BB962C8B-B14F-4D97-AF65-F5344CB8AC3E}">
        <p14:creationId xmlns:p14="http://schemas.microsoft.com/office/powerpoint/2010/main" val="293952753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hangingPunct="1"/>
            <a:r>
              <a:rPr lang="en-US" altLang="en-US" smtClean="0"/>
              <a:t>Definitions – Graph Type</a:t>
            </a:r>
          </a:p>
        </p:txBody>
      </p:sp>
      <p:sp>
        <p:nvSpPr>
          <p:cNvPr id="13315" name="Rectangle 3"/>
          <p:cNvSpPr>
            <a:spLocks noGrp="1" noChangeArrowheads="1"/>
          </p:cNvSpPr>
          <p:nvPr>
            <p:ph idx="1"/>
          </p:nvPr>
        </p:nvSpPr>
        <p:spPr>
          <a:xfrm>
            <a:off x="457200" y="1624013"/>
            <a:ext cx="7772400" cy="2097087"/>
          </a:xfrm>
        </p:spPr>
        <p:txBody>
          <a:bodyPr/>
          <a:lstStyle/>
          <a:p>
            <a:pPr algn="just" eaLnBrk="1" hangingPunct="1">
              <a:buFont typeface="Wingdings" panose="05000000000000000000" pitchFamily="2" charset="2"/>
              <a:buNone/>
            </a:pPr>
            <a:r>
              <a:rPr lang="en-US" altLang="en-US" sz="2000" b="1" smtClean="0"/>
              <a:t>	Directed Pseudograph:</a:t>
            </a:r>
            <a:r>
              <a:rPr lang="en-US" altLang="en-US" smtClean="0"/>
              <a:t> </a:t>
            </a:r>
            <a:r>
              <a:rPr lang="en-US" altLang="en-US" sz="2000" smtClean="0"/>
              <a:t>G(V,E), consists of set of vertices V, set of Edges E and a function f from E to {{u, v}| u, v ∈ V}. The edges e1 and e2 are multiple edges if f(e1) = f(e2)</a:t>
            </a:r>
          </a:p>
          <a:p>
            <a:pPr algn="just" eaLnBrk="1" hangingPunct="1">
              <a:buFont typeface="Wingdings" panose="05000000000000000000" pitchFamily="2" charset="2"/>
              <a:buNone/>
            </a:pPr>
            <a:r>
              <a:rPr lang="en-US" altLang="en-US" sz="2000" smtClean="0"/>
              <a:t>	</a:t>
            </a:r>
            <a:r>
              <a:rPr lang="en-US" altLang="en-US" sz="2000" smtClean="0">
                <a:solidFill>
                  <a:srgbClr val="237AC1"/>
                </a:solidFill>
              </a:rPr>
              <a:t>Representation Example: V = {u, v, w}, E = {e</a:t>
            </a:r>
            <a:r>
              <a:rPr lang="en-US" altLang="en-US" sz="2000" baseline="-25000" smtClean="0">
                <a:solidFill>
                  <a:srgbClr val="237AC1"/>
                </a:solidFill>
              </a:rPr>
              <a:t>1</a:t>
            </a:r>
            <a:r>
              <a:rPr lang="en-US" altLang="en-US" sz="2000" smtClean="0">
                <a:solidFill>
                  <a:srgbClr val="237AC1"/>
                </a:solidFill>
              </a:rPr>
              <a:t>, e</a:t>
            </a:r>
            <a:r>
              <a:rPr lang="en-US" altLang="en-US" sz="2000" baseline="-25000" smtClean="0">
                <a:solidFill>
                  <a:srgbClr val="237AC1"/>
                </a:solidFill>
              </a:rPr>
              <a:t>2</a:t>
            </a:r>
            <a:r>
              <a:rPr lang="en-US" altLang="en-US" sz="2000" smtClean="0">
                <a:solidFill>
                  <a:srgbClr val="237AC1"/>
                </a:solidFill>
              </a:rPr>
              <a:t>, e</a:t>
            </a:r>
            <a:r>
              <a:rPr lang="en-US" altLang="en-US" sz="2000" baseline="-25000" smtClean="0">
                <a:solidFill>
                  <a:srgbClr val="237AC1"/>
                </a:solidFill>
              </a:rPr>
              <a:t>3</a:t>
            </a:r>
            <a:r>
              <a:rPr lang="en-US" altLang="en-US" sz="2000" smtClean="0">
                <a:solidFill>
                  <a:srgbClr val="237AC1"/>
                </a:solidFill>
              </a:rPr>
              <a:t>, e</a:t>
            </a:r>
            <a:r>
              <a:rPr lang="en-US" altLang="en-US" sz="2000" baseline="-25000" smtClean="0">
                <a:solidFill>
                  <a:srgbClr val="237AC1"/>
                </a:solidFill>
              </a:rPr>
              <a:t>4</a:t>
            </a:r>
            <a:r>
              <a:rPr lang="en-US" altLang="en-US" sz="2000" smtClean="0">
                <a:solidFill>
                  <a:srgbClr val="237AC1"/>
                </a:solidFill>
              </a:rPr>
              <a:t>}</a:t>
            </a:r>
          </a:p>
        </p:txBody>
      </p:sp>
      <p:sp>
        <p:nvSpPr>
          <p:cNvPr id="13316" name="Oval 4"/>
          <p:cNvSpPr>
            <a:spLocks noChangeArrowheads="1"/>
          </p:cNvSpPr>
          <p:nvPr/>
        </p:nvSpPr>
        <p:spPr bwMode="auto">
          <a:xfrm>
            <a:off x="2971800" y="4267200"/>
            <a:ext cx="381000" cy="3810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u</a:t>
            </a:r>
          </a:p>
        </p:txBody>
      </p:sp>
      <p:sp>
        <p:nvSpPr>
          <p:cNvPr id="13317" name="Oval 5"/>
          <p:cNvSpPr>
            <a:spLocks noChangeArrowheads="1"/>
          </p:cNvSpPr>
          <p:nvPr/>
        </p:nvSpPr>
        <p:spPr bwMode="auto">
          <a:xfrm>
            <a:off x="4572000" y="4572000"/>
            <a:ext cx="381000" cy="3810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w</a:t>
            </a:r>
          </a:p>
        </p:txBody>
      </p:sp>
      <p:sp>
        <p:nvSpPr>
          <p:cNvPr id="13318" name="Oval 6"/>
          <p:cNvSpPr>
            <a:spLocks noChangeArrowheads="1"/>
          </p:cNvSpPr>
          <p:nvPr/>
        </p:nvSpPr>
        <p:spPr bwMode="auto">
          <a:xfrm>
            <a:off x="2971800" y="5410200"/>
            <a:ext cx="381000" cy="3810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v</a:t>
            </a:r>
          </a:p>
        </p:txBody>
      </p:sp>
      <p:sp>
        <p:nvSpPr>
          <p:cNvPr id="13319" name="Line 7"/>
          <p:cNvSpPr>
            <a:spLocks noChangeShapeType="1"/>
          </p:cNvSpPr>
          <p:nvPr/>
        </p:nvSpPr>
        <p:spPr bwMode="auto">
          <a:xfrm>
            <a:off x="3048000" y="4648200"/>
            <a:ext cx="0" cy="762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320" name="Line 8"/>
          <p:cNvSpPr>
            <a:spLocks noChangeShapeType="1"/>
          </p:cNvSpPr>
          <p:nvPr/>
        </p:nvSpPr>
        <p:spPr bwMode="auto">
          <a:xfrm>
            <a:off x="3200400" y="4648200"/>
            <a:ext cx="0" cy="762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321" name="Line 9"/>
          <p:cNvSpPr>
            <a:spLocks noChangeShapeType="1"/>
          </p:cNvSpPr>
          <p:nvPr/>
        </p:nvSpPr>
        <p:spPr bwMode="auto">
          <a:xfrm flipV="1">
            <a:off x="3352800" y="4876800"/>
            <a:ext cx="1219200" cy="685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322" name="Line 11"/>
          <p:cNvSpPr>
            <a:spLocks noChangeShapeType="1"/>
          </p:cNvSpPr>
          <p:nvPr/>
        </p:nvSpPr>
        <p:spPr bwMode="auto">
          <a:xfrm>
            <a:off x="5410200" y="4648200"/>
            <a:ext cx="0" cy="228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323" name="Line 12"/>
          <p:cNvSpPr>
            <a:spLocks noChangeShapeType="1"/>
          </p:cNvSpPr>
          <p:nvPr/>
        </p:nvSpPr>
        <p:spPr bwMode="auto">
          <a:xfrm flipH="1">
            <a:off x="4953000" y="4876800"/>
            <a:ext cx="4572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324" name="Rectangle 13"/>
          <p:cNvSpPr>
            <a:spLocks noChangeArrowheads="1"/>
          </p:cNvSpPr>
          <p:nvPr/>
        </p:nvSpPr>
        <p:spPr bwMode="auto">
          <a:xfrm>
            <a:off x="2438400" y="4876800"/>
            <a:ext cx="304800" cy="228600"/>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e</a:t>
            </a:r>
            <a:r>
              <a:rPr lang="en-US" altLang="en-US" baseline="-25000">
                <a:latin typeface="Tahoma" panose="020B0604030504040204" pitchFamily="34" charset="0"/>
              </a:rPr>
              <a:t>1</a:t>
            </a:r>
          </a:p>
        </p:txBody>
      </p:sp>
      <p:sp>
        <p:nvSpPr>
          <p:cNvPr id="13325" name="Rectangle 14"/>
          <p:cNvSpPr>
            <a:spLocks noChangeArrowheads="1"/>
          </p:cNvSpPr>
          <p:nvPr/>
        </p:nvSpPr>
        <p:spPr bwMode="auto">
          <a:xfrm>
            <a:off x="3429000" y="4800600"/>
            <a:ext cx="304800" cy="228600"/>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e</a:t>
            </a:r>
            <a:r>
              <a:rPr lang="en-US" altLang="en-US" baseline="-25000">
                <a:latin typeface="Tahoma" panose="020B0604030504040204" pitchFamily="34" charset="0"/>
              </a:rPr>
              <a:t>2</a:t>
            </a:r>
          </a:p>
        </p:txBody>
      </p:sp>
      <p:sp>
        <p:nvSpPr>
          <p:cNvPr id="13326" name="Rectangle 15"/>
          <p:cNvSpPr>
            <a:spLocks noChangeArrowheads="1"/>
          </p:cNvSpPr>
          <p:nvPr/>
        </p:nvSpPr>
        <p:spPr bwMode="auto">
          <a:xfrm>
            <a:off x="4038600" y="5410200"/>
            <a:ext cx="304800" cy="228600"/>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e</a:t>
            </a:r>
            <a:r>
              <a:rPr lang="en-US" altLang="en-US" baseline="-25000">
                <a:latin typeface="Tahoma" panose="020B0604030504040204" pitchFamily="34" charset="0"/>
              </a:rPr>
              <a:t>3</a:t>
            </a:r>
          </a:p>
        </p:txBody>
      </p:sp>
      <p:sp>
        <p:nvSpPr>
          <p:cNvPr id="13327" name="Rectangle 16"/>
          <p:cNvSpPr>
            <a:spLocks noChangeArrowheads="1"/>
          </p:cNvSpPr>
          <p:nvPr/>
        </p:nvSpPr>
        <p:spPr bwMode="auto">
          <a:xfrm>
            <a:off x="5715000" y="4648200"/>
            <a:ext cx="76200" cy="228600"/>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e</a:t>
            </a:r>
            <a:r>
              <a:rPr lang="en-US" altLang="en-US" baseline="-25000">
                <a:latin typeface="Tahoma" panose="020B0604030504040204" pitchFamily="34" charset="0"/>
              </a:rPr>
              <a:t>4</a:t>
            </a:r>
          </a:p>
        </p:txBody>
      </p:sp>
      <p:sp>
        <p:nvSpPr>
          <p:cNvPr id="13328" name="Line 11"/>
          <p:cNvSpPr>
            <a:spLocks noChangeShapeType="1"/>
          </p:cNvSpPr>
          <p:nvPr/>
        </p:nvSpPr>
        <p:spPr bwMode="auto">
          <a:xfrm flipH="1" flipV="1">
            <a:off x="4800600" y="4648200"/>
            <a:ext cx="609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317603685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en-US" altLang="en-US" smtClean="0"/>
              <a:t>Definitions – Graph Type</a:t>
            </a:r>
          </a:p>
        </p:txBody>
      </p:sp>
      <p:sp>
        <p:nvSpPr>
          <p:cNvPr id="14339" name="Rectangle 3"/>
          <p:cNvSpPr>
            <a:spLocks noGrp="1" noChangeArrowheads="1"/>
          </p:cNvSpPr>
          <p:nvPr>
            <p:ph type="body" sz="half" idx="1"/>
          </p:nvPr>
        </p:nvSpPr>
        <p:spPr>
          <a:xfrm>
            <a:off x="1182688" y="2057400"/>
            <a:ext cx="265112" cy="4075113"/>
          </a:xfrm>
        </p:spPr>
        <p:txBody>
          <a:bodyPr/>
          <a:lstStyle/>
          <a:p>
            <a:pPr eaLnBrk="1" hangingPunct="1">
              <a:buFont typeface="Wingdings" panose="05000000000000000000" pitchFamily="2" charset="2"/>
              <a:buNone/>
            </a:pPr>
            <a:endParaRPr lang="en-US" altLang="en-US" sz="1600" smtClean="0"/>
          </a:p>
          <a:p>
            <a:pPr eaLnBrk="1" hangingPunct="1">
              <a:buFont typeface="Wingdings" panose="05000000000000000000" pitchFamily="2" charset="2"/>
              <a:buNone/>
            </a:pPr>
            <a:endParaRPr lang="en-US" altLang="en-US" sz="2800" smtClean="0"/>
          </a:p>
        </p:txBody>
      </p:sp>
      <p:graphicFrame>
        <p:nvGraphicFramePr>
          <p:cNvPr id="18494" name="Group 62"/>
          <p:cNvGraphicFramePr>
            <a:graphicFrameLocks noGrp="1"/>
          </p:cNvGraphicFramePr>
          <p:nvPr>
            <p:ph sz="half" idx="2"/>
          </p:nvPr>
        </p:nvGraphicFramePr>
        <p:xfrm>
          <a:off x="1150938" y="2057400"/>
          <a:ext cx="6781800" cy="3836986"/>
        </p:xfrm>
        <a:graphic>
          <a:graphicData uri="http://schemas.openxmlformats.org/drawingml/2006/table">
            <a:tbl>
              <a:tblPr/>
              <a:tblGrid>
                <a:gridCol w="1647825">
                  <a:extLst>
                    <a:ext uri="{9D8B030D-6E8A-4147-A177-3AD203B41FA5}">
                      <a16:colId xmlns:a16="http://schemas.microsoft.com/office/drawing/2014/main" val="20000"/>
                    </a:ext>
                  </a:extLst>
                </a:gridCol>
                <a:gridCol w="1649413">
                  <a:extLst>
                    <a:ext uri="{9D8B030D-6E8A-4147-A177-3AD203B41FA5}">
                      <a16:colId xmlns:a16="http://schemas.microsoft.com/office/drawing/2014/main" val="20001"/>
                    </a:ext>
                  </a:extLst>
                </a:gridCol>
                <a:gridCol w="1647825">
                  <a:extLst>
                    <a:ext uri="{9D8B030D-6E8A-4147-A177-3AD203B41FA5}">
                      <a16:colId xmlns:a16="http://schemas.microsoft.com/office/drawing/2014/main" val="20002"/>
                    </a:ext>
                  </a:extLst>
                </a:gridCol>
                <a:gridCol w="1836737">
                  <a:extLst>
                    <a:ext uri="{9D8B030D-6E8A-4147-A177-3AD203B41FA5}">
                      <a16:colId xmlns:a16="http://schemas.microsoft.com/office/drawing/2014/main" val="20003"/>
                    </a:ext>
                  </a:extLst>
                </a:gridCol>
              </a:tblGrid>
              <a:tr h="642853">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800" b="0" i="0" u="none" strike="noStrike" cap="none" normalizeH="0" baseline="0">
                          <a:ln>
                            <a:noFill/>
                          </a:ln>
                          <a:solidFill>
                            <a:schemeClr val="tx1"/>
                          </a:solidFill>
                          <a:effectLst/>
                          <a:latin typeface="Tahoma" panose="020B0604030504040204" pitchFamily="34" charset="0"/>
                        </a:rPr>
                        <a:t>Type</a:t>
                      </a:r>
                    </a:p>
                  </a:txBody>
                  <a:tcPr marT="45714" marB="457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800" b="0" i="0" u="none" strike="noStrike" cap="none" normalizeH="0" baseline="0">
                          <a:ln>
                            <a:noFill/>
                          </a:ln>
                          <a:solidFill>
                            <a:schemeClr val="tx1"/>
                          </a:solidFill>
                          <a:effectLst/>
                          <a:latin typeface="Tahoma" panose="020B0604030504040204" pitchFamily="34" charset="0"/>
                        </a:rPr>
                        <a:t>Edges</a:t>
                      </a: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800" b="0" i="0" u="none" strike="noStrike" cap="none" normalizeH="0" baseline="0">
                          <a:ln>
                            <a:noFill/>
                          </a:ln>
                          <a:solidFill>
                            <a:schemeClr val="tx1"/>
                          </a:solidFill>
                          <a:effectLst/>
                          <a:latin typeface="Tahoma" panose="020B0604030504040204" pitchFamily="34" charset="0"/>
                        </a:rPr>
                        <a:t>Multiple Edges Allowed ?</a:t>
                      </a: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800" b="0" i="0" u="none" strike="noStrike" cap="none" normalizeH="0" baseline="0">
                          <a:ln>
                            <a:noFill/>
                          </a:ln>
                          <a:solidFill>
                            <a:schemeClr val="tx1"/>
                          </a:solidFill>
                          <a:effectLst/>
                          <a:latin typeface="Tahoma" panose="020B0604030504040204" pitchFamily="34" charset="0"/>
                        </a:rPr>
                        <a:t>Loops Allowed ?</a:t>
                      </a:r>
                    </a:p>
                  </a:txBody>
                  <a:tcPr marT="45714" marB="457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26980">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400" b="1" i="0" u="none" strike="noStrike" cap="none" normalizeH="0" baseline="0">
                          <a:ln>
                            <a:noFill/>
                          </a:ln>
                          <a:solidFill>
                            <a:schemeClr val="tx1"/>
                          </a:solidFill>
                          <a:effectLst/>
                          <a:latin typeface="Tahoma" panose="020B0604030504040204" pitchFamily="34" charset="0"/>
                        </a:rPr>
                        <a:t>Simple Graph</a:t>
                      </a:r>
                    </a:p>
                  </a:txBody>
                  <a:tcPr marT="45714" marB="457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400" b="0" i="0" u="none" strike="noStrike" cap="none" normalizeH="0" baseline="0">
                          <a:ln>
                            <a:noFill/>
                          </a:ln>
                          <a:solidFill>
                            <a:schemeClr val="tx1"/>
                          </a:solidFill>
                          <a:effectLst/>
                          <a:latin typeface="Tahoma" panose="020B0604030504040204" pitchFamily="34" charset="0"/>
                        </a:rPr>
                        <a:t>undirected</a:t>
                      </a: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400" b="0" i="0" u="none" strike="noStrike" cap="none" normalizeH="0" baseline="0">
                          <a:ln>
                            <a:noFill/>
                          </a:ln>
                          <a:solidFill>
                            <a:schemeClr val="tx1"/>
                          </a:solidFill>
                          <a:effectLst/>
                          <a:latin typeface="Tahoma" panose="020B0604030504040204" pitchFamily="34" charset="0"/>
                        </a:rPr>
                        <a:t>No</a:t>
                      </a: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400" b="0" i="0" u="none" strike="noStrike" cap="none" normalizeH="0" baseline="0">
                          <a:ln>
                            <a:noFill/>
                          </a:ln>
                          <a:solidFill>
                            <a:schemeClr val="tx1"/>
                          </a:solidFill>
                          <a:effectLst/>
                          <a:latin typeface="Tahoma" panose="020B0604030504040204" pitchFamily="34" charset="0"/>
                        </a:rPr>
                        <a:t>No</a:t>
                      </a:r>
                    </a:p>
                  </a:txBody>
                  <a:tcPr marT="45714" marB="457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26980">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400" b="1" i="0" u="none" strike="noStrike" cap="none" normalizeH="0" baseline="0">
                          <a:ln>
                            <a:noFill/>
                          </a:ln>
                          <a:solidFill>
                            <a:schemeClr val="tx1"/>
                          </a:solidFill>
                          <a:effectLst/>
                          <a:latin typeface="Tahoma" panose="020B0604030504040204" pitchFamily="34" charset="0"/>
                        </a:rPr>
                        <a:t>Multigraph</a:t>
                      </a:r>
                    </a:p>
                  </a:txBody>
                  <a:tcPr marT="45714" marB="457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400" b="0" i="0" u="none" strike="noStrike" cap="none" normalizeH="0" baseline="0">
                          <a:ln>
                            <a:noFill/>
                          </a:ln>
                          <a:solidFill>
                            <a:schemeClr val="tx1"/>
                          </a:solidFill>
                          <a:effectLst/>
                          <a:latin typeface="Tahoma" panose="020B0604030504040204" pitchFamily="34" charset="0"/>
                        </a:rPr>
                        <a:t>undirected</a:t>
                      </a: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400" b="0" i="0" u="none" strike="noStrike" cap="none" normalizeH="0" baseline="0">
                          <a:ln>
                            <a:noFill/>
                          </a:ln>
                          <a:solidFill>
                            <a:schemeClr val="tx1"/>
                          </a:solidFill>
                          <a:effectLst/>
                          <a:latin typeface="Tahoma" panose="020B0604030504040204" pitchFamily="34" charset="0"/>
                        </a:rPr>
                        <a:t>Yes</a:t>
                      </a: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400" b="0" i="0" u="none" strike="noStrike" cap="none" normalizeH="0" baseline="0">
                          <a:ln>
                            <a:noFill/>
                          </a:ln>
                          <a:solidFill>
                            <a:schemeClr val="tx1"/>
                          </a:solidFill>
                          <a:effectLst/>
                          <a:latin typeface="Tahoma" panose="020B0604030504040204" pitchFamily="34" charset="0"/>
                        </a:rPr>
                        <a:t>No</a:t>
                      </a:r>
                    </a:p>
                  </a:txBody>
                  <a:tcPr marT="45714" marB="457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26980">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400" b="1" i="0" u="none" strike="noStrike" cap="none" normalizeH="0" baseline="0">
                          <a:ln>
                            <a:noFill/>
                          </a:ln>
                          <a:solidFill>
                            <a:schemeClr val="tx1"/>
                          </a:solidFill>
                          <a:effectLst/>
                          <a:latin typeface="Tahoma" panose="020B0604030504040204" pitchFamily="34" charset="0"/>
                        </a:rPr>
                        <a:t>Pseudograph</a:t>
                      </a:r>
                    </a:p>
                  </a:txBody>
                  <a:tcPr marT="45714" marB="457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400" b="0" i="0" u="none" strike="noStrike" cap="none" normalizeH="0" baseline="0">
                          <a:ln>
                            <a:noFill/>
                          </a:ln>
                          <a:solidFill>
                            <a:schemeClr val="tx1"/>
                          </a:solidFill>
                          <a:effectLst/>
                          <a:latin typeface="Tahoma" panose="020B0604030504040204" pitchFamily="34" charset="0"/>
                        </a:rPr>
                        <a:t>undirected</a:t>
                      </a: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400" b="0" i="0" u="none" strike="noStrike" cap="none" normalizeH="0" baseline="0" dirty="0">
                          <a:ln>
                            <a:noFill/>
                          </a:ln>
                          <a:solidFill>
                            <a:schemeClr val="tx1"/>
                          </a:solidFill>
                          <a:effectLst/>
                          <a:latin typeface="Tahoma" panose="020B0604030504040204" pitchFamily="34" charset="0"/>
                        </a:rPr>
                        <a:t>Yes</a:t>
                      </a: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400" b="0" i="0" u="none" strike="noStrike" cap="none" normalizeH="0" baseline="0" dirty="0">
                          <a:ln>
                            <a:noFill/>
                          </a:ln>
                          <a:solidFill>
                            <a:schemeClr val="tx1"/>
                          </a:solidFill>
                          <a:effectLst/>
                          <a:latin typeface="Tahoma" panose="020B0604030504040204" pitchFamily="34" charset="0"/>
                        </a:rPr>
                        <a:t>Yes</a:t>
                      </a:r>
                    </a:p>
                  </a:txBody>
                  <a:tcPr marT="45714" marB="457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25393">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400" b="1" i="0" u="none" strike="noStrike" cap="none" normalizeH="0" baseline="0" dirty="0" smtClean="0">
                          <a:ln>
                            <a:noFill/>
                          </a:ln>
                          <a:solidFill>
                            <a:schemeClr val="tx1"/>
                          </a:solidFill>
                          <a:effectLst/>
                          <a:latin typeface="Tahoma" panose="020B0604030504040204" pitchFamily="34" charset="0"/>
                        </a:rPr>
                        <a:t>Simple Directed </a:t>
                      </a:r>
                      <a:r>
                        <a:rPr kumimoji="0" lang="en-US" altLang="en-US" sz="1400" b="1" i="0" u="none" strike="noStrike" cap="none" normalizeH="0" baseline="0" dirty="0">
                          <a:ln>
                            <a:noFill/>
                          </a:ln>
                          <a:solidFill>
                            <a:schemeClr val="tx1"/>
                          </a:solidFill>
                          <a:effectLst/>
                          <a:latin typeface="Tahoma" panose="020B0604030504040204" pitchFamily="34" charset="0"/>
                        </a:rPr>
                        <a:t>Graph</a:t>
                      </a:r>
                    </a:p>
                  </a:txBody>
                  <a:tcPr marT="45714" marB="457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400" b="0" i="0" u="none" strike="noStrike" cap="none" normalizeH="0" baseline="0">
                          <a:ln>
                            <a:noFill/>
                          </a:ln>
                          <a:solidFill>
                            <a:schemeClr val="tx1"/>
                          </a:solidFill>
                          <a:effectLst/>
                          <a:latin typeface="Tahoma" panose="020B0604030504040204" pitchFamily="34" charset="0"/>
                        </a:rPr>
                        <a:t>directed</a:t>
                      </a: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400" b="0" i="0" u="none" strike="noStrike" cap="none" normalizeH="0" baseline="0" dirty="0">
                          <a:ln>
                            <a:noFill/>
                          </a:ln>
                          <a:solidFill>
                            <a:schemeClr val="tx1"/>
                          </a:solidFill>
                          <a:effectLst/>
                          <a:latin typeface="Tahoma" panose="020B0604030504040204" pitchFamily="34" charset="0"/>
                        </a:rPr>
                        <a:t>No</a:t>
                      </a: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400" b="0" i="0" u="none" strike="noStrike" cap="none" normalizeH="0" baseline="0" dirty="0" smtClean="0">
                          <a:ln>
                            <a:noFill/>
                          </a:ln>
                          <a:solidFill>
                            <a:schemeClr val="tx1"/>
                          </a:solidFill>
                          <a:effectLst/>
                          <a:latin typeface="Tahoma" panose="020B0604030504040204" pitchFamily="34" charset="0"/>
                        </a:rPr>
                        <a:t>No</a:t>
                      </a:r>
                      <a:endParaRPr kumimoji="0" lang="en-US" altLang="en-US" sz="1400" b="0" i="0" u="none" strike="noStrike" cap="none" normalizeH="0" baseline="0" dirty="0">
                        <a:ln>
                          <a:noFill/>
                        </a:ln>
                        <a:solidFill>
                          <a:schemeClr val="tx1"/>
                        </a:solidFill>
                        <a:effectLst/>
                        <a:latin typeface="Tahoma" panose="020B0604030504040204" pitchFamily="34" charset="0"/>
                      </a:endParaRPr>
                    </a:p>
                  </a:txBody>
                  <a:tcPr marT="45714" marB="457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60820">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400" b="1" i="0" u="none" strike="noStrike" cap="none" normalizeH="0" baseline="0" dirty="0">
                          <a:ln>
                            <a:noFill/>
                          </a:ln>
                          <a:solidFill>
                            <a:schemeClr val="tx1"/>
                          </a:solidFill>
                          <a:effectLst/>
                          <a:latin typeface="Tahoma" panose="020B0604030504040204" pitchFamily="34" charset="0"/>
                        </a:rPr>
                        <a:t>Directed Multigraph</a:t>
                      </a:r>
                    </a:p>
                  </a:txBody>
                  <a:tcPr marT="45714" marB="457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400" b="0" i="0" u="none" strike="noStrike" cap="none" normalizeH="0" baseline="0" dirty="0">
                          <a:ln>
                            <a:noFill/>
                          </a:ln>
                          <a:solidFill>
                            <a:schemeClr val="tx1"/>
                          </a:solidFill>
                          <a:effectLst/>
                          <a:latin typeface="Tahoma" panose="020B0604030504040204" pitchFamily="34" charset="0"/>
                        </a:rPr>
                        <a:t>directed</a:t>
                      </a: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400" b="0" i="0" u="none" strike="noStrike" cap="none" normalizeH="0" baseline="0">
                          <a:ln>
                            <a:noFill/>
                          </a:ln>
                          <a:solidFill>
                            <a:schemeClr val="tx1"/>
                          </a:solidFill>
                          <a:effectLst/>
                          <a:latin typeface="Tahoma" panose="020B0604030504040204" pitchFamily="34" charset="0"/>
                        </a:rPr>
                        <a:t>Yes</a:t>
                      </a: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400" b="0" i="0" u="none" strike="noStrike" cap="none" normalizeH="0" baseline="0" dirty="0" smtClean="0">
                          <a:ln>
                            <a:noFill/>
                          </a:ln>
                          <a:solidFill>
                            <a:schemeClr val="tx1"/>
                          </a:solidFill>
                          <a:effectLst/>
                          <a:latin typeface="Tahoma" panose="020B0604030504040204" pitchFamily="34" charset="0"/>
                        </a:rPr>
                        <a:t>No</a:t>
                      </a:r>
                    </a:p>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1400" b="0" i="0" u="none" strike="noStrike" cap="none" normalizeH="0" baseline="0" dirty="0">
                        <a:ln>
                          <a:noFill/>
                        </a:ln>
                        <a:solidFill>
                          <a:schemeClr val="tx1"/>
                        </a:solidFill>
                        <a:effectLst/>
                        <a:latin typeface="Tahoma" panose="020B0604030504040204" pitchFamily="34" charset="0"/>
                      </a:endParaRPr>
                    </a:p>
                  </a:txBody>
                  <a:tcPr marT="45714" marB="457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2698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defRPr/>
                      </a:pPr>
                      <a:r>
                        <a:rPr kumimoji="0" lang="en-US" altLang="en-US" sz="1400" b="1" i="0" u="none" strike="noStrike" cap="none" normalizeH="0" baseline="0" dirty="0" smtClean="0">
                          <a:ln>
                            <a:noFill/>
                          </a:ln>
                          <a:solidFill>
                            <a:schemeClr val="tx1"/>
                          </a:solidFill>
                          <a:effectLst/>
                          <a:latin typeface="Tahoma" panose="020B0604030504040204" pitchFamily="34" charset="0"/>
                        </a:rPr>
                        <a:t>Directed </a:t>
                      </a:r>
                      <a:r>
                        <a:rPr kumimoji="0" lang="en-US" altLang="en-US" sz="1400" b="1" i="0" u="none" strike="noStrike" cap="none" normalizeH="0" baseline="0" dirty="0" err="1" smtClean="0">
                          <a:ln>
                            <a:noFill/>
                          </a:ln>
                          <a:solidFill>
                            <a:schemeClr val="tx1"/>
                          </a:solidFill>
                          <a:effectLst/>
                          <a:latin typeface="Tahoma" panose="020B0604030504040204" pitchFamily="34" charset="0"/>
                        </a:rPr>
                        <a:t>Pseudograph</a:t>
                      </a:r>
                      <a:endParaRPr kumimoji="0" lang="en-US" altLang="en-US" sz="1400" b="1" i="0" u="none" strike="noStrike" cap="none" normalizeH="0" baseline="0" dirty="0" smtClean="0">
                        <a:ln>
                          <a:noFill/>
                        </a:ln>
                        <a:solidFill>
                          <a:schemeClr val="tx1"/>
                        </a:solidFill>
                        <a:effectLst/>
                        <a:latin typeface="Tahoma" panose="020B0604030504040204" pitchFamily="34" charset="0"/>
                      </a:endParaRPr>
                    </a:p>
                  </a:txBody>
                  <a:tcPr marT="45714" marB="457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400" b="0" i="0" u="none" strike="noStrike" cap="none" normalizeH="0" baseline="0" dirty="0" smtClean="0">
                          <a:ln>
                            <a:noFill/>
                          </a:ln>
                          <a:solidFill>
                            <a:schemeClr val="tx1"/>
                          </a:solidFill>
                          <a:effectLst/>
                          <a:latin typeface="Tahoma" panose="020B0604030504040204" pitchFamily="34" charset="0"/>
                        </a:rPr>
                        <a:t>directed</a:t>
                      </a:r>
                      <a:endParaRPr kumimoji="0" lang="en-US" altLang="en-US" sz="1400" b="0" i="0" u="none" strike="noStrike" cap="none" normalizeH="0" baseline="0" dirty="0">
                        <a:ln>
                          <a:noFill/>
                        </a:ln>
                        <a:solidFill>
                          <a:schemeClr val="tx1"/>
                        </a:solidFill>
                        <a:effectLst/>
                        <a:latin typeface="Tahoma" panose="020B0604030504040204" pitchFamily="34" charset="0"/>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400" b="0" i="0" u="none" strike="noStrike" cap="none" normalizeH="0" baseline="0" dirty="0">
                          <a:ln>
                            <a:noFill/>
                          </a:ln>
                          <a:solidFill>
                            <a:schemeClr val="tx1"/>
                          </a:solidFill>
                          <a:effectLst/>
                          <a:latin typeface="Tahoma" panose="020B0604030504040204" pitchFamily="34" charset="0"/>
                        </a:rPr>
                        <a:t>Yes</a:t>
                      </a: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400" b="0" i="0" u="none" strike="noStrike" cap="none" normalizeH="0" baseline="0" dirty="0">
                          <a:ln>
                            <a:noFill/>
                          </a:ln>
                          <a:solidFill>
                            <a:schemeClr val="tx1"/>
                          </a:solidFill>
                          <a:effectLst/>
                          <a:latin typeface="Tahoma" panose="020B0604030504040204" pitchFamily="34" charset="0"/>
                        </a:rPr>
                        <a:t>Yes</a:t>
                      </a:r>
                    </a:p>
                  </a:txBody>
                  <a:tcPr marT="45714" marB="457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264944878"/>
                  </a:ext>
                </a:extLst>
              </a:tr>
            </a:tbl>
          </a:graphicData>
        </a:graphic>
      </p:graphicFrame>
    </p:spTree>
    <p:extLst>
      <p:ext uri="{BB962C8B-B14F-4D97-AF65-F5344CB8AC3E}">
        <p14:creationId xmlns:p14="http://schemas.microsoft.com/office/powerpoint/2010/main" val="166756071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normAutofit fontScale="90000"/>
          </a:bodyPr>
          <a:lstStyle/>
          <a:p>
            <a:pPr eaLnBrk="1" hangingPunct="1"/>
            <a:r>
              <a:rPr lang="en-US" altLang="en-US" sz="3200" b="1" smtClean="0"/>
              <a:t>Terminology</a:t>
            </a:r>
            <a:r>
              <a:rPr lang="en-US" altLang="en-US" smtClean="0"/>
              <a:t> – </a:t>
            </a:r>
            <a:r>
              <a:rPr lang="en-US" altLang="en-US" sz="3600" smtClean="0"/>
              <a:t>Undirected graphs</a:t>
            </a:r>
          </a:p>
        </p:txBody>
      </p:sp>
      <p:sp>
        <p:nvSpPr>
          <p:cNvPr id="15363" name="Rectangle 3"/>
          <p:cNvSpPr>
            <a:spLocks noGrp="1" noChangeArrowheads="1"/>
          </p:cNvSpPr>
          <p:nvPr>
            <p:ph idx="1"/>
          </p:nvPr>
        </p:nvSpPr>
        <p:spPr>
          <a:xfrm>
            <a:off x="895350" y="1524000"/>
            <a:ext cx="7620000" cy="3048000"/>
          </a:xfrm>
        </p:spPr>
        <p:txBody>
          <a:bodyPr>
            <a:normAutofit/>
          </a:bodyPr>
          <a:lstStyle/>
          <a:p>
            <a:pPr eaLnBrk="1" hangingPunct="1">
              <a:lnSpc>
                <a:spcPct val="80000"/>
              </a:lnSpc>
            </a:pPr>
            <a:r>
              <a:rPr lang="en-US" altLang="en-US" sz="1800" dirty="0" smtClean="0"/>
              <a:t>u and v are </a:t>
            </a:r>
            <a:r>
              <a:rPr lang="en-US" altLang="en-US" sz="1800" b="1" dirty="0" smtClean="0"/>
              <a:t>adjacent</a:t>
            </a:r>
            <a:r>
              <a:rPr lang="en-US" altLang="en-US" sz="1800" dirty="0" smtClean="0"/>
              <a:t> if {u, v} is an edge, e is called </a:t>
            </a:r>
            <a:r>
              <a:rPr lang="en-US" altLang="en-US" sz="1800" b="1" dirty="0" smtClean="0"/>
              <a:t>incident </a:t>
            </a:r>
            <a:r>
              <a:rPr lang="en-US" altLang="en-US" sz="1800" dirty="0" smtClean="0"/>
              <a:t>with u and v. u and v are called </a:t>
            </a:r>
            <a:r>
              <a:rPr lang="en-US" altLang="en-US" sz="1800" b="1" dirty="0" smtClean="0"/>
              <a:t>endpoints</a:t>
            </a:r>
            <a:r>
              <a:rPr lang="en-US" altLang="en-US" sz="1800" dirty="0" smtClean="0"/>
              <a:t> of {u, v}</a:t>
            </a:r>
          </a:p>
          <a:p>
            <a:pPr eaLnBrk="1" hangingPunct="1">
              <a:lnSpc>
                <a:spcPct val="80000"/>
              </a:lnSpc>
              <a:buFont typeface="Wingdings" panose="05000000000000000000" pitchFamily="2" charset="2"/>
              <a:buNone/>
            </a:pPr>
            <a:endParaRPr lang="en-US" altLang="en-US" sz="1800" b="1" dirty="0" smtClean="0"/>
          </a:p>
          <a:p>
            <a:pPr eaLnBrk="1" hangingPunct="1">
              <a:lnSpc>
                <a:spcPct val="80000"/>
              </a:lnSpc>
            </a:pPr>
            <a:r>
              <a:rPr lang="en-US" altLang="en-US" sz="1800" b="1" dirty="0" smtClean="0"/>
              <a:t>Degree of Vertex: </a:t>
            </a:r>
            <a:r>
              <a:rPr lang="en-US" altLang="en-US" sz="1800" dirty="0" smtClean="0"/>
              <a:t>the number of edges incident on a vertex. A loop contributes twice to the degree. </a:t>
            </a:r>
            <a:endParaRPr lang="en-US" altLang="en-US" sz="1800" b="1" dirty="0" smtClean="0"/>
          </a:p>
          <a:p>
            <a:pPr eaLnBrk="1" hangingPunct="1">
              <a:lnSpc>
                <a:spcPct val="80000"/>
              </a:lnSpc>
            </a:pPr>
            <a:r>
              <a:rPr lang="en-US" altLang="en-US" sz="1800" b="1" dirty="0" smtClean="0"/>
              <a:t>Pendant Vertex:</a:t>
            </a:r>
            <a:r>
              <a:rPr lang="en-US" altLang="en-US" sz="1800" dirty="0" smtClean="0"/>
              <a:t> </a:t>
            </a:r>
            <a:r>
              <a:rPr lang="en-US" altLang="en-US" sz="1800" dirty="0" err="1" smtClean="0"/>
              <a:t>deg</a:t>
            </a:r>
            <a:r>
              <a:rPr lang="en-US" altLang="en-US" sz="1800" dirty="0" smtClean="0"/>
              <a:t> (v) =1</a:t>
            </a:r>
            <a:endParaRPr lang="en-US" altLang="en-US" sz="1800" b="1" dirty="0" smtClean="0"/>
          </a:p>
          <a:p>
            <a:pPr eaLnBrk="1" hangingPunct="1">
              <a:lnSpc>
                <a:spcPct val="80000"/>
              </a:lnSpc>
            </a:pPr>
            <a:r>
              <a:rPr lang="en-US" altLang="en-US" sz="1800" b="1" dirty="0" smtClean="0"/>
              <a:t>Isolated Vertex:</a:t>
            </a:r>
            <a:r>
              <a:rPr lang="en-US" altLang="en-US" sz="1800" dirty="0" smtClean="0"/>
              <a:t> </a:t>
            </a:r>
            <a:r>
              <a:rPr lang="en-US" altLang="en-US" sz="1800" dirty="0" err="1" smtClean="0"/>
              <a:t>deg</a:t>
            </a:r>
            <a:r>
              <a:rPr lang="en-US" altLang="en-US" sz="1800" dirty="0" smtClean="0"/>
              <a:t> (k) = 0</a:t>
            </a:r>
          </a:p>
          <a:p>
            <a:pPr eaLnBrk="1" hangingPunct="1">
              <a:lnSpc>
                <a:spcPct val="80000"/>
              </a:lnSpc>
            </a:pPr>
            <a:endParaRPr lang="en-US" altLang="en-US" sz="1800" dirty="0" smtClean="0"/>
          </a:p>
          <a:p>
            <a:pPr algn="just" eaLnBrk="1" hangingPunct="1">
              <a:lnSpc>
                <a:spcPct val="80000"/>
              </a:lnSpc>
              <a:buFont typeface="Wingdings" panose="05000000000000000000" pitchFamily="2" charset="2"/>
              <a:buNone/>
            </a:pPr>
            <a:r>
              <a:rPr lang="en-US" altLang="en-US" sz="1800" b="1" dirty="0" smtClean="0">
                <a:solidFill>
                  <a:srgbClr val="237AC1"/>
                </a:solidFill>
              </a:rPr>
              <a:t>Representation Example: </a:t>
            </a:r>
            <a:r>
              <a:rPr lang="en-US" altLang="en-US" sz="1800" dirty="0" smtClean="0">
                <a:solidFill>
                  <a:srgbClr val="237AC1"/>
                </a:solidFill>
              </a:rPr>
              <a:t>For V = {u, v, w, k} , E = { {u, w}, {u, v} },</a:t>
            </a:r>
            <a:r>
              <a:rPr lang="en-US" altLang="en-US" sz="1800" b="1" i="1" dirty="0" smtClean="0">
                <a:solidFill>
                  <a:srgbClr val="237AC1"/>
                </a:solidFill>
              </a:rPr>
              <a:t> </a:t>
            </a:r>
            <a:r>
              <a:rPr lang="en-US" altLang="en-US" sz="1800" dirty="0" err="1" smtClean="0">
                <a:solidFill>
                  <a:srgbClr val="237AC1"/>
                </a:solidFill>
              </a:rPr>
              <a:t>deg</a:t>
            </a:r>
            <a:r>
              <a:rPr lang="en-US" altLang="en-US" sz="1800" dirty="0" smtClean="0">
                <a:solidFill>
                  <a:srgbClr val="237AC1"/>
                </a:solidFill>
              </a:rPr>
              <a:t> (u) = 2, </a:t>
            </a:r>
            <a:r>
              <a:rPr lang="en-US" altLang="en-US" sz="1800" dirty="0" err="1" smtClean="0">
                <a:solidFill>
                  <a:srgbClr val="237AC1"/>
                </a:solidFill>
              </a:rPr>
              <a:t>deg</a:t>
            </a:r>
            <a:r>
              <a:rPr lang="en-US" altLang="en-US" sz="1800" dirty="0" smtClean="0">
                <a:solidFill>
                  <a:srgbClr val="237AC1"/>
                </a:solidFill>
              </a:rPr>
              <a:t> (v) = 1, </a:t>
            </a:r>
            <a:r>
              <a:rPr lang="en-US" altLang="en-US" sz="1800" dirty="0" err="1" smtClean="0">
                <a:solidFill>
                  <a:srgbClr val="237AC1"/>
                </a:solidFill>
              </a:rPr>
              <a:t>deg</a:t>
            </a:r>
            <a:r>
              <a:rPr lang="en-US" altLang="en-US" sz="1800" dirty="0" smtClean="0">
                <a:solidFill>
                  <a:srgbClr val="237AC1"/>
                </a:solidFill>
              </a:rPr>
              <a:t> (w) = 1, </a:t>
            </a:r>
            <a:r>
              <a:rPr lang="en-US" altLang="en-US" sz="1800" dirty="0" err="1" smtClean="0">
                <a:solidFill>
                  <a:srgbClr val="237AC1"/>
                </a:solidFill>
              </a:rPr>
              <a:t>deg</a:t>
            </a:r>
            <a:r>
              <a:rPr lang="en-US" altLang="en-US" sz="1800" dirty="0" smtClean="0">
                <a:solidFill>
                  <a:srgbClr val="237AC1"/>
                </a:solidFill>
              </a:rPr>
              <a:t> (k) = 0, w and v are pendant , k is isolated</a:t>
            </a:r>
          </a:p>
        </p:txBody>
      </p:sp>
      <p:sp>
        <p:nvSpPr>
          <p:cNvPr id="15364" name="Oval 4"/>
          <p:cNvSpPr>
            <a:spLocks noChangeArrowheads="1"/>
          </p:cNvSpPr>
          <p:nvPr/>
        </p:nvSpPr>
        <p:spPr bwMode="auto">
          <a:xfrm>
            <a:off x="3124200" y="5181600"/>
            <a:ext cx="381000" cy="3810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u</a:t>
            </a:r>
          </a:p>
        </p:txBody>
      </p:sp>
      <p:sp>
        <p:nvSpPr>
          <p:cNvPr id="15365" name="Oval 5"/>
          <p:cNvSpPr>
            <a:spLocks noChangeArrowheads="1"/>
          </p:cNvSpPr>
          <p:nvPr/>
        </p:nvSpPr>
        <p:spPr bwMode="auto">
          <a:xfrm>
            <a:off x="6553200" y="5410200"/>
            <a:ext cx="381000" cy="3810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k</a:t>
            </a:r>
          </a:p>
        </p:txBody>
      </p:sp>
      <p:sp>
        <p:nvSpPr>
          <p:cNvPr id="15366" name="Oval 6"/>
          <p:cNvSpPr>
            <a:spLocks noChangeArrowheads="1"/>
          </p:cNvSpPr>
          <p:nvPr/>
        </p:nvSpPr>
        <p:spPr bwMode="auto">
          <a:xfrm>
            <a:off x="4038600" y="6096000"/>
            <a:ext cx="381000" cy="3810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w</a:t>
            </a:r>
          </a:p>
        </p:txBody>
      </p:sp>
      <p:sp>
        <p:nvSpPr>
          <p:cNvPr id="15367" name="Oval 7"/>
          <p:cNvSpPr>
            <a:spLocks noChangeArrowheads="1"/>
          </p:cNvSpPr>
          <p:nvPr/>
        </p:nvSpPr>
        <p:spPr bwMode="auto">
          <a:xfrm>
            <a:off x="4876800" y="5181600"/>
            <a:ext cx="381000" cy="3810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v</a:t>
            </a:r>
          </a:p>
        </p:txBody>
      </p:sp>
      <p:sp>
        <p:nvSpPr>
          <p:cNvPr id="15368" name="Line 8"/>
          <p:cNvSpPr>
            <a:spLocks noChangeShapeType="1"/>
          </p:cNvSpPr>
          <p:nvPr/>
        </p:nvSpPr>
        <p:spPr bwMode="auto">
          <a:xfrm>
            <a:off x="3505200" y="5334000"/>
            <a:ext cx="1371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369" name="Line 9"/>
          <p:cNvSpPr>
            <a:spLocks noChangeShapeType="1"/>
          </p:cNvSpPr>
          <p:nvPr/>
        </p:nvSpPr>
        <p:spPr bwMode="auto">
          <a:xfrm>
            <a:off x="3429000" y="5562600"/>
            <a:ext cx="6096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166835479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628650" y="107950"/>
            <a:ext cx="7886700" cy="1325563"/>
          </a:xfrm>
        </p:spPr>
        <p:txBody>
          <a:bodyPr>
            <a:normAutofit fontScale="90000"/>
          </a:bodyPr>
          <a:lstStyle/>
          <a:p>
            <a:pPr eaLnBrk="1" hangingPunct="1"/>
            <a:r>
              <a:rPr lang="en-US" altLang="en-US" sz="3600" b="1" smtClean="0"/>
              <a:t>Terminology</a:t>
            </a:r>
            <a:r>
              <a:rPr lang="en-US" altLang="en-US" sz="4800" smtClean="0"/>
              <a:t> – </a:t>
            </a:r>
            <a:r>
              <a:rPr lang="en-US" altLang="en-US" sz="4000" smtClean="0"/>
              <a:t>Directed graphs</a:t>
            </a:r>
          </a:p>
        </p:txBody>
      </p:sp>
      <p:sp>
        <p:nvSpPr>
          <p:cNvPr id="16387" name="Rectangle 3"/>
          <p:cNvSpPr>
            <a:spLocks noGrp="1" noChangeArrowheads="1"/>
          </p:cNvSpPr>
          <p:nvPr>
            <p:ph idx="1"/>
          </p:nvPr>
        </p:nvSpPr>
        <p:spPr>
          <a:xfrm>
            <a:off x="914400" y="1433513"/>
            <a:ext cx="7732713" cy="2986087"/>
          </a:xfrm>
        </p:spPr>
        <p:txBody>
          <a:bodyPr>
            <a:normAutofit fontScale="92500" lnSpcReduction="10000"/>
          </a:bodyPr>
          <a:lstStyle/>
          <a:p>
            <a:pPr algn="just" eaLnBrk="1" hangingPunct="1">
              <a:lnSpc>
                <a:spcPct val="80000"/>
              </a:lnSpc>
            </a:pPr>
            <a:r>
              <a:rPr lang="en-US" altLang="en-US" sz="1800" dirty="0" smtClean="0"/>
              <a:t>For the edge (u, v),</a:t>
            </a:r>
            <a:r>
              <a:rPr lang="en-US" altLang="en-US" sz="1800" b="1" dirty="0" smtClean="0"/>
              <a:t> </a:t>
            </a:r>
            <a:r>
              <a:rPr lang="en-US" altLang="en-US" sz="1800" dirty="0" smtClean="0"/>
              <a:t>u is </a:t>
            </a:r>
            <a:r>
              <a:rPr lang="en-US" altLang="en-US" sz="1800" b="1" dirty="0" smtClean="0"/>
              <a:t>adjacent</a:t>
            </a:r>
            <a:r>
              <a:rPr lang="en-US" altLang="en-US" sz="1800" dirty="0" smtClean="0"/>
              <a:t> </a:t>
            </a:r>
            <a:r>
              <a:rPr lang="en-US" altLang="en-US" sz="1800" b="1" dirty="0" smtClean="0"/>
              <a:t>to</a:t>
            </a:r>
            <a:r>
              <a:rPr lang="en-US" altLang="en-US" sz="1800" dirty="0" smtClean="0"/>
              <a:t> v OR v is </a:t>
            </a:r>
            <a:r>
              <a:rPr lang="en-US" altLang="en-US" sz="1800" b="1" dirty="0" smtClean="0"/>
              <a:t>adjacent from</a:t>
            </a:r>
            <a:r>
              <a:rPr lang="en-US" altLang="en-US" sz="1800" dirty="0" smtClean="0"/>
              <a:t> u, u – </a:t>
            </a:r>
            <a:r>
              <a:rPr lang="en-US" altLang="en-US" sz="1800" b="1" dirty="0" smtClean="0"/>
              <a:t>Initial vertex</a:t>
            </a:r>
            <a:r>
              <a:rPr lang="en-US" altLang="en-US" sz="1800" dirty="0" smtClean="0"/>
              <a:t>, v – </a:t>
            </a:r>
            <a:r>
              <a:rPr lang="en-US" altLang="en-US" sz="1800" b="1" dirty="0" smtClean="0"/>
              <a:t>Terminal vertex</a:t>
            </a:r>
          </a:p>
          <a:p>
            <a:pPr algn="just" eaLnBrk="1" hangingPunct="1">
              <a:lnSpc>
                <a:spcPct val="80000"/>
              </a:lnSpc>
              <a:buFont typeface="Wingdings" panose="05000000000000000000" pitchFamily="2" charset="2"/>
              <a:buNone/>
            </a:pPr>
            <a:endParaRPr lang="en-US" altLang="en-US" sz="1800" b="1" dirty="0" smtClean="0"/>
          </a:p>
          <a:p>
            <a:pPr algn="just" eaLnBrk="1" hangingPunct="1">
              <a:lnSpc>
                <a:spcPct val="80000"/>
              </a:lnSpc>
            </a:pPr>
            <a:r>
              <a:rPr lang="en-US" altLang="en-US" sz="1800" b="1" dirty="0" smtClean="0"/>
              <a:t>In-degree (</a:t>
            </a:r>
            <a:r>
              <a:rPr lang="en-US" altLang="en-US" sz="1800" b="1" dirty="0" err="1" smtClean="0"/>
              <a:t>deg</a:t>
            </a:r>
            <a:r>
              <a:rPr lang="en-US" altLang="en-US" sz="1800" baseline="30000" dirty="0" smtClean="0"/>
              <a:t>-</a:t>
            </a:r>
            <a:r>
              <a:rPr lang="en-US" altLang="en-US" sz="1800" b="1" dirty="0" smtClean="0"/>
              <a:t> (u)): </a:t>
            </a:r>
            <a:r>
              <a:rPr lang="en-US" altLang="en-US" sz="1800" dirty="0" smtClean="0"/>
              <a:t>number of edges for which u is terminal vertex</a:t>
            </a:r>
          </a:p>
          <a:p>
            <a:pPr algn="just" eaLnBrk="1" hangingPunct="1">
              <a:lnSpc>
                <a:spcPct val="80000"/>
              </a:lnSpc>
              <a:buFont typeface="Wingdings" panose="05000000000000000000" pitchFamily="2" charset="2"/>
              <a:buNone/>
            </a:pPr>
            <a:endParaRPr lang="en-US" altLang="en-US" sz="1800" b="1" dirty="0" smtClean="0"/>
          </a:p>
          <a:p>
            <a:pPr algn="just" eaLnBrk="1" hangingPunct="1">
              <a:lnSpc>
                <a:spcPct val="80000"/>
              </a:lnSpc>
            </a:pPr>
            <a:r>
              <a:rPr lang="en-US" altLang="en-US" sz="1800" b="1" dirty="0" smtClean="0"/>
              <a:t>Out-degree (</a:t>
            </a:r>
            <a:r>
              <a:rPr lang="en-US" altLang="en-US" sz="1800" b="1" dirty="0" err="1" smtClean="0"/>
              <a:t>deg</a:t>
            </a:r>
            <a:r>
              <a:rPr lang="en-US" altLang="en-US" sz="1800" baseline="30000" dirty="0" smtClean="0"/>
              <a:t>+</a:t>
            </a:r>
            <a:r>
              <a:rPr lang="en-US" altLang="en-US" sz="1800" b="1" dirty="0" smtClean="0"/>
              <a:t> (u)): </a:t>
            </a:r>
            <a:r>
              <a:rPr lang="en-US" altLang="en-US" sz="1800" dirty="0" smtClean="0"/>
              <a:t>number of edges for which u is initial vertex</a:t>
            </a:r>
          </a:p>
          <a:p>
            <a:pPr algn="just" eaLnBrk="1" hangingPunct="1">
              <a:lnSpc>
                <a:spcPct val="80000"/>
              </a:lnSpc>
              <a:buFont typeface="Wingdings" panose="05000000000000000000" pitchFamily="2" charset="2"/>
              <a:buNone/>
            </a:pPr>
            <a:endParaRPr lang="en-US" altLang="en-US" sz="1800" b="1" dirty="0" smtClean="0"/>
          </a:p>
          <a:p>
            <a:pPr algn="just" eaLnBrk="1" hangingPunct="1">
              <a:lnSpc>
                <a:spcPct val="80000"/>
              </a:lnSpc>
              <a:buFont typeface="Wingdings" panose="05000000000000000000" pitchFamily="2" charset="2"/>
              <a:buNone/>
            </a:pPr>
            <a:r>
              <a:rPr lang="en-US" altLang="en-US" sz="1800" i="1" dirty="0" smtClean="0">
                <a:solidFill>
                  <a:schemeClr val="folHlink"/>
                </a:solidFill>
              </a:rPr>
              <a:t>Note: A loop contributes 1 to both in-degree and out-degree</a:t>
            </a:r>
          </a:p>
          <a:p>
            <a:pPr algn="just" eaLnBrk="1" hangingPunct="1">
              <a:lnSpc>
                <a:spcPct val="80000"/>
              </a:lnSpc>
              <a:buFont typeface="Wingdings" panose="05000000000000000000" pitchFamily="2" charset="2"/>
              <a:buNone/>
            </a:pPr>
            <a:endParaRPr lang="en-US" altLang="en-US" sz="1800" i="1" dirty="0" smtClean="0">
              <a:solidFill>
                <a:schemeClr val="folHlink"/>
              </a:solidFill>
            </a:endParaRPr>
          </a:p>
          <a:p>
            <a:pPr eaLnBrk="1" hangingPunct="1">
              <a:lnSpc>
                <a:spcPct val="80000"/>
              </a:lnSpc>
              <a:buFont typeface="Wingdings" panose="05000000000000000000" pitchFamily="2" charset="2"/>
              <a:buNone/>
            </a:pPr>
            <a:r>
              <a:rPr lang="en-US" altLang="en-US" sz="1800" b="1" dirty="0" smtClean="0">
                <a:solidFill>
                  <a:srgbClr val="237AC1"/>
                </a:solidFill>
              </a:rPr>
              <a:t>Representation Example: </a:t>
            </a:r>
            <a:r>
              <a:rPr lang="en-US" altLang="en-US" sz="1800" dirty="0" smtClean="0">
                <a:solidFill>
                  <a:srgbClr val="237AC1"/>
                </a:solidFill>
              </a:rPr>
              <a:t>For V = {u, v, w} , E = { (u, w), ( v, w), (u, v) },</a:t>
            </a:r>
            <a:r>
              <a:rPr lang="en-US" altLang="en-US" sz="1800" i="1" dirty="0" smtClean="0">
                <a:solidFill>
                  <a:srgbClr val="237AC1"/>
                </a:solidFill>
              </a:rPr>
              <a:t> </a:t>
            </a:r>
            <a:r>
              <a:rPr lang="en-US" altLang="en-US" sz="1800" dirty="0" err="1" smtClean="0">
                <a:solidFill>
                  <a:srgbClr val="237AC1"/>
                </a:solidFill>
              </a:rPr>
              <a:t>deg</a:t>
            </a:r>
            <a:r>
              <a:rPr lang="en-US" altLang="en-US" sz="1800" baseline="30000" dirty="0" smtClean="0">
                <a:solidFill>
                  <a:srgbClr val="237AC1"/>
                </a:solidFill>
              </a:rPr>
              <a:t>-</a:t>
            </a:r>
            <a:r>
              <a:rPr lang="en-US" altLang="en-US" sz="1800" dirty="0" smtClean="0">
                <a:solidFill>
                  <a:srgbClr val="237AC1"/>
                </a:solidFill>
              </a:rPr>
              <a:t> (u) = 0, </a:t>
            </a:r>
            <a:r>
              <a:rPr lang="en-US" altLang="en-US" sz="1800" dirty="0" err="1" smtClean="0">
                <a:solidFill>
                  <a:srgbClr val="237AC1"/>
                </a:solidFill>
              </a:rPr>
              <a:t>deg</a:t>
            </a:r>
            <a:r>
              <a:rPr lang="en-US" altLang="en-US" sz="1800" baseline="30000" dirty="0" smtClean="0">
                <a:solidFill>
                  <a:srgbClr val="237AC1"/>
                </a:solidFill>
              </a:rPr>
              <a:t>+</a:t>
            </a:r>
            <a:r>
              <a:rPr lang="en-US" altLang="en-US" sz="1800" dirty="0" smtClean="0">
                <a:solidFill>
                  <a:srgbClr val="237AC1"/>
                </a:solidFill>
              </a:rPr>
              <a:t> (u) = 2, </a:t>
            </a:r>
            <a:r>
              <a:rPr lang="en-US" altLang="en-US" sz="1800" dirty="0" err="1" smtClean="0">
                <a:solidFill>
                  <a:srgbClr val="237AC1"/>
                </a:solidFill>
              </a:rPr>
              <a:t>deg</a:t>
            </a:r>
            <a:r>
              <a:rPr lang="en-US" altLang="en-US" sz="1800" baseline="30000" dirty="0" smtClean="0">
                <a:solidFill>
                  <a:srgbClr val="237AC1"/>
                </a:solidFill>
              </a:rPr>
              <a:t>-</a:t>
            </a:r>
            <a:r>
              <a:rPr lang="en-US" altLang="en-US" sz="1800" dirty="0" smtClean="0">
                <a:solidFill>
                  <a:srgbClr val="237AC1"/>
                </a:solidFill>
              </a:rPr>
              <a:t> (v) = 1, </a:t>
            </a:r>
          </a:p>
          <a:p>
            <a:pPr eaLnBrk="1" hangingPunct="1">
              <a:lnSpc>
                <a:spcPct val="80000"/>
              </a:lnSpc>
              <a:buFont typeface="Wingdings" panose="05000000000000000000" pitchFamily="2" charset="2"/>
              <a:buNone/>
            </a:pPr>
            <a:r>
              <a:rPr lang="en-US" altLang="en-US" sz="1800" dirty="0" err="1" smtClean="0">
                <a:solidFill>
                  <a:srgbClr val="237AC1"/>
                </a:solidFill>
              </a:rPr>
              <a:t>deg</a:t>
            </a:r>
            <a:r>
              <a:rPr lang="en-US" altLang="en-US" sz="1800" baseline="30000" dirty="0" smtClean="0">
                <a:solidFill>
                  <a:srgbClr val="237AC1"/>
                </a:solidFill>
              </a:rPr>
              <a:t>+ </a:t>
            </a:r>
            <a:r>
              <a:rPr lang="en-US" altLang="en-US" sz="1800" dirty="0" smtClean="0">
                <a:solidFill>
                  <a:srgbClr val="237AC1"/>
                </a:solidFill>
              </a:rPr>
              <a:t>(v) = 1, and </a:t>
            </a:r>
            <a:r>
              <a:rPr lang="en-US" altLang="en-US" sz="1800" dirty="0" err="1" smtClean="0">
                <a:solidFill>
                  <a:srgbClr val="237AC1"/>
                </a:solidFill>
              </a:rPr>
              <a:t>deg</a:t>
            </a:r>
            <a:r>
              <a:rPr lang="en-US" altLang="en-US" sz="1800" baseline="30000" dirty="0" smtClean="0">
                <a:solidFill>
                  <a:srgbClr val="237AC1"/>
                </a:solidFill>
              </a:rPr>
              <a:t>-</a:t>
            </a:r>
            <a:r>
              <a:rPr lang="en-US" altLang="en-US" sz="1800" dirty="0" smtClean="0">
                <a:solidFill>
                  <a:srgbClr val="237AC1"/>
                </a:solidFill>
              </a:rPr>
              <a:t> (w) = 2, </a:t>
            </a:r>
            <a:r>
              <a:rPr lang="en-US" altLang="en-US" sz="1800" dirty="0" err="1" smtClean="0">
                <a:solidFill>
                  <a:srgbClr val="237AC1"/>
                </a:solidFill>
              </a:rPr>
              <a:t>deg</a:t>
            </a:r>
            <a:r>
              <a:rPr lang="en-US" altLang="en-US" sz="1800" baseline="30000" dirty="0" smtClean="0">
                <a:solidFill>
                  <a:srgbClr val="237AC1"/>
                </a:solidFill>
              </a:rPr>
              <a:t>+</a:t>
            </a:r>
            <a:r>
              <a:rPr lang="en-US" altLang="en-US" sz="1800" dirty="0" smtClean="0">
                <a:solidFill>
                  <a:srgbClr val="237AC1"/>
                </a:solidFill>
              </a:rPr>
              <a:t> (w) = 0</a:t>
            </a:r>
            <a:endParaRPr lang="en-US" altLang="en-US" sz="1800" i="1" dirty="0" smtClean="0">
              <a:solidFill>
                <a:srgbClr val="237AC1"/>
              </a:solidFill>
            </a:endParaRPr>
          </a:p>
          <a:p>
            <a:pPr algn="just" eaLnBrk="1" hangingPunct="1">
              <a:lnSpc>
                <a:spcPct val="80000"/>
              </a:lnSpc>
              <a:buFont typeface="Wingdings" panose="05000000000000000000" pitchFamily="2" charset="2"/>
              <a:buNone/>
            </a:pPr>
            <a:endParaRPr lang="en-US" altLang="en-US" sz="1800" i="1" dirty="0" smtClean="0">
              <a:solidFill>
                <a:srgbClr val="237AC1"/>
              </a:solidFill>
            </a:endParaRPr>
          </a:p>
        </p:txBody>
      </p:sp>
      <p:sp>
        <p:nvSpPr>
          <p:cNvPr id="16388" name="Oval 4"/>
          <p:cNvSpPr>
            <a:spLocks noChangeArrowheads="1"/>
          </p:cNvSpPr>
          <p:nvPr/>
        </p:nvSpPr>
        <p:spPr bwMode="auto">
          <a:xfrm>
            <a:off x="3124200" y="5105400"/>
            <a:ext cx="381000" cy="3810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u</a:t>
            </a:r>
          </a:p>
        </p:txBody>
      </p:sp>
      <p:sp>
        <p:nvSpPr>
          <p:cNvPr id="16389" name="Oval 5"/>
          <p:cNvSpPr>
            <a:spLocks noChangeArrowheads="1"/>
          </p:cNvSpPr>
          <p:nvPr/>
        </p:nvSpPr>
        <p:spPr bwMode="auto">
          <a:xfrm>
            <a:off x="4114800" y="6324600"/>
            <a:ext cx="381000" cy="3810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w</a:t>
            </a:r>
          </a:p>
        </p:txBody>
      </p:sp>
      <p:sp>
        <p:nvSpPr>
          <p:cNvPr id="16390" name="Oval 6"/>
          <p:cNvSpPr>
            <a:spLocks noChangeArrowheads="1"/>
          </p:cNvSpPr>
          <p:nvPr/>
        </p:nvSpPr>
        <p:spPr bwMode="auto">
          <a:xfrm>
            <a:off x="4953000" y="5105400"/>
            <a:ext cx="381000" cy="3810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v</a:t>
            </a:r>
          </a:p>
        </p:txBody>
      </p:sp>
      <p:sp>
        <p:nvSpPr>
          <p:cNvPr id="16391" name="Line 7"/>
          <p:cNvSpPr>
            <a:spLocks noChangeShapeType="1"/>
          </p:cNvSpPr>
          <p:nvPr/>
        </p:nvSpPr>
        <p:spPr bwMode="auto">
          <a:xfrm>
            <a:off x="3505200" y="5257800"/>
            <a:ext cx="1447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392" name="Line 8"/>
          <p:cNvSpPr>
            <a:spLocks noChangeShapeType="1"/>
          </p:cNvSpPr>
          <p:nvPr/>
        </p:nvSpPr>
        <p:spPr bwMode="auto">
          <a:xfrm>
            <a:off x="3429000" y="5486400"/>
            <a:ext cx="685800" cy="914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393" name="Line 9"/>
          <p:cNvSpPr>
            <a:spLocks noChangeShapeType="1"/>
          </p:cNvSpPr>
          <p:nvPr/>
        </p:nvSpPr>
        <p:spPr bwMode="auto">
          <a:xfrm flipH="1">
            <a:off x="4343400" y="5410200"/>
            <a:ext cx="609600" cy="914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3987612604"/>
      </p:ext>
    </p:extLst>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eaLnBrk="1" hangingPunct="1"/>
            <a:r>
              <a:rPr lang="en-US" altLang="en-US" smtClean="0"/>
              <a:t>Simple graphs – special cases</a:t>
            </a:r>
          </a:p>
        </p:txBody>
      </p:sp>
      <p:sp>
        <p:nvSpPr>
          <p:cNvPr id="17411" name="Rectangle 3"/>
          <p:cNvSpPr>
            <a:spLocks noGrp="1" noChangeArrowheads="1"/>
          </p:cNvSpPr>
          <p:nvPr>
            <p:ph idx="1"/>
          </p:nvPr>
        </p:nvSpPr>
        <p:spPr>
          <a:xfrm>
            <a:off x="762000" y="1878013"/>
            <a:ext cx="7772400" cy="1563687"/>
          </a:xfrm>
        </p:spPr>
        <p:txBody>
          <a:bodyPr/>
          <a:lstStyle/>
          <a:p>
            <a:pPr eaLnBrk="1" hangingPunct="1"/>
            <a:r>
              <a:rPr lang="en-US" altLang="en-US" sz="2000" b="1" smtClean="0"/>
              <a:t>Complete graph:</a:t>
            </a:r>
            <a:r>
              <a:rPr lang="en-US" altLang="en-US" sz="2000" smtClean="0"/>
              <a:t> K</a:t>
            </a:r>
            <a:r>
              <a:rPr lang="en-US" altLang="en-US" sz="2000" baseline="-25000" smtClean="0"/>
              <a:t>n</a:t>
            </a:r>
            <a:r>
              <a:rPr lang="en-US" altLang="en-US" sz="2000" smtClean="0"/>
              <a:t>, is the simple graph that contains exactly one edge between each pair of distinct vertices.</a:t>
            </a:r>
          </a:p>
          <a:p>
            <a:pPr eaLnBrk="1" hangingPunct="1">
              <a:buFont typeface="Wingdings" panose="05000000000000000000" pitchFamily="2" charset="2"/>
              <a:buNone/>
            </a:pPr>
            <a:r>
              <a:rPr lang="en-US" altLang="en-US" sz="2000" smtClean="0">
                <a:solidFill>
                  <a:srgbClr val="237AC1"/>
                </a:solidFill>
              </a:rPr>
              <a:t>	Representation</a:t>
            </a:r>
            <a:r>
              <a:rPr lang="en-US" altLang="en-US" sz="2000" smtClean="0"/>
              <a:t> </a:t>
            </a:r>
            <a:r>
              <a:rPr lang="en-US" altLang="en-US" sz="2000" smtClean="0">
                <a:solidFill>
                  <a:srgbClr val="237AC1"/>
                </a:solidFill>
              </a:rPr>
              <a:t>Example: K</a:t>
            </a:r>
            <a:r>
              <a:rPr lang="en-US" altLang="en-US" sz="2000" baseline="-25000" smtClean="0">
                <a:solidFill>
                  <a:srgbClr val="237AC1"/>
                </a:solidFill>
              </a:rPr>
              <a:t>1</a:t>
            </a:r>
            <a:r>
              <a:rPr lang="en-US" altLang="en-US" sz="2000" smtClean="0">
                <a:solidFill>
                  <a:srgbClr val="237AC1"/>
                </a:solidFill>
              </a:rPr>
              <a:t>, K</a:t>
            </a:r>
            <a:r>
              <a:rPr lang="en-US" altLang="en-US" sz="2000" baseline="-25000" smtClean="0">
                <a:solidFill>
                  <a:srgbClr val="237AC1"/>
                </a:solidFill>
              </a:rPr>
              <a:t>2</a:t>
            </a:r>
            <a:r>
              <a:rPr lang="en-US" altLang="en-US" sz="2000" smtClean="0">
                <a:solidFill>
                  <a:srgbClr val="237AC1"/>
                </a:solidFill>
              </a:rPr>
              <a:t>, K</a:t>
            </a:r>
            <a:r>
              <a:rPr lang="en-US" altLang="en-US" sz="2000" baseline="-25000" smtClean="0">
                <a:solidFill>
                  <a:srgbClr val="237AC1"/>
                </a:solidFill>
              </a:rPr>
              <a:t>3</a:t>
            </a:r>
            <a:r>
              <a:rPr lang="en-US" altLang="en-US" sz="2000" smtClean="0">
                <a:solidFill>
                  <a:srgbClr val="237AC1"/>
                </a:solidFill>
              </a:rPr>
              <a:t>, K</a:t>
            </a:r>
            <a:r>
              <a:rPr lang="en-US" altLang="en-US" sz="2000" baseline="-25000" smtClean="0">
                <a:solidFill>
                  <a:srgbClr val="237AC1"/>
                </a:solidFill>
              </a:rPr>
              <a:t>4</a:t>
            </a:r>
            <a:r>
              <a:rPr lang="en-US" altLang="en-US" smtClean="0">
                <a:solidFill>
                  <a:srgbClr val="237AC1"/>
                </a:solidFill>
              </a:rPr>
              <a:t> </a:t>
            </a:r>
          </a:p>
        </p:txBody>
      </p:sp>
      <p:sp>
        <p:nvSpPr>
          <p:cNvPr id="17412" name="Oval 11"/>
          <p:cNvSpPr>
            <a:spLocks noChangeArrowheads="1"/>
          </p:cNvSpPr>
          <p:nvPr/>
        </p:nvSpPr>
        <p:spPr bwMode="auto">
          <a:xfrm>
            <a:off x="1219200" y="4876800"/>
            <a:ext cx="152400" cy="152400"/>
          </a:xfrm>
          <a:prstGeom prst="ellipse">
            <a:avLst/>
          </a:prstGeom>
          <a:solidFill>
            <a:srgbClr val="237AC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endParaRPr lang="en-IN" altLang="en-US">
              <a:latin typeface="Tahoma" panose="020B0604030504040204" pitchFamily="34" charset="0"/>
            </a:endParaRPr>
          </a:p>
        </p:txBody>
      </p:sp>
      <p:sp>
        <p:nvSpPr>
          <p:cNvPr id="17413" name="Oval 12"/>
          <p:cNvSpPr>
            <a:spLocks noChangeArrowheads="1"/>
          </p:cNvSpPr>
          <p:nvPr/>
        </p:nvSpPr>
        <p:spPr bwMode="auto">
          <a:xfrm>
            <a:off x="3124200" y="4876800"/>
            <a:ext cx="152400" cy="152400"/>
          </a:xfrm>
          <a:prstGeom prst="ellipse">
            <a:avLst/>
          </a:prstGeom>
          <a:solidFill>
            <a:schemeClr val="accent2"/>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endParaRPr lang="en-IN" altLang="en-US">
              <a:latin typeface="Tahoma" panose="020B0604030504040204" pitchFamily="34" charset="0"/>
            </a:endParaRPr>
          </a:p>
        </p:txBody>
      </p:sp>
      <p:sp>
        <p:nvSpPr>
          <p:cNvPr id="17414" name="Oval 13"/>
          <p:cNvSpPr>
            <a:spLocks noChangeArrowheads="1"/>
          </p:cNvSpPr>
          <p:nvPr/>
        </p:nvSpPr>
        <p:spPr bwMode="auto">
          <a:xfrm>
            <a:off x="2286000" y="4876800"/>
            <a:ext cx="152400" cy="152400"/>
          </a:xfrm>
          <a:prstGeom prst="ellipse">
            <a:avLst/>
          </a:prstGeom>
          <a:solidFill>
            <a:schemeClr val="accent2"/>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endParaRPr lang="en-IN" altLang="en-US">
              <a:latin typeface="Tahoma" panose="020B0604030504040204" pitchFamily="34" charset="0"/>
            </a:endParaRPr>
          </a:p>
        </p:txBody>
      </p:sp>
      <p:sp>
        <p:nvSpPr>
          <p:cNvPr id="17415" name="Oval 14"/>
          <p:cNvSpPr>
            <a:spLocks noChangeArrowheads="1"/>
          </p:cNvSpPr>
          <p:nvPr/>
        </p:nvSpPr>
        <p:spPr bwMode="auto">
          <a:xfrm>
            <a:off x="5257800" y="5029200"/>
            <a:ext cx="152400" cy="152400"/>
          </a:xfrm>
          <a:prstGeom prst="ellipse">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endParaRPr lang="en-IN" altLang="en-US">
              <a:latin typeface="Tahoma" panose="020B0604030504040204" pitchFamily="34" charset="0"/>
            </a:endParaRPr>
          </a:p>
        </p:txBody>
      </p:sp>
      <p:sp>
        <p:nvSpPr>
          <p:cNvPr id="17416" name="Oval 15"/>
          <p:cNvSpPr>
            <a:spLocks noChangeArrowheads="1"/>
          </p:cNvSpPr>
          <p:nvPr/>
        </p:nvSpPr>
        <p:spPr bwMode="auto">
          <a:xfrm>
            <a:off x="4343400" y="5029200"/>
            <a:ext cx="152400" cy="152400"/>
          </a:xfrm>
          <a:prstGeom prst="ellipse">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endParaRPr lang="en-IN" altLang="en-US">
              <a:latin typeface="Tahoma" panose="020B0604030504040204" pitchFamily="34" charset="0"/>
            </a:endParaRPr>
          </a:p>
        </p:txBody>
      </p:sp>
      <p:sp>
        <p:nvSpPr>
          <p:cNvPr id="17417" name="Oval 16"/>
          <p:cNvSpPr>
            <a:spLocks noChangeArrowheads="1"/>
          </p:cNvSpPr>
          <p:nvPr/>
        </p:nvSpPr>
        <p:spPr bwMode="auto">
          <a:xfrm>
            <a:off x="4800600" y="4343400"/>
            <a:ext cx="152400" cy="152400"/>
          </a:xfrm>
          <a:prstGeom prst="ellipse">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endParaRPr lang="en-IN" altLang="en-US">
              <a:latin typeface="Tahoma" panose="020B0604030504040204" pitchFamily="34" charset="0"/>
            </a:endParaRPr>
          </a:p>
        </p:txBody>
      </p:sp>
      <p:sp>
        <p:nvSpPr>
          <p:cNvPr id="17418" name="Oval 17"/>
          <p:cNvSpPr>
            <a:spLocks noChangeArrowheads="1"/>
          </p:cNvSpPr>
          <p:nvPr/>
        </p:nvSpPr>
        <p:spPr bwMode="auto">
          <a:xfrm>
            <a:off x="7924800" y="5181600"/>
            <a:ext cx="152400" cy="152400"/>
          </a:xfrm>
          <a:prstGeom prst="ellipse">
            <a:avLst/>
          </a:prstGeom>
          <a:solidFill>
            <a:schemeClr val="tx2"/>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endParaRPr lang="en-IN" altLang="en-US">
              <a:latin typeface="Tahoma" panose="020B0604030504040204" pitchFamily="34" charset="0"/>
            </a:endParaRPr>
          </a:p>
        </p:txBody>
      </p:sp>
      <p:sp>
        <p:nvSpPr>
          <p:cNvPr id="17419" name="Oval 18"/>
          <p:cNvSpPr>
            <a:spLocks noChangeArrowheads="1"/>
          </p:cNvSpPr>
          <p:nvPr/>
        </p:nvSpPr>
        <p:spPr bwMode="auto">
          <a:xfrm>
            <a:off x="6705600" y="5181600"/>
            <a:ext cx="152400" cy="152400"/>
          </a:xfrm>
          <a:prstGeom prst="ellipse">
            <a:avLst/>
          </a:prstGeom>
          <a:solidFill>
            <a:schemeClr val="tx2"/>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endParaRPr lang="en-IN" altLang="en-US">
              <a:latin typeface="Tahoma" panose="020B0604030504040204" pitchFamily="34" charset="0"/>
            </a:endParaRPr>
          </a:p>
        </p:txBody>
      </p:sp>
      <p:sp>
        <p:nvSpPr>
          <p:cNvPr id="17420" name="Oval 19"/>
          <p:cNvSpPr>
            <a:spLocks noChangeArrowheads="1"/>
          </p:cNvSpPr>
          <p:nvPr/>
        </p:nvSpPr>
        <p:spPr bwMode="auto">
          <a:xfrm>
            <a:off x="7848600" y="4267200"/>
            <a:ext cx="152400" cy="152400"/>
          </a:xfrm>
          <a:prstGeom prst="ellipse">
            <a:avLst/>
          </a:prstGeom>
          <a:solidFill>
            <a:schemeClr val="tx2"/>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endParaRPr lang="en-IN" altLang="en-US">
              <a:latin typeface="Tahoma" panose="020B0604030504040204" pitchFamily="34" charset="0"/>
            </a:endParaRPr>
          </a:p>
        </p:txBody>
      </p:sp>
      <p:sp>
        <p:nvSpPr>
          <p:cNvPr id="17421" name="Oval 20"/>
          <p:cNvSpPr>
            <a:spLocks noChangeArrowheads="1"/>
          </p:cNvSpPr>
          <p:nvPr/>
        </p:nvSpPr>
        <p:spPr bwMode="auto">
          <a:xfrm>
            <a:off x="6705600" y="4267200"/>
            <a:ext cx="152400" cy="152400"/>
          </a:xfrm>
          <a:prstGeom prst="ellipse">
            <a:avLst/>
          </a:prstGeom>
          <a:solidFill>
            <a:schemeClr val="tx2"/>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endParaRPr lang="en-IN" altLang="en-US">
              <a:latin typeface="Tahoma" panose="020B0604030504040204" pitchFamily="34" charset="0"/>
            </a:endParaRPr>
          </a:p>
        </p:txBody>
      </p:sp>
      <p:sp>
        <p:nvSpPr>
          <p:cNvPr id="17422" name="Line 21"/>
          <p:cNvSpPr>
            <a:spLocks noChangeShapeType="1"/>
          </p:cNvSpPr>
          <p:nvPr/>
        </p:nvSpPr>
        <p:spPr bwMode="auto">
          <a:xfrm>
            <a:off x="2438400" y="4953000"/>
            <a:ext cx="6858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423" name="Line 24"/>
          <p:cNvSpPr>
            <a:spLocks noChangeShapeType="1"/>
          </p:cNvSpPr>
          <p:nvPr/>
        </p:nvSpPr>
        <p:spPr bwMode="auto">
          <a:xfrm>
            <a:off x="4953000" y="4495800"/>
            <a:ext cx="3048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424" name="Line 25"/>
          <p:cNvSpPr>
            <a:spLocks noChangeShapeType="1"/>
          </p:cNvSpPr>
          <p:nvPr/>
        </p:nvSpPr>
        <p:spPr bwMode="auto">
          <a:xfrm>
            <a:off x="4495800" y="5105400"/>
            <a:ext cx="7620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425" name="Line 26"/>
          <p:cNvSpPr>
            <a:spLocks noChangeShapeType="1"/>
          </p:cNvSpPr>
          <p:nvPr/>
        </p:nvSpPr>
        <p:spPr bwMode="auto">
          <a:xfrm flipV="1">
            <a:off x="4495800" y="4495800"/>
            <a:ext cx="3048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426" name="Line 27"/>
          <p:cNvSpPr>
            <a:spLocks noChangeShapeType="1"/>
          </p:cNvSpPr>
          <p:nvPr/>
        </p:nvSpPr>
        <p:spPr bwMode="auto">
          <a:xfrm>
            <a:off x="6858000" y="4343400"/>
            <a:ext cx="990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427" name="Line 28"/>
          <p:cNvSpPr>
            <a:spLocks noChangeShapeType="1"/>
          </p:cNvSpPr>
          <p:nvPr/>
        </p:nvSpPr>
        <p:spPr bwMode="auto">
          <a:xfrm>
            <a:off x="6858000" y="5257800"/>
            <a:ext cx="10668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428" name="Line 29"/>
          <p:cNvSpPr>
            <a:spLocks noChangeShapeType="1"/>
          </p:cNvSpPr>
          <p:nvPr/>
        </p:nvSpPr>
        <p:spPr bwMode="auto">
          <a:xfrm>
            <a:off x="6781800" y="4419600"/>
            <a:ext cx="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429" name="Line 30"/>
          <p:cNvSpPr>
            <a:spLocks noChangeShapeType="1"/>
          </p:cNvSpPr>
          <p:nvPr/>
        </p:nvSpPr>
        <p:spPr bwMode="auto">
          <a:xfrm>
            <a:off x="7924800" y="4419600"/>
            <a:ext cx="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430" name="Line 31"/>
          <p:cNvSpPr>
            <a:spLocks noChangeShapeType="1"/>
          </p:cNvSpPr>
          <p:nvPr/>
        </p:nvSpPr>
        <p:spPr bwMode="auto">
          <a:xfrm>
            <a:off x="6781800" y="4343400"/>
            <a:ext cx="1143000" cy="914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431" name="Line 32"/>
          <p:cNvSpPr>
            <a:spLocks noChangeShapeType="1"/>
          </p:cNvSpPr>
          <p:nvPr/>
        </p:nvSpPr>
        <p:spPr bwMode="auto">
          <a:xfrm flipV="1">
            <a:off x="6858000" y="4343400"/>
            <a:ext cx="1066800" cy="838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432" name="Rectangle 33"/>
          <p:cNvSpPr>
            <a:spLocks noChangeArrowheads="1"/>
          </p:cNvSpPr>
          <p:nvPr/>
        </p:nvSpPr>
        <p:spPr bwMode="auto">
          <a:xfrm>
            <a:off x="2590800" y="5486400"/>
            <a:ext cx="304800" cy="228600"/>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K</a:t>
            </a:r>
            <a:r>
              <a:rPr lang="en-US" altLang="en-US" baseline="-25000">
                <a:latin typeface="Tahoma" panose="020B0604030504040204" pitchFamily="34" charset="0"/>
              </a:rPr>
              <a:t>2</a:t>
            </a:r>
          </a:p>
        </p:txBody>
      </p:sp>
      <p:sp>
        <p:nvSpPr>
          <p:cNvPr id="17433" name="Rectangle 34"/>
          <p:cNvSpPr>
            <a:spLocks noChangeArrowheads="1"/>
          </p:cNvSpPr>
          <p:nvPr/>
        </p:nvSpPr>
        <p:spPr bwMode="auto">
          <a:xfrm>
            <a:off x="1143000" y="5486400"/>
            <a:ext cx="304800" cy="228600"/>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K</a:t>
            </a:r>
            <a:r>
              <a:rPr lang="en-US" altLang="en-US" baseline="-25000">
                <a:latin typeface="Tahoma" panose="020B0604030504040204" pitchFamily="34" charset="0"/>
              </a:rPr>
              <a:t>1</a:t>
            </a:r>
          </a:p>
        </p:txBody>
      </p:sp>
      <p:sp>
        <p:nvSpPr>
          <p:cNvPr id="17434" name="Rectangle 35"/>
          <p:cNvSpPr>
            <a:spLocks noChangeArrowheads="1"/>
          </p:cNvSpPr>
          <p:nvPr/>
        </p:nvSpPr>
        <p:spPr bwMode="auto">
          <a:xfrm>
            <a:off x="7315200" y="5638800"/>
            <a:ext cx="304800" cy="228600"/>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K</a:t>
            </a:r>
            <a:r>
              <a:rPr lang="en-US" altLang="en-US" baseline="-25000">
                <a:latin typeface="Tahoma" panose="020B0604030504040204" pitchFamily="34" charset="0"/>
              </a:rPr>
              <a:t>4</a:t>
            </a:r>
          </a:p>
        </p:txBody>
      </p:sp>
      <p:sp>
        <p:nvSpPr>
          <p:cNvPr id="17435" name="Rectangle 36"/>
          <p:cNvSpPr>
            <a:spLocks noChangeArrowheads="1"/>
          </p:cNvSpPr>
          <p:nvPr/>
        </p:nvSpPr>
        <p:spPr bwMode="auto">
          <a:xfrm>
            <a:off x="4724400" y="5486400"/>
            <a:ext cx="304800" cy="228600"/>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K</a:t>
            </a:r>
            <a:r>
              <a:rPr lang="en-US" altLang="en-US" baseline="-25000">
                <a:latin typeface="Tahoma" panose="020B0604030504040204" pitchFamily="34" charset="0"/>
              </a:rPr>
              <a:t>3</a:t>
            </a:r>
          </a:p>
        </p:txBody>
      </p:sp>
    </p:spTree>
    <p:extLst>
      <p:ext uri="{BB962C8B-B14F-4D97-AF65-F5344CB8AC3E}">
        <p14:creationId xmlns:p14="http://schemas.microsoft.com/office/powerpoint/2010/main" val="48018021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r>
              <a:rPr lang="en-US" altLang="en-US" smtClean="0"/>
              <a:t>Simple graphs – special cases</a:t>
            </a:r>
          </a:p>
        </p:txBody>
      </p:sp>
      <p:sp>
        <p:nvSpPr>
          <p:cNvPr id="18435" name="Rectangle 3"/>
          <p:cNvSpPr>
            <a:spLocks noGrp="1" noChangeArrowheads="1"/>
          </p:cNvSpPr>
          <p:nvPr>
            <p:ph idx="1"/>
          </p:nvPr>
        </p:nvSpPr>
        <p:spPr>
          <a:xfrm>
            <a:off x="742950" y="1770063"/>
            <a:ext cx="7772400" cy="1563687"/>
          </a:xfrm>
        </p:spPr>
        <p:txBody>
          <a:bodyPr/>
          <a:lstStyle/>
          <a:p>
            <a:pPr eaLnBrk="1" hangingPunct="1"/>
            <a:r>
              <a:rPr lang="en-US" altLang="en-US" sz="2000" b="1" smtClean="0"/>
              <a:t>Cycle:</a:t>
            </a:r>
            <a:r>
              <a:rPr lang="en-US" altLang="en-US" sz="2000" smtClean="0"/>
              <a:t> C</a:t>
            </a:r>
            <a:r>
              <a:rPr lang="en-US" altLang="en-US" sz="2000" baseline="-25000" smtClean="0"/>
              <a:t>n</a:t>
            </a:r>
            <a:r>
              <a:rPr lang="en-US" altLang="en-US" sz="2000" smtClean="0"/>
              <a:t>, n ≥ 3 consists of n vertices v</a:t>
            </a:r>
            <a:r>
              <a:rPr lang="en-US" altLang="en-US" sz="2000" baseline="-25000" smtClean="0"/>
              <a:t>1</a:t>
            </a:r>
            <a:r>
              <a:rPr lang="en-US" altLang="en-US" sz="2000" smtClean="0"/>
              <a:t>, v</a:t>
            </a:r>
            <a:r>
              <a:rPr lang="en-US" altLang="en-US" sz="2000" baseline="-25000" smtClean="0"/>
              <a:t>2</a:t>
            </a:r>
            <a:r>
              <a:rPr lang="en-US" altLang="en-US" sz="2000" smtClean="0"/>
              <a:t>, v</a:t>
            </a:r>
            <a:r>
              <a:rPr lang="en-US" altLang="en-US" sz="2000" baseline="-25000" smtClean="0"/>
              <a:t>3</a:t>
            </a:r>
            <a:r>
              <a:rPr lang="en-US" altLang="en-US" sz="2000" smtClean="0"/>
              <a:t> … v</a:t>
            </a:r>
            <a:r>
              <a:rPr lang="en-US" altLang="en-US" sz="2000" baseline="-25000" smtClean="0"/>
              <a:t>n</a:t>
            </a:r>
            <a:r>
              <a:rPr lang="en-US" altLang="en-US" sz="2000" smtClean="0"/>
              <a:t> and edges {v</a:t>
            </a:r>
            <a:r>
              <a:rPr lang="en-US" altLang="en-US" sz="2000" baseline="-25000" smtClean="0"/>
              <a:t>1</a:t>
            </a:r>
            <a:r>
              <a:rPr lang="en-US" altLang="en-US" sz="2000" smtClean="0"/>
              <a:t>, v</a:t>
            </a:r>
            <a:r>
              <a:rPr lang="en-US" altLang="en-US" sz="2000" baseline="-25000" smtClean="0"/>
              <a:t>2</a:t>
            </a:r>
            <a:r>
              <a:rPr lang="en-US" altLang="en-US" sz="2000" smtClean="0"/>
              <a:t>}, {v</a:t>
            </a:r>
            <a:r>
              <a:rPr lang="en-US" altLang="en-US" sz="2000" baseline="-25000" smtClean="0"/>
              <a:t>2</a:t>
            </a:r>
            <a:r>
              <a:rPr lang="en-US" altLang="en-US" sz="2000" smtClean="0"/>
              <a:t>, v</a:t>
            </a:r>
            <a:r>
              <a:rPr lang="en-US" altLang="en-US" sz="2000" baseline="-25000" smtClean="0"/>
              <a:t>3</a:t>
            </a:r>
            <a:r>
              <a:rPr lang="en-US" altLang="en-US" sz="2000" smtClean="0"/>
              <a:t>}, {v</a:t>
            </a:r>
            <a:r>
              <a:rPr lang="en-US" altLang="en-US" sz="2000" baseline="-25000" smtClean="0"/>
              <a:t>3</a:t>
            </a:r>
            <a:r>
              <a:rPr lang="en-US" altLang="en-US" sz="2000" smtClean="0"/>
              <a:t>, v</a:t>
            </a:r>
            <a:r>
              <a:rPr lang="en-US" altLang="en-US" sz="2000" baseline="-25000" smtClean="0"/>
              <a:t>4</a:t>
            </a:r>
            <a:r>
              <a:rPr lang="en-US" altLang="en-US" sz="2000" smtClean="0"/>
              <a:t>} … {v</a:t>
            </a:r>
            <a:r>
              <a:rPr lang="en-US" altLang="en-US" sz="2000" baseline="-25000" smtClean="0"/>
              <a:t>n-1</a:t>
            </a:r>
            <a:r>
              <a:rPr lang="en-US" altLang="en-US" sz="2000" smtClean="0"/>
              <a:t>, v</a:t>
            </a:r>
            <a:r>
              <a:rPr lang="en-US" altLang="en-US" sz="2000" baseline="-25000" smtClean="0"/>
              <a:t>n</a:t>
            </a:r>
            <a:r>
              <a:rPr lang="en-US" altLang="en-US" sz="2000" smtClean="0"/>
              <a:t>}, {v</a:t>
            </a:r>
            <a:r>
              <a:rPr lang="en-US" altLang="en-US" sz="2000" baseline="-25000" smtClean="0"/>
              <a:t>n</a:t>
            </a:r>
            <a:r>
              <a:rPr lang="en-US" altLang="en-US" sz="2000" smtClean="0"/>
              <a:t>, v</a:t>
            </a:r>
            <a:r>
              <a:rPr lang="en-US" altLang="en-US" sz="2000" baseline="-25000" smtClean="0"/>
              <a:t>1</a:t>
            </a:r>
            <a:r>
              <a:rPr lang="en-US" altLang="en-US" sz="2000" smtClean="0"/>
              <a:t>}</a:t>
            </a:r>
          </a:p>
          <a:p>
            <a:pPr eaLnBrk="1" hangingPunct="1">
              <a:buFont typeface="Wingdings" panose="05000000000000000000" pitchFamily="2" charset="2"/>
              <a:buNone/>
            </a:pPr>
            <a:r>
              <a:rPr lang="en-US" altLang="en-US" sz="2000" smtClean="0"/>
              <a:t>	</a:t>
            </a:r>
            <a:r>
              <a:rPr lang="en-US" altLang="en-US" sz="2000" smtClean="0">
                <a:solidFill>
                  <a:srgbClr val="237AC1"/>
                </a:solidFill>
              </a:rPr>
              <a:t>Representation</a:t>
            </a:r>
            <a:r>
              <a:rPr lang="en-US" altLang="en-US" sz="2000" smtClean="0"/>
              <a:t> </a:t>
            </a:r>
            <a:r>
              <a:rPr lang="en-US" altLang="en-US" sz="2000" smtClean="0">
                <a:solidFill>
                  <a:srgbClr val="237AC1"/>
                </a:solidFill>
              </a:rPr>
              <a:t>Example: C</a:t>
            </a:r>
            <a:r>
              <a:rPr lang="en-US" altLang="en-US" sz="2000" baseline="-25000" smtClean="0">
                <a:solidFill>
                  <a:srgbClr val="237AC1"/>
                </a:solidFill>
              </a:rPr>
              <a:t>3</a:t>
            </a:r>
            <a:r>
              <a:rPr lang="en-US" altLang="en-US" sz="2000" smtClean="0">
                <a:solidFill>
                  <a:srgbClr val="237AC1"/>
                </a:solidFill>
              </a:rPr>
              <a:t>, C</a:t>
            </a:r>
            <a:r>
              <a:rPr lang="en-US" altLang="en-US" sz="2000" baseline="-25000" smtClean="0">
                <a:solidFill>
                  <a:srgbClr val="237AC1"/>
                </a:solidFill>
              </a:rPr>
              <a:t>4</a:t>
            </a:r>
          </a:p>
        </p:txBody>
      </p:sp>
      <p:sp>
        <p:nvSpPr>
          <p:cNvPr id="18436" name="Oval 4"/>
          <p:cNvSpPr>
            <a:spLocks noChangeArrowheads="1"/>
          </p:cNvSpPr>
          <p:nvPr/>
        </p:nvSpPr>
        <p:spPr bwMode="auto">
          <a:xfrm>
            <a:off x="2743200" y="4724400"/>
            <a:ext cx="152400" cy="152400"/>
          </a:xfrm>
          <a:prstGeom prst="ellipse">
            <a:avLst/>
          </a:prstGeom>
          <a:solidFill>
            <a:srgbClr val="237AC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endParaRPr lang="en-IN" altLang="en-US">
              <a:latin typeface="Tahoma" panose="020B0604030504040204" pitchFamily="34" charset="0"/>
            </a:endParaRPr>
          </a:p>
        </p:txBody>
      </p:sp>
      <p:sp>
        <p:nvSpPr>
          <p:cNvPr id="18437" name="Oval 5"/>
          <p:cNvSpPr>
            <a:spLocks noChangeArrowheads="1"/>
          </p:cNvSpPr>
          <p:nvPr/>
        </p:nvSpPr>
        <p:spPr bwMode="auto">
          <a:xfrm>
            <a:off x="3810000" y="4724400"/>
            <a:ext cx="152400" cy="152400"/>
          </a:xfrm>
          <a:prstGeom prst="ellipse">
            <a:avLst/>
          </a:prstGeom>
          <a:solidFill>
            <a:srgbClr val="237AC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endParaRPr lang="en-IN" altLang="en-US">
              <a:latin typeface="Tahoma" panose="020B0604030504040204" pitchFamily="34" charset="0"/>
            </a:endParaRPr>
          </a:p>
        </p:txBody>
      </p:sp>
      <p:sp>
        <p:nvSpPr>
          <p:cNvPr id="18438" name="Oval 6"/>
          <p:cNvSpPr>
            <a:spLocks noChangeArrowheads="1"/>
          </p:cNvSpPr>
          <p:nvPr/>
        </p:nvSpPr>
        <p:spPr bwMode="auto">
          <a:xfrm>
            <a:off x="3276600" y="3886200"/>
            <a:ext cx="152400" cy="152400"/>
          </a:xfrm>
          <a:prstGeom prst="ellipse">
            <a:avLst/>
          </a:prstGeom>
          <a:solidFill>
            <a:srgbClr val="237AC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endParaRPr lang="en-IN" altLang="en-US">
              <a:latin typeface="Tahoma" panose="020B0604030504040204" pitchFamily="34" charset="0"/>
            </a:endParaRPr>
          </a:p>
        </p:txBody>
      </p:sp>
      <p:sp>
        <p:nvSpPr>
          <p:cNvPr id="18439" name="Oval 7"/>
          <p:cNvSpPr>
            <a:spLocks noChangeArrowheads="1"/>
          </p:cNvSpPr>
          <p:nvPr/>
        </p:nvSpPr>
        <p:spPr bwMode="auto">
          <a:xfrm>
            <a:off x="6400800" y="3810000"/>
            <a:ext cx="152400" cy="152400"/>
          </a:xfrm>
          <a:prstGeom prst="ellipse">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endParaRPr lang="en-IN" altLang="en-US">
              <a:latin typeface="Tahoma" panose="020B0604030504040204" pitchFamily="34" charset="0"/>
            </a:endParaRPr>
          </a:p>
        </p:txBody>
      </p:sp>
      <p:sp>
        <p:nvSpPr>
          <p:cNvPr id="18440" name="Oval 8"/>
          <p:cNvSpPr>
            <a:spLocks noChangeArrowheads="1"/>
          </p:cNvSpPr>
          <p:nvPr/>
        </p:nvSpPr>
        <p:spPr bwMode="auto">
          <a:xfrm>
            <a:off x="7620000" y="3810000"/>
            <a:ext cx="152400" cy="152400"/>
          </a:xfrm>
          <a:prstGeom prst="ellipse">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endParaRPr lang="en-IN" altLang="en-US">
              <a:latin typeface="Tahoma" panose="020B0604030504040204" pitchFamily="34" charset="0"/>
            </a:endParaRPr>
          </a:p>
        </p:txBody>
      </p:sp>
      <p:sp>
        <p:nvSpPr>
          <p:cNvPr id="18441" name="Oval 9"/>
          <p:cNvSpPr>
            <a:spLocks noChangeArrowheads="1"/>
          </p:cNvSpPr>
          <p:nvPr/>
        </p:nvSpPr>
        <p:spPr bwMode="auto">
          <a:xfrm>
            <a:off x="6400800" y="4800600"/>
            <a:ext cx="152400" cy="152400"/>
          </a:xfrm>
          <a:prstGeom prst="ellipse">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endParaRPr lang="en-IN" altLang="en-US">
              <a:latin typeface="Tahoma" panose="020B0604030504040204" pitchFamily="34" charset="0"/>
            </a:endParaRPr>
          </a:p>
        </p:txBody>
      </p:sp>
      <p:sp>
        <p:nvSpPr>
          <p:cNvPr id="18442" name="Oval 10"/>
          <p:cNvSpPr>
            <a:spLocks noChangeArrowheads="1"/>
          </p:cNvSpPr>
          <p:nvPr/>
        </p:nvSpPr>
        <p:spPr bwMode="auto">
          <a:xfrm>
            <a:off x="7620000" y="4800600"/>
            <a:ext cx="152400" cy="152400"/>
          </a:xfrm>
          <a:prstGeom prst="ellipse">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endParaRPr lang="en-IN" altLang="en-US">
              <a:latin typeface="Tahoma" panose="020B0604030504040204" pitchFamily="34" charset="0"/>
            </a:endParaRPr>
          </a:p>
        </p:txBody>
      </p:sp>
      <p:sp>
        <p:nvSpPr>
          <p:cNvPr id="18443" name="Line 11"/>
          <p:cNvSpPr>
            <a:spLocks noChangeShapeType="1"/>
          </p:cNvSpPr>
          <p:nvPr/>
        </p:nvSpPr>
        <p:spPr bwMode="auto">
          <a:xfrm>
            <a:off x="2895600" y="4800600"/>
            <a:ext cx="914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44" name="Line 12"/>
          <p:cNvSpPr>
            <a:spLocks noChangeShapeType="1"/>
          </p:cNvSpPr>
          <p:nvPr/>
        </p:nvSpPr>
        <p:spPr bwMode="auto">
          <a:xfrm>
            <a:off x="3429000" y="4038600"/>
            <a:ext cx="3810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45" name="Line 13"/>
          <p:cNvSpPr>
            <a:spLocks noChangeShapeType="1"/>
          </p:cNvSpPr>
          <p:nvPr/>
        </p:nvSpPr>
        <p:spPr bwMode="auto">
          <a:xfrm flipH="1">
            <a:off x="2819400" y="4038600"/>
            <a:ext cx="4572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46" name="Line 14"/>
          <p:cNvSpPr>
            <a:spLocks noChangeShapeType="1"/>
          </p:cNvSpPr>
          <p:nvPr/>
        </p:nvSpPr>
        <p:spPr bwMode="auto">
          <a:xfrm>
            <a:off x="6553200" y="3886200"/>
            <a:ext cx="10668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47" name="Line 15"/>
          <p:cNvSpPr>
            <a:spLocks noChangeShapeType="1"/>
          </p:cNvSpPr>
          <p:nvPr/>
        </p:nvSpPr>
        <p:spPr bwMode="auto">
          <a:xfrm>
            <a:off x="7696200" y="3962400"/>
            <a:ext cx="0" cy="838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48" name="Line 16"/>
          <p:cNvSpPr>
            <a:spLocks noChangeShapeType="1"/>
          </p:cNvSpPr>
          <p:nvPr/>
        </p:nvSpPr>
        <p:spPr bwMode="auto">
          <a:xfrm flipH="1">
            <a:off x="6553200" y="4876800"/>
            <a:ext cx="10668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49" name="Line 17"/>
          <p:cNvSpPr>
            <a:spLocks noChangeShapeType="1"/>
          </p:cNvSpPr>
          <p:nvPr/>
        </p:nvSpPr>
        <p:spPr bwMode="auto">
          <a:xfrm>
            <a:off x="6477000" y="3962400"/>
            <a:ext cx="0" cy="838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50" name="Rectangle 18"/>
          <p:cNvSpPr>
            <a:spLocks noChangeArrowheads="1"/>
          </p:cNvSpPr>
          <p:nvPr/>
        </p:nvSpPr>
        <p:spPr bwMode="auto">
          <a:xfrm>
            <a:off x="3200400" y="5562600"/>
            <a:ext cx="304800" cy="228600"/>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C</a:t>
            </a:r>
            <a:r>
              <a:rPr lang="en-US" altLang="en-US" baseline="-25000">
                <a:latin typeface="Tahoma" panose="020B0604030504040204" pitchFamily="34" charset="0"/>
              </a:rPr>
              <a:t>3</a:t>
            </a:r>
          </a:p>
        </p:txBody>
      </p:sp>
      <p:sp>
        <p:nvSpPr>
          <p:cNvPr id="18451" name="Rectangle 19"/>
          <p:cNvSpPr>
            <a:spLocks noChangeArrowheads="1"/>
          </p:cNvSpPr>
          <p:nvPr/>
        </p:nvSpPr>
        <p:spPr bwMode="auto">
          <a:xfrm>
            <a:off x="7010400" y="5562600"/>
            <a:ext cx="304800" cy="228600"/>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C</a:t>
            </a:r>
            <a:r>
              <a:rPr lang="en-US" altLang="en-US" baseline="-25000">
                <a:latin typeface="Tahoma" panose="020B0604030504040204" pitchFamily="34" charset="0"/>
              </a:rPr>
              <a:t>4</a:t>
            </a:r>
          </a:p>
        </p:txBody>
      </p:sp>
    </p:spTree>
    <p:extLst>
      <p:ext uri="{BB962C8B-B14F-4D97-AF65-F5344CB8AC3E}">
        <p14:creationId xmlns:p14="http://schemas.microsoft.com/office/powerpoint/2010/main" val="306402328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r>
              <a:rPr lang="en-US" altLang="en-US" smtClean="0"/>
              <a:t>Subgraphs</a:t>
            </a:r>
          </a:p>
        </p:txBody>
      </p:sp>
      <p:sp>
        <p:nvSpPr>
          <p:cNvPr id="19459" name="Rectangle 3"/>
          <p:cNvSpPr>
            <a:spLocks noGrp="1" noChangeArrowheads="1"/>
          </p:cNvSpPr>
          <p:nvPr>
            <p:ph idx="1"/>
          </p:nvPr>
        </p:nvSpPr>
        <p:spPr>
          <a:xfrm>
            <a:off x="628650" y="1676400"/>
            <a:ext cx="7772400" cy="1792288"/>
          </a:xfrm>
        </p:spPr>
        <p:txBody>
          <a:bodyPr/>
          <a:lstStyle/>
          <a:p>
            <a:pPr eaLnBrk="1" hangingPunct="1"/>
            <a:r>
              <a:rPr lang="en-US" altLang="en-US" sz="1800" smtClean="0"/>
              <a:t>A subgraph of a graph G = (V, E) is a graph H =(V’, E’) where V’ is a subset of V and E’ is a subset of E</a:t>
            </a:r>
          </a:p>
          <a:p>
            <a:pPr eaLnBrk="1" hangingPunct="1">
              <a:buFont typeface="Wingdings" panose="05000000000000000000" pitchFamily="2" charset="2"/>
              <a:buNone/>
            </a:pPr>
            <a:r>
              <a:rPr lang="en-US" altLang="en-US" sz="1800" smtClean="0"/>
              <a:t>	</a:t>
            </a:r>
            <a:r>
              <a:rPr lang="en-US" altLang="en-US" sz="1800" smtClean="0">
                <a:solidFill>
                  <a:srgbClr val="237AC1"/>
                </a:solidFill>
              </a:rPr>
              <a:t>Application example: solving sub-problems within a graph</a:t>
            </a:r>
          </a:p>
          <a:p>
            <a:pPr eaLnBrk="1" hangingPunct="1">
              <a:buFont typeface="Wingdings" panose="05000000000000000000" pitchFamily="2" charset="2"/>
              <a:buNone/>
            </a:pPr>
            <a:r>
              <a:rPr lang="en-US" altLang="en-US" sz="1800" smtClean="0"/>
              <a:t>	</a:t>
            </a:r>
            <a:r>
              <a:rPr lang="en-US" altLang="en-US" sz="1800" smtClean="0">
                <a:solidFill>
                  <a:srgbClr val="237AC1"/>
                </a:solidFill>
              </a:rPr>
              <a:t>Representation example: V = {u, v, w}, E = ({u, v}, {v, w}, {w, u}}, H</a:t>
            </a:r>
            <a:r>
              <a:rPr lang="en-US" altLang="en-US" sz="1800" baseline="-25000" smtClean="0">
                <a:solidFill>
                  <a:srgbClr val="237AC1"/>
                </a:solidFill>
              </a:rPr>
              <a:t>1</a:t>
            </a:r>
            <a:r>
              <a:rPr lang="en-US" altLang="en-US" sz="1800" smtClean="0">
                <a:solidFill>
                  <a:srgbClr val="237AC1"/>
                </a:solidFill>
              </a:rPr>
              <a:t> , H</a:t>
            </a:r>
            <a:r>
              <a:rPr lang="en-US" altLang="en-US" sz="1800" baseline="-25000" smtClean="0">
                <a:solidFill>
                  <a:srgbClr val="237AC1"/>
                </a:solidFill>
              </a:rPr>
              <a:t>2</a:t>
            </a:r>
          </a:p>
        </p:txBody>
      </p:sp>
      <p:sp>
        <p:nvSpPr>
          <p:cNvPr id="19460" name="Oval 12"/>
          <p:cNvSpPr>
            <a:spLocks noChangeArrowheads="1"/>
          </p:cNvSpPr>
          <p:nvPr/>
        </p:nvSpPr>
        <p:spPr bwMode="auto">
          <a:xfrm>
            <a:off x="1905000" y="4343400"/>
            <a:ext cx="381000" cy="3810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u</a:t>
            </a:r>
          </a:p>
        </p:txBody>
      </p:sp>
      <p:sp>
        <p:nvSpPr>
          <p:cNvPr id="19461" name="Oval 13"/>
          <p:cNvSpPr>
            <a:spLocks noChangeArrowheads="1"/>
          </p:cNvSpPr>
          <p:nvPr/>
        </p:nvSpPr>
        <p:spPr bwMode="auto">
          <a:xfrm>
            <a:off x="1295400" y="5486400"/>
            <a:ext cx="381000" cy="3810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v</a:t>
            </a:r>
          </a:p>
        </p:txBody>
      </p:sp>
      <p:sp>
        <p:nvSpPr>
          <p:cNvPr id="19462" name="Oval 14"/>
          <p:cNvSpPr>
            <a:spLocks noChangeArrowheads="1"/>
          </p:cNvSpPr>
          <p:nvPr/>
        </p:nvSpPr>
        <p:spPr bwMode="auto">
          <a:xfrm>
            <a:off x="2514600" y="5486400"/>
            <a:ext cx="381000" cy="3810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w</a:t>
            </a:r>
          </a:p>
        </p:txBody>
      </p:sp>
      <p:sp>
        <p:nvSpPr>
          <p:cNvPr id="19463" name="Oval 15"/>
          <p:cNvSpPr>
            <a:spLocks noChangeArrowheads="1"/>
          </p:cNvSpPr>
          <p:nvPr/>
        </p:nvSpPr>
        <p:spPr bwMode="auto">
          <a:xfrm>
            <a:off x="6858000" y="4267200"/>
            <a:ext cx="381000" cy="3810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u</a:t>
            </a:r>
          </a:p>
        </p:txBody>
      </p:sp>
      <p:sp>
        <p:nvSpPr>
          <p:cNvPr id="19464" name="Oval 16"/>
          <p:cNvSpPr>
            <a:spLocks noChangeArrowheads="1"/>
          </p:cNvSpPr>
          <p:nvPr/>
        </p:nvSpPr>
        <p:spPr bwMode="auto">
          <a:xfrm>
            <a:off x="4419600" y="4343400"/>
            <a:ext cx="381000" cy="3810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u</a:t>
            </a:r>
          </a:p>
        </p:txBody>
      </p:sp>
      <p:sp>
        <p:nvSpPr>
          <p:cNvPr id="19465" name="Oval 17"/>
          <p:cNvSpPr>
            <a:spLocks noChangeArrowheads="1"/>
          </p:cNvSpPr>
          <p:nvPr/>
        </p:nvSpPr>
        <p:spPr bwMode="auto">
          <a:xfrm>
            <a:off x="5029200" y="5410200"/>
            <a:ext cx="381000" cy="3810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w</a:t>
            </a:r>
          </a:p>
        </p:txBody>
      </p:sp>
      <p:sp>
        <p:nvSpPr>
          <p:cNvPr id="19466" name="Oval 18"/>
          <p:cNvSpPr>
            <a:spLocks noChangeArrowheads="1"/>
          </p:cNvSpPr>
          <p:nvPr/>
        </p:nvSpPr>
        <p:spPr bwMode="auto">
          <a:xfrm>
            <a:off x="3962400" y="5486400"/>
            <a:ext cx="381000" cy="3810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v</a:t>
            </a:r>
          </a:p>
        </p:txBody>
      </p:sp>
      <p:sp>
        <p:nvSpPr>
          <p:cNvPr id="19467" name="Oval 19"/>
          <p:cNvSpPr>
            <a:spLocks noChangeArrowheads="1"/>
          </p:cNvSpPr>
          <p:nvPr/>
        </p:nvSpPr>
        <p:spPr bwMode="auto">
          <a:xfrm>
            <a:off x="6858000" y="5410200"/>
            <a:ext cx="381000" cy="3810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v</a:t>
            </a:r>
          </a:p>
        </p:txBody>
      </p:sp>
      <p:sp>
        <p:nvSpPr>
          <p:cNvPr id="19468" name="Line 20"/>
          <p:cNvSpPr>
            <a:spLocks noChangeShapeType="1"/>
          </p:cNvSpPr>
          <p:nvPr/>
        </p:nvSpPr>
        <p:spPr bwMode="auto">
          <a:xfrm flipH="1">
            <a:off x="1524000" y="4724400"/>
            <a:ext cx="4572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69" name="Line 21"/>
          <p:cNvSpPr>
            <a:spLocks noChangeShapeType="1"/>
          </p:cNvSpPr>
          <p:nvPr/>
        </p:nvSpPr>
        <p:spPr bwMode="auto">
          <a:xfrm>
            <a:off x="2133600" y="4724400"/>
            <a:ext cx="4572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70" name="Line 22"/>
          <p:cNvSpPr>
            <a:spLocks noChangeShapeType="1"/>
          </p:cNvSpPr>
          <p:nvPr/>
        </p:nvSpPr>
        <p:spPr bwMode="auto">
          <a:xfrm>
            <a:off x="1676400" y="5715000"/>
            <a:ext cx="838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71" name="Line 23"/>
          <p:cNvSpPr>
            <a:spLocks noChangeShapeType="1"/>
          </p:cNvSpPr>
          <p:nvPr/>
        </p:nvSpPr>
        <p:spPr bwMode="auto">
          <a:xfrm flipH="1">
            <a:off x="4191000" y="4724400"/>
            <a:ext cx="3048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72" name="Line 25"/>
          <p:cNvSpPr>
            <a:spLocks noChangeShapeType="1"/>
          </p:cNvSpPr>
          <p:nvPr/>
        </p:nvSpPr>
        <p:spPr bwMode="auto">
          <a:xfrm>
            <a:off x="7010400" y="4648200"/>
            <a:ext cx="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73" name="Rectangle 26"/>
          <p:cNvSpPr>
            <a:spLocks noChangeArrowheads="1"/>
          </p:cNvSpPr>
          <p:nvPr/>
        </p:nvSpPr>
        <p:spPr bwMode="auto">
          <a:xfrm>
            <a:off x="4572000" y="6172200"/>
            <a:ext cx="304800" cy="228600"/>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H</a:t>
            </a:r>
            <a:r>
              <a:rPr lang="en-US" altLang="en-US" baseline="-25000">
                <a:latin typeface="Tahoma" panose="020B0604030504040204" pitchFamily="34" charset="0"/>
              </a:rPr>
              <a:t>1</a:t>
            </a:r>
          </a:p>
        </p:txBody>
      </p:sp>
      <p:sp>
        <p:nvSpPr>
          <p:cNvPr id="19474" name="Rectangle 27"/>
          <p:cNvSpPr>
            <a:spLocks noChangeArrowheads="1"/>
          </p:cNvSpPr>
          <p:nvPr/>
        </p:nvSpPr>
        <p:spPr bwMode="auto">
          <a:xfrm>
            <a:off x="6934200" y="6096000"/>
            <a:ext cx="304800" cy="228600"/>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H</a:t>
            </a:r>
            <a:r>
              <a:rPr lang="en-US" altLang="en-US" baseline="-25000">
                <a:latin typeface="Tahoma" panose="020B0604030504040204" pitchFamily="34" charset="0"/>
              </a:rPr>
              <a:t>2</a:t>
            </a:r>
          </a:p>
        </p:txBody>
      </p:sp>
      <p:sp>
        <p:nvSpPr>
          <p:cNvPr id="19475" name="Rectangle 28"/>
          <p:cNvSpPr>
            <a:spLocks noChangeArrowheads="1"/>
          </p:cNvSpPr>
          <p:nvPr/>
        </p:nvSpPr>
        <p:spPr bwMode="auto">
          <a:xfrm>
            <a:off x="1981200" y="6096000"/>
            <a:ext cx="304800" cy="228600"/>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G</a:t>
            </a:r>
            <a:endParaRPr lang="en-US" altLang="en-US" baseline="-25000">
              <a:latin typeface="Tahoma" panose="020B0604030504040204" pitchFamily="34" charset="0"/>
            </a:endParaRPr>
          </a:p>
        </p:txBody>
      </p:sp>
      <p:sp>
        <p:nvSpPr>
          <p:cNvPr id="19476" name="Line 30"/>
          <p:cNvSpPr>
            <a:spLocks noChangeShapeType="1"/>
          </p:cNvSpPr>
          <p:nvPr/>
        </p:nvSpPr>
        <p:spPr bwMode="auto">
          <a:xfrm>
            <a:off x="4343400" y="5715000"/>
            <a:ext cx="6858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21865192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en-US" altLang="en-US" smtClean="0"/>
              <a:t>Subgraphs</a:t>
            </a:r>
          </a:p>
        </p:txBody>
      </p:sp>
      <p:sp>
        <p:nvSpPr>
          <p:cNvPr id="37891" name="Rectangle 3"/>
          <p:cNvSpPr>
            <a:spLocks noGrp="1" noChangeArrowheads="1"/>
          </p:cNvSpPr>
          <p:nvPr>
            <p:ph idx="1"/>
          </p:nvPr>
        </p:nvSpPr>
        <p:spPr>
          <a:xfrm>
            <a:off x="1182688" y="2017713"/>
            <a:ext cx="7772400" cy="1563687"/>
          </a:xfrm>
        </p:spPr>
        <p:txBody>
          <a:bodyPr rtlCol="0">
            <a:normAutofit fontScale="92500" lnSpcReduction="10000"/>
          </a:bodyPr>
          <a:lstStyle/>
          <a:p>
            <a:pPr eaLnBrk="1" fontAlgn="auto" hangingPunct="1">
              <a:spcAft>
                <a:spcPts val="0"/>
              </a:spcAft>
              <a:defRPr/>
            </a:pPr>
            <a:r>
              <a:rPr lang="en-US" altLang="en-US" sz="1800" dirty="0"/>
              <a:t>G = G1 U G2 wherein E = E1 U E2 and V = V1 U V2, G, G1 and G2 are simple graphs of G</a:t>
            </a:r>
          </a:p>
          <a:p>
            <a:pPr eaLnBrk="1" fontAlgn="auto" hangingPunct="1">
              <a:spcAft>
                <a:spcPts val="0"/>
              </a:spcAft>
              <a:buFont typeface="Wingdings" panose="05000000000000000000" pitchFamily="2" charset="2"/>
              <a:buNone/>
              <a:defRPr/>
            </a:pPr>
            <a:endParaRPr lang="en-US" altLang="en-US" sz="1800" dirty="0"/>
          </a:p>
          <a:p>
            <a:pPr algn="just" eaLnBrk="1" fontAlgn="auto" hangingPunct="1">
              <a:spcAft>
                <a:spcPts val="0"/>
              </a:spcAft>
              <a:buFont typeface="Wingdings" panose="05000000000000000000" pitchFamily="2" charset="2"/>
              <a:buNone/>
              <a:defRPr/>
            </a:pPr>
            <a:r>
              <a:rPr lang="en-US" altLang="en-US" sz="2000" dirty="0">
                <a:solidFill>
                  <a:srgbClr val="237AC1"/>
                </a:solidFill>
              </a:rPr>
              <a:t>    Representation</a:t>
            </a:r>
            <a:r>
              <a:rPr lang="en-US" altLang="en-US" sz="1800" dirty="0"/>
              <a:t> </a:t>
            </a:r>
            <a:r>
              <a:rPr lang="en-US" altLang="en-US" sz="1800" dirty="0">
                <a:solidFill>
                  <a:srgbClr val="237AC1"/>
                </a:solidFill>
              </a:rPr>
              <a:t>example: V1 = {u, w}, E1 = {{u, w}}, V2 = {w, v},  </a:t>
            </a:r>
          </a:p>
          <a:p>
            <a:pPr algn="just" eaLnBrk="1" fontAlgn="auto" hangingPunct="1">
              <a:spcAft>
                <a:spcPts val="0"/>
              </a:spcAft>
              <a:buFont typeface="Wingdings" panose="05000000000000000000" pitchFamily="2" charset="2"/>
              <a:buNone/>
              <a:defRPr/>
            </a:pPr>
            <a:r>
              <a:rPr lang="en-US" altLang="en-US" sz="1800" dirty="0">
                <a:solidFill>
                  <a:srgbClr val="237AC1"/>
                </a:solidFill>
              </a:rPr>
              <a:t>    </a:t>
            </a:r>
            <a:r>
              <a:rPr lang="en-US" altLang="en-US" sz="1800" dirty="0" smtClean="0">
                <a:solidFill>
                  <a:srgbClr val="237AC1"/>
                </a:solidFill>
              </a:rPr>
              <a:t>E2 </a:t>
            </a:r>
            <a:r>
              <a:rPr lang="en-US" altLang="en-US" sz="1800" dirty="0">
                <a:solidFill>
                  <a:srgbClr val="237AC1"/>
                </a:solidFill>
              </a:rPr>
              <a:t>= {{w, v}}, V = {u, v ,w}, E = {{{u, w}, {{w, v}}</a:t>
            </a:r>
          </a:p>
        </p:txBody>
      </p:sp>
      <p:sp>
        <p:nvSpPr>
          <p:cNvPr id="20484" name="Oval 4"/>
          <p:cNvSpPr>
            <a:spLocks noChangeArrowheads="1"/>
          </p:cNvSpPr>
          <p:nvPr/>
        </p:nvSpPr>
        <p:spPr bwMode="auto">
          <a:xfrm>
            <a:off x="1905000" y="4343400"/>
            <a:ext cx="381000" cy="3810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u</a:t>
            </a:r>
          </a:p>
        </p:txBody>
      </p:sp>
      <p:sp>
        <p:nvSpPr>
          <p:cNvPr id="20485" name="Oval 5"/>
          <p:cNvSpPr>
            <a:spLocks noChangeArrowheads="1"/>
          </p:cNvSpPr>
          <p:nvPr/>
        </p:nvSpPr>
        <p:spPr bwMode="auto">
          <a:xfrm>
            <a:off x="4572000" y="5410200"/>
            <a:ext cx="381000" cy="3810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v</a:t>
            </a:r>
          </a:p>
        </p:txBody>
      </p:sp>
      <p:sp>
        <p:nvSpPr>
          <p:cNvPr id="20486" name="Oval 6"/>
          <p:cNvSpPr>
            <a:spLocks noChangeArrowheads="1"/>
          </p:cNvSpPr>
          <p:nvPr/>
        </p:nvSpPr>
        <p:spPr bwMode="auto">
          <a:xfrm>
            <a:off x="1295400" y="5410200"/>
            <a:ext cx="381000" cy="3810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w</a:t>
            </a:r>
          </a:p>
        </p:txBody>
      </p:sp>
      <p:sp>
        <p:nvSpPr>
          <p:cNvPr id="20487" name="Oval 7"/>
          <p:cNvSpPr>
            <a:spLocks noChangeArrowheads="1"/>
          </p:cNvSpPr>
          <p:nvPr/>
        </p:nvSpPr>
        <p:spPr bwMode="auto">
          <a:xfrm>
            <a:off x="3429000" y="5410200"/>
            <a:ext cx="381000" cy="3810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w</a:t>
            </a:r>
          </a:p>
        </p:txBody>
      </p:sp>
      <p:sp>
        <p:nvSpPr>
          <p:cNvPr id="20488" name="Oval 8"/>
          <p:cNvSpPr>
            <a:spLocks noChangeArrowheads="1"/>
          </p:cNvSpPr>
          <p:nvPr/>
        </p:nvSpPr>
        <p:spPr bwMode="auto">
          <a:xfrm>
            <a:off x="7696200" y="5257800"/>
            <a:ext cx="381000" cy="3810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v</a:t>
            </a:r>
          </a:p>
        </p:txBody>
      </p:sp>
      <p:sp>
        <p:nvSpPr>
          <p:cNvPr id="20489" name="Oval 9"/>
          <p:cNvSpPr>
            <a:spLocks noChangeArrowheads="1"/>
          </p:cNvSpPr>
          <p:nvPr/>
        </p:nvSpPr>
        <p:spPr bwMode="auto">
          <a:xfrm>
            <a:off x="6400800" y="5257800"/>
            <a:ext cx="381000" cy="3810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w</a:t>
            </a:r>
          </a:p>
        </p:txBody>
      </p:sp>
      <p:sp>
        <p:nvSpPr>
          <p:cNvPr id="20490" name="Oval 10"/>
          <p:cNvSpPr>
            <a:spLocks noChangeArrowheads="1"/>
          </p:cNvSpPr>
          <p:nvPr/>
        </p:nvSpPr>
        <p:spPr bwMode="auto">
          <a:xfrm>
            <a:off x="7010400" y="4114800"/>
            <a:ext cx="381000" cy="3810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u</a:t>
            </a:r>
          </a:p>
        </p:txBody>
      </p:sp>
      <p:sp>
        <p:nvSpPr>
          <p:cNvPr id="20491" name="Line 11"/>
          <p:cNvSpPr>
            <a:spLocks noChangeShapeType="1"/>
          </p:cNvSpPr>
          <p:nvPr/>
        </p:nvSpPr>
        <p:spPr bwMode="auto">
          <a:xfrm flipH="1">
            <a:off x="1524000" y="4724400"/>
            <a:ext cx="4572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92" name="Line 12"/>
          <p:cNvSpPr>
            <a:spLocks noChangeShapeType="1"/>
          </p:cNvSpPr>
          <p:nvPr/>
        </p:nvSpPr>
        <p:spPr bwMode="auto">
          <a:xfrm>
            <a:off x="3810000" y="5562600"/>
            <a:ext cx="7620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93" name="Line 13"/>
          <p:cNvSpPr>
            <a:spLocks noChangeShapeType="1"/>
          </p:cNvSpPr>
          <p:nvPr/>
        </p:nvSpPr>
        <p:spPr bwMode="auto">
          <a:xfrm flipH="1">
            <a:off x="6629400" y="4419600"/>
            <a:ext cx="457200" cy="838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94" name="Line 14"/>
          <p:cNvSpPr>
            <a:spLocks noChangeShapeType="1"/>
          </p:cNvSpPr>
          <p:nvPr/>
        </p:nvSpPr>
        <p:spPr bwMode="auto">
          <a:xfrm>
            <a:off x="6781800" y="5486400"/>
            <a:ext cx="914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95" name="Rectangle 15"/>
          <p:cNvSpPr>
            <a:spLocks noChangeArrowheads="1"/>
          </p:cNvSpPr>
          <p:nvPr/>
        </p:nvSpPr>
        <p:spPr bwMode="auto">
          <a:xfrm>
            <a:off x="1371600" y="6172200"/>
            <a:ext cx="381000" cy="228600"/>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G1</a:t>
            </a:r>
            <a:endParaRPr lang="en-US" altLang="en-US" baseline="-25000">
              <a:latin typeface="Tahoma" panose="020B0604030504040204" pitchFamily="34" charset="0"/>
            </a:endParaRPr>
          </a:p>
        </p:txBody>
      </p:sp>
      <p:sp>
        <p:nvSpPr>
          <p:cNvPr id="20496" name="Rectangle 16"/>
          <p:cNvSpPr>
            <a:spLocks noChangeArrowheads="1"/>
          </p:cNvSpPr>
          <p:nvPr/>
        </p:nvSpPr>
        <p:spPr bwMode="auto">
          <a:xfrm>
            <a:off x="4038600" y="6248400"/>
            <a:ext cx="304800" cy="228600"/>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G2</a:t>
            </a:r>
            <a:endParaRPr lang="en-US" altLang="en-US" baseline="-25000">
              <a:latin typeface="Tahoma" panose="020B0604030504040204" pitchFamily="34" charset="0"/>
            </a:endParaRPr>
          </a:p>
        </p:txBody>
      </p:sp>
      <p:sp>
        <p:nvSpPr>
          <p:cNvPr id="20497" name="Rectangle 17"/>
          <p:cNvSpPr>
            <a:spLocks noChangeArrowheads="1"/>
          </p:cNvSpPr>
          <p:nvPr/>
        </p:nvSpPr>
        <p:spPr bwMode="auto">
          <a:xfrm>
            <a:off x="7162800" y="6172200"/>
            <a:ext cx="304800" cy="228600"/>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G</a:t>
            </a:r>
            <a:endParaRPr lang="en-US" altLang="en-US" baseline="-25000">
              <a:latin typeface="Tahoma" panose="020B0604030504040204" pitchFamily="34" charset="0"/>
            </a:endParaRPr>
          </a:p>
        </p:txBody>
      </p:sp>
    </p:spTree>
    <p:extLst>
      <p:ext uri="{BB962C8B-B14F-4D97-AF65-F5344CB8AC3E}">
        <p14:creationId xmlns:p14="http://schemas.microsoft.com/office/powerpoint/2010/main" val="238573711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endParaRPr lang="en-US" altLang="en-US" smtClean="0"/>
          </a:p>
        </p:txBody>
      </p:sp>
      <p:sp>
        <p:nvSpPr>
          <p:cNvPr id="21507" name="Content Placeholder 2"/>
          <p:cNvSpPr>
            <a:spLocks noGrp="1"/>
          </p:cNvSpPr>
          <p:nvPr>
            <p:ph idx="1"/>
          </p:nvPr>
        </p:nvSpPr>
        <p:spPr/>
        <p:txBody>
          <a:bodyPr>
            <a:normAutofit fontScale="92500" lnSpcReduction="10000"/>
          </a:bodyPr>
          <a:lstStyle/>
          <a:p>
            <a:r>
              <a:rPr lang="en-US" altLang="en-US" b="1" smtClean="0"/>
              <a:t>Advantages of graphs:</a:t>
            </a:r>
          </a:p>
          <a:p>
            <a:r>
              <a:rPr lang="en-US" altLang="en-US" smtClean="0"/>
              <a:t>Graphs can be used to model and analyze complex systems and relationships.</a:t>
            </a:r>
          </a:p>
          <a:p>
            <a:r>
              <a:rPr lang="en-US" altLang="en-US" smtClean="0"/>
              <a:t>They are useful for visualizing and understanding data.</a:t>
            </a:r>
          </a:p>
          <a:p>
            <a:r>
              <a:rPr lang="en-US" altLang="en-US" smtClean="0"/>
              <a:t>Graph algorithms are widely used in computer science and other fields, such as social network analysis, logistics, and transportation.</a:t>
            </a:r>
          </a:p>
          <a:p>
            <a:endParaRPr lang="en-US" altLang="en-US" smtClean="0"/>
          </a:p>
          <a:p>
            <a:r>
              <a:rPr lang="en-US" altLang="en-US" b="1" smtClean="0"/>
              <a:t>Disadvantages of graphs:</a:t>
            </a:r>
          </a:p>
          <a:p>
            <a:r>
              <a:rPr lang="en-US" altLang="en-US" smtClean="0"/>
              <a:t>Large graphs can be difficult to visualize and analyze.</a:t>
            </a:r>
          </a:p>
          <a:p>
            <a:r>
              <a:rPr lang="en-US" altLang="en-US" smtClean="0"/>
              <a:t>Graph algorithms can be computationally expensive, especially for large graphs.</a:t>
            </a:r>
          </a:p>
        </p:txBody>
      </p:sp>
    </p:spTree>
    <p:extLst>
      <p:ext uri="{BB962C8B-B14F-4D97-AF65-F5344CB8AC3E}">
        <p14:creationId xmlns:p14="http://schemas.microsoft.com/office/powerpoint/2010/main" val="77951751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en-US" altLang="en-US" smtClean="0"/>
              <a:t>Representation</a:t>
            </a:r>
          </a:p>
        </p:txBody>
      </p:sp>
      <p:sp>
        <p:nvSpPr>
          <p:cNvPr id="22531" name="Rectangle 3"/>
          <p:cNvSpPr>
            <a:spLocks noGrp="1" noChangeArrowheads="1"/>
          </p:cNvSpPr>
          <p:nvPr>
            <p:ph idx="1"/>
          </p:nvPr>
        </p:nvSpPr>
        <p:spPr>
          <a:xfrm>
            <a:off x="628650" y="1717675"/>
            <a:ext cx="7772400" cy="4114800"/>
          </a:xfrm>
        </p:spPr>
        <p:txBody>
          <a:bodyPr/>
          <a:lstStyle/>
          <a:p>
            <a:pPr algn="just" eaLnBrk="1" hangingPunct="1"/>
            <a:r>
              <a:rPr lang="en-US" altLang="en-US" sz="2000" b="1" smtClean="0"/>
              <a:t>Incidence (Matrix):</a:t>
            </a:r>
            <a:r>
              <a:rPr lang="en-US" altLang="en-US" sz="2000" smtClean="0"/>
              <a:t> Most useful when </a:t>
            </a:r>
            <a:r>
              <a:rPr lang="en-US" altLang="en-US" sz="2000" b="1" smtClean="0"/>
              <a:t>information about edges </a:t>
            </a:r>
            <a:r>
              <a:rPr lang="en-US" altLang="en-US" sz="2000" smtClean="0"/>
              <a:t>is more desirable than information about vertices.</a:t>
            </a:r>
          </a:p>
          <a:p>
            <a:pPr algn="just" eaLnBrk="1" hangingPunct="1">
              <a:buFont typeface="Wingdings" panose="05000000000000000000" pitchFamily="2" charset="2"/>
              <a:buNone/>
            </a:pPr>
            <a:endParaRPr lang="en-US" altLang="en-US" sz="2000" smtClean="0"/>
          </a:p>
          <a:p>
            <a:pPr algn="just" eaLnBrk="1" hangingPunct="1"/>
            <a:r>
              <a:rPr lang="en-US" altLang="en-US" sz="2000" b="1" smtClean="0"/>
              <a:t>Adjacency (Matrix/List):</a:t>
            </a:r>
            <a:r>
              <a:rPr lang="en-US" altLang="en-US" sz="2000" smtClean="0"/>
              <a:t> Most useful when </a:t>
            </a:r>
            <a:r>
              <a:rPr lang="en-US" altLang="en-US" sz="2000" b="1" smtClean="0"/>
              <a:t>information about the vertices</a:t>
            </a:r>
            <a:r>
              <a:rPr lang="en-US" altLang="en-US" sz="2000" smtClean="0"/>
              <a:t> is more desirable than information about the edges. These two representations are also most popular since information about the vertices is often more desirable than edges in most applications.</a:t>
            </a:r>
          </a:p>
        </p:txBody>
      </p:sp>
    </p:spTree>
    <p:extLst>
      <p:ext uri="{BB962C8B-B14F-4D97-AF65-F5344CB8AC3E}">
        <p14:creationId xmlns:p14="http://schemas.microsoft.com/office/powerpoint/2010/main" val="261000381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r>
              <a:rPr lang="en-US" altLang="en-US" sz="4000" smtClean="0"/>
              <a:t>Representation- Incidence Matrix</a:t>
            </a:r>
          </a:p>
        </p:txBody>
      </p:sp>
      <p:sp>
        <p:nvSpPr>
          <p:cNvPr id="23555" name="Rectangle 3"/>
          <p:cNvSpPr>
            <a:spLocks noGrp="1" noChangeArrowheads="1"/>
          </p:cNvSpPr>
          <p:nvPr>
            <p:ph type="body" sz="half" idx="1"/>
          </p:nvPr>
        </p:nvSpPr>
        <p:spPr>
          <a:xfrm>
            <a:off x="990600" y="1912087"/>
            <a:ext cx="7351712" cy="2667000"/>
          </a:xfrm>
        </p:spPr>
        <p:txBody>
          <a:bodyPr>
            <a:noAutofit/>
          </a:bodyPr>
          <a:lstStyle/>
          <a:p>
            <a:pPr algn="just" eaLnBrk="1" hangingPunct="1">
              <a:buFont typeface="Symbol" panose="05050102010706020507" pitchFamily="18" charset="2"/>
              <a:buChar char=""/>
            </a:pPr>
            <a:r>
              <a:rPr lang="en-US" altLang="en-US" sz="1200" dirty="0" smtClean="0"/>
              <a:t>G = (V, E) be an undirected graph. Suppose that v</a:t>
            </a:r>
            <a:r>
              <a:rPr lang="en-US" altLang="en-US" sz="1200" baseline="-25000" dirty="0" smtClean="0"/>
              <a:t>1</a:t>
            </a:r>
            <a:r>
              <a:rPr lang="en-US" altLang="en-US" sz="1200" dirty="0" smtClean="0"/>
              <a:t>, v</a:t>
            </a:r>
            <a:r>
              <a:rPr lang="en-US" altLang="en-US" sz="1200" baseline="-25000" dirty="0" smtClean="0"/>
              <a:t>2</a:t>
            </a:r>
            <a:r>
              <a:rPr lang="en-US" altLang="en-US" sz="1200" dirty="0" smtClean="0"/>
              <a:t>, v</a:t>
            </a:r>
            <a:r>
              <a:rPr lang="en-US" altLang="en-US" sz="1200" baseline="-25000" dirty="0" smtClean="0"/>
              <a:t>3</a:t>
            </a:r>
            <a:r>
              <a:rPr lang="en-US" altLang="en-US" sz="1200" dirty="0" smtClean="0"/>
              <a:t>, …, </a:t>
            </a:r>
            <a:r>
              <a:rPr lang="en-US" altLang="en-US" sz="1200" dirty="0" err="1" smtClean="0"/>
              <a:t>v</a:t>
            </a:r>
            <a:r>
              <a:rPr lang="en-US" altLang="en-US" sz="1200" baseline="-25000" dirty="0" err="1" smtClean="0"/>
              <a:t>n</a:t>
            </a:r>
            <a:r>
              <a:rPr lang="en-US" altLang="en-US" sz="1200" baseline="-25000" dirty="0" smtClean="0"/>
              <a:t> </a:t>
            </a:r>
            <a:r>
              <a:rPr lang="en-US" altLang="en-US" sz="1200" dirty="0" smtClean="0"/>
              <a:t>are the vertices and e</a:t>
            </a:r>
            <a:r>
              <a:rPr lang="en-US" altLang="en-US" sz="1200" baseline="-25000" dirty="0" smtClean="0"/>
              <a:t>1</a:t>
            </a:r>
            <a:r>
              <a:rPr lang="en-US" altLang="en-US" sz="1200" dirty="0" smtClean="0"/>
              <a:t>, e</a:t>
            </a:r>
            <a:r>
              <a:rPr lang="en-US" altLang="en-US" sz="1200" baseline="-25000" dirty="0" smtClean="0"/>
              <a:t>2</a:t>
            </a:r>
            <a:r>
              <a:rPr lang="en-US" altLang="en-US" sz="1200" dirty="0" smtClean="0"/>
              <a:t>, …, </a:t>
            </a:r>
            <a:r>
              <a:rPr lang="en-US" altLang="en-US" sz="1200" dirty="0" err="1" smtClean="0"/>
              <a:t>e</a:t>
            </a:r>
            <a:r>
              <a:rPr lang="en-US" altLang="en-US" sz="1200" baseline="-25000" dirty="0" err="1" smtClean="0"/>
              <a:t>m</a:t>
            </a:r>
            <a:r>
              <a:rPr lang="en-US" altLang="en-US" sz="1200" dirty="0" smtClean="0"/>
              <a:t> are the edges of G. Then the incidence matrix with respect to this ordering of V and E is the </a:t>
            </a:r>
            <a:r>
              <a:rPr lang="en-US" altLang="en-US" sz="1200" dirty="0" err="1" smtClean="0"/>
              <a:t>nx</a:t>
            </a:r>
            <a:r>
              <a:rPr lang="en-US" altLang="en-US" sz="1200" dirty="0" smtClean="0"/>
              <a:t> m matrix M = [m </a:t>
            </a:r>
            <a:r>
              <a:rPr lang="en-US" altLang="en-US" sz="1200" baseline="-25000" dirty="0" err="1" smtClean="0"/>
              <a:t>ij</a:t>
            </a:r>
            <a:r>
              <a:rPr lang="en-US" altLang="en-US" sz="1200" dirty="0" smtClean="0"/>
              <a:t>], where</a:t>
            </a:r>
          </a:p>
          <a:p>
            <a:pPr algn="just" eaLnBrk="1" hangingPunct="1">
              <a:buFont typeface="Wingdings" panose="05000000000000000000" pitchFamily="2" charset="2"/>
              <a:buNone/>
            </a:pPr>
            <a:r>
              <a:rPr lang="en-US" altLang="en-US" sz="1200" dirty="0" smtClean="0"/>
              <a:t>	Can also be used to represent :</a:t>
            </a:r>
          </a:p>
          <a:p>
            <a:pPr algn="just" eaLnBrk="1" hangingPunct="1">
              <a:buFont typeface="Wingdings" panose="05000000000000000000" pitchFamily="2" charset="2"/>
              <a:buNone/>
            </a:pPr>
            <a:r>
              <a:rPr lang="en-US" altLang="en-US" sz="1200" dirty="0" smtClean="0"/>
              <a:t>	</a:t>
            </a:r>
            <a:r>
              <a:rPr lang="en-US" altLang="en-US" sz="1200" b="1" dirty="0" smtClean="0"/>
              <a:t>Multiple edges:</a:t>
            </a:r>
            <a:r>
              <a:rPr lang="en-US" altLang="en-US" sz="1200" dirty="0" smtClean="0"/>
              <a:t> by using columns with identical entries, since these edges are incident with the same pair of vertices</a:t>
            </a:r>
          </a:p>
          <a:p>
            <a:pPr algn="just" eaLnBrk="1" hangingPunct="1">
              <a:buFont typeface="Wingdings" panose="05000000000000000000" pitchFamily="2" charset="2"/>
              <a:buNone/>
            </a:pPr>
            <a:r>
              <a:rPr lang="en-US" altLang="en-US" sz="1200" dirty="0" smtClean="0"/>
              <a:t>	</a:t>
            </a:r>
            <a:r>
              <a:rPr lang="en-US" altLang="en-US" sz="1200" b="1" dirty="0" smtClean="0"/>
              <a:t>Loops:</a:t>
            </a:r>
            <a:r>
              <a:rPr lang="en-US" altLang="en-US" sz="1200" dirty="0" smtClean="0"/>
              <a:t> by using a column with exactly one entry equal to 1, corresponding to the vertex that is incident with the loop</a:t>
            </a:r>
          </a:p>
        </p:txBody>
      </p:sp>
      <p:graphicFrame>
        <p:nvGraphicFramePr>
          <p:cNvPr id="23556" name="Object 4"/>
          <p:cNvGraphicFramePr>
            <a:graphicFrameLocks noGrp="1" noChangeAspect="1"/>
          </p:cNvGraphicFramePr>
          <p:nvPr>
            <p:ph sz="half" idx="2"/>
            <p:extLst>
              <p:ext uri="{D42A27DB-BD31-4B8C-83A1-F6EECF244321}">
                <p14:modId xmlns:p14="http://schemas.microsoft.com/office/powerpoint/2010/main" val="968036320"/>
              </p:ext>
            </p:extLst>
          </p:nvPr>
        </p:nvGraphicFramePr>
        <p:xfrm>
          <a:off x="1828800" y="4579087"/>
          <a:ext cx="5176837" cy="955675"/>
        </p:xfrm>
        <a:graphic>
          <a:graphicData uri="http://schemas.openxmlformats.org/presentationml/2006/ole">
            <mc:AlternateContent xmlns:mc="http://schemas.openxmlformats.org/markup-compatibility/2006">
              <mc:Choice xmlns:v="urn:schemas-microsoft-com:vml" Requires="v">
                <p:oleObj spid="_x0000_s1056" name="Equation" r:id="rId3" imgW="2476500" imgH="457200" progId="Equation.3">
                  <p:embed/>
                </p:oleObj>
              </mc:Choice>
              <mc:Fallback>
                <p:oleObj name="Equation" r:id="rId3" imgW="2476500" imgH="457200" progId="Equation.3">
                  <p:embed/>
                  <p:pic>
                    <p:nvPicPr>
                      <p:cNvPr id="23556" name="Object 4"/>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8800" y="4579087"/>
                        <a:ext cx="5176837" cy="955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3359965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en-US" sz="4000" smtClean="0"/>
              <a:t>Representation- Incidence Matrix</a:t>
            </a:r>
          </a:p>
        </p:txBody>
      </p:sp>
      <p:sp>
        <p:nvSpPr>
          <p:cNvPr id="24579" name="Rectangle 3"/>
          <p:cNvSpPr>
            <a:spLocks noGrp="1" noChangeArrowheads="1"/>
          </p:cNvSpPr>
          <p:nvPr>
            <p:ph type="body" sz="half" idx="1"/>
          </p:nvPr>
        </p:nvSpPr>
        <p:spPr>
          <a:xfrm>
            <a:off x="1143000" y="1981200"/>
            <a:ext cx="5827713" cy="609600"/>
          </a:xfrm>
        </p:spPr>
        <p:txBody>
          <a:bodyPr/>
          <a:lstStyle/>
          <a:p>
            <a:pPr eaLnBrk="1" hangingPunct="1"/>
            <a:r>
              <a:rPr lang="en-US" altLang="en-US" sz="1800" smtClean="0">
                <a:solidFill>
                  <a:srgbClr val="237AC1"/>
                </a:solidFill>
              </a:rPr>
              <a:t>Representation Example: G = (V, E)</a:t>
            </a:r>
          </a:p>
        </p:txBody>
      </p:sp>
      <p:graphicFrame>
        <p:nvGraphicFramePr>
          <p:cNvPr id="58419" name="Group 51"/>
          <p:cNvGraphicFramePr>
            <a:graphicFrameLocks noGrp="1"/>
          </p:cNvGraphicFramePr>
          <p:nvPr>
            <p:ph sz="half" idx="2"/>
          </p:nvPr>
        </p:nvGraphicFramePr>
        <p:xfrm>
          <a:off x="5029200" y="3124200"/>
          <a:ext cx="2133600" cy="1898650"/>
        </p:xfrm>
        <a:graphic>
          <a:graphicData uri="http://schemas.openxmlformats.org/drawingml/2006/table">
            <a:tbl>
              <a:tblPr/>
              <a:tblGrid>
                <a:gridCol w="414338">
                  <a:extLst>
                    <a:ext uri="{9D8B030D-6E8A-4147-A177-3AD203B41FA5}">
                      <a16:colId xmlns:a16="http://schemas.microsoft.com/office/drawing/2014/main" val="20000"/>
                    </a:ext>
                  </a:extLst>
                </a:gridCol>
                <a:gridCol w="565150">
                  <a:extLst>
                    <a:ext uri="{9D8B030D-6E8A-4147-A177-3AD203B41FA5}">
                      <a16:colId xmlns:a16="http://schemas.microsoft.com/office/drawing/2014/main" val="20001"/>
                    </a:ext>
                  </a:extLst>
                </a:gridCol>
                <a:gridCol w="566737">
                  <a:extLst>
                    <a:ext uri="{9D8B030D-6E8A-4147-A177-3AD203B41FA5}">
                      <a16:colId xmlns:a16="http://schemas.microsoft.com/office/drawing/2014/main" val="20002"/>
                    </a:ext>
                  </a:extLst>
                </a:gridCol>
                <a:gridCol w="587375">
                  <a:extLst>
                    <a:ext uri="{9D8B030D-6E8A-4147-A177-3AD203B41FA5}">
                      <a16:colId xmlns:a16="http://schemas.microsoft.com/office/drawing/2014/main" val="20003"/>
                    </a:ext>
                  </a:extLst>
                </a:gridCol>
              </a:tblGrid>
              <a:tr h="518121">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2800" b="0" i="0" u="none" strike="noStrike" cap="none" normalizeH="0" baseline="0">
                        <a:ln>
                          <a:noFill/>
                        </a:ln>
                        <a:solidFill>
                          <a:schemeClr val="tx1"/>
                        </a:solidFill>
                        <a:effectLst/>
                        <a:latin typeface="Tahoma" panose="020B0604030504040204" pitchFamily="34" charset="0"/>
                      </a:endParaRPr>
                    </a:p>
                  </a:txBody>
                  <a:tcPr marT="45701" marB="4570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e</a:t>
                      </a:r>
                      <a:r>
                        <a:rPr kumimoji="0" lang="en-US" altLang="en-US" sz="1600" b="0" i="0" u="none" strike="noStrike" cap="none" normalizeH="0" baseline="-25000">
                          <a:ln>
                            <a:noFill/>
                          </a:ln>
                          <a:solidFill>
                            <a:schemeClr val="tx1"/>
                          </a:solidFill>
                          <a:effectLst/>
                          <a:latin typeface="Tahoma" panose="020B0604030504040204" pitchFamily="34" charset="0"/>
                        </a:rPr>
                        <a:t>1</a:t>
                      </a:r>
                    </a:p>
                  </a:txBody>
                  <a:tcPr marT="45701" marB="4570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e</a:t>
                      </a:r>
                      <a:r>
                        <a:rPr kumimoji="0" lang="en-US" altLang="en-US" sz="1600" b="0" i="0" u="none" strike="noStrike" cap="none" normalizeH="0" baseline="-25000">
                          <a:ln>
                            <a:noFill/>
                          </a:ln>
                          <a:solidFill>
                            <a:schemeClr val="tx1"/>
                          </a:solidFill>
                          <a:effectLst/>
                          <a:latin typeface="Tahoma" panose="020B0604030504040204" pitchFamily="34" charset="0"/>
                        </a:rPr>
                        <a:t>2</a:t>
                      </a:r>
                    </a:p>
                  </a:txBody>
                  <a:tcPr marT="45701" marB="4570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e</a:t>
                      </a:r>
                      <a:r>
                        <a:rPr kumimoji="0" lang="en-US" altLang="en-US" sz="1600" b="0" i="0" u="none" strike="noStrike" cap="none" normalizeH="0" baseline="-25000">
                          <a:ln>
                            <a:noFill/>
                          </a:ln>
                          <a:solidFill>
                            <a:schemeClr val="tx1"/>
                          </a:solidFill>
                          <a:effectLst/>
                          <a:latin typeface="Tahoma" panose="020B0604030504040204" pitchFamily="34" charset="0"/>
                        </a:rPr>
                        <a:t>3</a:t>
                      </a:r>
                    </a:p>
                  </a:txBody>
                  <a:tcPr marT="45701" marB="4570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0176">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v</a:t>
                      </a:r>
                      <a:endParaRPr kumimoji="0" lang="en-US" altLang="en-US" sz="1600" b="0" i="0" u="none" strike="noStrike" cap="none" normalizeH="0" baseline="-25000">
                        <a:ln>
                          <a:noFill/>
                        </a:ln>
                        <a:solidFill>
                          <a:schemeClr val="tx1"/>
                        </a:solidFill>
                        <a:effectLst/>
                        <a:latin typeface="Tahoma" panose="020B0604030504040204" pitchFamily="34" charset="0"/>
                      </a:endParaRPr>
                    </a:p>
                  </a:txBody>
                  <a:tcPr marT="45701" marB="4570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1</a:t>
                      </a:r>
                    </a:p>
                  </a:txBody>
                  <a:tcPr marT="45701" marB="4570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0</a:t>
                      </a:r>
                    </a:p>
                  </a:txBody>
                  <a:tcPr marT="45701" marB="4570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1</a:t>
                      </a:r>
                    </a:p>
                  </a:txBody>
                  <a:tcPr marT="45701" marB="4570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60176">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u</a:t>
                      </a:r>
                      <a:endParaRPr kumimoji="0" lang="en-US" altLang="en-US" sz="1600" b="0" i="0" u="none" strike="noStrike" cap="none" normalizeH="0" baseline="-25000">
                        <a:ln>
                          <a:noFill/>
                        </a:ln>
                        <a:solidFill>
                          <a:schemeClr val="tx1"/>
                        </a:solidFill>
                        <a:effectLst/>
                        <a:latin typeface="Tahoma" panose="020B0604030504040204" pitchFamily="34" charset="0"/>
                      </a:endParaRPr>
                    </a:p>
                  </a:txBody>
                  <a:tcPr marT="45701" marB="4570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1</a:t>
                      </a:r>
                    </a:p>
                  </a:txBody>
                  <a:tcPr marT="45701" marB="4570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1</a:t>
                      </a:r>
                    </a:p>
                  </a:txBody>
                  <a:tcPr marT="45701" marB="4570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0</a:t>
                      </a:r>
                    </a:p>
                  </a:txBody>
                  <a:tcPr marT="45701" marB="4570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60176">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w</a:t>
                      </a:r>
                      <a:endParaRPr kumimoji="0" lang="en-US" altLang="en-US" sz="1600" b="0" i="0" u="none" strike="noStrike" cap="none" normalizeH="0" baseline="-25000">
                        <a:ln>
                          <a:noFill/>
                        </a:ln>
                        <a:solidFill>
                          <a:schemeClr val="tx1"/>
                        </a:solidFill>
                        <a:effectLst/>
                        <a:latin typeface="Tahoma" panose="020B0604030504040204" pitchFamily="34" charset="0"/>
                      </a:endParaRPr>
                    </a:p>
                  </a:txBody>
                  <a:tcPr marT="45701" marB="4570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0</a:t>
                      </a:r>
                    </a:p>
                  </a:txBody>
                  <a:tcPr marT="45701" marB="4570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1</a:t>
                      </a:r>
                    </a:p>
                  </a:txBody>
                  <a:tcPr marT="45701" marB="4570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1</a:t>
                      </a:r>
                    </a:p>
                  </a:txBody>
                  <a:tcPr marT="45701" marB="4570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24607" name="Oval 5"/>
          <p:cNvSpPr>
            <a:spLocks noChangeArrowheads="1"/>
          </p:cNvSpPr>
          <p:nvPr/>
        </p:nvSpPr>
        <p:spPr bwMode="auto">
          <a:xfrm>
            <a:off x="1676400" y="4572000"/>
            <a:ext cx="381000" cy="3810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v</a:t>
            </a:r>
          </a:p>
        </p:txBody>
      </p:sp>
      <p:sp>
        <p:nvSpPr>
          <p:cNvPr id="24608" name="Oval 6"/>
          <p:cNvSpPr>
            <a:spLocks noChangeArrowheads="1"/>
          </p:cNvSpPr>
          <p:nvPr/>
        </p:nvSpPr>
        <p:spPr bwMode="auto">
          <a:xfrm>
            <a:off x="3200400" y="4572000"/>
            <a:ext cx="381000" cy="3810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w</a:t>
            </a:r>
          </a:p>
        </p:txBody>
      </p:sp>
      <p:sp>
        <p:nvSpPr>
          <p:cNvPr id="24609" name="Oval 7"/>
          <p:cNvSpPr>
            <a:spLocks noChangeArrowheads="1"/>
          </p:cNvSpPr>
          <p:nvPr/>
        </p:nvSpPr>
        <p:spPr bwMode="auto">
          <a:xfrm>
            <a:off x="2438400" y="3429000"/>
            <a:ext cx="381000" cy="3810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u</a:t>
            </a:r>
          </a:p>
        </p:txBody>
      </p:sp>
      <p:sp>
        <p:nvSpPr>
          <p:cNvPr id="24610" name="Line 8"/>
          <p:cNvSpPr>
            <a:spLocks noChangeShapeType="1"/>
          </p:cNvSpPr>
          <p:nvPr/>
        </p:nvSpPr>
        <p:spPr bwMode="auto">
          <a:xfrm>
            <a:off x="2743200" y="3810000"/>
            <a:ext cx="5334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611" name="Line 9"/>
          <p:cNvSpPr>
            <a:spLocks noChangeShapeType="1"/>
          </p:cNvSpPr>
          <p:nvPr/>
        </p:nvSpPr>
        <p:spPr bwMode="auto">
          <a:xfrm>
            <a:off x="2057400" y="4800600"/>
            <a:ext cx="11430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612" name="Line 10"/>
          <p:cNvSpPr>
            <a:spLocks noChangeShapeType="1"/>
          </p:cNvSpPr>
          <p:nvPr/>
        </p:nvSpPr>
        <p:spPr bwMode="auto">
          <a:xfrm flipH="1">
            <a:off x="1905000" y="3810000"/>
            <a:ext cx="6096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613" name="Rectangle 11"/>
          <p:cNvSpPr>
            <a:spLocks noChangeArrowheads="1"/>
          </p:cNvSpPr>
          <p:nvPr/>
        </p:nvSpPr>
        <p:spPr bwMode="auto">
          <a:xfrm>
            <a:off x="1600200" y="3886200"/>
            <a:ext cx="304800" cy="228600"/>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e1</a:t>
            </a:r>
            <a:endParaRPr lang="en-US" altLang="en-US" baseline="-25000">
              <a:latin typeface="Tahoma" panose="020B0604030504040204" pitchFamily="34" charset="0"/>
            </a:endParaRPr>
          </a:p>
        </p:txBody>
      </p:sp>
      <p:sp>
        <p:nvSpPr>
          <p:cNvPr id="24614" name="Rectangle 12"/>
          <p:cNvSpPr>
            <a:spLocks noChangeArrowheads="1"/>
          </p:cNvSpPr>
          <p:nvPr/>
        </p:nvSpPr>
        <p:spPr bwMode="auto">
          <a:xfrm>
            <a:off x="2438400" y="4953000"/>
            <a:ext cx="304800" cy="228600"/>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e3</a:t>
            </a:r>
            <a:endParaRPr lang="en-US" altLang="en-US" baseline="-25000">
              <a:latin typeface="Tahoma" panose="020B0604030504040204" pitchFamily="34" charset="0"/>
            </a:endParaRPr>
          </a:p>
        </p:txBody>
      </p:sp>
      <p:sp>
        <p:nvSpPr>
          <p:cNvPr id="24615" name="Rectangle 13"/>
          <p:cNvSpPr>
            <a:spLocks noChangeArrowheads="1"/>
          </p:cNvSpPr>
          <p:nvPr/>
        </p:nvSpPr>
        <p:spPr bwMode="auto">
          <a:xfrm>
            <a:off x="3124200" y="3962400"/>
            <a:ext cx="304800" cy="228600"/>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e2</a:t>
            </a:r>
            <a:endParaRPr lang="en-US" altLang="en-US" baseline="-25000">
              <a:latin typeface="Tahoma" panose="020B0604030504040204" pitchFamily="34" charset="0"/>
            </a:endParaRPr>
          </a:p>
        </p:txBody>
      </p:sp>
    </p:spTree>
    <p:extLst>
      <p:ext uri="{BB962C8B-B14F-4D97-AF65-F5344CB8AC3E}">
        <p14:creationId xmlns:p14="http://schemas.microsoft.com/office/powerpoint/2010/main" val="152066729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r>
              <a:rPr lang="en-US" altLang="en-US" sz="4000" smtClean="0"/>
              <a:t>Representation- Incidence Matrix</a:t>
            </a:r>
          </a:p>
        </p:txBody>
      </p:sp>
      <p:graphicFrame>
        <p:nvGraphicFramePr>
          <p:cNvPr id="183441" name="Group 145"/>
          <p:cNvGraphicFramePr>
            <a:graphicFrameLocks noGrp="1"/>
          </p:cNvGraphicFramePr>
          <p:nvPr>
            <p:ph sz="quarter" idx="2"/>
          </p:nvPr>
        </p:nvGraphicFramePr>
        <p:xfrm>
          <a:off x="4038600" y="2438400"/>
          <a:ext cx="2514600" cy="3602040"/>
        </p:xfrm>
        <a:graphic>
          <a:graphicData uri="http://schemas.openxmlformats.org/drawingml/2006/table">
            <a:tbl>
              <a:tblPr/>
              <a:tblGrid>
                <a:gridCol w="501650">
                  <a:extLst>
                    <a:ext uri="{9D8B030D-6E8A-4147-A177-3AD203B41FA5}">
                      <a16:colId xmlns:a16="http://schemas.microsoft.com/office/drawing/2014/main" val="20000"/>
                    </a:ext>
                  </a:extLst>
                </a:gridCol>
                <a:gridCol w="682625">
                  <a:extLst>
                    <a:ext uri="{9D8B030D-6E8A-4147-A177-3AD203B41FA5}">
                      <a16:colId xmlns:a16="http://schemas.microsoft.com/office/drawing/2014/main" val="20001"/>
                    </a:ext>
                  </a:extLst>
                </a:gridCol>
                <a:gridCol w="687388">
                  <a:extLst>
                    <a:ext uri="{9D8B030D-6E8A-4147-A177-3AD203B41FA5}">
                      <a16:colId xmlns:a16="http://schemas.microsoft.com/office/drawing/2014/main" val="20002"/>
                    </a:ext>
                  </a:extLst>
                </a:gridCol>
                <a:gridCol w="642937">
                  <a:extLst>
                    <a:ext uri="{9D8B030D-6E8A-4147-A177-3AD203B41FA5}">
                      <a16:colId xmlns:a16="http://schemas.microsoft.com/office/drawing/2014/main" val="20003"/>
                    </a:ext>
                  </a:extLst>
                </a:gridCol>
              </a:tblGrid>
              <a:tr h="738188">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2800" b="0" i="0" u="none" strike="noStrike" cap="none" normalizeH="0" baseline="0">
                        <a:ln>
                          <a:noFill/>
                        </a:ln>
                        <a:solidFill>
                          <a:schemeClr val="tx1"/>
                        </a:solidFill>
                        <a:effectLst/>
                        <a:latin typeface="Tahoma" panose="020B060403050404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e</a:t>
                      </a:r>
                      <a:r>
                        <a:rPr kumimoji="0" lang="en-US" altLang="en-US" sz="1600" b="0" i="0" u="none" strike="noStrike" cap="none" normalizeH="0" baseline="-25000">
                          <a:ln>
                            <a:noFill/>
                          </a:ln>
                          <a:solidFill>
                            <a:schemeClr val="tx1"/>
                          </a:solidFill>
                          <a:effectLst/>
                          <a:latin typeface="Tahoma" panose="020B0604030504040204" pitchFamily="34"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e</a:t>
                      </a:r>
                      <a:r>
                        <a:rPr kumimoji="0" lang="en-US" altLang="en-US" sz="1600" b="0" i="0" u="none" strike="noStrike" cap="none" normalizeH="0" baseline="-25000">
                          <a:ln>
                            <a:noFill/>
                          </a:ln>
                          <a:solidFill>
                            <a:schemeClr val="tx1"/>
                          </a:solidFill>
                          <a:effectLst/>
                          <a:latin typeface="Tahoma" panose="020B0604030504040204" pitchFamily="34"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e</a:t>
                      </a:r>
                      <a:r>
                        <a:rPr kumimoji="0" lang="en-US" altLang="en-US" sz="1600" b="0" i="0" u="none" strike="noStrike" cap="none" normalizeH="0" baseline="-25000">
                          <a:ln>
                            <a:noFill/>
                          </a:ln>
                          <a:solidFill>
                            <a:schemeClr val="tx1"/>
                          </a:solidFill>
                          <a:effectLst/>
                          <a:latin typeface="Tahoma" panose="020B0604030504040204" pitchFamily="34" charset="0"/>
                        </a:rPr>
                        <a:t>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76250">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a</a:t>
                      </a:r>
                      <a:endParaRPr kumimoji="0" lang="en-US" altLang="en-US" sz="1600" b="0" i="0" u="none" strike="noStrike" cap="none" normalizeH="0" baseline="-25000">
                        <a:ln>
                          <a:noFill/>
                        </a:ln>
                        <a:solidFill>
                          <a:schemeClr val="tx1"/>
                        </a:solidFill>
                        <a:effectLst/>
                        <a:latin typeface="Tahoma" panose="020B060403050404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77838">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b</a:t>
                      </a:r>
                      <a:endParaRPr kumimoji="0" lang="en-US" altLang="en-US" sz="1600" b="0" i="0" u="none" strike="noStrike" cap="none" normalizeH="0" baseline="-25000">
                        <a:ln>
                          <a:noFill/>
                        </a:ln>
                        <a:solidFill>
                          <a:schemeClr val="tx1"/>
                        </a:solidFill>
                        <a:effectLst/>
                        <a:latin typeface="Tahoma" panose="020B060403050404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77838">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c</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76250">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77838">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77838">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f</a:t>
                      </a:r>
                      <a:endParaRPr kumimoji="0" lang="en-US" altLang="en-US" sz="1600" b="0" i="0" u="none" strike="noStrike" cap="none" normalizeH="0" baseline="-25000">
                        <a:ln>
                          <a:noFill/>
                        </a:ln>
                        <a:solidFill>
                          <a:schemeClr val="tx1"/>
                        </a:solidFill>
                        <a:effectLst/>
                        <a:latin typeface="Tahoma" panose="020B060403050404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graphicFrame>
        <p:nvGraphicFramePr>
          <p:cNvPr id="183450" name="Group 154"/>
          <p:cNvGraphicFramePr>
            <a:graphicFrameLocks noGrp="1"/>
          </p:cNvGraphicFramePr>
          <p:nvPr>
            <p:ph sz="quarter" idx="3"/>
          </p:nvPr>
        </p:nvGraphicFramePr>
        <p:xfrm>
          <a:off x="6553200" y="2438400"/>
          <a:ext cx="2286000" cy="3602040"/>
        </p:xfrm>
        <a:graphic>
          <a:graphicData uri="http://schemas.openxmlformats.org/drawingml/2006/table">
            <a:tbl>
              <a:tblPr/>
              <a:tblGrid>
                <a:gridCol w="515938">
                  <a:extLst>
                    <a:ext uri="{9D8B030D-6E8A-4147-A177-3AD203B41FA5}">
                      <a16:colId xmlns:a16="http://schemas.microsoft.com/office/drawing/2014/main" val="20000"/>
                    </a:ext>
                  </a:extLst>
                </a:gridCol>
                <a:gridCol w="550862">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tblGrid>
              <a:tr h="738188">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e4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e</a:t>
                      </a:r>
                      <a:r>
                        <a:rPr kumimoji="0" lang="en-US" altLang="en-US" sz="1600" b="0" i="0" u="none" strike="noStrike" cap="none" normalizeH="0" baseline="-25000">
                          <a:ln>
                            <a:noFill/>
                          </a:ln>
                          <a:solidFill>
                            <a:schemeClr val="tx1"/>
                          </a:solidFill>
                          <a:effectLst/>
                          <a:latin typeface="Tahoma" panose="020B0604030504040204" pitchFamily="34"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e</a:t>
                      </a:r>
                      <a:r>
                        <a:rPr kumimoji="0" lang="en-US" altLang="en-US" sz="1600" b="0" i="0" u="none" strike="noStrike" cap="none" normalizeH="0" baseline="-25000">
                          <a:ln>
                            <a:noFill/>
                          </a:ln>
                          <a:solidFill>
                            <a:schemeClr val="tx1"/>
                          </a:solidFill>
                          <a:effectLst/>
                          <a:latin typeface="Tahoma" panose="020B0604030504040204" pitchFamily="34" charset="0"/>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e</a:t>
                      </a:r>
                      <a:r>
                        <a:rPr kumimoji="0" lang="en-US" altLang="en-US" sz="1600" b="0" i="0" u="none" strike="noStrike" cap="none" normalizeH="0" baseline="-25000">
                          <a:ln>
                            <a:noFill/>
                          </a:ln>
                          <a:solidFill>
                            <a:schemeClr val="tx1"/>
                          </a:solidFill>
                          <a:effectLst/>
                          <a:latin typeface="Tahoma" panose="020B0604030504040204" pitchFamily="34" charset="0"/>
                        </a:rPr>
                        <a:t>7</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76250">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0</a:t>
                      </a:r>
                      <a:endParaRPr kumimoji="0" lang="en-US" altLang="en-US" sz="1600" b="0" i="0" u="none" strike="noStrike" cap="none" normalizeH="0" baseline="-25000">
                        <a:ln>
                          <a:noFill/>
                        </a:ln>
                        <a:solidFill>
                          <a:schemeClr val="tx1"/>
                        </a:solidFill>
                        <a:effectLst/>
                        <a:latin typeface="Tahoma" panose="020B060403050404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77838">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0</a:t>
                      </a:r>
                      <a:endParaRPr kumimoji="0" lang="en-US" altLang="en-US" sz="1600" b="0" i="0" u="none" strike="noStrike" cap="none" normalizeH="0" baseline="-25000">
                        <a:ln>
                          <a:noFill/>
                        </a:ln>
                        <a:solidFill>
                          <a:schemeClr val="tx1"/>
                        </a:solidFill>
                        <a:effectLst/>
                        <a:latin typeface="Tahoma" panose="020B060403050404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77838">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76250">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77838">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77838">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cxnSp>
        <p:nvCxnSpPr>
          <p:cNvPr id="25687" name="AutoShape 40"/>
          <p:cNvCxnSpPr>
            <a:cxnSpLocks noChangeShapeType="1"/>
          </p:cNvCxnSpPr>
          <p:nvPr/>
        </p:nvCxnSpPr>
        <p:spPr bwMode="auto">
          <a:xfrm>
            <a:off x="838200" y="3443288"/>
            <a:ext cx="1371600" cy="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688" name="AutoShape 41"/>
          <p:cNvCxnSpPr>
            <a:cxnSpLocks noChangeShapeType="1"/>
          </p:cNvCxnSpPr>
          <p:nvPr/>
        </p:nvCxnSpPr>
        <p:spPr bwMode="auto">
          <a:xfrm>
            <a:off x="838200" y="3443288"/>
            <a:ext cx="0" cy="12192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689" name="AutoShape 42"/>
          <p:cNvCxnSpPr>
            <a:cxnSpLocks noChangeShapeType="1"/>
          </p:cNvCxnSpPr>
          <p:nvPr/>
        </p:nvCxnSpPr>
        <p:spPr bwMode="auto">
          <a:xfrm>
            <a:off x="838200" y="4662488"/>
            <a:ext cx="1447800" cy="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690" name="AutoShape 43"/>
          <p:cNvCxnSpPr>
            <a:cxnSpLocks noChangeShapeType="1"/>
          </p:cNvCxnSpPr>
          <p:nvPr/>
        </p:nvCxnSpPr>
        <p:spPr bwMode="auto">
          <a:xfrm>
            <a:off x="2209800" y="3443288"/>
            <a:ext cx="76200" cy="12192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691" name="AutoShape 44"/>
          <p:cNvCxnSpPr>
            <a:cxnSpLocks noChangeShapeType="1"/>
          </p:cNvCxnSpPr>
          <p:nvPr/>
        </p:nvCxnSpPr>
        <p:spPr bwMode="auto">
          <a:xfrm>
            <a:off x="2286000" y="4662488"/>
            <a:ext cx="1524000" cy="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692" name="AutoShape 45"/>
          <p:cNvCxnSpPr>
            <a:cxnSpLocks noChangeShapeType="1"/>
          </p:cNvCxnSpPr>
          <p:nvPr/>
        </p:nvCxnSpPr>
        <p:spPr bwMode="auto">
          <a:xfrm>
            <a:off x="2286000" y="4662488"/>
            <a:ext cx="0" cy="9144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693" name="AutoShape 46"/>
          <p:cNvCxnSpPr>
            <a:cxnSpLocks noChangeShapeType="1"/>
          </p:cNvCxnSpPr>
          <p:nvPr/>
        </p:nvCxnSpPr>
        <p:spPr bwMode="auto">
          <a:xfrm flipV="1">
            <a:off x="2286000" y="4662488"/>
            <a:ext cx="1524000" cy="9144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5694" name="Text Box 47"/>
          <p:cNvSpPr txBox="1">
            <a:spLocks noChangeArrowheads="1"/>
          </p:cNvSpPr>
          <p:nvPr/>
        </p:nvSpPr>
        <p:spPr bwMode="auto">
          <a:xfrm>
            <a:off x="381000" y="3246438"/>
            <a:ext cx="304800"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a</a:t>
            </a:r>
          </a:p>
        </p:txBody>
      </p:sp>
      <p:sp>
        <p:nvSpPr>
          <p:cNvPr id="25695" name="Text Box 48"/>
          <p:cNvSpPr txBox="1">
            <a:spLocks noChangeArrowheads="1"/>
          </p:cNvSpPr>
          <p:nvPr/>
        </p:nvSpPr>
        <p:spPr bwMode="auto">
          <a:xfrm>
            <a:off x="2206625" y="3214688"/>
            <a:ext cx="311150"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b</a:t>
            </a:r>
          </a:p>
        </p:txBody>
      </p:sp>
      <p:sp>
        <p:nvSpPr>
          <p:cNvPr id="25696" name="Text Box 49"/>
          <p:cNvSpPr txBox="1">
            <a:spLocks noChangeArrowheads="1"/>
          </p:cNvSpPr>
          <p:nvPr/>
        </p:nvSpPr>
        <p:spPr bwMode="auto">
          <a:xfrm>
            <a:off x="1905000" y="4281488"/>
            <a:ext cx="288925"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c</a:t>
            </a:r>
          </a:p>
        </p:txBody>
      </p:sp>
      <p:sp>
        <p:nvSpPr>
          <p:cNvPr id="25697" name="Text Box 50"/>
          <p:cNvSpPr txBox="1">
            <a:spLocks noChangeArrowheads="1"/>
          </p:cNvSpPr>
          <p:nvPr/>
        </p:nvSpPr>
        <p:spPr bwMode="auto">
          <a:xfrm>
            <a:off x="3730625" y="4281488"/>
            <a:ext cx="311150"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d</a:t>
            </a:r>
          </a:p>
        </p:txBody>
      </p:sp>
      <p:sp>
        <p:nvSpPr>
          <p:cNvPr id="25698" name="Text Box 51"/>
          <p:cNvSpPr txBox="1">
            <a:spLocks noChangeArrowheads="1"/>
          </p:cNvSpPr>
          <p:nvPr/>
        </p:nvSpPr>
        <p:spPr bwMode="auto">
          <a:xfrm>
            <a:off x="1981200" y="5424488"/>
            <a:ext cx="304800"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e</a:t>
            </a:r>
          </a:p>
        </p:txBody>
      </p:sp>
      <p:sp>
        <p:nvSpPr>
          <p:cNvPr id="25699" name="Text Box 52"/>
          <p:cNvSpPr txBox="1">
            <a:spLocks noChangeArrowheads="1"/>
          </p:cNvSpPr>
          <p:nvPr/>
        </p:nvSpPr>
        <p:spPr bwMode="auto">
          <a:xfrm>
            <a:off x="481013" y="4357688"/>
            <a:ext cx="257175"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f</a:t>
            </a:r>
          </a:p>
        </p:txBody>
      </p:sp>
      <p:sp>
        <p:nvSpPr>
          <p:cNvPr id="25700" name="Line 53"/>
          <p:cNvSpPr>
            <a:spLocks noChangeShapeType="1"/>
          </p:cNvSpPr>
          <p:nvPr/>
        </p:nvSpPr>
        <p:spPr bwMode="auto">
          <a:xfrm>
            <a:off x="914400" y="3214688"/>
            <a:ext cx="9144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701" name="Line 54"/>
          <p:cNvSpPr>
            <a:spLocks noChangeShapeType="1"/>
          </p:cNvSpPr>
          <p:nvPr/>
        </p:nvSpPr>
        <p:spPr bwMode="auto">
          <a:xfrm flipH="1">
            <a:off x="914400" y="4814888"/>
            <a:ext cx="12192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702" name="Line 55"/>
          <p:cNvSpPr>
            <a:spLocks noChangeShapeType="1"/>
          </p:cNvSpPr>
          <p:nvPr/>
        </p:nvSpPr>
        <p:spPr bwMode="auto">
          <a:xfrm flipV="1">
            <a:off x="685800" y="3595688"/>
            <a:ext cx="0" cy="685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703" name="Line 56"/>
          <p:cNvSpPr>
            <a:spLocks noChangeShapeType="1"/>
          </p:cNvSpPr>
          <p:nvPr/>
        </p:nvSpPr>
        <p:spPr bwMode="auto">
          <a:xfrm>
            <a:off x="2438400" y="4510088"/>
            <a:ext cx="8382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704" name="Line 57"/>
          <p:cNvSpPr>
            <a:spLocks noChangeShapeType="1"/>
          </p:cNvSpPr>
          <p:nvPr/>
        </p:nvSpPr>
        <p:spPr bwMode="auto">
          <a:xfrm flipH="1">
            <a:off x="2743200" y="5043488"/>
            <a:ext cx="1066800" cy="533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705" name="Line 58"/>
          <p:cNvSpPr>
            <a:spLocks noChangeShapeType="1"/>
          </p:cNvSpPr>
          <p:nvPr/>
        </p:nvSpPr>
        <p:spPr bwMode="auto">
          <a:xfrm flipV="1">
            <a:off x="2133600" y="4814888"/>
            <a:ext cx="0" cy="609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706" name="Line 59"/>
          <p:cNvSpPr>
            <a:spLocks noChangeShapeType="1"/>
          </p:cNvSpPr>
          <p:nvPr/>
        </p:nvSpPr>
        <p:spPr bwMode="auto">
          <a:xfrm>
            <a:off x="2362200" y="3595688"/>
            <a:ext cx="76200" cy="914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707" name="Text Box 60"/>
          <p:cNvSpPr txBox="1">
            <a:spLocks noChangeArrowheads="1"/>
          </p:cNvSpPr>
          <p:nvPr/>
        </p:nvSpPr>
        <p:spPr bwMode="auto">
          <a:xfrm>
            <a:off x="1233488" y="2789238"/>
            <a:ext cx="430212"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e1</a:t>
            </a:r>
          </a:p>
        </p:txBody>
      </p:sp>
      <p:sp>
        <p:nvSpPr>
          <p:cNvPr id="25708" name="Text Box 61"/>
          <p:cNvSpPr txBox="1">
            <a:spLocks noChangeArrowheads="1"/>
          </p:cNvSpPr>
          <p:nvPr/>
        </p:nvSpPr>
        <p:spPr bwMode="auto">
          <a:xfrm>
            <a:off x="2362200" y="3671888"/>
            <a:ext cx="430213"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e2</a:t>
            </a:r>
          </a:p>
        </p:txBody>
      </p:sp>
      <p:sp>
        <p:nvSpPr>
          <p:cNvPr id="25709" name="Text Box 62"/>
          <p:cNvSpPr txBox="1">
            <a:spLocks noChangeArrowheads="1"/>
          </p:cNvSpPr>
          <p:nvPr/>
        </p:nvSpPr>
        <p:spPr bwMode="auto">
          <a:xfrm>
            <a:off x="2667000" y="4129088"/>
            <a:ext cx="430213"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e3</a:t>
            </a:r>
          </a:p>
        </p:txBody>
      </p:sp>
      <p:sp>
        <p:nvSpPr>
          <p:cNvPr id="25710" name="Text Box 63"/>
          <p:cNvSpPr txBox="1">
            <a:spLocks noChangeArrowheads="1"/>
          </p:cNvSpPr>
          <p:nvPr/>
        </p:nvSpPr>
        <p:spPr bwMode="auto">
          <a:xfrm>
            <a:off x="3276600" y="5348288"/>
            <a:ext cx="430213"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e4</a:t>
            </a:r>
          </a:p>
        </p:txBody>
      </p:sp>
      <p:sp>
        <p:nvSpPr>
          <p:cNvPr id="25711" name="Text Box 64"/>
          <p:cNvSpPr txBox="1">
            <a:spLocks noChangeArrowheads="1"/>
          </p:cNvSpPr>
          <p:nvPr/>
        </p:nvSpPr>
        <p:spPr bwMode="auto">
          <a:xfrm>
            <a:off x="1676400" y="5043488"/>
            <a:ext cx="430213"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e5</a:t>
            </a:r>
          </a:p>
        </p:txBody>
      </p:sp>
      <p:sp>
        <p:nvSpPr>
          <p:cNvPr id="25712" name="Text Box 65"/>
          <p:cNvSpPr txBox="1">
            <a:spLocks noChangeArrowheads="1"/>
          </p:cNvSpPr>
          <p:nvPr/>
        </p:nvSpPr>
        <p:spPr bwMode="auto">
          <a:xfrm>
            <a:off x="838200" y="4814888"/>
            <a:ext cx="430213"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e6</a:t>
            </a:r>
          </a:p>
        </p:txBody>
      </p:sp>
      <p:sp>
        <p:nvSpPr>
          <p:cNvPr id="25713" name="Text Box 66"/>
          <p:cNvSpPr txBox="1">
            <a:spLocks noChangeArrowheads="1"/>
          </p:cNvSpPr>
          <p:nvPr/>
        </p:nvSpPr>
        <p:spPr bwMode="auto">
          <a:xfrm>
            <a:off x="228600" y="3748088"/>
            <a:ext cx="430213"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e7</a:t>
            </a:r>
          </a:p>
        </p:txBody>
      </p:sp>
    </p:spTree>
    <p:extLst>
      <p:ext uri="{BB962C8B-B14F-4D97-AF65-F5344CB8AC3E}">
        <p14:creationId xmlns:p14="http://schemas.microsoft.com/office/powerpoint/2010/main" val="190276902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eaLnBrk="1" hangingPunct="1"/>
            <a:r>
              <a:rPr lang="en-US" altLang="en-US" sz="4000" smtClean="0"/>
              <a:t>Representation- Adjacency Matrix</a:t>
            </a:r>
          </a:p>
        </p:txBody>
      </p:sp>
      <p:sp>
        <p:nvSpPr>
          <p:cNvPr id="41987" name="Rectangle 3"/>
          <p:cNvSpPr>
            <a:spLocks noGrp="1" noChangeArrowheads="1"/>
          </p:cNvSpPr>
          <p:nvPr>
            <p:ph type="body" sz="half" idx="1"/>
          </p:nvPr>
        </p:nvSpPr>
        <p:spPr>
          <a:xfrm>
            <a:off x="1182688" y="2017713"/>
            <a:ext cx="7427912" cy="3621087"/>
          </a:xfrm>
        </p:spPr>
        <p:txBody>
          <a:bodyPr rtlCol="0">
            <a:normAutofit/>
          </a:bodyPr>
          <a:lstStyle/>
          <a:p>
            <a:pPr algn="just" eaLnBrk="1" fontAlgn="auto" hangingPunct="1">
              <a:lnSpc>
                <a:spcPct val="80000"/>
              </a:lnSpc>
              <a:spcAft>
                <a:spcPts val="0"/>
              </a:spcAft>
              <a:buFont typeface="Symbol" panose="05050102010706020507" pitchFamily="18" charset="2"/>
              <a:buChar char=""/>
              <a:defRPr/>
            </a:pPr>
            <a:r>
              <a:rPr lang="en-US" altLang="en-US" sz="1800" dirty="0"/>
              <a:t>There is an N x N matrix, where |V| = N , the </a:t>
            </a:r>
            <a:r>
              <a:rPr lang="en-US" altLang="en-US" sz="1800" dirty="0" err="1"/>
              <a:t>Adjacenct</a:t>
            </a:r>
            <a:r>
              <a:rPr lang="en-US" altLang="en-US" sz="1800" dirty="0"/>
              <a:t> Matrix (</a:t>
            </a:r>
            <a:r>
              <a:rPr lang="en-US" altLang="en-US" sz="1800" dirty="0" err="1"/>
              <a:t>NxN</a:t>
            </a:r>
            <a:r>
              <a:rPr lang="en-US" altLang="en-US" sz="1800" dirty="0"/>
              <a:t>) A = [</a:t>
            </a:r>
            <a:r>
              <a:rPr lang="en-US" altLang="en-US" sz="1800" dirty="0" err="1"/>
              <a:t>a</a:t>
            </a:r>
            <a:r>
              <a:rPr lang="en-US" altLang="en-US" sz="1800" baseline="-25000" dirty="0" err="1"/>
              <a:t>ij</a:t>
            </a:r>
            <a:r>
              <a:rPr lang="en-US" altLang="en-US" sz="1800" dirty="0"/>
              <a:t>]</a:t>
            </a:r>
          </a:p>
          <a:p>
            <a:pPr algn="just" eaLnBrk="1" fontAlgn="auto" hangingPunct="1">
              <a:lnSpc>
                <a:spcPct val="80000"/>
              </a:lnSpc>
              <a:spcAft>
                <a:spcPts val="0"/>
              </a:spcAft>
              <a:buFont typeface="Symbol" panose="05050102010706020507" pitchFamily="18" charset="2"/>
              <a:buChar char=""/>
              <a:defRPr/>
            </a:pPr>
            <a:endParaRPr lang="en-US" altLang="en-US" sz="1800" dirty="0"/>
          </a:p>
          <a:p>
            <a:pPr algn="just" eaLnBrk="1" fontAlgn="auto" hangingPunct="1">
              <a:lnSpc>
                <a:spcPct val="80000"/>
              </a:lnSpc>
              <a:spcAft>
                <a:spcPts val="0"/>
              </a:spcAft>
              <a:buFont typeface="Symbol" panose="05050102010706020507" pitchFamily="18" charset="2"/>
              <a:buNone/>
              <a:defRPr/>
            </a:pPr>
            <a:r>
              <a:rPr lang="en-US" altLang="en-US" sz="1800" dirty="0"/>
              <a:t>	 </a:t>
            </a:r>
            <a:r>
              <a:rPr lang="en-US" altLang="en-US" sz="1800" b="1" dirty="0"/>
              <a:t>For undirected graph</a:t>
            </a:r>
          </a:p>
          <a:p>
            <a:pPr algn="just" eaLnBrk="1" fontAlgn="auto" hangingPunct="1">
              <a:lnSpc>
                <a:spcPct val="80000"/>
              </a:lnSpc>
              <a:spcAft>
                <a:spcPts val="0"/>
              </a:spcAft>
              <a:buFont typeface="Symbol" panose="05050102010706020507" pitchFamily="18" charset="2"/>
              <a:buChar char=""/>
              <a:defRPr/>
            </a:pPr>
            <a:endParaRPr lang="en-US" altLang="en-US" sz="1400" b="1" dirty="0"/>
          </a:p>
          <a:p>
            <a:pPr algn="just" eaLnBrk="1" fontAlgn="auto" hangingPunct="1">
              <a:lnSpc>
                <a:spcPct val="80000"/>
              </a:lnSpc>
              <a:spcAft>
                <a:spcPts val="0"/>
              </a:spcAft>
              <a:buFont typeface="Symbol" panose="05050102010706020507" pitchFamily="18" charset="2"/>
              <a:buChar char=""/>
              <a:defRPr/>
            </a:pPr>
            <a:endParaRPr lang="en-US" altLang="en-US" sz="1000" b="1" dirty="0"/>
          </a:p>
          <a:p>
            <a:pPr algn="just" eaLnBrk="1" fontAlgn="auto" hangingPunct="1">
              <a:lnSpc>
                <a:spcPct val="80000"/>
              </a:lnSpc>
              <a:spcAft>
                <a:spcPts val="0"/>
              </a:spcAft>
              <a:buFont typeface="Symbol" panose="05050102010706020507" pitchFamily="18" charset="2"/>
              <a:buChar char=""/>
              <a:defRPr/>
            </a:pPr>
            <a:endParaRPr lang="en-US" altLang="en-US" sz="1000" dirty="0"/>
          </a:p>
          <a:p>
            <a:pPr marL="0" indent="0" algn="just" eaLnBrk="1" fontAlgn="auto" hangingPunct="1">
              <a:lnSpc>
                <a:spcPct val="80000"/>
              </a:lnSpc>
              <a:spcAft>
                <a:spcPts val="0"/>
              </a:spcAft>
              <a:buFont typeface="Arial" panose="020B0604020202020204" pitchFamily="34" charset="0"/>
              <a:buNone/>
              <a:defRPr/>
            </a:pPr>
            <a:endParaRPr lang="en-US" altLang="en-US" sz="1000" dirty="0"/>
          </a:p>
          <a:p>
            <a:pPr algn="just" eaLnBrk="1" fontAlgn="auto" hangingPunct="1">
              <a:lnSpc>
                <a:spcPct val="80000"/>
              </a:lnSpc>
              <a:spcAft>
                <a:spcPts val="0"/>
              </a:spcAft>
              <a:buFont typeface="Symbol" panose="05050102010706020507" pitchFamily="18" charset="2"/>
              <a:buChar char=""/>
              <a:defRPr/>
            </a:pPr>
            <a:r>
              <a:rPr lang="en-US" altLang="en-US" sz="1000" dirty="0"/>
              <a:t> </a:t>
            </a:r>
            <a:r>
              <a:rPr lang="en-US" altLang="en-US" sz="1600" b="1" dirty="0"/>
              <a:t>For directed graph</a:t>
            </a:r>
          </a:p>
          <a:p>
            <a:pPr algn="just" eaLnBrk="1" fontAlgn="auto" hangingPunct="1">
              <a:lnSpc>
                <a:spcPct val="80000"/>
              </a:lnSpc>
              <a:spcAft>
                <a:spcPts val="0"/>
              </a:spcAft>
              <a:buFont typeface="Symbol" panose="05050102010706020507" pitchFamily="18" charset="2"/>
              <a:buChar char=""/>
              <a:defRPr/>
            </a:pPr>
            <a:endParaRPr lang="en-US" altLang="en-US" sz="1600" dirty="0"/>
          </a:p>
          <a:p>
            <a:pPr algn="just" eaLnBrk="1" fontAlgn="auto" hangingPunct="1">
              <a:lnSpc>
                <a:spcPct val="80000"/>
              </a:lnSpc>
              <a:spcAft>
                <a:spcPts val="0"/>
              </a:spcAft>
              <a:buFont typeface="Symbol" panose="05050102010706020507" pitchFamily="18" charset="2"/>
              <a:buChar char=""/>
              <a:defRPr/>
            </a:pPr>
            <a:endParaRPr lang="en-US" altLang="en-US" sz="1000" dirty="0"/>
          </a:p>
          <a:p>
            <a:pPr algn="just" eaLnBrk="1" fontAlgn="auto" hangingPunct="1">
              <a:lnSpc>
                <a:spcPct val="80000"/>
              </a:lnSpc>
              <a:spcAft>
                <a:spcPts val="0"/>
              </a:spcAft>
              <a:buFont typeface="Symbol" panose="05050102010706020507" pitchFamily="18" charset="2"/>
              <a:buChar char=""/>
              <a:defRPr/>
            </a:pPr>
            <a:endParaRPr lang="en-US" altLang="en-US" sz="1000" dirty="0"/>
          </a:p>
          <a:p>
            <a:pPr algn="just" eaLnBrk="1" fontAlgn="auto" hangingPunct="1">
              <a:lnSpc>
                <a:spcPct val="80000"/>
              </a:lnSpc>
              <a:spcAft>
                <a:spcPts val="0"/>
              </a:spcAft>
              <a:buFont typeface="Symbol" panose="05050102010706020507" pitchFamily="18" charset="2"/>
              <a:buChar char=""/>
              <a:defRPr/>
            </a:pPr>
            <a:endParaRPr lang="en-US" altLang="en-US" sz="1000" dirty="0"/>
          </a:p>
          <a:p>
            <a:pPr algn="just" eaLnBrk="1" fontAlgn="auto" hangingPunct="1">
              <a:lnSpc>
                <a:spcPct val="80000"/>
              </a:lnSpc>
              <a:spcAft>
                <a:spcPts val="0"/>
              </a:spcAft>
              <a:buFont typeface="Symbol" panose="05050102010706020507" pitchFamily="18" charset="2"/>
              <a:buChar char=""/>
              <a:defRPr/>
            </a:pPr>
            <a:endParaRPr lang="en-US" altLang="en-US" sz="1000" dirty="0"/>
          </a:p>
          <a:p>
            <a:pPr algn="just" eaLnBrk="1" fontAlgn="auto" hangingPunct="1">
              <a:lnSpc>
                <a:spcPct val="80000"/>
              </a:lnSpc>
              <a:spcAft>
                <a:spcPts val="0"/>
              </a:spcAft>
              <a:buFont typeface="Symbol" panose="05050102010706020507" pitchFamily="18" charset="2"/>
              <a:buChar char=""/>
              <a:defRPr/>
            </a:pPr>
            <a:endParaRPr lang="en-US" altLang="en-US" sz="1400" dirty="0"/>
          </a:p>
          <a:p>
            <a:pPr algn="just" eaLnBrk="1" fontAlgn="auto" hangingPunct="1">
              <a:lnSpc>
                <a:spcPct val="80000"/>
              </a:lnSpc>
              <a:spcAft>
                <a:spcPts val="0"/>
              </a:spcAft>
              <a:buFont typeface="Symbol" panose="05050102010706020507" pitchFamily="18" charset="2"/>
              <a:buChar char=""/>
              <a:defRPr/>
            </a:pPr>
            <a:endParaRPr lang="en-US" altLang="en-US" sz="1600" dirty="0"/>
          </a:p>
          <a:p>
            <a:pPr eaLnBrk="1" fontAlgn="auto" hangingPunct="1">
              <a:lnSpc>
                <a:spcPct val="80000"/>
              </a:lnSpc>
              <a:spcAft>
                <a:spcPts val="0"/>
              </a:spcAft>
              <a:buFont typeface="Wingdings" panose="05000000000000000000" pitchFamily="2" charset="2"/>
              <a:buNone/>
              <a:defRPr/>
            </a:pPr>
            <a:endParaRPr lang="en-US" altLang="en-US" sz="1000" dirty="0"/>
          </a:p>
        </p:txBody>
      </p:sp>
      <p:graphicFrame>
        <p:nvGraphicFramePr>
          <p:cNvPr id="26628" name="Object 4"/>
          <p:cNvGraphicFramePr>
            <a:graphicFrameLocks noGrp="1" noChangeAspect="1"/>
          </p:cNvGraphicFramePr>
          <p:nvPr>
            <p:ph sz="quarter" idx="2"/>
          </p:nvPr>
        </p:nvGraphicFramePr>
        <p:xfrm>
          <a:off x="2209800" y="4419600"/>
          <a:ext cx="2584450" cy="585788"/>
        </p:xfrm>
        <a:graphic>
          <a:graphicData uri="http://schemas.openxmlformats.org/presentationml/2006/ole">
            <mc:AlternateContent xmlns:mc="http://schemas.openxmlformats.org/markup-compatibility/2006">
              <mc:Choice xmlns:v="urn:schemas-microsoft-com:vml" Requires="v">
                <p:oleObj spid="_x0000_s2108" name="Equation" r:id="rId3" imgW="2019300" imgH="457200" progId="Equation.3">
                  <p:embed/>
                </p:oleObj>
              </mc:Choice>
              <mc:Fallback>
                <p:oleObj name="Equation" r:id="rId3" imgW="2019300" imgH="457200" progId="Equation.3">
                  <p:embed/>
                  <p:pic>
                    <p:nvPicPr>
                      <p:cNvPr id="26628" name="Object 4"/>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9800" y="4419600"/>
                        <a:ext cx="2584450" cy="585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29" name="Object 6"/>
          <p:cNvGraphicFramePr>
            <a:graphicFrameLocks noGrp="1" noChangeAspect="1"/>
          </p:cNvGraphicFramePr>
          <p:nvPr>
            <p:ph sz="quarter" idx="3"/>
          </p:nvPr>
        </p:nvGraphicFramePr>
        <p:xfrm>
          <a:off x="2058988" y="3343275"/>
          <a:ext cx="3732212" cy="363538"/>
        </p:xfrm>
        <a:graphic>
          <a:graphicData uri="http://schemas.openxmlformats.org/presentationml/2006/ole">
            <mc:AlternateContent xmlns:mc="http://schemas.openxmlformats.org/markup-compatibility/2006">
              <mc:Choice xmlns:v="urn:schemas-microsoft-com:vml" Requires="v">
                <p:oleObj spid="_x0000_s2109" name="Equation" r:id="rId5" imgW="3644900" imgH="457200" progId="Equation.3">
                  <p:embed/>
                </p:oleObj>
              </mc:Choice>
              <mc:Fallback>
                <p:oleObj name="Equation" r:id="rId5" imgW="3644900" imgH="457200" progId="Equation.3">
                  <p:embed/>
                  <p:pic>
                    <p:nvPicPr>
                      <p:cNvPr id="26629" name="Object 6"/>
                      <p:cNvPicPr>
                        <a:picLocks noGrp="1"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58988" y="3343275"/>
                        <a:ext cx="3732212"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66855541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normAutofit fontScale="90000"/>
          </a:bodyPr>
          <a:lstStyle/>
          <a:p>
            <a:pPr eaLnBrk="1" hangingPunct="1"/>
            <a:r>
              <a:rPr lang="en-US" altLang="en-US" sz="4000" smtClean="0"/>
              <a:t>Representation- Adjacency Matrix</a:t>
            </a:r>
          </a:p>
        </p:txBody>
      </p:sp>
      <p:sp>
        <p:nvSpPr>
          <p:cNvPr id="27651" name="Rectangle 3"/>
          <p:cNvSpPr>
            <a:spLocks noGrp="1" noChangeArrowheads="1"/>
          </p:cNvSpPr>
          <p:nvPr>
            <p:ph idx="1"/>
          </p:nvPr>
        </p:nvSpPr>
        <p:spPr>
          <a:xfrm>
            <a:off x="1182688" y="2017713"/>
            <a:ext cx="7732712" cy="2935287"/>
          </a:xfrm>
        </p:spPr>
        <p:txBody>
          <a:bodyPr/>
          <a:lstStyle/>
          <a:p>
            <a:pPr eaLnBrk="1" hangingPunct="1"/>
            <a:r>
              <a:rPr lang="en-US" altLang="en-US" sz="2000" smtClean="0"/>
              <a:t>The adjacency matrix of simple undirected graphs are symmetric (a</a:t>
            </a:r>
            <a:r>
              <a:rPr lang="en-US" altLang="en-US" sz="2000" baseline="-25000" smtClean="0"/>
              <a:t>ij</a:t>
            </a:r>
            <a:r>
              <a:rPr lang="en-US" altLang="en-US" sz="2000" smtClean="0"/>
              <a:t> = a</a:t>
            </a:r>
            <a:r>
              <a:rPr lang="en-US" altLang="en-US" sz="2000" baseline="-25000" smtClean="0"/>
              <a:t>ji</a:t>
            </a:r>
            <a:r>
              <a:rPr lang="en-US" altLang="en-US" sz="2000" smtClean="0"/>
              <a:t>)</a:t>
            </a:r>
            <a:r>
              <a:rPr lang="en-US" altLang="en-US" sz="2000" baseline="-25000" smtClean="0"/>
              <a:t> </a:t>
            </a:r>
            <a:r>
              <a:rPr lang="en-US" altLang="en-US" sz="2000" smtClean="0">
                <a:solidFill>
                  <a:schemeClr val="hlink"/>
                </a:solidFill>
              </a:rPr>
              <a:t>(why?)</a:t>
            </a:r>
          </a:p>
          <a:p>
            <a:pPr eaLnBrk="1" hangingPunct="1"/>
            <a:r>
              <a:rPr lang="en-US" altLang="en-US" sz="2000" smtClean="0"/>
              <a:t>When there are relatively few edges in the graph the adjacency matrix is a </a:t>
            </a:r>
            <a:r>
              <a:rPr lang="en-US" altLang="en-US" sz="2000" b="1" smtClean="0"/>
              <a:t>sparse matrix</a:t>
            </a:r>
          </a:p>
          <a:p>
            <a:pPr eaLnBrk="1" hangingPunct="1"/>
            <a:r>
              <a:rPr lang="en-US" altLang="en-US" sz="2000" smtClean="0"/>
              <a:t>Directed Multigraphs can be represented by using aij = number of edges from v</a:t>
            </a:r>
            <a:r>
              <a:rPr lang="en-US" altLang="en-US" sz="2000" baseline="-25000" smtClean="0"/>
              <a:t>i</a:t>
            </a:r>
            <a:r>
              <a:rPr lang="en-US" altLang="en-US" sz="2000" smtClean="0"/>
              <a:t> to v</a:t>
            </a:r>
            <a:r>
              <a:rPr lang="en-US" altLang="en-US" sz="2000" baseline="-25000" smtClean="0"/>
              <a:t>j</a:t>
            </a:r>
          </a:p>
          <a:p>
            <a:pPr eaLnBrk="1" hangingPunct="1">
              <a:buFont typeface="Wingdings" panose="05000000000000000000" pitchFamily="2" charset="2"/>
              <a:buNone/>
            </a:pPr>
            <a:endParaRPr lang="en-US" altLang="en-US" sz="2000" baseline="-25000" smtClean="0"/>
          </a:p>
        </p:txBody>
      </p:sp>
    </p:spTree>
    <p:extLst>
      <p:ext uri="{BB962C8B-B14F-4D97-AF65-F5344CB8AC3E}">
        <p14:creationId xmlns:p14="http://schemas.microsoft.com/office/powerpoint/2010/main" val="139517079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2"/>
          <p:cNvSpPr>
            <a:spLocks noGrp="1" noChangeArrowheads="1"/>
          </p:cNvSpPr>
          <p:nvPr>
            <p:ph type="title"/>
          </p:nvPr>
        </p:nvSpPr>
        <p:spPr/>
        <p:txBody>
          <a:bodyPr/>
          <a:lstStyle/>
          <a:p>
            <a:pPr eaLnBrk="1" hangingPunct="1"/>
            <a:r>
              <a:rPr lang="en-US" altLang="en-US" sz="4000" smtClean="0"/>
              <a:t>Representation- Adjacency Matrix</a:t>
            </a:r>
          </a:p>
        </p:txBody>
      </p:sp>
      <p:sp>
        <p:nvSpPr>
          <p:cNvPr id="28675" name="Rectangle 3"/>
          <p:cNvSpPr>
            <a:spLocks noGrp="1" noChangeArrowheads="1"/>
          </p:cNvSpPr>
          <p:nvPr>
            <p:ph type="body" sz="half" idx="1"/>
          </p:nvPr>
        </p:nvSpPr>
        <p:spPr>
          <a:xfrm>
            <a:off x="1066800" y="1905000"/>
            <a:ext cx="6705600" cy="609600"/>
          </a:xfrm>
        </p:spPr>
        <p:txBody>
          <a:bodyPr/>
          <a:lstStyle/>
          <a:p>
            <a:pPr eaLnBrk="1" hangingPunct="1"/>
            <a:r>
              <a:rPr lang="en-US" altLang="en-US" sz="1800" smtClean="0">
                <a:solidFill>
                  <a:srgbClr val="237AC1"/>
                </a:solidFill>
              </a:rPr>
              <a:t>Example: Undirected Graph G (V, E)</a:t>
            </a:r>
          </a:p>
        </p:txBody>
      </p:sp>
      <p:graphicFrame>
        <p:nvGraphicFramePr>
          <p:cNvPr id="63563" name="Group 75"/>
          <p:cNvGraphicFramePr>
            <a:graphicFrameLocks noGrp="1"/>
          </p:cNvGraphicFramePr>
          <p:nvPr>
            <p:ph sz="half" idx="2"/>
          </p:nvPr>
        </p:nvGraphicFramePr>
        <p:xfrm>
          <a:off x="5145088" y="2959100"/>
          <a:ext cx="2779712" cy="2217739"/>
        </p:xfrm>
        <a:graphic>
          <a:graphicData uri="http://schemas.openxmlformats.org/drawingml/2006/table">
            <a:tbl>
              <a:tblPr/>
              <a:tblGrid>
                <a:gridCol w="539750">
                  <a:extLst>
                    <a:ext uri="{9D8B030D-6E8A-4147-A177-3AD203B41FA5}">
                      <a16:colId xmlns:a16="http://schemas.microsoft.com/office/drawing/2014/main" val="20000"/>
                    </a:ext>
                  </a:extLst>
                </a:gridCol>
                <a:gridCol w="736600">
                  <a:extLst>
                    <a:ext uri="{9D8B030D-6E8A-4147-A177-3AD203B41FA5}">
                      <a16:colId xmlns:a16="http://schemas.microsoft.com/office/drawing/2014/main" val="20001"/>
                    </a:ext>
                  </a:extLst>
                </a:gridCol>
                <a:gridCol w="738187">
                  <a:extLst>
                    <a:ext uri="{9D8B030D-6E8A-4147-A177-3AD203B41FA5}">
                      <a16:colId xmlns:a16="http://schemas.microsoft.com/office/drawing/2014/main" val="20002"/>
                    </a:ext>
                  </a:extLst>
                </a:gridCol>
                <a:gridCol w="765175">
                  <a:extLst>
                    <a:ext uri="{9D8B030D-6E8A-4147-A177-3AD203B41FA5}">
                      <a16:colId xmlns:a16="http://schemas.microsoft.com/office/drawing/2014/main" val="20003"/>
                    </a:ext>
                  </a:extLst>
                </a:gridCol>
              </a:tblGrid>
              <a:tr h="518128">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2800" b="0" i="0" u="none" strike="noStrike" cap="none" normalizeH="0" baseline="0">
                        <a:ln>
                          <a:noFill/>
                        </a:ln>
                        <a:solidFill>
                          <a:schemeClr val="tx1"/>
                        </a:solidFill>
                        <a:effectLst/>
                        <a:latin typeface="Tahoma" panose="020B0604030504040204" pitchFamily="34" charset="0"/>
                      </a:endParaRPr>
                    </a:p>
                  </a:txBody>
                  <a:tcPr marT="45704" marB="4570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v</a:t>
                      </a:r>
                      <a:endParaRPr kumimoji="0" lang="en-US" altLang="en-US" sz="1600" b="0" i="0" u="none" strike="noStrike" cap="none" normalizeH="0" baseline="-25000">
                        <a:ln>
                          <a:noFill/>
                        </a:ln>
                        <a:solidFill>
                          <a:schemeClr val="tx1"/>
                        </a:solidFill>
                        <a:effectLst/>
                        <a:latin typeface="Tahoma" panose="020B0604030504040204" pitchFamily="34" charset="0"/>
                      </a:endParaRP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u</a:t>
                      </a:r>
                      <a:endParaRPr kumimoji="0" lang="en-US" altLang="en-US" sz="1600" b="0" i="0" u="none" strike="noStrike" cap="none" normalizeH="0" baseline="-25000">
                        <a:ln>
                          <a:noFill/>
                        </a:ln>
                        <a:solidFill>
                          <a:schemeClr val="tx1"/>
                        </a:solidFill>
                        <a:effectLst/>
                        <a:latin typeface="Tahoma" panose="020B0604030504040204" pitchFamily="34" charset="0"/>
                      </a:endParaRP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w</a:t>
                      </a:r>
                      <a:endParaRPr kumimoji="0" lang="en-US" altLang="en-US" sz="1600" b="0" i="0" u="none" strike="noStrike" cap="none" normalizeH="0" baseline="-25000">
                        <a:ln>
                          <a:noFill/>
                        </a:ln>
                        <a:solidFill>
                          <a:schemeClr val="tx1"/>
                        </a:solidFill>
                        <a:effectLst/>
                        <a:latin typeface="Tahoma" panose="020B0604030504040204" pitchFamily="34" charset="0"/>
                      </a:endParaRPr>
                    </a:p>
                  </a:txBody>
                  <a:tcPr marT="45704" marB="4570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66537">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v</a:t>
                      </a:r>
                      <a:endParaRPr kumimoji="0" lang="en-US" altLang="en-US" sz="1600" b="0" i="0" u="none" strike="noStrike" cap="none" normalizeH="0" baseline="-25000">
                        <a:ln>
                          <a:noFill/>
                        </a:ln>
                        <a:solidFill>
                          <a:schemeClr val="tx1"/>
                        </a:solidFill>
                        <a:effectLst/>
                        <a:latin typeface="Tahoma" panose="020B0604030504040204" pitchFamily="34" charset="0"/>
                      </a:endParaRPr>
                    </a:p>
                  </a:txBody>
                  <a:tcPr marT="45704" marB="4570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0</a:t>
                      </a: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1</a:t>
                      </a: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1</a:t>
                      </a:r>
                    </a:p>
                  </a:txBody>
                  <a:tcPr marT="45704" marB="4570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66537">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u</a:t>
                      </a:r>
                      <a:endParaRPr kumimoji="0" lang="en-US" altLang="en-US" sz="1600" b="0" i="0" u="none" strike="noStrike" cap="none" normalizeH="0" baseline="-25000">
                        <a:ln>
                          <a:noFill/>
                        </a:ln>
                        <a:solidFill>
                          <a:schemeClr val="tx1"/>
                        </a:solidFill>
                        <a:effectLst/>
                        <a:latin typeface="Tahoma" panose="020B0604030504040204" pitchFamily="34" charset="0"/>
                      </a:endParaRPr>
                    </a:p>
                  </a:txBody>
                  <a:tcPr marT="45704" marB="4570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1</a:t>
                      </a: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0</a:t>
                      </a: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1</a:t>
                      </a:r>
                    </a:p>
                  </a:txBody>
                  <a:tcPr marT="45704" marB="4570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66537">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w</a:t>
                      </a:r>
                      <a:endParaRPr kumimoji="0" lang="en-US" altLang="en-US" sz="1600" b="0" i="0" u="none" strike="noStrike" cap="none" normalizeH="0" baseline="-25000">
                        <a:ln>
                          <a:noFill/>
                        </a:ln>
                        <a:solidFill>
                          <a:schemeClr val="tx1"/>
                        </a:solidFill>
                        <a:effectLst/>
                        <a:latin typeface="Tahoma" panose="020B0604030504040204" pitchFamily="34" charset="0"/>
                      </a:endParaRPr>
                    </a:p>
                  </a:txBody>
                  <a:tcPr marT="45704" marB="4570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1</a:t>
                      </a: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1</a:t>
                      </a: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0</a:t>
                      </a:r>
                    </a:p>
                  </a:txBody>
                  <a:tcPr marT="45704" marB="4570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28703" name="Oval 76"/>
          <p:cNvSpPr>
            <a:spLocks noChangeArrowheads="1"/>
          </p:cNvSpPr>
          <p:nvPr/>
        </p:nvSpPr>
        <p:spPr bwMode="auto">
          <a:xfrm>
            <a:off x="2438400" y="3124200"/>
            <a:ext cx="381000" cy="3810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u</a:t>
            </a:r>
          </a:p>
        </p:txBody>
      </p:sp>
      <p:sp>
        <p:nvSpPr>
          <p:cNvPr id="28704" name="Oval 77"/>
          <p:cNvSpPr>
            <a:spLocks noChangeArrowheads="1"/>
          </p:cNvSpPr>
          <p:nvPr/>
        </p:nvSpPr>
        <p:spPr bwMode="auto">
          <a:xfrm>
            <a:off x="1752600" y="4191000"/>
            <a:ext cx="381000" cy="3810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v</a:t>
            </a:r>
          </a:p>
        </p:txBody>
      </p:sp>
      <p:sp>
        <p:nvSpPr>
          <p:cNvPr id="28705" name="Oval 78"/>
          <p:cNvSpPr>
            <a:spLocks noChangeArrowheads="1"/>
          </p:cNvSpPr>
          <p:nvPr/>
        </p:nvSpPr>
        <p:spPr bwMode="auto">
          <a:xfrm>
            <a:off x="3124200" y="4191000"/>
            <a:ext cx="381000" cy="3810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w</a:t>
            </a:r>
          </a:p>
        </p:txBody>
      </p:sp>
      <p:sp>
        <p:nvSpPr>
          <p:cNvPr id="28706" name="Line 79"/>
          <p:cNvSpPr>
            <a:spLocks noChangeShapeType="1"/>
          </p:cNvSpPr>
          <p:nvPr/>
        </p:nvSpPr>
        <p:spPr bwMode="auto">
          <a:xfrm>
            <a:off x="2133600" y="4343400"/>
            <a:ext cx="990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707" name="Line 80"/>
          <p:cNvSpPr>
            <a:spLocks noChangeShapeType="1"/>
          </p:cNvSpPr>
          <p:nvPr/>
        </p:nvSpPr>
        <p:spPr bwMode="auto">
          <a:xfrm>
            <a:off x="2743200" y="3505200"/>
            <a:ext cx="4572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708" name="Line 81"/>
          <p:cNvSpPr>
            <a:spLocks noChangeShapeType="1"/>
          </p:cNvSpPr>
          <p:nvPr/>
        </p:nvSpPr>
        <p:spPr bwMode="auto">
          <a:xfrm flipH="1">
            <a:off x="2057400" y="3505200"/>
            <a:ext cx="4572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429082996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pPr eaLnBrk="1" hangingPunct="1"/>
            <a:r>
              <a:rPr lang="en-US" altLang="en-US" sz="4000" smtClean="0"/>
              <a:t>Representation- Adjacency Matrix</a:t>
            </a:r>
          </a:p>
        </p:txBody>
      </p:sp>
      <p:sp>
        <p:nvSpPr>
          <p:cNvPr id="29699" name="Rectangle 3"/>
          <p:cNvSpPr>
            <a:spLocks noGrp="1" noChangeArrowheads="1"/>
          </p:cNvSpPr>
          <p:nvPr>
            <p:ph type="body" sz="half" idx="1"/>
          </p:nvPr>
        </p:nvSpPr>
        <p:spPr>
          <a:xfrm>
            <a:off x="1066800" y="1905000"/>
            <a:ext cx="6705600" cy="609600"/>
          </a:xfrm>
        </p:spPr>
        <p:txBody>
          <a:bodyPr/>
          <a:lstStyle/>
          <a:p>
            <a:pPr eaLnBrk="1" hangingPunct="1"/>
            <a:r>
              <a:rPr lang="en-US" altLang="en-US" sz="1800" smtClean="0">
                <a:solidFill>
                  <a:srgbClr val="237AC1"/>
                </a:solidFill>
              </a:rPr>
              <a:t>Example: directed Graph G (V, E)</a:t>
            </a:r>
          </a:p>
        </p:txBody>
      </p:sp>
      <p:graphicFrame>
        <p:nvGraphicFramePr>
          <p:cNvPr id="67588" name="Group 4"/>
          <p:cNvGraphicFramePr>
            <a:graphicFrameLocks noGrp="1"/>
          </p:cNvGraphicFramePr>
          <p:nvPr>
            <p:ph sz="half" idx="2"/>
          </p:nvPr>
        </p:nvGraphicFramePr>
        <p:xfrm>
          <a:off x="5145088" y="2959100"/>
          <a:ext cx="2779712" cy="2217739"/>
        </p:xfrm>
        <a:graphic>
          <a:graphicData uri="http://schemas.openxmlformats.org/drawingml/2006/table">
            <a:tbl>
              <a:tblPr/>
              <a:tblGrid>
                <a:gridCol w="539750">
                  <a:extLst>
                    <a:ext uri="{9D8B030D-6E8A-4147-A177-3AD203B41FA5}">
                      <a16:colId xmlns:a16="http://schemas.microsoft.com/office/drawing/2014/main" val="20000"/>
                    </a:ext>
                  </a:extLst>
                </a:gridCol>
                <a:gridCol w="736600">
                  <a:extLst>
                    <a:ext uri="{9D8B030D-6E8A-4147-A177-3AD203B41FA5}">
                      <a16:colId xmlns:a16="http://schemas.microsoft.com/office/drawing/2014/main" val="20001"/>
                    </a:ext>
                  </a:extLst>
                </a:gridCol>
                <a:gridCol w="738187">
                  <a:extLst>
                    <a:ext uri="{9D8B030D-6E8A-4147-A177-3AD203B41FA5}">
                      <a16:colId xmlns:a16="http://schemas.microsoft.com/office/drawing/2014/main" val="20002"/>
                    </a:ext>
                  </a:extLst>
                </a:gridCol>
                <a:gridCol w="765175">
                  <a:extLst>
                    <a:ext uri="{9D8B030D-6E8A-4147-A177-3AD203B41FA5}">
                      <a16:colId xmlns:a16="http://schemas.microsoft.com/office/drawing/2014/main" val="20003"/>
                    </a:ext>
                  </a:extLst>
                </a:gridCol>
              </a:tblGrid>
              <a:tr h="518128">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2800" b="0" i="0" u="none" strike="noStrike" cap="none" normalizeH="0" baseline="0">
                        <a:ln>
                          <a:noFill/>
                        </a:ln>
                        <a:solidFill>
                          <a:schemeClr val="tx1"/>
                        </a:solidFill>
                        <a:effectLst/>
                        <a:latin typeface="Tahoma" panose="020B0604030504040204" pitchFamily="34" charset="0"/>
                      </a:endParaRPr>
                    </a:p>
                  </a:txBody>
                  <a:tcPr marT="45704" marB="4570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v</a:t>
                      </a:r>
                      <a:endParaRPr kumimoji="0" lang="en-US" altLang="en-US" sz="1600" b="0" i="0" u="none" strike="noStrike" cap="none" normalizeH="0" baseline="-25000">
                        <a:ln>
                          <a:noFill/>
                        </a:ln>
                        <a:solidFill>
                          <a:schemeClr val="tx1"/>
                        </a:solidFill>
                        <a:effectLst/>
                        <a:latin typeface="Tahoma" panose="020B0604030504040204" pitchFamily="34" charset="0"/>
                      </a:endParaRP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u</a:t>
                      </a:r>
                      <a:endParaRPr kumimoji="0" lang="en-US" altLang="en-US" sz="1600" b="0" i="0" u="none" strike="noStrike" cap="none" normalizeH="0" baseline="-25000">
                        <a:ln>
                          <a:noFill/>
                        </a:ln>
                        <a:solidFill>
                          <a:schemeClr val="tx1"/>
                        </a:solidFill>
                        <a:effectLst/>
                        <a:latin typeface="Tahoma" panose="020B0604030504040204" pitchFamily="34" charset="0"/>
                      </a:endParaRP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w</a:t>
                      </a:r>
                      <a:endParaRPr kumimoji="0" lang="en-US" altLang="en-US" sz="1600" b="0" i="0" u="none" strike="noStrike" cap="none" normalizeH="0" baseline="-25000">
                        <a:ln>
                          <a:noFill/>
                        </a:ln>
                        <a:solidFill>
                          <a:schemeClr val="tx1"/>
                        </a:solidFill>
                        <a:effectLst/>
                        <a:latin typeface="Tahoma" panose="020B0604030504040204" pitchFamily="34" charset="0"/>
                      </a:endParaRPr>
                    </a:p>
                  </a:txBody>
                  <a:tcPr marT="45704" marB="4570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66537">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v</a:t>
                      </a:r>
                      <a:endParaRPr kumimoji="0" lang="en-US" altLang="en-US" sz="1600" b="0" i="0" u="none" strike="noStrike" cap="none" normalizeH="0" baseline="-25000">
                        <a:ln>
                          <a:noFill/>
                        </a:ln>
                        <a:solidFill>
                          <a:schemeClr val="tx1"/>
                        </a:solidFill>
                        <a:effectLst/>
                        <a:latin typeface="Tahoma" panose="020B0604030504040204" pitchFamily="34" charset="0"/>
                      </a:endParaRPr>
                    </a:p>
                  </a:txBody>
                  <a:tcPr marT="45704" marB="4570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0</a:t>
                      </a: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1</a:t>
                      </a: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0</a:t>
                      </a:r>
                    </a:p>
                  </a:txBody>
                  <a:tcPr marT="45704" marB="4570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66537">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u</a:t>
                      </a:r>
                      <a:endParaRPr kumimoji="0" lang="en-US" altLang="en-US" sz="1600" b="0" i="0" u="none" strike="noStrike" cap="none" normalizeH="0" baseline="-25000">
                        <a:ln>
                          <a:noFill/>
                        </a:ln>
                        <a:solidFill>
                          <a:schemeClr val="tx1"/>
                        </a:solidFill>
                        <a:effectLst/>
                        <a:latin typeface="Tahoma" panose="020B0604030504040204" pitchFamily="34" charset="0"/>
                      </a:endParaRPr>
                    </a:p>
                  </a:txBody>
                  <a:tcPr marT="45704" marB="4570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0</a:t>
                      </a: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0</a:t>
                      </a: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1</a:t>
                      </a:r>
                    </a:p>
                  </a:txBody>
                  <a:tcPr marT="45704" marB="4570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66537">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w</a:t>
                      </a:r>
                      <a:endParaRPr kumimoji="0" lang="en-US" altLang="en-US" sz="1600" b="0" i="0" u="none" strike="noStrike" cap="none" normalizeH="0" baseline="-25000">
                        <a:ln>
                          <a:noFill/>
                        </a:ln>
                        <a:solidFill>
                          <a:schemeClr val="tx1"/>
                        </a:solidFill>
                        <a:effectLst/>
                        <a:latin typeface="Tahoma" panose="020B0604030504040204" pitchFamily="34" charset="0"/>
                      </a:endParaRPr>
                    </a:p>
                  </a:txBody>
                  <a:tcPr marT="45704" marB="4570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1</a:t>
                      </a: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0</a:t>
                      </a: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rPr>
                        <a:t>0</a:t>
                      </a:r>
                    </a:p>
                  </a:txBody>
                  <a:tcPr marT="45704" marB="4570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29727" name="Oval 31"/>
          <p:cNvSpPr>
            <a:spLocks noChangeArrowheads="1"/>
          </p:cNvSpPr>
          <p:nvPr/>
        </p:nvSpPr>
        <p:spPr bwMode="auto">
          <a:xfrm>
            <a:off x="2438400" y="3124200"/>
            <a:ext cx="381000" cy="3810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u</a:t>
            </a:r>
          </a:p>
        </p:txBody>
      </p:sp>
      <p:sp>
        <p:nvSpPr>
          <p:cNvPr id="29728" name="Oval 32"/>
          <p:cNvSpPr>
            <a:spLocks noChangeArrowheads="1"/>
          </p:cNvSpPr>
          <p:nvPr/>
        </p:nvSpPr>
        <p:spPr bwMode="auto">
          <a:xfrm>
            <a:off x="1752600" y="4191000"/>
            <a:ext cx="381000" cy="3810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v</a:t>
            </a:r>
          </a:p>
        </p:txBody>
      </p:sp>
      <p:sp>
        <p:nvSpPr>
          <p:cNvPr id="29729" name="Oval 33"/>
          <p:cNvSpPr>
            <a:spLocks noChangeArrowheads="1"/>
          </p:cNvSpPr>
          <p:nvPr/>
        </p:nvSpPr>
        <p:spPr bwMode="auto">
          <a:xfrm>
            <a:off x="3124200" y="4191000"/>
            <a:ext cx="381000" cy="3810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w</a:t>
            </a:r>
          </a:p>
        </p:txBody>
      </p:sp>
      <p:sp>
        <p:nvSpPr>
          <p:cNvPr id="29730" name="Line 37"/>
          <p:cNvSpPr>
            <a:spLocks noChangeShapeType="1"/>
          </p:cNvSpPr>
          <p:nvPr/>
        </p:nvSpPr>
        <p:spPr bwMode="auto">
          <a:xfrm>
            <a:off x="2743200" y="3505200"/>
            <a:ext cx="457200" cy="685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31" name="Line 38"/>
          <p:cNvSpPr>
            <a:spLocks noChangeShapeType="1"/>
          </p:cNvSpPr>
          <p:nvPr/>
        </p:nvSpPr>
        <p:spPr bwMode="auto">
          <a:xfrm flipH="1">
            <a:off x="2133600" y="4343400"/>
            <a:ext cx="990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32" name="Line 39"/>
          <p:cNvSpPr>
            <a:spLocks noChangeShapeType="1"/>
          </p:cNvSpPr>
          <p:nvPr/>
        </p:nvSpPr>
        <p:spPr bwMode="auto">
          <a:xfrm flipV="1">
            <a:off x="1981200" y="3505200"/>
            <a:ext cx="533400" cy="685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208486088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eaLnBrk="1" hangingPunct="1"/>
            <a:r>
              <a:rPr lang="en-US" altLang="en-US" sz="4000" smtClean="0"/>
              <a:t>Representation- Adjacency List</a:t>
            </a:r>
          </a:p>
        </p:txBody>
      </p:sp>
      <p:sp>
        <p:nvSpPr>
          <p:cNvPr id="30723" name="Rectangle 3"/>
          <p:cNvSpPr>
            <a:spLocks noGrp="1" noChangeArrowheads="1"/>
          </p:cNvSpPr>
          <p:nvPr>
            <p:ph type="body" sz="half" idx="1"/>
          </p:nvPr>
        </p:nvSpPr>
        <p:spPr>
          <a:xfrm>
            <a:off x="1182688" y="2017713"/>
            <a:ext cx="7351712" cy="877887"/>
          </a:xfrm>
        </p:spPr>
        <p:txBody>
          <a:bodyPr>
            <a:normAutofit fontScale="92500"/>
          </a:bodyPr>
          <a:lstStyle/>
          <a:p>
            <a:pPr algn="just" eaLnBrk="1" hangingPunct="1">
              <a:buFont typeface="Wingdings" panose="05000000000000000000" pitchFamily="2" charset="2"/>
              <a:buNone/>
            </a:pPr>
            <a:r>
              <a:rPr lang="en-US" altLang="en-US" sz="1800" smtClean="0"/>
              <a:t>	Each node (vertex) has a list of which nodes (vertex) it is adjacent</a:t>
            </a:r>
          </a:p>
          <a:p>
            <a:pPr algn="just" eaLnBrk="1" hangingPunct="1">
              <a:buFont typeface="Wingdings" panose="05000000000000000000" pitchFamily="2" charset="2"/>
              <a:buNone/>
            </a:pPr>
            <a:r>
              <a:rPr lang="en-US" altLang="en-US" sz="2800" smtClean="0"/>
              <a:t>	</a:t>
            </a:r>
            <a:r>
              <a:rPr lang="en-US" altLang="en-US" sz="2000" smtClean="0">
                <a:solidFill>
                  <a:srgbClr val="237AC1"/>
                </a:solidFill>
              </a:rPr>
              <a:t>Example: undirectd graph G (V, E)</a:t>
            </a:r>
          </a:p>
        </p:txBody>
      </p:sp>
      <p:graphicFrame>
        <p:nvGraphicFramePr>
          <p:cNvPr id="38948" name="Group 36"/>
          <p:cNvGraphicFramePr>
            <a:graphicFrameLocks noGrp="1"/>
          </p:cNvGraphicFramePr>
          <p:nvPr>
            <p:ph sz="half" idx="2"/>
          </p:nvPr>
        </p:nvGraphicFramePr>
        <p:xfrm>
          <a:off x="4343400" y="3276600"/>
          <a:ext cx="4114800" cy="2349500"/>
        </p:xfrm>
        <a:graphic>
          <a:graphicData uri="http://schemas.openxmlformats.org/drawingml/2006/table">
            <a:tbl>
              <a:tblPr/>
              <a:tblGrid>
                <a:gridCol w="762000">
                  <a:extLst>
                    <a:ext uri="{9D8B030D-6E8A-4147-A177-3AD203B41FA5}">
                      <a16:colId xmlns:a16="http://schemas.microsoft.com/office/drawing/2014/main" val="20000"/>
                    </a:ext>
                  </a:extLst>
                </a:gridCol>
                <a:gridCol w="3352800">
                  <a:extLst>
                    <a:ext uri="{9D8B030D-6E8A-4147-A177-3AD203B41FA5}">
                      <a16:colId xmlns:a16="http://schemas.microsoft.com/office/drawing/2014/main" val="20001"/>
                    </a:ext>
                  </a:extLst>
                </a:gridCol>
              </a:tblGrid>
              <a:tr h="638175">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2000" b="0" i="0" u="none" strike="noStrike" cap="none" normalizeH="0" baseline="0">
                          <a:ln>
                            <a:noFill/>
                          </a:ln>
                          <a:solidFill>
                            <a:schemeClr val="tx1"/>
                          </a:solidFill>
                          <a:effectLst/>
                          <a:latin typeface="Tahoma" panose="020B0604030504040204" pitchFamily="34" charset="0"/>
                        </a:rPr>
                        <a:t>node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2000" b="0" i="0" u="none" strike="noStrike" cap="none" normalizeH="0" baseline="0">
                          <a:ln>
                            <a:noFill/>
                          </a:ln>
                          <a:solidFill>
                            <a:schemeClr val="tx1"/>
                          </a:solidFill>
                          <a:effectLst/>
                          <a:latin typeface="Tahoma" panose="020B0604030504040204" pitchFamily="34" charset="0"/>
                        </a:rPr>
                        <a:t>Adjacency List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71500">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2000" b="0" i="0" u="none" strike="noStrike" cap="none" normalizeH="0" baseline="0">
                          <a:ln>
                            <a:noFill/>
                          </a:ln>
                          <a:solidFill>
                            <a:schemeClr val="tx1"/>
                          </a:solidFill>
                          <a:effectLst/>
                          <a:latin typeface="Tahoma" panose="020B0604030504040204" pitchFamily="34" charset="0"/>
                        </a:rPr>
                        <a:t>u</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2000" b="0" i="0" u="none" strike="noStrike" cap="none" normalizeH="0" baseline="0">
                          <a:ln>
                            <a:noFill/>
                          </a:ln>
                          <a:solidFill>
                            <a:schemeClr val="tx1"/>
                          </a:solidFill>
                          <a:effectLst/>
                          <a:latin typeface="Tahoma" panose="020B0604030504040204" pitchFamily="34" charset="0"/>
                        </a:rPr>
                        <a:t>v , w</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68325">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2000" b="0" i="0" u="none" strike="noStrike" cap="none" normalizeH="0" baseline="0">
                          <a:ln>
                            <a:noFill/>
                          </a:ln>
                          <a:solidFill>
                            <a:schemeClr val="tx1"/>
                          </a:solidFill>
                          <a:effectLst/>
                          <a:latin typeface="Tahoma" panose="020B0604030504040204" pitchFamily="34" charset="0"/>
                        </a:rPr>
                        <a:t>v</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2000" b="0" i="0" u="none" strike="noStrike" cap="none" normalizeH="0" baseline="0">
                          <a:ln>
                            <a:noFill/>
                          </a:ln>
                          <a:solidFill>
                            <a:schemeClr val="tx1"/>
                          </a:solidFill>
                          <a:effectLst/>
                          <a:latin typeface="Tahoma" panose="020B0604030504040204" pitchFamily="34" charset="0"/>
                        </a:rPr>
                        <a:t>w, u</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71500">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2000" b="0" i="0" u="none" strike="noStrike" cap="none" normalizeH="0" baseline="0">
                          <a:ln>
                            <a:noFill/>
                          </a:ln>
                          <a:solidFill>
                            <a:schemeClr val="tx1"/>
                          </a:solidFill>
                          <a:effectLst/>
                          <a:latin typeface="Tahoma" panose="020B0604030504040204" pitchFamily="34" charset="0"/>
                        </a:rPr>
                        <a:t>w</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2000" b="0" i="0" u="none" strike="noStrike" cap="none" normalizeH="0" baseline="0">
                          <a:ln>
                            <a:noFill/>
                          </a:ln>
                          <a:solidFill>
                            <a:schemeClr val="tx1"/>
                          </a:solidFill>
                          <a:effectLst/>
                          <a:latin typeface="Tahoma" panose="020B0604030504040204" pitchFamily="34" charset="0"/>
                        </a:rPr>
                        <a:t>u , v</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30741" name="Oval 4"/>
          <p:cNvSpPr>
            <a:spLocks noChangeArrowheads="1"/>
          </p:cNvSpPr>
          <p:nvPr/>
        </p:nvSpPr>
        <p:spPr bwMode="auto">
          <a:xfrm>
            <a:off x="2438400" y="3124200"/>
            <a:ext cx="381000" cy="3810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u</a:t>
            </a:r>
          </a:p>
        </p:txBody>
      </p:sp>
      <p:sp>
        <p:nvSpPr>
          <p:cNvPr id="30742" name="Oval 5"/>
          <p:cNvSpPr>
            <a:spLocks noChangeArrowheads="1"/>
          </p:cNvSpPr>
          <p:nvPr/>
        </p:nvSpPr>
        <p:spPr bwMode="auto">
          <a:xfrm>
            <a:off x="1676400" y="4648200"/>
            <a:ext cx="381000" cy="3810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v</a:t>
            </a:r>
          </a:p>
        </p:txBody>
      </p:sp>
      <p:sp>
        <p:nvSpPr>
          <p:cNvPr id="30743" name="Oval 6"/>
          <p:cNvSpPr>
            <a:spLocks noChangeArrowheads="1"/>
          </p:cNvSpPr>
          <p:nvPr/>
        </p:nvSpPr>
        <p:spPr bwMode="auto">
          <a:xfrm>
            <a:off x="3124200" y="4648200"/>
            <a:ext cx="381000" cy="3810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w</a:t>
            </a:r>
          </a:p>
        </p:txBody>
      </p:sp>
      <p:sp>
        <p:nvSpPr>
          <p:cNvPr id="30744" name="Line 7"/>
          <p:cNvSpPr>
            <a:spLocks noChangeShapeType="1"/>
          </p:cNvSpPr>
          <p:nvPr/>
        </p:nvSpPr>
        <p:spPr bwMode="auto">
          <a:xfrm>
            <a:off x="2057400" y="4800600"/>
            <a:ext cx="10668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745" name="Line 8"/>
          <p:cNvSpPr>
            <a:spLocks noChangeShapeType="1"/>
          </p:cNvSpPr>
          <p:nvPr/>
        </p:nvSpPr>
        <p:spPr bwMode="auto">
          <a:xfrm>
            <a:off x="2743200" y="3505200"/>
            <a:ext cx="457200" cy="1143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746" name="Line 9"/>
          <p:cNvSpPr>
            <a:spLocks noChangeShapeType="1"/>
          </p:cNvSpPr>
          <p:nvPr/>
        </p:nvSpPr>
        <p:spPr bwMode="auto">
          <a:xfrm flipH="1">
            <a:off x="1905000" y="3505200"/>
            <a:ext cx="609600" cy="1143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131441629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pPr eaLnBrk="1" hangingPunct="1"/>
            <a:r>
              <a:rPr lang="en-US" altLang="en-US" smtClean="0"/>
              <a:t>Connectivity</a:t>
            </a:r>
          </a:p>
        </p:txBody>
      </p:sp>
      <p:sp>
        <p:nvSpPr>
          <p:cNvPr id="31747" name="Rectangle 3"/>
          <p:cNvSpPr>
            <a:spLocks noGrp="1" noChangeArrowheads="1"/>
          </p:cNvSpPr>
          <p:nvPr>
            <p:ph idx="1"/>
          </p:nvPr>
        </p:nvSpPr>
        <p:spPr/>
        <p:txBody>
          <a:bodyPr>
            <a:normAutofit lnSpcReduction="10000"/>
          </a:bodyPr>
          <a:lstStyle/>
          <a:p>
            <a:pPr algn="just" eaLnBrk="1" hangingPunct="1"/>
            <a:r>
              <a:rPr lang="en-US" altLang="en-US" sz="2400" smtClean="0"/>
              <a:t>Basic Idea: In a Graph Reachability among vertices by traversing the edges </a:t>
            </a:r>
          </a:p>
          <a:p>
            <a:pPr algn="just" eaLnBrk="1" hangingPunct="1">
              <a:buFont typeface="Wingdings" panose="05000000000000000000" pitchFamily="2" charset="2"/>
              <a:buNone/>
            </a:pPr>
            <a:r>
              <a:rPr lang="en-US" altLang="en-US" sz="2400" smtClean="0"/>
              <a:t>	</a:t>
            </a:r>
            <a:r>
              <a:rPr lang="en-US" altLang="en-US" sz="2400" smtClean="0">
                <a:solidFill>
                  <a:srgbClr val="237AC1"/>
                </a:solidFill>
              </a:rPr>
              <a:t>Application Example: </a:t>
            </a:r>
          </a:p>
          <a:p>
            <a:pPr algn="just" eaLnBrk="1" hangingPunct="1">
              <a:buFont typeface="Wingdings" panose="05000000000000000000" pitchFamily="2" charset="2"/>
              <a:buNone/>
            </a:pPr>
            <a:r>
              <a:rPr lang="en-US" altLang="en-US" sz="2400" smtClean="0">
                <a:solidFill>
                  <a:srgbClr val="237AC1"/>
                </a:solidFill>
              </a:rPr>
              <a:t>	- In a city to city road-network, if one city can be reached from another city. </a:t>
            </a:r>
          </a:p>
          <a:p>
            <a:pPr algn="just" eaLnBrk="1" hangingPunct="1">
              <a:buFont typeface="Wingdings" panose="05000000000000000000" pitchFamily="2" charset="2"/>
              <a:buNone/>
            </a:pPr>
            <a:r>
              <a:rPr lang="en-US" altLang="en-US" sz="2400" smtClean="0">
                <a:solidFill>
                  <a:srgbClr val="237AC1"/>
                </a:solidFill>
              </a:rPr>
              <a:t>	- Problems if determining whether a message can be sent between two computer using intermediate links</a:t>
            </a:r>
          </a:p>
          <a:p>
            <a:pPr algn="just" eaLnBrk="1" hangingPunct="1">
              <a:buFont typeface="Wingdings" panose="05000000000000000000" pitchFamily="2" charset="2"/>
              <a:buNone/>
            </a:pPr>
            <a:r>
              <a:rPr lang="en-US" altLang="en-US" sz="2400" smtClean="0">
                <a:solidFill>
                  <a:srgbClr val="237AC1"/>
                </a:solidFill>
              </a:rPr>
              <a:t>	- Efficiently planning routes for data delivery in the Internet</a:t>
            </a:r>
          </a:p>
          <a:p>
            <a:pPr algn="just" eaLnBrk="1" hangingPunct="1">
              <a:buFont typeface="Wingdings" panose="05000000000000000000" pitchFamily="2" charset="2"/>
              <a:buNone/>
            </a:pPr>
            <a:endParaRPr lang="en-US" altLang="en-US" sz="2400" smtClean="0">
              <a:solidFill>
                <a:srgbClr val="237AC1"/>
              </a:solidFill>
            </a:endParaRPr>
          </a:p>
          <a:p>
            <a:pPr algn="just" eaLnBrk="1" hangingPunct="1">
              <a:buFont typeface="Wingdings" panose="05000000000000000000" pitchFamily="2" charset="2"/>
              <a:buNone/>
            </a:pPr>
            <a:r>
              <a:rPr lang="en-US" altLang="en-US" sz="2000" smtClean="0">
                <a:solidFill>
                  <a:srgbClr val="237AC1"/>
                </a:solidFill>
              </a:rPr>
              <a:t>	</a:t>
            </a:r>
          </a:p>
        </p:txBody>
      </p:sp>
    </p:spTree>
    <p:extLst>
      <p:ext uri="{BB962C8B-B14F-4D97-AF65-F5344CB8AC3E}">
        <p14:creationId xmlns:p14="http://schemas.microsoft.com/office/powerpoint/2010/main" val="213671967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eaLnBrk="1" hangingPunct="1"/>
            <a:r>
              <a:rPr lang="en-US" altLang="en-US" smtClean="0"/>
              <a:t>Connectivity – Path</a:t>
            </a:r>
          </a:p>
        </p:txBody>
      </p:sp>
      <p:sp>
        <p:nvSpPr>
          <p:cNvPr id="32771" name="Rectangle 3"/>
          <p:cNvSpPr>
            <a:spLocks noGrp="1" noChangeArrowheads="1"/>
          </p:cNvSpPr>
          <p:nvPr>
            <p:ph idx="1"/>
          </p:nvPr>
        </p:nvSpPr>
        <p:spPr>
          <a:xfrm>
            <a:off x="635000" y="1760538"/>
            <a:ext cx="7848600" cy="2362200"/>
          </a:xfrm>
        </p:spPr>
        <p:txBody>
          <a:bodyPr/>
          <a:lstStyle/>
          <a:p>
            <a:pPr algn="just" eaLnBrk="1" hangingPunct="1">
              <a:lnSpc>
                <a:spcPct val="80000"/>
              </a:lnSpc>
              <a:buFont typeface="Wingdings" panose="05000000000000000000" pitchFamily="2" charset="2"/>
              <a:buNone/>
            </a:pPr>
            <a:r>
              <a:rPr lang="en-US" altLang="en-US" sz="1800" smtClean="0"/>
              <a:t>	</a:t>
            </a:r>
            <a:r>
              <a:rPr lang="en-US" altLang="en-US" sz="2400" smtClean="0"/>
              <a:t>A </a:t>
            </a:r>
            <a:r>
              <a:rPr lang="en-US" altLang="en-US" sz="2400" b="1" smtClean="0"/>
              <a:t>Path</a:t>
            </a:r>
            <a:r>
              <a:rPr lang="en-US" altLang="en-US" sz="2400" smtClean="0"/>
              <a:t> is a sequence of edges that begins at a vertex of a graph and travels along edges of the graph, always connecting pairs of adjacent vertices.</a:t>
            </a:r>
          </a:p>
          <a:p>
            <a:pPr eaLnBrk="1" hangingPunct="1">
              <a:lnSpc>
                <a:spcPct val="80000"/>
              </a:lnSpc>
              <a:buFont typeface="Wingdings" panose="05000000000000000000" pitchFamily="2" charset="2"/>
              <a:buNone/>
            </a:pPr>
            <a:r>
              <a:rPr lang="en-US" altLang="en-US" sz="2400" smtClean="0"/>
              <a:t>	</a:t>
            </a:r>
          </a:p>
          <a:p>
            <a:pPr algn="just" eaLnBrk="1" hangingPunct="1">
              <a:lnSpc>
                <a:spcPct val="80000"/>
              </a:lnSpc>
              <a:buFont typeface="Wingdings" panose="05000000000000000000" pitchFamily="2" charset="2"/>
              <a:buNone/>
            </a:pPr>
            <a:r>
              <a:rPr lang="en-US" altLang="en-US" sz="2400" smtClean="0"/>
              <a:t>	</a:t>
            </a:r>
            <a:r>
              <a:rPr lang="en-US" altLang="en-US" sz="2400" smtClean="0">
                <a:solidFill>
                  <a:srgbClr val="237AC1"/>
                </a:solidFill>
              </a:rPr>
              <a:t>Representation example: G = (V, E), Path P represented, from u to v is {{u, 1}, {1, 4}, {4, 5}, {5, v}}</a:t>
            </a:r>
            <a:endParaRPr lang="en-US" altLang="en-US" sz="2400" b="1" smtClean="0">
              <a:solidFill>
                <a:srgbClr val="237AC1"/>
              </a:solidFill>
            </a:endParaRPr>
          </a:p>
        </p:txBody>
      </p:sp>
      <p:sp>
        <p:nvSpPr>
          <p:cNvPr id="32772" name="Oval 4"/>
          <p:cNvSpPr>
            <a:spLocks noChangeArrowheads="1"/>
          </p:cNvSpPr>
          <p:nvPr/>
        </p:nvSpPr>
        <p:spPr bwMode="auto">
          <a:xfrm>
            <a:off x="2743200" y="4876800"/>
            <a:ext cx="304800" cy="304800"/>
          </a:xfrm>
          <a:prstGeom prst="ellipse">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1</a:t>
            </a:r>
          </a:p>
        </p:txBody>
      </p:sp>
      <p:sp>
        <p:nvSpPr>
          <p:cNvPr id="32773" name="Oval 5"/>
          <p:cNvSpPr>
            <a:spLocks noChangeArrowheads="1"/>
          </p:cNvSpPr>
          <p:nvPr/>
        </p:nvSpPr>
        <p:spPr bwMode="auto">
          <a:xfrm>
            <a:off x="1905000" y="5486400"/>
            <a:ext cx="304800" cy="304800"/>
          </a:xfrm>
          <a:prstGeom prst="ellipse">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u</a:t>
            </a:r>
          </a:p>
        </p:txBody>
      </p:sp>
      <p:sp>
        <p:nvSpPr>
          <p:cNvPr id="32774" name="Oval 6"/>
          <p:cNvSpPr>
            <a:spLocks noChangeArrowheads="1"/>
          </p:cNvSpPr>
          <p:nvPr/>
        </p:nvSpPr>
        <p:spPr bwMode="auto">
          <a:xfrm>
            <a:off x="3733800" y="5257800"/>
            <a:ext cx="304800" cy="304800"/>
          </a:xfrm>
          <a:prstGeom prst="ellipse">
            <a:avLst/>
          </a:prstGeom>
          <a:solidFill>
            <a:schemeClr val="accent2"/>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3</a:t>
            </a:r>
          </a:p>
        </p:txBody>
      </p:sp>
      <p:sp>
        <p:nvSpPr>
          <p:cNvPr id="32775" name="Oval 7"/>
          <p:cNvSpPr>
            <a:spLocks noChangeArrowheads="1"/>
          </p:cNvSpPr>
          <p:nvPr/>
        </p:nvSpPr>
        <p:spPr bwMode="auto">
          <a:xfrm>
            <a:off x="3124200" y="5943600"/>
            <a:ext cx="304800" cy="304800"/>
          </a:xfrm>
          <a:prstGeom prst="ellipse">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4</a:t>
            </a:r>
          </a:p>
        </p:txBody>
      </p:sp>
      <p:sp>
        <p:nvSpPr>
          <p:cNvPr id="32776" name="Oval 8"/>
          <p:cNvSpPr>
            <a:spLocks noChangeArrowheads="1"/>
          </p:cNvSpPr>
          <p:nvPr/>
        </p:nvSpPr>
        <p:spPr bwMode="auto">
          <a:xfrm>
            <a:off x="4648200" y="5867400"/>
            <a:ext cx="304800" cy="304800"/>
          </a:xfrm>
          <a:prstGeom prst="ellipse">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5</a:t>
            </a:r>
          </a:p>
        </p:txBody>
      </p:sp>
      <p:sp>
        <p:nvSpPr>
          <p:cNvPr id="32777" name="Oval 9"/>
          <p:cNvSpPr>
            <a:spLocks noChangeArrowheads="1"/>
          </p:cNvSpPr>
          <p:nvPr/>
        </p:nvSpPr>
        <p:spPr bwMode="auto">
          <a:xfrm>
            <a:off x="4114800" y="4648200"/>
            <a:ext cx="304800" cy="304800"/>
          </a:xfrm>
          <a:prstGeom prst="ellipse">
            <a:avLst/>
          </a:prstGeom>
          <a:solidFill>
            <a:schemeClr val="accent2"/>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2</a:t>
            </a:r>
          </a:p>
        </p:txBody>
      </p:sp>
      <p:sp>
        <p:nvSpPr>
          <p:cNvPr id="32778" name="Oval 10"/>
          <p:cNvSpPr>
            <a:spLocks noChangeArrowheads="1"/>
          </p:cNvSpPr>
          <p:nvPr/>
        </p:nvSpPr>
        <p:spPr bwMode="auto">
          <a:xfrm>
            <a:off x="6019800" y="4953000"/>
            <a:ext cx="304800" cy="304800"/>
          </a:xfrm>
          <a:prstGeom prst="ellipse">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Tahoma" panose="020B0604030504040204" pitchFamily="34" charset="0"/>
              </a:rPr>
              <a:t>v</a:t>
            </a:r>
          </a:p>
        </p:txBody>
      </p:sp>
      <p:sp>
        <p:nvSpPr>
          <p:cNvPr id="32779" name="Line 11"/>
          <p:cNvSpPr>
            <a:spLocks noChangeShapeType="1"/>
          </p:cNvSpPr>
          <p:nvPr/>
        </p:nvSpPr>
        <p:spPr bwMode="auto">
          <a:xfrm flipV="1">
            <a:off x="2133600" y="5105400"/>
            <a:ext cx="609600" cy="381000"/>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780" name="Line 12"/>
          <p:cNvSpPr>
            <a:spLocks noChangeShapeType="1"/>
          </p:cNvSpPr>
          <p:nvPr/>
        </p:nvSpPr>
        <p:spPr bwMode="auto">
          <a:xfrm>
            <a:off x="2971800" y="5181600"/>
            <a:ext cx="228600" cy="762000"/>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781" name="Line 13"/>
          <p:cNvSpPr>
            <a:spLocks noChangeShapeType="1"/>
          </p:cNvSpPr>
          <p:nvPr/>
        </p:nvSpPr>
        <p:spPr bwMode="auto">
          <a:xfrm>
            <a:off x="3429000" y="6096000"/>
            <a:ext cx="1219200" cy="0"/>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782" name="Line 14"/>
          <p:cNvSpPr>
            <a:spLocks noChangeShapeType="1"/>
          </p:cNvSpPr>
          <p:nvPr/>
        </p:nvSpPr>
        <p:spPr bwMode="auto">
          <a:xfrm flipV="1">
            <a:off x="4876800" y="5181600"/>
            <a:ext cx="1143000" cy="762000"/>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783" name="Line 15"/>
          <p:cNvSpPr>
            <a:spLocks noChangeShapeType="1"/>
          </p:cNvSpPr>
          <p:nvPr/>
        </p:nvSpPr>
        <p:spPr bwMode="auto">
          <a:xfrm flipH="1">
            <a:off x="3962400" y="4953000"/>
            <a:ext cx="2286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784" name="Line 16"/>
          <p:cNvSpPr>
            <a:spLocks noChangeShapeType="1"/>
          </p:cNvSpPr>
          <p:nvPr/>
        </p:nvSpPr>
        <p:spPr bwMode="auto">
          <a:xfrm flipH="1">
            <a:off x="3352800" y="5486400"/>
            <a:ext cx="3810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275926714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eaLnBrk="1" hangingPunct="1"/>
            <a:r>
              <a:rPr lang="en-US" altLang="en-US" smtClean="0"/>
              <a:t>Connectivity – Path</a:t>
            </a:r>
          </a:p>
        </p:txBody>
      </p:sp>
      <p:sp>
        <p:nvSpPr>
          <p:cNvPr id="33795" name="Rectangle 3"/>
          <p:cNvSpPr>
            <a:spLocks noGrp="1" noChangeArrowheads="1"/>
          </p:cNvSpPr>
          <p:nvPr>
            <p:ph idx="1"/>
          </p:nvPr>
        </p:nvSpPr>
        <p:spPr>
          <a:xfrm>
            <a:off x="655638" y="1655763"/>
            <a:ext cx="7924800" cy="4495800"/>
          </a:xfrm>
        </p:spPr>
        <p:txBody>
          <a:bodyPr/>
          <a:lstStyle/>
          <a:p>
            <a:pPr algn="just" eaLnBrk="1" hangingPunct="1">
              <a:lnSpc>
                <a:spcPct val="80000"/>
              </a:lnSpc>
              <a:buFont typeface="Wingdings" panose="05000000000000000000" pitchFamily="2" charset="2"/>
              <a:buNone/>
            </a:pPr>
            <a:r>
              <a:rPr lang="en-US" altLang="en-US" sz="2000" dirty="0" smtClean="0"/>
              <a:t>	A </a:t>
            </a:r>
            <a:r>
              <a:rPr lang="en-US" altLang="en-US" sz="2000" b="1" dirty="0" smtClean="0"/>
              <a:t>Path</a:t>
            </a:r>
            <a:r>
              <a:rPr lang="en-US" altLang="en-US" sz="2000" dirty="0" smtClean="0"/>
              <a:t> of length n (&gt; 0) from u to v in G is a sequence of n edges e</a:t>
            </a:r>
            <a:r>
              <a:rPr lang="en-US" altLang="en-US" sz="2000" baseline="-25000" dirty="0" smtClean="0"/>
              <a:t>1</a:t>
            </a:r>
            <a:r>
              <a:rPr lang="en-US" altLang="en-US" sz="2000" dirty="0" smtClean="0"/>
              <a:t>, e</a:t>
            </a:r>
            <a:r>
              <a:rPr lang="en-US" altLang="en-US" sz="2000" baseline="-12000" dirty="0" smtClean="0"/>
              <a:t>2</a:t>
            </a:r>
            <a:r>
              <a:rPr lang="en-US" altLang="en-US" sz="2000" baseline="-25000" dirty="0" smtClean="0"/>
              <a:t> </a:t>
            </a:r>
            <a:r>
              <a:rPr lang="en-US" altLang="en-US" sz="2000" dirty="0" smtClean="0"/>
              <a:t>, e</a:t>
            </a:r>
            <a:r>
              <a:rPr lang="en-US" altLang="en-US" sz="2000" baseline="-25000" dirty="0" smtClean="0"/>
              <a:t>3</a:t>
            </a:r>
            <a:r>
              <a:rPr lang="en-US" altLang="en-US" sz="2000" dirty="0" smtClean="0"/>
              <a:t>, …, </a:t>
            </a:r>
            <a:r>
              <a:rPr lang="en-US" altLang="en-US" sz="2000" dirty="0" err="1" smtClean="0"/>
              <a:t>e</a:t>
            </a:r>
            <a:r>
              <a:rPr lang="en-US" altLang="en-US" sz="2000" baseline="-25000" dirty="0" err="1" smtClean="0"/>
              <a:t>n</a:t>
            </a:r>
            <a:r>
              <a:rPr lang="en-US" altLang="en-US" sz="2000" baseline="-25000" dirty="0" smtClean="0"/>
              <a:t> </a:t>
            </a:r>
            <a:r>
              <a:rPr lang="en-US" altLang="en-US" sz="2000" dirty="0" smtClean="0"/>
              <a:t>of G such that f (e</a:t>
            </a:r>
            <a:r>
              <a:rPr lang="en-US" altLang="en-US" sz="2000" baseline="-25000" dirty="0" smtClean="0"/>
              <a:t>1</a:t>
            </a:r>
            <a:r>
              <a:rPr lang="en-US" altLang="en-US" sz="2000" dirty="0" smtClean="0"/>
              <a:t>) = (x</a:t>
            </a:r>
            <a:r>
              <a:rPr lang="en-US" altLang="en-US" sz="2000" baseline="-10000" dirty="0" smtClean="0"/>
              <a:t>o</a:t>
            </a:r>
            <a:r>
              <a:rPr lang="en-US" altLang="en-US" sz="2000" dirty="0" smtClean="0"/>
              <a:t>, x</a:t>
            </a:r>
            <a:r>
              <a:rPr lang="en-US" altLang="en-US" sz="2000" baseline="-25000" dirty="0" smtClean="0"/>
              <a:t>1</a:t>
            </a:r>
            <a:r>
              <a:rPr lang="en-US" altLang="en-US" sz="2000" dirty="0" smtClean="0"/>
              <a:t>), f (e</a:t>
            </a:r>
            <a:r>
              <a:rPr lang="en-US" altLang="en-US" sz="2000" baseline="-25000" dirty="0" smtClean="0"/>
              <a:t>2</a:t>
            </a:r>
            <a:r>
              <a:rPr lang="en-US" altLang="en-US" sz="2000" dirty="0" smtClean="0"/>
              <a:t>) = (x</a:t>
            </a:r>
            <a:r>
              <a:rPr lang="en-US" altLang="en-US" sz="2000" baseline="-25000" dirty="0" smtClean="0"/>
              <a:t>1</a:t>
            </a:r>
            <a:r>
              <a:rPr lang="en-US" altLang="en-US" sz="2000" dirty="0" smtClean="0"/>
              <a:t>, x</a:t>
            </a:r>
            <a:r>
              <a:rPr lang="en-US" altLang="en-US" sz="2000" baseline="-25000" dirty="0" smtClean="0"/>
              <a:t>2)</a:t>
            </a:r>
            <a:r>
              <a:rPr lang="en-US" altLang="en-US" sz="2000" dirty="0" smtClean="0"/>
              <a:t>, …, f (</a:t>
            </a:r>
            <a:r>
              <a:rPr lang="en-US" altLang="en-US" sz="2000" dirty="0" err="1" smtClean="0"/>
              <a:t>e</a:t>
            </a:r>
            <a:r>
              <a:rPr lang="en-US" altLang="en-US" sz="2000" baseline="-25000" dirty="0" err="1" smtClean="0"/>
              <a:t>n</a:t>
            </a:r>
            <a:r>
              <a:rPr lang="en-US" altLang="en-US" sz="2000" dirty="0" smtClean="0"/>
              <a:t>) = (x</a:t>
            </a:r>
            <a:r>
              <a:rPr lang="en-US" altLang="en-US" sz="2000" baseline="-25000" dirty="0" smtClean="0"/>
              <a:t>n-1</a:t>
            </a:r>
            <a:r>
              <a:rPr lang="en-US" altLang="en-US" sz="2000" dirty="0" smtClean="0"/>
              <a:t>, </a:t>
            </a:r>
            <a:r>
              <a:rPr lang="en-US" altLang="en-US" sz="2000" dirty="0" err="1" smtClean="0"/>
              <a:t>x</a:t>
            </a:r>
            <a:r>
              <a:rPr lang="en-US" altLang="en-US" sz="2000" baseline="-25000" dirty="0" err="1" smtClean="0"/>
              <a:t>n</a:t>
            </a:r>
            <a:r>
              <a:rPr lang="en-US" altLang="en-US" sz="2000" baseline="-25000" dirty="0" smtClean="0"/>
              <a:t>)</a:t>
            </a:r>
            <a:r>
              <a:rPr lang="en-US" altLang="en-US" sz="2000" dirty="0" smtClean="0"/>
              <a:t>, where x</a:t>
            </a:r>
            <a:r>
              <a:rPr lang="en-US" altLang="en-US" sz="2000" baseline="-25000" dirty="0" smtClean="0"/>
              <a:t>0</a:t>
            </a:r>
            <a:r>
              <a:rPr lang="en-US" altLang="en-US" sz="2000" dirty="0" smtClean="0"/>
              <a:t> = u and </a:t>
            </a:r>
            <a:r>
              <a:rPr lang="en-US" altLang="en-US" sz="2000" dirty="0" err="1" smtClean="0"/>
              <a:t>x</a:t>
            </a:r>
            <a:r>
              <a:rPr lang="en-US" altLang="en-US" sz="2000" baseline="-25000" dirty="0" err="1" smtClean="0"/>
              <a:t>n</a:t>
            </a:r>
            <a:r>
              <a:rPr lang="en-US" altLang="en-US" sz="2000" dirty="0" smtClean="0"/>
              <a:t> = v. A path is said to pass through x</a:t>
            </a:r>
            <a:r>
              <a:rPr lang="en-US" altLang="en-US" sz="2000" baseline="-25000" dirty="0" smtClean="0"/>
              <a:t>0</a:t>
            </a:r>
            <a:r>
              <a:rPr lang="en-US" altLang="en-US" sz="2000" dirty="0" smtClean="0"/>
              <a:t>, x</a:t>
            </a:r>
            <a:r>
              <a:rPr lang="en-US" altLang="en-US" sz="2000" baseline="-25000" dirty="0" smtClean="0"/>
              <a:t>1</a:t>
            </a:r>
            <a:r>
              <a:rPr lang="en-US" altLang="en-US" sz="2000" dirty="0" smtClean="0"/>
              <a:t>, …, </a:t>
            </a:r>
            <a:r>
              <a:rPr lang="en-US" altLang="en-US" sz="2000" dirty="0" err="1" smtClean="0"/>
              <a:t>x</a:t>
            </a:r>
            <a:r>
              <a:rPr lang="en-US" altLang="en-US" sz="2000" baseline="-25000" dirty="0" err="1" smtClean="0"/>
              <a:t>n</a:t>
            </a:r>
            <a:r>
              <a:rPr lang="en-US" altLang="en-US" sz="2000" baseline="-25000" dirty="0" smtClean="0"/>
              <a:t>  </a:t>
            </a:r>
            <a:r>
              <a:rPr lang="en-US" altLang="en-US" sz="2000" dirty="0" smtClean="0"/>
              <a:t>or traverse e</a:t>
            </a:r>
            <a:r>
              <a:rPr lang="en-US" altLang="en-US" sz="2000" baseline="-25000" dirty="0" smtClean="0"/>
              <a:t>1</a:t>
            </a:r>
            <a:r>
              <a:rPr lang="en-US" altLang="en-US" sz="2000" dirty="0" smtClean="0"/>
              <a:t>, e</a:t>
            </a:r>
            <a:r>
              <a:rPr lang="en-US" altLang="en-US" sz="2000" baseline="-25000" dirty="0" smtClean="0"/>
              <a:t>2 </a:t>
            </a:r>
            <a:r>
              <a:rPr lang="en-US" altLang="en-US" sz="2000" dirty="0" smtClean="0"/>
              <a:t>, e</a:t>
            </a:r>
            <a:r>
              <a:rPr lang="en-US" altLang="en-US" sz="2000" baseline="-25000" dirty="0" smtClean="0"/>
              <a:t>3</a:t>
            </a:r>
            <a:r>
              <a:rPr lang="en-US" altLang="en-US" sz="2000" dirty="0" smtClean="0"/>
              <a:t>, …, </a:t>
            </a:r>
            <a:r>
              <a:rPr lang="en-US" altLang="en-US" sz="2000" dirty="0" err="1" smtClean="0"/>
              <a:t>e</a:t>
            </a:r>
            <a:r>
              <a:rPr lang="en-US" altLang="en-US" sz="2000" baseline="-25000" dirty="0" err="1" smtClean="0"/>
              <a:t>n</a:t>
            </a:r>
            <a:r>
              <a:rPr lang="en-US" altLang="en-US" sz="2000" baseline="-25000" dirty="0" smtClean="0"/>
              <a:t> </a:t>
            </a:r>
            <a:endParaRPr lang="en-US" altLang="en-US" sz="2000" dirty="0" smtClean="0"/>
          </a:p>
          <a:p>
            <a:pPr algn="just" eaLnBrk="1" hangingPunct="1">
              <a:lnSpc>
                <a:spcPct val="80000"/>
              </a:lnSpc>
              <a:buFont typeface="Wingdings" panose="05000000000000000000" pitchFamily="2" charset="2"/>
              <a:buNone/>
            </a:pPr>
            <a:endParaRPr lang="en-US" altLang="en-US" sz="2000" dirty="0" smtClean="0"/>
          </a:p>
          <a:p>
            <a:pPr algn="just" eaLnBrk="1" hangingPunct="1">
              <a:lnSpc>
                <a:spcPct val="80000"/>
              </a:lnSpc>
              <a:buFont typeface="Wingdings" panose="05000000000000000000" pitchFamily="2" charset="2"/>
              <a:buNone/>
            </a:pPr>
            <a:r>
              <a:rPr lang="en-US" altLang="en-US" sz="2000" dirty="0" smtClean="0"/>
              <a:t>For Simple Graphs, sequence is x</a:t>
            </a:r>
            <a:r>
              <a:rPr lang="en-US" altLang="en-US" sz="2000" baseline="-12000" dirty="0" smtClean="0"/>
              <a:t>0</a:t>
            </a:r>
            <a:r>
              <a:rPr lang="en-US" altLang="en-US" sz="2000" dirty="0" smtClean="0"/>
              <a:t>, x</a:t>
            </a:r>
            <a:r>
              <a:rPr lang="en-US" altLang="en-US" sz="2000" baseline="-25000" dirty="0" smtClean="0"/>
              <a:t>1</a:t>
            </a:r>
            <a:r>
              <a:rPr lang="en-US" altLang="en-US" sz="2000" dirty="0" smtClean="0"/>
              <a:t>, …, </a:t>
            </a:r>
            <a:r>
              <a:rPr lang="en-US" altLang="en-US" sz="2000" dirty="0" err="1" smtClean="0"/>
              <a:t>x</a:t>
            </a:r>
            <a:r>
              <a:rPr lang="en-US" altLang="en-US" sz="2000" baseline="-25000" dirty="0" err="1" smtClean="0"/>
              <a:t>n</a:t>
            </a:r>
            <a:endParaRPr lang="en-US" altLang="en-US" sz="2000" dirty="0" smtClean="0"/>
          </a:p>
          <a:p>
            <a:pPr algn="just" eaLnBrk="1" hangingPunct="1">
              <a:lnSpc>
                <a:spcPct val="80000"/>
              </a:lnSpc>
              <a:buFont typeface="Wingdings" panose="05000000000000000000" pitchFamily="2" charset="2"/>
              <a:buNone/>
            </a:pPr>
            <a:endParaRPr lang="en-US" altLang="en-US" sz="2000" dirty="0" smtClean="0"/>
          </a:p>
          <a:p>
            <a:pPr algn="just" eaLnBrk="1" hangingPunct="1">
              <a:lnSpc>
                <a:spcPct val="80000"/>
              </a:lnSpc>
              <a:buFont typeface="Wingdings" panose="05000000000000000000" pitchFamily="2" charset="2"/>
              <a:buNone/>
            </a:pPr>
            <a:r>
              <a:rPr lang="en-US" altLang="en-US" sz="2000" dirty="0" smtClean="0"/>
              <a:t>	</a:t>
            </a:r>
          </a:p>
          <a:p>
            <a:pPr algn="just" eaLnBrk="1" hangingPunct="1">
              <a:lnSpc>
                <a:spcPct val="80000"/>
              </a:lnSpc>
              <a:buFont typeface="Wingdings" panose="05000000000000000000" pitchFamily="2" charset="2"/>
              <a:buNone/>
            </a:pPr>
            <a:r>
              <a:rPr lang="en-US" altLang="en-US" sz="2000" b="1" dirty="0" smtClean="0"/>
              <a:t>	Circuit/Cycle:</a:t>
            </a:r>
            <a:r>
              <a:rPr lang="en-US" altLang="en-US" sz="2000" dirty="0" smtClean="0"/>
              <a:t> u = v, length of path &gt; 0</a:t>
            </a:r>
          </a:p>
          <a:p>
            <a:pPr algn="just" eaLnBrk="1" hangingPunct="1">
              <a:lnSpc>
                <a:spcPct val="80000"/>
              </a:lnSpc>
              <a:buFont typeface="Wingdings" panose="05000000000000000000" pitchFamily="2" charset="2"/>
              <a:buNone/>
            </a:pPr>
            <a:endParaRPr lang="en-US" altLang="en-US" sz="2000" dirty="0" smtClean="0"/>
          </a:p>
          <a:p>
            <a:pPr algn="just" eaLnBrk="1" hangingPunct="1">
              <a:lnSpc>
                <a:spcPct val="80000"/>
              </a:lnSpc>
              <a:buFont typeface="Wingdings" panose="05000000000000000000" pitchFamily="2" charset="2"/>
              <a:buNone/>
            </a:pPr>
            <a:r>
              <a:rPr lang="en-US" altLang="en-US" sz="2000" b="1" dirty="0" smtClean="0"/>
              <a:t>	Simple Path:</a:t>
            </a:r>
            <a:r>
              <a:rPr lang="en-US" altLang="en-US" sz="2000" dirty="0" smtClean="0"/>
              <a:t> does not contain an edge more than once</a:t>
            </a:r>
          </a:p>
          <a:p>
            <a:pPr eaLnBrk="1" hangingPunct="1">
              <a:lnSpc>
                <a:spcPct val="80000"/>
              </a:lnSpc>
            </a:pPr>
            <a:endParaRPr lang="en-US" altLang="en-US" sz="2000" dirty="0" smtClean="0"/>
          </a:p>
        </p:txBody>
      </p:sp>
    </p:spTree>
    <p:extLst>
      <p:ext uri="{BB962C8B-B14F-4D97-AF65-F5344CB8AC3E}">
        <p14:creationId xmlns:p14="http://schemas.microsoft.com/office/powerpoint/2010/main" val="339143604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eaLnBrk="1" hangingPunct="1"/>
            <a:r>
              <a:rPr lang="en-US" altLang="en-US" smtClean="0"/>
              <a:t>Connectivity – Connectedness</a:t>
            </a:r>
          </a:p>
        </p:txBody>
      </p:sp>
      <p:sp>
        <p:nvSpPr>
          <p:cNvPr id="34819" name="Rectangle 3"/>
          <p:cNvSpPr>
            <a:spLocks noGrp="1" noChangeArrowheads="1"/>
          </p:cNvSpPr>
          <p:nvPr>
            <p:ph idx="1"/>
          </p:nvPr>
        </p:nvSpPr>
        <p:spPr>
          <a:xfrm>
            <a:off x="635000" y="1655763"/>
            <a:ext cx="7772400" cy="3200400"/>
          </a:xfrm>
        </p:spPr>
        <p:txBody>
          <a:bodyPr/>
          <a:lstStyle/>
          <a:p>
            <a:pPr algn="just" eaLnBrk="1" hangingPunct="1">
              <a:lnSpc>
                <a:spcPct val="80000"/>
              </a:lnSpc>
              <a:buFont typeface="Wingdings" panose="05000000000000000000" pitchFamily="2" charset="2"/>
              <a:buNone/>
            </a:pPr>
            <a:endParaRPr lang="en-US" altLang="en-US" sz="2400" b="1" smtClean="0"/>
          </a:p>
          <a:p>
            <a:pPr algn="just" eaLnBrk="1" hangingPunct="1">
              <a:lnSpc>
                <a:spcPct val="80000"/>
              </a:lnSpc>
            </a:pPr>
            <a:r>
              <a:rPr lang="en-US" altLang="en-US" sz="2000" b="1" smtClean="0"/>
              <a:t>Articulation Point (Cut vertex):</a:t>
            </a:r>
            <a:r>
              <a:rPr lang="en-US" altLang="en-US" sz="2000" smtClean="0"/>
              <a:t> removal of a vertex produces a subgraph with more connected components than in the original graph. The removal of a cut vertex from a connected graph produces a graph that is not connected</a:t>
            </a:r>
          </a:p>
          <a:p>
            <a:pPr algn="just" eaLnBrk="1" hangingPunct="1">
              <a:lnSpc>
                <a:spcPct val="80000"/>
              </a:lnSpc>
            </a:pPr>
            <a:r>
              <a:rPr lang="en-US" altLang="en-US" sz="2000" b="1" smtClean="0"/>
              <a:t>Cut Edge:</a:t>
            </a:r>
            <a:r>
              <a:rPr lang="en-US" altLang="en-US" sz="2000" smtClean="0"/>
              <a:t> An edge whose removal produces a subgraph with more connected components than in the original graph. </a:t>
            </a:r>
            <a:endParaRPr lang="en-US" altLang="en-US" sz="2000" smtClean="0">
              <a:solidFill>
                <a:srgbClr val="237AC1"/>
              </a:solidFill>
            </a:endParaRPr>
          </a:p>
          <a:p>
            <a:pPr algn="just" eaLnBrk="1" hangingPunct="1">
              <a:lnSpc>
                <a:spcPct val="80000"/>
              </a:lnSpc>
              <a:buFont typeface="Wingdings" panose="05000000000000000000" pitchFamily="2" charset="2"/>
              <a:buNone/>
            </a:pPr>
            <a:r>
              <a:rPr lang="en-US" altLang="en-US" sz="2000" smtClean="0">
                <a:solidFill>
                  <a:srgbClr val="237AC1"/>
                </a:solidFill>
              </a:rPr>
              <a:t>	Representation example: G (V, E), v</a:t>
            </a:r>
            <a:r>
              <a:rPr lang="en-US" altLang="en-US" sz="2000" baseline="-25000" smtClean="0">
                <a:solidFill>
                  <a:srgbClr val="237AC1"/>
                </a:solidFill>
              </a:rPr>
              <a:t>3</a:t>
            </a:r>
            <a:r>
              <a:rPr lang="en-US" altLang="en-US" sz="2000" smtClean="0">
                <a:solidFill>
                  <a:srgbClr val="237AC1"/>
                </a:solidFill>
              </a:rPr>
              <a:t> is the articulation point or edge {v</a:t>
            </a:r>
            <a:r>
              <a:rPr lang="en-US" altLang="en-US" sz="2000" baseline="-25000" smtClean="0">
                <a:solidFill>
                  <a:srgbClr val="237AC1"/>
                </a:solidFill>
              </a:rPr>
              <a:t>2</a:t>
            </a:r>
            <a:r>
              <a:rPr lang="en-US" altLang="en-US" sz="2000" smtClean="0">
                <a:solidFill>
                  <a:srgbClr val="237AC1"/>
                </a:solidFill>
              </a:rPr>
              <a:t>, v</a:t>
            </a:r>
            <a:r>
              <a:rPr lang="en-US" altLang="en-US" sz="2000" baseline="-25000" smtClean="0">
                <a:solidFill>
                  <a:srgbClr val="237AC1"/>
                </a:solidFill>
              </a:rPr>
              <a:t>3</a:t>
            </a:r>
            <a:r>
              <a:rPr lang="en-US" altLang="en-US" sz="2000" smtClean="0">
                <a:solidFill>
                  <a:srgbClr val="237AC1"/>
                </a:solidFill>
              </a:rPr>
              <a:t>}, the number of connected components is 2 (&gt; 1)</a:t>
            </a:r>
          </a:p>
          <a:p>
            <a:pPr eaLnBrk="1" hangingPunct="1">
              <a:lnSpc>
                <a:spcPct val="80000"/>
              </a:lnSpc>
              <a:buFont typeface="Wingdings" panose="05000000000000000000" pitchFamily="2" charset="2"/>
              <a:buNone/>
            </a:pPr>
            <a:endParaRPr lang="en-US" altLang="en-US" sz="2000" smtClean="0"/>
          </a:p>
        </p:txBody>
      </p:sp>
      <p:sp>
        <p:nvSpPr>
          <p:cNvPr id="34820" name="Oval 4"/>
          <p:cNvSpPr>
            <a:spLocks noChangeArrowheads="1"/>
          </p:cNvSpPr>
          <p:nvPr/>
        </p:nvSpPr>
        <p:spPr bwMode="auto">
          <a:xfrm>
            <a:off x="2514600" y="5410200"/>
            <a:ext cx="304800" cy="304800"/>
          </a:xfrm>
          <a:prstGeom prst="ellipse">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a:latin typeface="Tahoma" panose="020B0604030504040204" pitchFamily="34" charset="0"/>
              </a:rPr>
              <a:t>v</a:t>
            </a:r>
            <a:r>
              <a:rPr lang="en-US" altLang="en-US" sz="1200" baseline="-25000">
                <a:latin typeface="Tahoma" panose="020B0604030504040204" pitchFamily="34" charset="0"/>
              </a:rPr>
              <a:t>1</a:t>
            </a:r>
          </a:p>
        </p:txBody>
      </p:sp>
      <p:sp>
        <p:nvSpPr>
          <p:cNvPr id="34821" name="Oval 5"/>
          <p:cNvSpPr>
            <a:spLocks noChangeArrowheads="1"/>
          </p:cNvSpPr>
          <p:nvPr/>
        </p:nvSpPr>
        <p:spPr bwMode="auto">
          <a:xfrm>
            <a:off x="3352800" y="5867400"/>
            <a:ext cx="304800" cy="304800"/>
          </a:xfrm>
          <a:prstGeom prst="ellipse">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a:latin typeface="Tahoma" panose="020B0604030504040204" pitchFamily="34" charset="0"/>
              </a:rPr>
              <a:t>v</a:t>
            </a:r>
            <a:r>
              <a:rPr lang="en-US" altLang="en-US" sz="1200" baseline="-25000">
                <a:latin typeface="Tahoma" panose="020B0604030504040204" pitchFamily="34" charset="0"/>
              </a:rPr>
              <a:t>2</a:t>
            </a:r>
          </a:p>
        </p:txBody>
      </p:sp>
      <p:sp>
        <p:nvSpPr>
          <p:cNvPr id="34822" name="Oval 6"/>
          <p:cNvSpPr>
            <a:spLocks noChangeArrowheads="1"/>
          </p:cNvSpPr>
          <p:nvPr/>
        </p:nvSpPr>
        <p:spPr bwMode="auto">
          <a:xfrm>
            <a:off x="3962400" y="5181600"/>
            <a:ext cx="304800" cy="304800"/>
          </a:xfrm>
          <a:prstGeom prst="ellipse">
            <a:avLst/>
          </a:prstGeom>
          <a:solidFill>
            <a:schemeClr val="hlink"/>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a:latin typeface="Tahoma" panose="020B0604030504040204" pitchFamily="34" charset="0"/>
              </a:rPr>
              <a:t>v</a:t>
            </a:r>
            <a:r>
              <a:rPr lang="en-US" altLang="en-US" sz="1200" baseline="-25000">
                <a:latin typeface="Tahoma" panose="020B0604030504040204" pitchFamily="34" charset="0"/>
              </a:rPr>
              <a:t>3</a:t>
            </a:r>
          </a:p>
        </p:txBody>
      </p:sp>
      <p:sp>
        <p:nvSpPr>
          <p:cNvPr id="34823" name="Oval 7"/>
          <p:cNvSpPr>
            <a:spLocks noChangeArrowheads="1"/>
          </p:cNvSpPr>
          <p:nvPr/>
        </p:nvSpPr>
        <p:spPr bwMode="auto">
          <a:xfrm>
            <a:off x="5181600" y="6096000"/>
            <a:ext cx="304800" cy="304800"/>
          </a:xfrm>
          <a:prstGeom prst="ellipse">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a:latin typeface="Tahoma" panose="020B0604030504040204" pitchFamily="34" charset="0"/>
              </a:rPr>
              <a:t>v</a:t>
            </a:r>
            <a:r>
              <a:rPr lang="en-US" altLang="en-US" sz="1200" baseline="-25000">
                <a:latin typeface="Tahoma" panose="020B0604030504040204" pitchFamily="34" charset="0"/>
              </a:rPr>
              <a:t>4</a:t>
            </a:r>
          </a:p>
        </p:txBody>
      </p:sp>
      <p:sp>
        <p:nvSpPr>
          <p:cNvPr id="34824" name="Oval 8"/>
          <p:cNvSpPr>
            <a:spLocks noChangeArrowheads="1"/>
          </p:cNvSpPr>
          <p:nvPr/>
        </p:nvSpPr>
        <p:spPr bwMode="auto">
          <a:xfrm>
            <a:off x="6172200" y="5257800"/>
            <a:ext cx="304800" cy="304800"/>
          </a:xfrm>
          <a:prstGeom prst="ellipse">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a:latin typeface="Tahoma" panose="020B0604030504040204" pitchFamily="34" charset="0"/>
              </a:rPr>
              <a:t>v</a:t>
            </a:r>
            <a:r>
              <a:rPr lang="en-US" altLang="en-US" sz="1200" baseline="-25000">
                <a:latin typeface="Tahoma" panose="020B0604030504040204" pitchFamily="34" charset="0"/>
              </a:rPr>
              <a:t>5</a:t>
            </a:r>
          </a:p>
        </p:txBody>
      </p:sp>
      <p:sp>
        <p:nvSpPr>
          <p:cNvPr id="34825" name="Line 9"/>
          <p:cNvSpPr>
            <a:spLocks noChangeShapeType="1"/>
          </p:cNvSpPr>
          <p:nvPr/>
        </p:nvSpPr>
        <p:spPr bwMode="auto">
          <a:xfrm>
            <a:off x="2819400" y="5638800"/>
            <a:ext cx="5334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826" name="Line 10"/>
          <p:cNvSpPr>
            <a:spLocks noChangeShapeType="1"/>
          </p:cNvSpPr>
          <p:nvPr/>
        </p:nvSpPr>
        <p:spPr bwMode="auto">
          <a:xfrm flipV="1">
            <a:off x="5486400" y="5486400"/>
            <a:ext cx="6858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827" name="Line 11"/>
          <p:cNvSpPr>
            <a:spLocks noChangeShapeType="1"/>
          </p:cNvSpPr>
          <p:nvPr/>
        </p:nvSpPr>
        <p:spPr bwMode="auto">
          <a:xfrm flipV="1">
            <a:off x="3581400" y="5410200"/>
            <a:ext cx="381000" cy="45720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828" name="Line 12"/>
          <p:cNvSpPr>
            <a:spLocks noChangeShapeType="1"/>
          </p:cNvSpPr>
          <p:nvPr/>
        </p:nvSpPr>
        <p:spPr bwMode="auto">
          <a:xfrm>
            <a:off x="4267200" y="5410200"/>
            <a:ext cx="914400" cy="83820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3646486036"/>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eaLnBrk="1" hangingPunct="1"/>
            <a:r>
              <a:rPr lang="en-US" altLang="en-US" smtClean="0"/>
              <a:t>Connectivity – Connectedness</a:t>
            </a:r>
          </a:p>
        </p:txBody>
      </p:sp>
      <p:sp>
        <p:nvSpPr>
          <p:cNvPr id="35843" name="Rectangle 3"/>
          <p:cNvSpPr>
            <a:spLocks noGrp="1" noChangeArrowheads="1"/>
          </p:cNvSpPr>
          <p:nvPr>
            <p:ph idx="1"/>
          </p:nvPr>
        </p:nvSpPr>
        <p:spPr>
          <a:xfrm>
            <a:off x="742950" y="1690688"/>
            <a:ext cx="7772400" cy="3240087"/>
          </a:xfrm>
        </p:spPr>
        <p:txBody>
          <a:bodyPr/>
          <a:lstStyle/>
          <a:p>
            <a:pPr algn="just" eaLnBrk="1" hangingPunct="1">
              <a:buFont typeface="Arial" panose="020B0604020202020204" pitchFamily="34" charset="0"/>
              <a:buNone/>
            </a:pPr>
            <a:r>
              <a:rPr lang="en-US" altLang="en-US" b="1" dirty="0" smtClean="0"/>
              <a:t>Strongly, Unilaterally or Weakly connected Graphs</a:t>
            </a:r>
          </a:p>
          <a:p>
            <a:pPr algn="just" eaLnBrk="1" hangingPunct="1">
              <a:buFont typeface="Wingdings" panose="05000000000000000000" pitchFamily="2" charset="2"/>
              <a:buNone/>
            </a:pPr>
            <a:endParaRPr lang="en-US" altLang="en-US" sz="2000" dirty="0" smtClean="0">
              <a:solidFill>
                <a:schemeClr val="hlink"/>
              </a:solidFill>
            </a:endParaRPr>
          </a:p>
          <a:p>
            <a:pPr algn="just" eaLnBrk="1" hangingPunct="1">
              <a:buFont typeface="Wingdings" panose="05000000000000000000" pitchFamily="2" charset="2"/>
              <a:buNone/>
            </a:pPr>
            <a:r>
              <a:rPr lang="en-US" altLang="en-US" sz="2000" dirty="0" smtClean="0">
                <a:solidFill>
                  <a:schemeClr val="hlink"/>
                </a:solidFill>
                <a:hlinkClick r:id="rId2"/>
              </a:rPr>
              <a:t>https://www.geeksforgeeks.org/check-if-a-graph-is-strongly-unilaterally-or-weakly-connected/</a:t>
            </a:r>
            <a:endParaRPr lang="en-US" altLang="en-US" sz="2000" dirty="0" smtClean="0">
              <a:solidFill>
                <a:schemeClr val="hlink"/>
              </a:solidFill>
            </a:endParaRPr>
          </a:p>
          <a:p>
            <a:pPr algn="just" eaLnBrk="1" hangingPunct="1">
              <a:buFont typeface="Wingdings" panose="05000000000000000000" pitchFamily="2" charset="2"/>
              <a:buNone/>
            </a:pPr>
            <a:endParaRPr lang="en-US" altLang="en-US" sz="2000" dirty="0" smtClean="0">
              <a:solidFill>
                <a:schemeClr val="hlink"/>
              </a:solidFill>
            </a:endParaRPr>
          </a:p>
          <a:p>
            <a:pPr algn="just" eaLnBrk="1" hangingPunct="1"/>
            <a:endParaRPr lang="en-US" altLang="en-US" sz="2000" dirty="0" smtClean="0">
              <a:solidFill>
                <a:schemeClr val="hlink"/>
              </a:solidFill>
            </a:endParaRPr>
          </a:p>
        </p:txBody>
      </p:sp>
    </p:spTree>
    <p:extLst>
      <p:ext uri="{BB962C8B-B14F-4D97-AF65-F5344CB8AC3E}">
        <p14:creationId xmlns:p14="http://schemas.microsoft.com/office/powerpoint/2010/main" val="421306242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Number Placeholder 5"/>
          <p:cNvSpPr>
            <a:spLocks noGrp="1"/>
          </p:cNvSpPr>
          <p:nvPr>
            <p:ph type="sldNum"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713BAF8C-815B-4EBD-9B0B-C7DF5A35C284}" type="slidenum">
              <a:rPr lang="en-US" altLang="en-US" smtClean="0">
                <a:solidFill>
                  <a:srgbClr val="898989"/>
                </a:solidFill>
              </a:rPr>
              <a:pPr/>
              <a:t>34</a:t>
            </a:fld>
            <a:endParaRPr lang="en-US" altLang="en-US" smtClean="0">
              <a:solidFill>
                <a:srgbClr val="898989"/>
              </a:solidFill>
            </a:endParaRPr>
          </a:p>
        </p:txBody>
      </p:sp>
      <p:sp>
        <p:nvSpPr>
          <p:cNvPr id="36867" name="Rectangle 2"/>
          <p:cNvSpPr>
            <a:spLocks noGrp="1" noChangeArrowheads="1"/>
          </p:cNvSpPr>
          <p:nvPr>
            <p:ph type="title"/>
          </p:nvPr>
        </p:nvSpPr>
        <p:spPr/>
        <p:txBody>
          <a:bodyPr/>
          <a:lstStyle/>
          <a:p>
            <a:r>
              <a:rPr lang="en-US" altLang="en-US" b="1" smtClean="0"/>
              <a:t>Graph Traversal Techniques</a:t>
            </a:r>
          </a:p>
        </p:txBody>
      </p:sp>
      <p:sp>
        <p:nvSpPr>
          <p:cNvPr id="36868" name="Rectangle 3"/>
          <p:cNvSpPr>
            <a:spLocks noGrp="1" noChangeArrowheads="1"/>
          </p:cNvSpPr>
          <p:nvPr>
            <p:ph type="body" idx="1"/>
          </p:nvPr>
        </p:nvSpPr>
        <p:spPr/>
        <p:txBody>
          <a:bodyPr/>
          <a:lstStyle/>
          <a:p>
            <a:r>
              <a:rPr lang="en-US" altLang="en-US" smtClean="0"/>
              <a:t>The previous connectivity problem, as well as many other graph problems, can be solved using graph traversal techniques</a:t>
            </a:r>
          </a:p>
          <a:p>
            <a:r>
              <a:rPr lang="en-US" altLang="en-US" smtClean="0"/>
              <a:t>There are two standard graph traversal techniques:</a:t>
            </a:r>
          </a:p>
          <a:p>
            <a:pPr lvl="1"/>
            <a:r>
              <a:rPr lang="en-US" altLang="en-US" i="1" smtClean="0">
                <a:solidFill>
                  <a:srgbClr val="CC0000"/>
                </a:solidFill>
              </a:rPr>
              <a:t>Depth-First Search</a:t>
            </a:r>
            <a:r>
              <a:rPr lang="en-US" altLang="en-US" smtClean="0"/>
              <a:t> (DFS)—uses stack</a:t>
            </a:r>
          </a:p>
          <a:p>
            <a:pPr lvl="1"/>
            <a:r>
              <a:rPr lang="en-US" altLang="en-US" i="1" smtClean="0">
                <a:solidFill>
                  <a:srgbClr val="CC0000"/>
                </a:solidFill>
              </a:rPr>
              <a:t>Breadth-First Search</a:t>
            </a:r>
            <a:r>
              <a:rPr lang="en-US" altLang="en-US" smtClean="0"/>
              <a:t> (BFS)– uses queue</a:t>
            </a:r>
          </a:p>
        </p:txBody>
      </p:sp>
    </p:spTree>
    <p:extLst>
      <p:ext uri="{BB962C8B-B14F-4D97-AF65-F5344CB8AC3E}">
        <p14:creationId xmlns:p14="http://schemas.microsoft.com/office/powerpoint/2010/main" val="143425539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noChangeArrowheads="1"/>
          </p:cNvSpPr>
          <p:nvPr>
            <p:ph type="title"/>
          </p:nvPr>
        </p:nvSpPr>
        <p:spPr/>
        <p:txBody>
          <a:bodyPr/>
          <a:lstStyle/>
          <a:p>
            <a:endParaRPr lang="en-US" altLang="en-US" smtClean="0"/>
          </a:p>
        </p:txBody>
      </p:sp>
      <p:pic>
        <p:nvPicPr>
          <p:cNvPr id="37891" name="Content Placeholder 4" descr="A diagram of a search engine&#10;&#10;Description automatically generated with medium confidenc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533400" y="2667000"/>
            <a:ext cx="8389938" cy="3490913"/>
          </a:xfrm>
        </p:spPr>
      </p:pic>
    </p:spTree>
    <p:extLst>
      <p:ext uri="{BB962C8B-B14F-4D97-AF65-F5344CB8AC3E}">
        <p14:creationId xmlns:p14="http://schemas.microsoft.com/office/powerpoint/2010/main" val="1515978078"/>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noChangeArrowheads="1"/>
          </p:cNvSpPr>
          <p:nvPr>
            <p:ph type="title"/>
          </p:nvPr>
        </p:nvSpPr>
        <p:spPr/>
        <p:txBody>
          <a:bodyPr/>
          <a:lstStyle/>
          <a:p>
            <a:r>
              <a:rPr lang="en-US" altLang="en-US" b="1" smtClean="0"/>
              <a:t>Breadth First Search</a:t>
            </a:r>
            <a:r>
              <a:rPr lang="en-US" altLang="en-US" smtClean="0"/>
              <a:t> </a:t>
            </a:r>
          </a:p>
        </p:txBody>
      </p:sp>
      <p:sp>
        <p:nvSpPr>
          <p:cNvPr id="38915" name="Content Placeholder 5"/>
          <p:cNvSpPr>
            <a:spLocks noGrp="1" noChangeArrowheads="1"/>
          </p:cNvSpPr>
          <p:nvPr>
            <p:ph idx="1"/>
          </p:nvPr>
        </p:nvSpPr>
        <p:spPr/>
        <p:txBody>
          <a:bodyPr/>
          <a:lstStyle/>
          <a:p>
            <a:r>
              <a:rPr lang="en-US" altLang="en-US" smtClean="0"/>
              <a:t>In BFS, we first visit all the nodes at the same depth first and then proceed visiting nodes at a deeper depth</a:t>
            </a:r>
          </a:p>
          <a:p>
            <a:r>
              <a:rPr lang="en-US" altLang="en-US" smtClean="0"/>
              <a:t>For example, in the graph given below, we would first visit the node 1, and then after visiting the nodes 2, 3 and 4, we can proceed to visit any deeper node i.e., nodes 5, 6, 7 and 8</a:t>
            </a:r>
          </a:p>
          <a:p>
            <a:endParaRPr lang="en-US" altLang="en-US" smtClean="0"/>
          </a:p>
          <a:p>
            <a:endParaRPr lang="en-US" altLang="en-US" smtClean="0"/>
          </a:p>
        </p:txBody>
      </p:sp>
      <p:pic>
        <p:nvPicPr>
          <p:cNvPr id="38916" name="Picture 7" descr="A group of circles with numbers&#10;&#10;Description automatically generate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4343400"/>
            <a:ext cx="2924175" cy="183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48672297"/>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noChangeArrowheads="1"/>
          </p:cNvSpPr>
          <p:nvPr>
            <p:ph type="title"/>
          </p:nvPr>
        </p:nvSpPr>
        <p:spPr/>
        <p:txBody>
          <a:bodyPr/>
          <a:lstStyle/>
          <a:p>
            <a:r>
              <a:rPr lang="en-US" altLang="en-US" b="1" smtClean="0"/>
              <a:t>Breadth First Search</a:t>
            </a:r>
            <a:r>
              <a:rPr lang="en-US" altLang="en-US" smtClean="0"/>
              <a:t> </a:t>
            </a:r>
          </a:p>
        </p:txBody>
      </p:sp>
      <p:sp>
        <p:nvSpPr>
          <p:cNvPr id="39939" name="Content Placeholder 5"/>
          <p:cNvSpPr>
            <a:spLocks noGrp="1" noChangeArrowheads="1"/>
          </p:cNvSpPr>
          <p:nvPr>
            <p:ph idx="1"/>
          </p:nvPr>
        </p:nvSpPr>
        <p:spPr/>
        <p:txBody>
          <a:bodyPr/>
          <a:lstStyle/>
          <a:p>
            <a:r>
              <a:rPr lang="en-US" altLang="en-US" smtClean="0"/>
              <a:t>Example: three different colors i.e., white, gray and black are used to represent unvisited, discovered and complete respectively</a:t>
            </a:r>
          </a:p>
          <a:p>
            <a:endParaRPr lang="en-US" altLang="en-US" smtClean="0"/>
          </a:p>
        </p:txBody>
      </p:sp>
      <p:pic>
        <p:nvPicPr>
          <p:cNvPr id="39940" name="Picture 3" descr="A screenshot of a phone&#10;&#10;Description automatically generate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7850" y="3449638"/>
            <a:ext cx="5448300" cy="240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59330449"/>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noChangeArrowheads="1"/>
          </p:cNvSpPr>
          <p:nvPr>
            <p:ph type="title"/>
          </p:nvPr>
        </p:nvSpPr>
        <p:spPr>
          <a:xfrm>
            <a:off x="628650" y="327025"/>
            <a:ext cx="7886700" cy="1325563"/>
          </a:xfrm>
        </p:spPr>
        <p:txBody>
          <a:bodyPr/>
          <a:lstStyle/>
          <a:p>
            <a:r>
              <a:rPr lang="en-US" altLang="en-US" smtClean="0"/>
              <a:t>BFS</a:t>
            </a:r>
          </a:p>
        </p:txBody>
      </p:sp>
      <p:pic>
        <p:nvPicPr>
          <p:cNvPr id="40963" name="Content Placeholder 4" descr="A screenshot of a game&#10;&#10;Description automatically generated"/>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147888" y="1825625"/>
            <a:ext cx="4848225" cy="4351338"/>
          </a:xfrm>
        </p:spPr>
      </p:pic>
      <p:sp>
        <p:nvSpPr>
          <p:cNvPr id="40964" name="Rectangle 1"/>
          <p:cNvSpPr>
            <a:spLocks noChangeArrowheads="1"/>
          </p:cNvSpPr>
          <p:nvPr/>
        </p:nvSpPr>
        <p:spPr bwMode="auto">
          <a:xfrm>
            <a:off x="990600" y="1182688"/>
            <a:ext cx="76200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US" altLang="en-US"/>
              <a:t>https://www.geeksforgeeks.org/breadth-first-search-or-bfs-for-a-graph/</a:t>
            </a:r>
          </a:p>
        </p:txBody>
      </p:sp>
    </p:spTree>
    <p:extLst>
      <p:ext uri="{BB962C8B-B14F-4D97-AF65-F5344CB8AC3E}">
        <p14:creationId xmlns:p14="http://schemas.microsoft.com/office/powerpoint/2010/main" val="1839618436"/>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noChangeArrowheads="1"/>
          </p:cNvSpPr>
          <p:nvPr>
            <p:ph type="title"/>
          </p:nvPr>
        </p:nvSpPr>
        <p:spPr/>
        <p:txBody>
          <a:bodyPr/>
          <a:lstStyle/>
          <a:p>
            <a:r>
              <a:rPr lang="en-US" altLang="en-US" smtClean="0"/>
              <a:t>BFS</a:t>
            </a:r>
          </a:p>
        </p:txBody>
      </p:sp>
      <p:pic>
        <p:nvPicPr>
          <p:cNvPr id="41987" name="Content Placeholder 9" descr="A screenshot of a game&#10;&#10;Description automatically generated"/>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628650" y="2030413"/>
            <a:ext cx="7886700" cy="3970337"/>
          </a:xfrm>
        </p:spPr>
      </p:pic>
    </p:spTree>
    <p:extLst>
      <p:ext uri="{BB962C8B-B14F-4D97-AF65-F5344CB8AC3E}">
        <p14:creationId xmlns:p14="http://schemas.microsoft.com/office/powerpoint/2010/main" val="855063828"/>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noChangeArrowheads="1"/>
          </p:cNvSpPr>
          <p:nvPr>
            <p:ph type="title"/>
          </p:nvPr>
        </p:nvSpPr>
        <p:spPr/>
        <p:txBody>
          <a:bodyPr/>
          <a:lstStyle/>
          <a:p>
            <a:r>
              <a:rPr lang="en-US" altLang="en-US" b="1" smtClean="0"/>
              <a:t>Depth First Search</a:t>
            </a:r>
            <a:endParaRPr lang="en-US" altLang="en-US" smtClean="0"/>
          </a:p>
        </p:txBody>
      </p:sp>
      <p:sp>
        <p:nvSpPr>
          <p:cNvPr id="43011" name="Content Placeholder 2"/>
          <p:cNvSpPr>
            <a:spLocks noGrp="1" noChangeArrowheads="1"/>
          </p:cNvSpPr>
          <p:nvPr>
            <p:ph idx="1"/>
          </p:nvPr>
        </p:nvSpPr>
        <p:spPr/>
        <p:txBody>
          <a:bodyPr/>
          <a:lstStyle/>
          <a:p>
            <a:r>
              <a:rPr lang="en-US" altLang="en-US" smtClean="0"/>
              <a:t>DFS explores the depth of the graph before the breadth i.e., it traverses along the increasing depth and upon reaching the end, it backtracks to the node from which it was started and then do the same with the sibling node. </a:t>
            </a:r>
          </a:p>
          <a:p>
            <a:endParaRPr lang="en-US" altLang="en-US" smtClean="0"/>
          </a:p>
        </p:txBody>
      </p:sp>
      <p:pic>
        <p:nvPicPr>
          <p:cNvPr id="43012" name="Picture 4" descr="A diagram of numbers and arrows&#10;&#10;Description automatically generate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0800" y="3581400"/>
            <a:ext cx="2809875" cy="2695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26566415"/>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p:cNvSpPr>
            <a:spLocks noGrp="1" noChangeArrowheads="1"/>
          </p:cNvSpPr>
          <p:nvPr>
            <p:ph type="title"/>
          </p:nvPr>
        </p:nvSpPr>
        <p:spPr/>
        <p:txBody>
          <a:bodyPr/>
          <a:lstStyle/>
          <a:p>
            <a:r>
              <a:rPr lang="en-US" altLang="en-US" smtClean="0"/>
              <a:t>DFS</a:t>
            </a:r>
          </a:p>
        </p:txBody>
      </p:sp>
      <p:pic>
        <p:nvPicPr>
          <p:cNvPr id="44035" name="Content Placeholder 4" descr="A black and white background with white circles and numbers&#10;&#10;Description automatically generated"/>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628650" y="2281238"/>
            <a:ext cx="7886700" cy="3440112"/>
          </a:xfrm>
        </p:spPr>
      </p:pic>
    </p:spTree>
    <p:extLst>
      <p:ext uri="{BB962C8B-B14F-4D97-AF65-F5344CB8AC3E}">
        <p14:creationId xmlns:p14="http://schemas.microsoft.com/office/powerpoint/2010/main" val="1900872543"/>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4"/>
          <p:cNvSpPr>
            <a:spLocks noGrp="1"/>
          </p:cNvSpPr>
          <p:nvPr>
            <p:ph type="ftr" sz="quarter" idx="4294967295"/>
          </p:nvPr>
        </p:nvSpPr>
        <p:spPr/>
        <p:txBody>
          <a:bodyPr/>
          <a:lstStyle/>
          <a:p>
            <a:pPr>
              <a:defRPr/>
            </a:pPr>
            <a:r>
              <a:rPr lang="en-US" altLang="en-US"/>
              <a:t>CS 103</a:t>
            </a:r>
          </a:p>
        </p:txBody>
      </p:sp>
      <p:sp>
        <p:nvSpPr>
          <p:cNvPr id="45059" name="Slide Number Placeholder 5"/>
          <p:cNvSpPr>
            <a:spLocks noGrp="1"/>
          </p:cNvSpPr>
          <p:nvPr>
            <p:ph type="sldNum"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7D831CD0-DD51-419D-B992-07EE705FC0D4}" type="slidenum">
              <a:rPr lang="en-US" altLang="en-US" smtClean="0">
                <a:solidFill>
                  <a:srgbClr val="898989"/>
                </a:solidFill>
              </a:rPr>
              <a:pPr/>
              <a:t>42</a:t>
            </a:fld>
            <a:endParaRPr lang="en-US" altLang="en-US" smtClean="0">
              <a:solidFill>
                <a:srgbClr val="898989"/>
              </a:solidFill>
            </a:endParaRPr>
          </a:p>
        </p:txBody>
      </p:sp>
      <p:sp>
        <p:nvSpPr>
          <p:cNvPr id="240642" name="Rectangle 2"/>
          <p:cNvSpPr>
            <a:spLocks noGrp="1" noChangeArrowheads="1"/>
          </p:cNvSpPr>
          <p:nvPr>
            <p:ph type="title"/>
          </p:nvPr>
        </p:nvSpPr>
        <p:spPr>
          <a:xfrm>
            <a:off x="1657350" y="1314450"/>
            <a:ext cx="5829300" cy="457200"/>
          </a:xfrm>
        </p:spPr>
        <p:txBody>
          <a:bodyPr>
            <a:normAutofit fontScale="90000"/>
          </a:bodyPr>
          <a:lstStyle/>
          <a:p>
            <a:pPr>
              <a:defRPr/>
            </a:pPr>
            <a:r>
              <a:rPr lang="en-US" altLang="en-US" sz="3000" b="1"/>
              <a:t>Illustration of DFS</a:t>
            </a:r>
          </a:p>
        </p:txBody>
      </p:sp>
      <p:sp>
        <p:nvSpPr>
          <p:cNvPr id="45061" name="Rectangle 3"/>
          <p:cNvSpPr>
            <a:spLocks noGrp="1" noChangeArrowheads="1"/>
          </p:cNvSpPr>
          <p:nvPr>
            <p:ph type="body" idx="1"/>
          </p:nvPr>
        </p:nvSpPr>
        <p:spPr>
          <a:xfrm>
            <a:off x="2725738" y="1801813"/>
            <a:ext cx="5829300" cy="3543300"/>
          </a:xfrm>
        </p:spPr>
        <p:txBody>
          <a:bodyPr/>
          <a:lstStyle/>
          <a:p>
            <a:endParaRPr lang="en-US" altLang="en-US" dirty="0" smtClean="0"/>
          </a:p>
        </p:txBody>
      </p:sp>
      <p:sp>
        <p:nvSpPr>
          <p:cNvPr id="45062" name="Oval 4"/>
          <p:cNvSpPr>
            <a:spLocks noChangeArrowheads="1"/>
          </p:cNvSpPr>
          <p:nvPr/>
        </p:nvSpPr>
        <p:spPr bwMode="auto">
          <a:xfrm>
            <a:off x="5208588" y="2603500"/>
            <a:ext cx="123825" cy="9683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US" altLang="en-US"/>
          </a:p>
        </p:txBody>
      </p:sp>
      <p:sp>
        <p:nvSpPr>
          <p:cNvPr id="45063" name="Oval 5"/>
          <p:cNvSpPr>
            <a:spLocks noChangeArrowheads="1"/>
          </p:cNvSpPr>
          <p:nvPr/>
        </p:nvSpPr>
        <p:spPr bwMode="auto">
          <a:xfrm>
            <a:off x="5746750" y="2124075"/>
            <a:ext cx="123825" cy="9683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US" altLang="en-US"/>
          </a:p>
        </p:txBody>
      </p:sp>
      <p:sp>
        <p:nvSpPr>
          <p:cNvPr id="45064" name="Oval 6"/>
          <p:cNvSpPr>
            <a:spLocks noChangeArrowheads="1"/>
          </p:cNvSpPr>
          <p:nvPr/>
        </p:nvSpPr>
        <p:spPr bwMode="auto">
          <a:xfrm>
            <a:off x="5789613" y="3227388"/>
            <a:ext cx="123825" cy="96837"/>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US" altLang="en-US"/>
          </a:p>
        </p:txBody>
      </p:sp>
      <p:sp>
        <p:nvSpPr>
          <p:cNvPr id="45065" name="Oval 7"/>
          <p:cNvSpPr>
            <a:spLocks noChangeArrowheads="1"/>
          </p:cNvSpPr>
          <p:nvPr/>
        </p:nvSpPr>
        <p:spPr bwMode="auto">
          <a:xfrm>
            <a:off x="6743700" y="3200400"/>
            <a:ext cx="125413" cy="9683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US" altLang="en-US"/>
          </a:p>
        </p:txBody>
      </p:sp>
      <p:sp>
        <p:nvSpPr>
          <p:cNvPr id="45066" name="Oval 8"/>
          <p:cNvSpPr>
            <a:spLocks noChangeArrowheads="1"/>
          </p:cNvSpPr>
          <p:nvPr/>
        </p:nvSpPr>
        <p:spPr bwMode="auto">
          <a:xfrm>
            <a:off x="7199313" y="2555875"/>
            <a:ext cx="123825" cy="9683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US" altLang="en-US"/>
          </a:p>
        </p:txBody>
      </p:sp>
      <p:sp>
        <p:nvSpPr>
          <p:cNvPr id="45067" name="Oval 9"/>
          <p:cNvSpPr>
            <a:spLocks noChangeArrowheads="1"/>
          </p:cNvSpPr>
          <p:nvPr/>
        </p:nvSpPr>
        <p:spPr bwMode="auto">
          <a:xfrm>
            <a:off x="6618288" y="2124075"/>
            <a:ext cx="123825" cy="9683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US" altLang="en-US"/>
          </a:p>
        </p:txBody>
      </p:sp>
      <p:sp>
        <p:nvSpPr>
          <p:cNvPr id="45068" name="Line 10"/>
          <p:cNvSpPr>
            <a:spLocks noChangeShapeType="1"/>
          </p:cNvSpPr>
          <p:nvPr/>
        </p:nvSpPr>
        <p:spPr bwMode="auto">
          <a:xfrm>
            <a:off x="5829300" y="2171700"/>
            <a:ext cx="83026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069" name="Line 11"/>
          <p:cNvSpPr>
            <a:spLocks noChangeShapeType="1"/>
          </p:cNvSpPr>
          <p:nvPr/>
        </p:nvSpPr>
        <p:spPr bwMode="auto">
          <a:xfrm>
            <a:off x="5291138" y="2652713"/>
            <a:ext cx="194786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070" name="Line 12"/>
          <p:cNvSpPr>
            <a:spLocks noChangeShapeType="1"/>
          </p:cNvSpPr>
          <p:nvPr/>
        </p:nvSpPr>
        <p:spPr bwMode="auto">
          <a:xfrm flipV="1">
            <a:off x="5291138" y="2171700"/>
            <a:ext cx="498475" cy="4810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071" name="Line 13"/>
          <p:cNvSpPr>
            <a:spLocks noChangeShapeType="1"/>
          </p:cNvSpPr>
          <p:nvPr/>
        </p:nvSpPr>
        <p:spPr bwMode="auto">
          <a:xfrm>
            <a:off x="6700838" y="2171700"/>
            <a:ext cx="538162" cy="431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072" name="Line 14"/>
          <p:cNvSpPr>
            <a:spLocks noChangeShapeType="1"/>
          </p:cNvSpPr>
          <p:nvPr/>
        </p:nvSpPr>
        <p:spPr bwMode="auto">
          <a:xfrm>
            <a:off x="5870575" y="3276600"/>
            <a:ext cx="91281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073" name="Line 16"/>
          <p:cNvSpPr>
            <a:spLocks noChangeShapeType="1"/>
          </p:cNvSpPr>
          <p:nvPr/>
        </p:nvSpPr>
        <p:spPr bwMode="auto">
          <a:xfrm>
            <a:off x="5829300" y="2171700"/>
            <a:ext cx="1370013" cy="431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074" name="Line 17"/>
          <p:cNvSpPr>
            <a:spLocks noChangeShapeType="1"/>
          </p:cNvSpPr>
          <p:nvPr/>
        </p:nvSpPr>
        <p:spPr bwMode="auto">
          <a:xfrm flipH="1" flipV="1">
            <a:off x="5265738" y="2695575"/>
            <a:ext cx="57150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075" name="Oval 20"/>
          <p:cNvSpPr>
            <a:spLocks noChangeArrowheads="1"/>
          </p:cNvSpPr>
          <p:nvPr/>
        </p:nvSpPr>
        <p:spPr bwMode="auto">
          <a:xfrm>
            <a:off x="6229350" y="3657600"/>
            <a:ext cx="125413" cy="9683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US" altLang="en-US"/>
          </a:p>
        </p:txBody>
      </p:sp>
      <p:sp>
        <p:nvSpPr>
          <p:cNvPr id="45076" name="Oval 21"/>
          <p:cNvSpPr>
            <a:spLocks noChangeArrowheads="1"/>
          </p:cNvSpPr>
          <p:nvPr/>
        </p:nvSpPr>
        <p:spPr bwMode="auto">
          <a:xfrm>
            <a:off x="7086600" y="3543300"/>
            <a:ext cx="125413" cy="9683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US" altLang="en-US"/>
          </a:p>
        </p:txBody>
      </p:sp>
      <p:sp>
        <p:nvSpPr>
          <p:cNvPr id="45077" name="Oval 22"/>
          <p:cNvSpPr>
            <a:spLocks noChangeArrowheads="1"/>
          </p:cNvSpPr>
          <p:nvPr/>
        </p:nvSpPr>
        <p:spPr bwMode="auto">
          <a:xfrm>
            <a:off x="4457700" y="2857500"/>
            <a:ext cx="125413" cy="9683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US" altLang="en-US"/>
          </a:p>
        </p:txBody>
      </p:sp>
      <p:sp>
        <p:nvSpPr>
          <p:cNvPr id="45078" name="Oval 23"/>
          <p:cNvSpPr>
            <a:spLocks noChangeArrowheads="1"/>
          </p:cNvSpPr>
          <p:nvPr/>
        </p:nvSpPr>
        <p:spPr bwMode="auto">
          <a:xfrm>
            <a:off x="4800600" y="3257550"/>
            <a:ext cx="125413" cy="9683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US" altLang="en-US"/>
          </a:p>
        </p:txBody>
      </p:sp>
      <p:sp>
        <p:nvSpPr>
          <p:cNvPr id="45079" name="Oval 24"/>
          <p:cNvSpPr>
            <a:spLocks noChangeArrowheads="1"/>
          </p:cNvSpPr>
          <p:nvPr/>
        </p:nvSpPr>
        <p:spPr bwMode="auto">
          <a:xfrm>
            <a:off x="5200650" y="3086100"/>
            <a:ext cx="125413" cy="9683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US" altLang="en-US"/>
          </a:p>
        </p:txBody>
      </p:sp>
      <p:sp>
        <p:nvSpPr>
          <p:cNvPr id="45080" name="Line 25"/>
          <p:cNvSpPr>
            <a:spLocks noChangeShapeType="1"/>
          </p:cNvSpPr>
          <p:nvPr/>
        </p:nvSpPr>
        <p:spPr bwMode="auto">
          <a:xfrm>
            <a:off x="6800850" y="3257550"/>
            <a:ext cx="400050" cy="3429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081" name="Line 26"/>
          <p:cNvSpPr>
            <a:spLocks noChangeShapeType="1"/>
          </p:cNvSpPr>
          <p:nvPr/>
        </p:nvSpPr>
        <p:spPr bwMode="auto">
          <a:xfrm>
            <a:off x="5829300" y="3257550"/>
            <a:ext cx="4572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082" name="Line 27"/>
          <p:cNvSpPr>
            <a:spLocks noChangeShapeType="1"/>
          </p:cNvSpPr>
          <p:nvPr/>
        </p:nvSpPr>
        <p:spPr bwMode="auto">
          <a:xfrm>
            <a:off x="5829300" y="3314700"/>
            <a:ext cx="1314450" cy="2857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083" name="Line 28"/>
          <p:cNvSpPr>
            <a:spLocks noChangeShapeType="1"/>
          </p:cNvSpPr>
          <p:nvPr/>
        </p:nvSpPr>
        <p:spPr bwMode="auto">
          <a:xfrm flipH="1">
            <a:off x="4572000" y="2628900"/>
            <a:ext cx="685800" cy="228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084" name="Line 29"/>
          <p:cNvSpPr>
            <a:spLocks noChangeShapeType="1"/>
          </p:cNvSpPr>
          <p:nvPr/>
        </p:nvSpPr>
        <p:spPr bwMode="auto">
          <a:xfrm>
            <a:off x="5257800" y="2686050"/>
            <a:ext cx="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085" name="Line 31"/>
          <p:cNvSpPr>
            <a:spLocks noChangeShapeType="1"/>
          </p:cNvSpPr>
          <p:nvPr/>
        </p:nvSpPr>
        <p:spPr bwMode="auto">
          <a:xfrm>
            <a:off x="4514850" y="2914650"/>
            <a:ext cx="342900" cy="4000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086" name="Line 32"/>
          <p:cNvSpPr>
            <a:spLocks noChangeShapeType="1"/>
          </p:cNvSpPr>
          <p:nvPr/>
        </p:nvSpPr>
        <p:spPr bwMode="auto">
          <a:xfrm flipH="1">
            <a:off x="4857750" y="3143250"/>
            <a:ext cx="400050" cy="1714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087" name="Text Box 33"/>
          <p:cNvSpPr txBox="1">
            <a:spLocks noChangeArrowheads="1"/>
          </p:cNvSpPr>
          <p:nvPr/>
        </p:nvSpPr>
        <p:spPr bwMode="auto">
          <a:xfrm>
            <a:off x="5532438" y="1916113"/>
            <a:ext cx="301625"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US" altLang="en-US"/>
              <a:t>0</a:t>
            </a:r>
          </a:p>
        </p:txBody>
      </p:sp>
      <p:sp>
        <p:nvSpPr>
          <p:cNvPr id="45088" name="Text Box 34"/>
          <p:cNvSpPr txBox="1">
            <a:spLocks noChangeArrowheads="1"/>
          </p:cNvSpPr>
          <p:nvPr/>
        </p:nvSpPr>
        <p:spPr bwMode="auto">
          <a:xfrm>
            <a:off x="6686550" y="1885950"/>
            <a:ext cx="301625"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US" altLang="en-US"/>
              <a:t>1</a:t>
            </a:r>
          </a:p>
        </p:txBody>
      </p:sp>
      <p:sp>
        <p:nvSpPr>
          <p:cNvPr id="45089" name="Text Box 35"/>
          <p:cNvSpPr txBox="1">
            <a:spLocks noChangeArrowheads="1"/>
          </p:cNvSpPr>
          <p:nvPr/>
        </p:nvSpPr>
        <p:spPr bwMode="auto">
          <a:xfrm>
            <a:off x="4960938" y="2373313"/>
            <a:ext cx="301625"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US" altLang="en-US"/>
              <a:t>2</a:t>
            </a:r>
          </a:p>
        </p:txBody>
      </p:sp>
      <p:sp>
        <p:nvSpPr>
          <p:cNvPr id="45090" name="Text Box 36"/>
          <p:cNvSpPr txBox="1">
            <a:spLocks noChangeArrowheads="1"/>
          </p:cNvSpPr>
          <p:nvPr/>
        </p:nvSpPr>
        <p:spPr bwMode="auto">
          <a:xfrm>
            <a:off x="7018338" y="2601913"/>
            <a:ext cx="301625"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US" altLang="en-US"/>
              <a:t>4</a:t>
            </a:r>
          </a:p>
        </p:txBody>
      </p:sp>
      <p:sp>
        <p:nvSpPr>
          <p:cNvPr id="45091" name="Text Box 37"/>
          <p:cNvSpPr txBox="1">
            <a:spLocks noChangeArrowheads="1"/>
          </p:cNvSpPr>
          <p:nvPr/>
        </p:nvSpPr>
        <p:spPr bwMode="auto">
          <a:xfrm>
            <a:off x="5829300" y="2971800"/>
            <a:ext cx="301625"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US" altLang="en-US"/>
              <a:t>5</a:t>
            </a:r>
          </a:p>
        </p:txBody>
      </p:sp>
      <p:sp>
        <p:nvSpPr>
          <p:cNvPr id="45092" name="Text Box 38"/>
          <p:cNvSpPr txBox="1">
            <a:spLocks noChangeArrowheads="1"/>
          </p:cNvSpPr>
          <p:nvPr/>
        </p:nvSpPr>
        <p:spPr bwMode="auto">
          <a:xfrm>
            <a:off x="6332538" y="3573463"/>
            <a:ext cx="301625"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US" altLang="en-US"/>
              <a:t>6</a:t>
            </a:r>
          </a:p>
        </p:txBody>
      </p:sp>
      <p:sp>
        <p:nvSpPr>
          <p:cNvPr id="45093" name="Text Box 39"/>
          <p:cNvSpPr txBox="1">
            <a:spLocks noChangeArrowheads="1"/>
          </p:cNvSpPr>
          <p:nvPr/>
        </p:nvSpPr>
        <p:spPr bwMode="auto">
          <a:xfrm>
            <a:off x="6789738" y="2944813"/>
            <a:ext cx="301625"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US" altLang="en-US"/>
              <a:t>7</a:t>
            </a:r>
          </a:p>
        </p:txBody>
      </p:sp>
      <p:sp>
        <p:nvSpPr>
          <p:cNvPr id="45094" name="Text Box 40"/>
          <p:cNvSpPr txBox="1">
            <a:spLocks noChangeArrowheads="1"/>
          </p:cNvSpPr>
          <p:nvPr/>
        </p:nvSpPr>
        <p:spPr bwMode="auto">
          <a:xfrm>
            <a:off x="7200900" y="3371850"/>
            <a:ext cx="301625"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US" altLang="en-US"/>
              <a:t>8</a:t>
            </a:r>
          </a:p>
        </p:txBody>
      </p:sp>
      <p:sp>
        <p:nvSpPr>
          <p:cNvPr id="45095" name="Text Box 41"/>
          <p:cNvSpPr txBox="1">
            <a:spLocks noChangeArrowheads="1"/>
          </p:cNvSpPr>
          <p:nvPr/>
        </p:nvSpPr>
        <p:spPr bwMode="auto">
          <a:xfrm>
            <a:off x="4217988" y="2659063"/>
            <a:ext cx="301625"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US" altLang="en-US"/>
              <a:t>9</a:t>
            </a:r>
          </a:p>
        </p:txBody>
      </p:sp>
      <p:sp>
        <p:nvSpPr>
          <p:cNvPr id="45096" name="Text Box 42"/>
          <p:cNvSpPr txBox="1">
            <a:spLocks noChangeArrowheads="1"/>
          </p:cNvSpPr>
          <p:nvPr/>
        </p:nvSpPr>
        <p:spPr bwMode="auto">
          <a:xfrm>
            <a:off x="5257800" y="3028950"/>
            <a:ext cx="4191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US" altLang="en-US"/>
              <a:t>10</a:t>
            </a:r>
          </a:p>
        </p:txBody>
      </p:sp>
      <p:sp>
        <p:nvSpPr>
          <p:cNvPr id="45097" name="Text Box 43"/>
          <p:cNvSpPr txBox="1">
            <a:spLocks noChangeArrowheads="1"/>
          </p:cNvSpPr>
          <p:nvPr/>
        </p:nvSpPr>
        <p:spPr bwMode="auto">
          <a:xfrm>
            <a:off x="4675188" y="3287713"/>
            <a:ext cx="417512"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US" altLang="en-US"/>
              <a:t>11</a:t>
            </a:r>
          </a:p>
        </p:txBody>
      </p:sp>
      <p:sp>
        <p:nvSpPr>
          <p:cNvPr id="45098" name="Text Box 79"/>
          <p:cNvSpPr txBox="1">
            <a:spLocks noChangeArrowheads="1"/>
          </p:cNvSpPr>
          <p:nvPr/>
        </p:nvSpPr>
        <p:spPr bwMode="auto">
          <a:xfrm>
            <a:off x="5021263" y="3916363"/>
            <a:ext cx="960437"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US" altLang="en-US"/>
              <a:t>Graph G</a:t>
            </a:r>
          </a:p>
        </p:txBody>
      </p:sp>
    </p:spTree>
    <p:extLst>
      <p:ext uri="{BB962C8B-B14F-4D97-AF65-F5344CB8AC3E}">
        <p14:creationId xmlns:p14="http://schemas.microsoft.com/office/powerpoint/2010/main" val="3263474681"/>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p:txBody>
          <a:bodyPr/>
          <a:lstStyle/>
          <a:p>
            <a:r>
              <a:rPr lang="en-US" altLang="en-US" smtClean="0"/>
              <a:t>Applications of DFS and BFS</a:t>
            </a:r>
          </a:p>
        </p:txBody>
      </p:sp>
      <p:sp>
        <p:nvSpPr>
          <p:cNvPr id="5" name="Content Placeholder 4"/>
          <p:cNvSpPr>
            <a:spLocks noGrp="1"/>
          </p:cNvSpPr>
          <p:nvPr>
            <p:ph idx="1"/>
          </p:nvPr>
        </p:nvSpPr>
        <p:spPr/>
        <p:txBody>
          <a:bodyPr/>
          <a:lstStyle/>
          <a:p>
            <a:pPr algn="just">
              <a:defRPr/>
            </a:pPr>
            <a:r>
              <a:rPr lang="en-US" dirty="0"/>
              <a:t>Using DFS, we can find strongly connected components of a graph. If there is a path from each vertex to every other vertex, that is strongly connected.</a:t>
            </a:r>
          </a:p>
          <a:p>
            <a:pPr algn="just">
              <a:defRPr/>
            </a:pPr>
            <a:r>
              <a:rPr lang="en-US" dirty="0"/>
              <a:t>In peer-to-peer network like bit-torrent, BFS is used to find all neighbor nodes</a:t>
            </a:r>
          </a:p>
          <a:p>
            <a:pPr algn="just">
              <a:defRPr/>
            </a:pPr>
            <a:r>
              <a:rPr lang="en-US" dirty="0"/>
              <a:t>Search engine crawlers are used BFS to build index. Starting from source page, it finds all links in it to get new pages</a:t>
            </a:r>
          </a:p>
          <a:p>
            <a:pPr algn="just">
              <a:defRPr/>
            </a:pPr>
            <a:r>
              <a:rPr lang="en-US" dirty="0"/>
              <a:t>Using GPS navigation system BFS is used to find neighboring places.</a:t>
            </a:r>
          </a:p>
          <a:p>
            <a:pPr marL="0" indent="0">
              <a:buFont typeface="Arial" panose="020B0604020202020204" pitchFamily="34" charset="0"/>
              <a:buNone/>
              <a:defRPr/>
            </a:pPr>
            <a:endParaRPr lang="en-US" dirty="0"/>
          </a:p>
        </p:txBody>
      </p:sp>
    </p:spTree>
    <p:extLst>
      <p:ext uri="{BB962C8B-B14F-4D97-AF65-F5344CB8AC3E}">
        <p14:creationId xmlns:p14="http://schemas.microsoft.com/office/powerpoint/2010/main" val="387785681"/>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p:cNvSpPr>
          <p:nvPr>
            <p:ph type="title"/>
          </p:nvPr>
        </p:nvSpPr>
        <p:spPr/>
        <p:txBody>
          <a:bodyPr/>
          <a:lstStyle/>
          <a:p>
            <a:endParaRPr lang="en-US" altLang="en-US" smtClean="0"/>
          </a:p>
        </p:txBody>
      </p:sp>
      <p:sp>
        <p:nvSpPr>
          <p:cNvPr id="48131" name="Content Placeholder 2"/>
          <p:cNvSpPr>
            <a:spLocks noGrp="1"/>
          </p:cNvSpPr>
          <p:nvPr>
            <p:ph idx="1"/>
          </p:nvPr>
        </p:nvSpPr>
        <p:spPr/>
        <p:txBody>
          <a:bodyPr>
            <a:normAutofit fontScale="92500" lnSpcReduction="20000"/>
          </a:bodyPr>
          <a:lstStyle/>
          <a:p>
            <a:r>
              <a:rPr lang="en-US" altLang="en-US" b="1" smtClean="0"/>
              <a:t>Advantages of graphs:</a:t>
            </a:r>
          </a:p>
          <a:p>
            <a:r>
              <a:rPr lang="en-US" altLang="en-US" smtClean="0"/>
              <a:t>Graphs can be used to model and analyze complex systems and relationships.</a:t>
            </a:r>
          </a:p>
          <a:p>
            <a:r>
              <a:rPr lang="en-US" altLang="en-US" smtClean="0"/>
              <a:t>They are useful for visualizing and understanding data.</a:t>
            </a:r>
          </a:p>
          <a:p>
            <a:r>
              <a:rPr lang="en-US" altLang="en-US" smtClean="0"/>
              <a:t>Graph algorithms are widely used in computer science and other fields, such as social network analysis, logistics, and transportation.</a:t>
            </a:r>
          </a:p>
          <a:p>
            <a:r>
              <a:rPr lang="en-US" altLang="en-US" smtClean="0"/>
              <a:t>Graphs can be used to represent a wide range of data types, including social networks, road networks, and the internet.</a:t>
            </a:r>
          </a:p>
          <a:p>
            <a:r>
              <a:rPr lang="en-US" altLang="en-US" b="1" smtClean="0"/>
              <a:t>Disadvantages of graphs:</a:t>
            </a:r>
          </a:p>
          <a:p>
            <a:r>
              <a:rPr lang="en-US" altLang="en-US" smtClean="0"/>
              <a:t>Large graphs can be difficult to visualize and analyze.</a:t>
            </a:r>
          </a:p>
          <a:p>
            <a:r>
              <a:rPr lang="en-US" altLang="en-US" smtClean="0"/>
              <a:t>Graph algorithms can be computationally expensive, especially for large graphs.</a:t>
            </a:r>
          </a:p>
          <a:p>
            <a:endParaRPr lang="en-US" altLang="en-US" smtClean="0"/>
          </a:p>
        </p:txBody>
      </p:sp>
    </p:spTree>
    <p:extLst>
      <p:ext uri="{BB962C8B-B14F-4D97-AF65-F5344CB8AC3E}">
        <p14:creationId xmlns:p14="http://schemas.microsoft.com/office/powerpoint/2010/main" val="853763151"/>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p:cNvSpPr>
            <a:spLocks noGrp="1" noChangeArrowheads="1"/>
          </p:cNvSpPr>
          <p:nvPr>
            <p:ph type="title"/>
          </p:nvPr>
        </p:nvSpPr>
        <p:spPr>
          <a:xfrm>
            <a:off x="628650" y="350838"/>
            <a:ext cx="7886700" cy="1325562"/>
          </a:xfrm>
        </p:spPr>
        <p:txBody>
          <a:bodyPr/>
          <a:lstStyle/>
          <a:p>
            <a:r>
              <a:rPr lang="en-US" altLang="en-US" smtClean="0"/>
              <a:t>Spanning Tree</a:t>
            </a:r>
          </a:p>
        </p:txBody>
      </p:sp>
      <p:sp>
        <p:nvSpPr>
          <p:cNvPr id="55299" name="Content Placeholder 2"/>
          <p:cNvSpPr>
            <a:spLocks noGrp="1" noChangeArrowheads="1"/>
          </p:cNvSpPr>
          <p:nvPr>
            <p:ph idx="1"/>
          </p:nvPr>
        </p:nvSpPr>
        <p:spPr>
          <a:xfrm>
            <a:off x="628650" y="1828800"/>
            <a:ext cx="7886700" cy="4351338"/>
          </a:xfrm>
        </p:spPr>
        <p:txBody>
          <a:bodyPr/>
          <a:lstStyle/>
          <a:p>
            <a:endParaRPr lang="en-US" altLang="en-US" smtClean="0"/>
          </a:p>
          <a:p>
            <a:r>
              <a:rPr lang="en-US" altLang="en-US" smtClean="0"/>
              <a:t>A spanning tree of a graph G is a subset of the edges of G that form a tree and include all vertices of G</a:t>
            </a:r>
          </a:p>
          <a:p>
            <a:r>
              <a:rPr lang="en-US" altLang="en-US" smtClean="0"/>
              <a:t>Let G = (V,E) be an undirected graph. A spanning tree of G is a subset T ⊆ E such that T is a tree on V</a:t>
            </a:r>
          </a:p>
          <a:p>
            <a:endParaRPr lang="en-US" altLang="en-US" smtClean="0"/>
          </a:p>
        </p:txBody>
      </p:sp>
      <p:pic>
        <p:nvPicPr>
          <p:cNvPr id="55300"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47775" y="3741738"/>
            <a:ext cx="5938838" cy="288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45616739"/>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625" y="609600"/>
            <a:ext cx="8534400" cy="377825"/>
          </a:xfrm>
        </p:spPr>
        <p:txBody>
          <a:bodyPr>
            <a:normAutofit fontScale="90000"/>
          </a:bodyPr>
          <a:lstStyle/>
          <a:p>
            <a:pPr>
              <a:defRPr/>
            </a:pPr>
            <a:r>
              <a:rPr lang="en-US" u="sng" dirty="0" smtClean="0"/>
              <a:t>Properties </a:t>
            </a:r>
            <a:r>
              <a:rPr lang="en-US" u="sng" dirty="0"/>
              <a:t>of a Spanning Tree:</a:t>
            </a:r>
            <a:r>
              <a:rPr lang="en-US" dirty="0"/>
              <a:t/>
            </a:r>
            <a:br>
              <a:rPr lang="en-US" dirty="0"/>
            </a:br>
            <a:endParaRPr lang="en-US" dirty="0"/>
          </a:p>
        </p:txBody>
      </p:sp>
      <p:sp>
        <p:nvSpPr>
          <p:cNvPr id="56323" name="Content Placeholder 2"/>
          <p:cNvSpPr>
            <a:spLocks noGrp="1"/>
          </p:cNvSpPr>
          <p:nvPr>
            <p:ph sz="quarter" idx="1"/>
          </p:nvPr>
        </p:nvSpPr>
        <p:spPr/>
        <p:txBody>
          <a:bodyPr>
            <a:normAutofit fontScale="92500" lnSpcReduction="20000"/>
          </a:bodyPr>
          <a:lstStyle/>
          <a:p>
            <a:r>
              <a:rPr lang="en-US" altLang="en-US" smtClean="0"/>
              <a:t>The number of vertices (</a:t>
            </a:r>
            <a:r>
              <a:rPr lang="en-US" altLang="en-US" b="1" smtClean="0"/>
              <a:t>V</a:t>
            </a:r>
            <a:r>
              <a:rPr lang="en-US" altLang="en-US" smtClean="0"/>
              <a:t>) in the graph and the spanning tree is the same.</a:t>
            </a:r>
          </a:p>
          <a:p>
            <a:r>
              <a:rPr lang="en-US" altLang="en-US" smtClean="0"/>
              <a:t>There is a fixed number of edges in the spanning tree which is equal to one less than the total number of vertices ( </a:t>
            </a:r>
            <a:r>
              <a:rPr lang="en-US" altLang="en-US" b="1" smtClean="0"/>
              <a:t>E</a:t>
            </a:r>
            <a:r>
              <a:rPr lang="en-US" altLang="en-US" smtClean="0"/>
              <a:t> = </a:t>
            </a:r>
            <a:r>
              <a:rPr lang="en-US" altLang="en-US" b="1" smtClean="0"/>
              <a:t>V-1</a:t>
            </a:r>
            <a:r>
              <a:rPr lang="en-US" altLang="en-US" smtClean="0"/>
              <a:t> ).</a:t>
            </a:r>
          </a:p>
          <a:p>
            <a:r>
              <a:rPr lang="en-US" altLang="en-US" smtClean="0"/>
              <a:t>The spanning tree should not be </a:t>
            </a:r>
            <a:r>
              <a:rPr lang="en-US" altLang="en-US" b="1" smtClean="0"/>
              <a:t>disconnected</a:t>
            </a:r>
            <a:r>
              <a:rPr lang="en-US" altLang="en-US" smtClean="0"/>
              <a:t>, as in there should only be a single source of component, not more than that.</a:t>
            </a:r>
          </a:p>
          <a:p>
            <a:r>
              <a:rPr lang="en-US" altLang="en-US" smtClean="0"/>
              <a:t>The spanning tree should be </a:t>
            </a:r>
            <a:r>
              <a:rPr lang="en-US" altLang="en-US" b="1" smtClean="0"/>
              <a:t>acyclic, </a:t>
            </a:r>
            <a:r>
              <a:rPr lang="en-US" altLang="en-US" smtClean="0"/>
              <a:t>which</a:t>
            </a:r>
            <a:r>
              <a:rPr lang="en-US" altLang="en-US" b="1" smtClean="0"/>
              <a:t> </a:t>
            </a:r>
            <a:r>
              <a:rPr lang="en-US" altLang="en-US" smtClean="0"/>
              <a:t>means there would not be any cycle in the tree.</a:t>
            </a:r>
          </a:p>
          <a:p>
            <a:r>
              <a:rPr lang="en-US" altLang="en-US" smtClean="0"/>
              <a:t>The total cost (or weight) of the spanning tree is defined as the sum of the edge weights of all the edges of the spanning tree.</a:t>
            </a:r>
          </a:p>
          <a:p>
            <a:r>
              <a:rPr lang="en-US" altLang="en-US" smtClean="0"/>
              <a:t>There can be many possible spanning trees for a graph. </a:t>
            </a:r>
          </a:p>
          <a:p>
            <a:endParaRPr lang="en-US" altLang="en-US" smtClean="0"/>
          </a:p>
        </p:txBody>
      </p:sp>
    </p:spTree>
    <p:extLst>
      <p:ext uri="{BB962C8B-B14F-4D97-AF65-F5344CB8AC3E}">
        <p14:creationId xmlns:p14="http://schemas.microsoft.com/office/powerpoint/2010/main" val="1895799933"/>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p:cNvSpPr>
            <a:spLocks noGrp="1" noChangeArrowheads="1"/>
          </p:cNvSpPr>
          <p:nvPr>
            <p:ph type="title"/>
          </p:nvPr>
        </p:nvSpPr>
        <p:spPr/>
        <p:txBody>
          <a:bodyPr/>
          <a:lstStyle/>
          <a:p>
            <a:r>
              <a:rPr lang="en-US" altLang="en-US" smtClean="0"/>
              <a:t>Spanning Tree</a:t>
            </a:r>
          </a:p>
        </p:txBody>
      </p:sp>
      <p:pic>
        <p:nvPicPr>
          <p:cNvPr id="57347" name="Picture 2" descr="Spanning tree | Swift Data Structure and Algorithms"/>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925513" y="1825625"/>
            <a:ext cx="7292975" cy="4351338"/>
          </a:xfrm>
          <a:noFill/>
        </p:spPr>
      </p:pic>
    </p:spTree>
    <p:extLst>
      <p:ext uri="{BB962C8B-B14F-4D97-AF65-F5344CB8AC3E}">
        <p14:creationId xmlns:p14="http://schemas.microsoft.com/office/powerpoint/2010/main" val="4111530839"/>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p:cNvSpPr>
            <a:spLocks noGrp="1" noChangeArrowheads="1"/>
          </p:cNvSpPr>
          <p:nvPr>
            <p:ph type="title"/>
          </p:nvPr>
        </p:nvSpPr>
        <p:spPr/>
        <p:txBody>
          <a:bodyPr/>
          <a:lstStyle/>
          <a:p>
            <a:r>
              <a:rPr lang="en-US" altLang="en-US" smtClean="0"/>
              <a:t>Spanning Tree (weights)</a:t>
            </a:r>
          </a:p>
        </p:txBody>
      </p:sp>
      <p:pic>
        <p:nvPicPr>
          <p:cNvPr id="58371" name="Picture 2" descr="Spanning Tre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957263" y="1839913"/>
            <a:ext cx="7229475" cy="4324350"/>
          </a:xfrm>
          <a:noFill/>
        </p:spPr>
      </p:pic>
    </p:spTree>
    <p:extLst>
      <p:ext uri="{BB962C8B-B14F-4D97-AF65-F5344CB8AC3E}">
        <p14:creationId xmlns:p14="http://schemas.microsoft.com/office/powerpoint/2010/main" val="1497425085"/>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p:cNvSpPr>
            <a:spLocks noGrp="1" noChangeArrowheads="1"/>
          </p:cNvSpPr>
          <p:nvPr>
            <p:ph type="title"/>
          </p:nvPr>
        </p:nvSpPr>
        <p:spPr/>
        <p:txBody>
          <a:bodyPr/>
          <a:lstStyle/>
          <a:p>
            <a:r>
              <a:rPr lang="en-US" altLang="en-US" smtClean="0"/>
              <a:t>Minimum Spanning Tree</a:t>
            </a:r>
          </a:p>
        </p:txBody>
      </p:sp>
      <p:sp>
        <p:nvSpPr>
          <p:cNvPr id="59395" name="Content Placeholder 2"/>
          <p:cNvSpPr>
            <a:spLocks noGrp="1" noChangeArrowheads="1"/>
          </p:cNvSpPr>
          <p:nvPr>
            <p:ph idx="1"/>
          </p:nvPr>
        </p:nvSpPr>
        <p:spPr/>
        <p:txBody>
          <a:bodyPr/>
          <a:lstStyle/>
          <a:p>
            <a:r>
              <a:rPr lang="en-US" altLang="en-US" smtClean="0">
                <a:solidFill>
                  <a:srgbClr val="242424"/>
                </a:solidFill>
                <a:latin typeface="source-serif-pro"/>
              </a:rPr>
              <a:t> </a:t>
            </a:r>
            <a:r>
              <a:rPr lang="en-US" altLang="en-US" b="1" smtClean="0">
                <a:solidFill>
                  <a:srgbClr val="242424"/>
                </a:solidFill>
                <a:latin typeface="source-serif-pro"/>
              </a:rPr>
              <a:t>Minimum spanning tree (MST) </a:t>
            </a:r>
            <a:r>
              <a:rPr lang="en-US" altLang="en-US" smtClean="0">
                <a:solidFill>
                  <a:srgbClr val="242424"/>
                </a:solidFill>
                <a:latin typeface="source-serif-pro"/>
              </a:rPr>
              <a:t>holds great significance due to its ability to connect various nodes in a network while minimizing the total weight or cost of the connections</a:t>
            </a:r>
          </a:p>
          <a:p>
            <a:r>
              <a:rPr lang="en-US" altLang="en-US" b="1" smtClean="0">
                <a:solidFill>
                  <a:srgbClr val="242424"/>
                </a:solidFill>
                <a:latin typeface="source-serif-pro"/>
              </a:rPr>
              <a:t>Applications</a:t>
            </a:r>
            <a:r>
              <a:rPr lang="en-US" altLang="en-US" smtClean="0">
                <a:solidFill>
                  <a:srgbClr val="242424"/>
                </a:solidFill>
                <a:latin typeface="source-serif-pro"/>
              </a:rPr>
              <a:t>: computer networking, transportation systems, and urban planning</a:t>
            </a:r>
          </a:p>
          <a:p>
            <a:r>
              <a:rPr lang="en-US" altLang="en-US" smtClean="0">
                <a:solidFill>
                  <a:srgbClr val="242424"/>
                </a:solidFill>
                <a:latin typeface="source-serif-pro"/>
              </a:rPr>
              <a:t>Helps in optimizing network efficiency and resource allocation</a:t>
            </a:r>
            <a:endParaRPr lang="en-US" altLang="en-US" smtClean="0"/>
          </a:p>
        </p:txBody>
      </p:sp>
    </p:spTree>
    <p:extLst>
      <p:ext uri="{BB962C8B-B14F-4D97-AF65-F5344CB8AC3E}">
        <p14:creationId xmlns:p14="http://schemas.microsoft.com/office/powerpoint/2010/main" val="1695694978"/>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p:cNvSpPr>
            <a:spLocks noGrp="1"/>
          </p:cNvSpPr>
          <p:nvPr>
            <p:ph type="title"/>
          </p:nvPr>
        </p:nvSpPr>
        <p:spPr/>
        <p:txBody>
          <a:bodyPr/>
          <a:lstStyle/>
          <a:p>
            <a:endParaRPr lang="en-US" altLang="en-US" smtClean="0"/>
          </a:p>
        </p:txBody>
      </p:sp>
      <p:pic>
        <p:nvPicPr>
          <p:cNvPr id="60419" name="Content Placeholder 3"/>
          <p:cNvPicPr>
            <a:picLocks noGrp="1" noChangeAspect="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838200" y="1828800"/>
            <a:ext cx="3810000" cy="3581400"/>
          </a:xfrm>
        </p:spPr>
      </p:pic>
      <p:pic>
        <p:nvPicPr>
          <p:cNvPr id="60420" name="Picture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105400" y="1828800"/>
            <a:ext cx="3657600" cy="358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0411884"/>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1"/>
          <p:cNvSpPr>
            <a:spLocks noGrp="1" noChangeArrowheads="1"/>
          </p:cNvSpPr>
          <p:nvPr>
            <p:ph type="title"/>
          </p:nvPr>
        </p:nvSpPr>
        <p:spPr/>
        <p:txBody>
          <a:bodyPr/>
          <a:lstStyle/>
          <a:p>
            <a:r>
              <a:rPr lang="en-US" altLang="en-US" b="1" smtClean="0"/>
              <a:t>Minimum Spanning Tree</a:t>
            </a:r>
          </a:p>
        </p:txBody>
      </p:sp>
      <p:sp>
        <p:nvSpPr>
          <p:cNvPr id="61443" name="Content Placeholder 2"/>
          <p:cNvSpPr>
            <a:spLocks noGrp="1" noChangeArrowheads="1"/>
          </p:cNvSpPr>
          <p:nvPr>
            <p:ph idx="1"/>
          </p:nvPr>
        </p:nvSpPr>
        <p:spPr/>
        <p:txBody>
          <a:bodyPr>
            <a:normAutofit lnSpcReduction="10000"/>
          </a:bodyPr>
          <a:lstStyle/>
          <a:p>
            <a:r>
              <a:rPr lang="en-US" altLang="en-US" smtClean="0">
                <a:solidFill>
                  <a:srgbClr val="242424"/>
                </a:solidFill>
                <a:latin typeface="source-serif-pro"/>
              </a:rPr>
              <a:t>Example: Minimum Spanning Tree in a City’s Road Network</a:t>
            </a:r>
            <a:r>
              <a:rPr lang="en-US" altLang="en-US" smtClean="0"/>
              <a:t/>
            </a:r>
            <a:br>
              <a:rPr lang="en-US" altLang="en-US" smtClean="0"/>
            </a:br>
            <a:r>
              <a:rPr lang="en-US" altLang="en-US" smtClean="0"/>
              <a:t/>
            </a:r>
            <a:br>
              <a:rPr lang="en-US" altLang="en-US" smtClean="0"/>
            </a:br>
            <a:r>
              <a:rPr lang="en-US" altLang="en-US" smtClean="0">
                <a:solidFill>
                  <a:srgbClr val="242424"/>
                </a:solidFill>
                <a:latin typeface="source-serif-pro"/>
              </a:rPr>
              <a:t>Consider a city with several locations and a road network connecting them. To optimize the city’s transportation system, engineers aim to construct a minimum spanning tree of the road network. By employing MST, they identify the most economical routes to connect all locations, avoiding unnecessary detours and congestion-prone paths. The resulting minimum spanning tree represents the backbone of the road network, enabling efficient travel across the city and reducing traffic congestion.</a:t>
            </a:r>
            <a:endParaRPr lang="en-US" altLang="en-US" smtClean="0"/>
          </a:p>
        </p:txBody>
      </p:sp>
    </p:spTree>
    <p:extLst>
      <p:ext uri="{BB962C8B-B14F-4D97-AF65-F5344CB8AC3E}">
        <p14:creationId xmlns:p14="http://schemas.microsoft.com/office/powerpoint/2010/main" val="2190102865"/>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1"/>
          <p:cNvSpPr>
            <a:spLocks noGrp="1"/>
          </p:cNvSpPr>
          <p:nvPr>
            <p:ph type="title"/>
          </p:nvPr>
        </p:nvSpPr>
        <p:spPr/>
        <p:txBody>
          <a:bodyPr/>
          <a:lstStyle/>
          <a:p>
            <a:r>
              <a:rPr lang="en-US" altLang="en-US" smtClean="0"/>
              <a:t>Minimum Cost Spanning Tree</a:t>
            </a:r>
          </a:p>
        </p:txBody>
      </p:sp>
      <p:sp>
        <p:nvSpPr>
          <p:cNvPr id="62467" name="Content Placeholder 2"/>
          <p:cNvSpPr>
            <a:spLocks noGrp="1"/>
          </p:cNvSpPr>
          <p:nvPr>
            <p:ph sz="quarter" idx="1"/>
          </p:nvPr>
        </p:nvSpPr>
        <p:spPr/>
        <p:txBody>
          <a:bodyPr/>
          <a:lstStyle/>
          <a:p>
            <a:r>
              <a:rPr lang="en-US" altLang="en-US" i="1" smtClean="0"/>
              <a:t>A </a:t>
            </a:r>
            <a:r>
              <a:rPr lang="en-US" altLang="en-US" b="1" i="1" smtClean="0"/>
              <a:t>minimum spanning tree</a:t>
            </a:r>
            <a:r>
              <a:rPr lang="en-US" altLang="en-US" i="1" smtClean="0"/>
              <a:t> </a:t>
            </a:r>
            <a:r>
              <a:rPr lang="en-US" altLang="en-US" b="1" i="1" smtClean="0"/>
              <a:t>(MST)</a:t>
            </a:r>
            <a:r>
              <a:rPr lang="en-US" altLang="en-US" i="1" smtClean="0"/>
              <a:t> is defined as a </a:t>
            </a:r>
            <a:r>
              <a:rPr lang="en-US" altLang="en-US" b="1" i="1" smtClean="0"/>
              <a:t>spanning tree</a:t>
            </a:r>
            <a:r>
              <a:rPr lang="en-US" altLang="en-US" i="1" smtClean="0"/>
              <a:t> that has the minimum weight among all the possible spanning trees</a:t>
            </a:r>
          </a:p>
          <a:p>
            <a:endParaRPr lang="en-US" altLang="en-US" i="1" smtClean="0"/>
          </a:p>
          <a:p>
            <a:r>
              <a:rPr lang="en-US" altLang="en-US" smtClean="0"/>
              <a:t>If a graph is a complete graph with n vertices, then total number of spanning trees is n</a:t>
            </a:r>
            <a:r>
              <a:rPr lang="en-US" altLang="en-US" baseline="30000" smtClean="0"/>
              <a:t>(n-2)</a:t>
            </a:r>
            <a:r>
              <a:rPr lang="en-US" altLang="en-US" smtClean="0"/>
              <a:t> where n is the number of nodes in the graph. </a:t>
            </a:r>
          </a:p>
          <a:p>
            <a:r>
              <a:rPr lang="en-US" altLang="en-US" smtClean="0"/>
              <a:t>For others, </a:t>
            </a:r>
          </a:p>
          <a:p>
            <a:endParaRPr lang="en-US" altLang="en-US" smtClean="0"/>
          </a:p>
        </p:txBody>
      </p:sp>
      <p:pic>
        <p:nvPicPr>
          <p:cNvPr id="62468"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5029200"/>
            <a:ext cx="3911600" cy="15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75552384"/>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1"/>
          <p:cNvSpPr>
            <a:spLocks noGrp="1" noChangeArrowheads="1"/>
          </p:cNvSpPr>
          <p:nvPr>
            <p:ph type="title"/>
          </p:nvPr>
        </p:nvSpPr>
        <p:spPr/>
        <p:txBody>
          <a:bodyPr/>
          <a:lstStyle/>
          <a:p>
            <a:r>
              <a:rPr lang="en-US" altLang="en-US" smtClean="0"/>
              <a:t>Minimum Spanning Tree</a:t>
            </a:r>
          </a:p>
        </p:txBody>
      </p:sp>
      <p:pic>
        <p:nvPicPr>
          <p:cNvPr id="63491" name="Picture 2" descr="Spanning Tre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27866" r="17326" b="45613"/>
          <a:stretch>
            <a:fillRect/>
          </a:stretch>
        </p:blipFill>
        <p:spPr>
          <a:xfrm>
            <a:off x="3048000" y="1371600"/>
            <a:ext cx="3962400" cy="2351088"/>
          </a:xfrm>
          <a:noFill/>
        </p:spPr>
      </p:pic>
      <p:pic>
        <p:nvPicPr>
          <p:cNvPr id="63492" name="Picture 4" descr="Minimum Spanning Tre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4600" y="3965575"/>
            <a:ext cx="4695825" cy="267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3493" name="TextBox 4"/>
          <p:cNvSpPr txBox="1">
            <a:spLocks noChangeArrowheads="1"/>
          </p:cNvSpPr>
          <p:nvPr/>
        </p:nvSpPr>
        <p:spPr bwMode="auto">
          <a:xfrm>
            <a:off x="3657600" y="6272213"/>
            <a:ext cx="45720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US" altLang="en-US">
                <a:solidFill>
                  <a:srgbClr val="555555"/>
                </a:solidFill>
                <a:latin typeface="Droid Sans"/>
              </a:rPr>
              <a:t>Minimum Spanning Tree</a:t>
            </a:r>
            <a:endParaRPr lang="en-US" altLang="en-US"/>
          </a:p>
        </p:txBody>
      </p:sp>
    </p:spTree>
    <p:extLst>
      <p:ext uri="{BB962C8B-B14F-4D97-AF65-F5344CB8AC3E}">
        <p14:creationId xmlns:p14="http://schemas.microsoft.com/office/powerpoint/2010/main" val="2290519238"/>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itle 1"/>
          <p:cNvSpPr>
            <a:spLocks noGrp="1"/>
          </p:cNvSpPr>
          <p:nvPr>
            <p:ph type="title"/>
          </p:nvPr>
        </p:nvSpPr>
        <p:spPr/>
        <p:txBody>
          <a:bodyPr/>
          <a:lstStyle/>
          <a:p>
            <a:r>
              <a:rPr lang="en-US" altLang="en-US" smtClean="0"/>
              <a:t>Algorithms to find MST</a:t>
            </a:r>
          </a:p>
        </p:txBody>
      </p:sp>
      <p:sp>
        <p:nvSpPr>
          <p:cNvPr id="67587" name="Content Placeholder 2"/>
          <p:cNvSpPr>
            <a:spLocks noGrp="1"/>
          </p:cNvSpPr>
          <p:nvPr>
            <p:ph sz="quarter" idx="1"/>
          </p:nvPr>
        </p:nvSpPr>
        <p:spPr/>
        <p:txBody>
          <a:bodyPr/>
          <a:lstStyle/>
          <a:p>
            <a:pPr>
              <a:defRPr/>
            </a:pPr>
            <a:r>
              <a:rPr lang="en-US" altLang="en-US" dirty="0" err="1" smtClean="0"/>
              <a:t>Kruskal</a:t>
            </a:r>
            <a:r>
              <a:rPr lang="en-US" altLang="en-US" dirty="0" smtClean="0"/>
              <a:t> </a:t>
            </a:r>
          </a:p>
          <a:p>
            <a:pPr>
              <a:defRPr/>
            </a:pPr>
            <a:r>
              <a:rPr lang="en-US" altLang="en-US" dirty="0" smtClean="0"/>
              <a:t>Prims</a:t>
            </a:r>
          </a:p>
          <a:p>
            <a:pPr marL="0" indent="0">
              <a:buFont typeface="Arial" panose="020B0604020202020204" pitchFamily="34" charset="0"/>
              <a:buNone/>
              <a:defRPr/>
            </a:pPr>
            <a:endParaRPr lang="en-US" altLang="en-US" dirty="0" smtClean="0"/>
          </a:p>
          <a:p>
            <a:pPr>
              <a:defRPr/>
            </a:pPr>
            <a:r>
              <a:rPr lang="en-US" altLang="en-US" dirty="0" err="1" smtClean="0"/>
              <a:t>Kruskal</a:t>
            </a:r>
            <a:r>
              <a:rPr lang="en-US" altLang="en-US" dirty="0" smtClean="0"/>
              <a:t> Example</a:t>
            </a:r>
          </a:p>
          <a:p>
            <a:pPr>
              <a:defRPr/>
            </a:pPr>
            <a:r>
              <a:rPr lang="en-US" altLang="en-US" dirty="0" smtClean="0">
                <a:hlinkClick r:id="rId2"/>
              </a:rPr>
              <a:t>https://www.geeksforgeeks.org/kruskals-minimum-spanning-tree-algorithm-greedy-algo-2/</a:t>
            </a:r>
            <a:endParaRPr lang="en-US" altLang="en-US" dirty="0" smtClean="0"/>
          </a:p>
          <a:p>
            <a:pPr>
              <a:defRPr/>
            </a:pPr>
            <a:endParaRPr lang="en-US" altLang="en-US" dirty="0"/>
          </a:p>
          <a:p>
            <a:pPr>
              <a:defRPr/>
            </a:pPr>
            <a:r>
              <a:rPr lang="en-US" altLang="en-US" dirty="0" smtClean="0"/>
              <a:t>Prims Example</a:t>
            </a:r>
          </a:p>
          <a:p>
            <a:pPr>
              <a:defRPr/>
            </a:pPr>
            <a:r>
              <a:rPr lang="en-US" altLang="en-US" dirty="0" smtClean="0">
                <a:hlinkClick r:id="rId3"/>
              </a:rPr>
              <a:t>https://www.geeksforgeeks.org/prims-minimum-spanning-tree-mst-greedy-algo-5/</a:t>
            </a:r>
            <a:endParaRPr lang="en-US" altLang="en-US" dirty="0" smtClean="0"/>
          </a:p>
          <a:p>
            <a:pPr>
              <a:defRPr/>
            </a:pPr>
            <a:endParaRPr lang="en-US" altLang="en-US" dirty="0" smtClean="0"/>
          </a:p>
        </p:txBody>
      </p:sp>
    </p:spTree>
    <p:extLst>
      <p:ext uri="{BB962C8B-B14F-4D97-AF65-F5344CB8AC3E}">
        <p14:creationId xmlns:p14="http://schemas.microsoft.com/office/powerpoint/2010/main" val="1745654990"/>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sz="quarter" idx="1"/>
          </p:nvPr>
        </p:nvSpPr>
        <p:spPr/>
        <p:txBody>
          <a:bodyPr/>
          <a:lstStyle/>
          <a:p>
            <a:r>
              <a:rPr lang="en-US" dirty="0">
                <a:hlinkClick r:id="rId2"/>
              </a:rPr>
              <a:t>https://www.geeksforgeeks.org/prims-minimum-spanning-tree-mst-greedy-algo-5</a:t>
            </a:r>
            <a:r>
              <a:rPr lang="en-US" dirty="0" smtClean="0">
                <a:hlinkClick r:id="rId2"/>
              </a:rPr>
              <a:t>/</a:t>
            </a:r>
            <a:endParaRPr lang="en-US" dirty="0" smtClean="0"/>
          </a:p>
          <a:p>
            <a:endParaRPr lang="en-US" dirty="0"/>
          </a:p>
          <a:p>
            <a:endParaRPr lang="en-US" dirty="0"/>
          </a:p>
          <a:p>
            <a:endParaRPr lang="en-US"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52600" y="2895600"/>
            <a:ext cx="5321573" cy="3429000"/>
          </a:xfrm>
          <a:prstGeom prst="rect">
            <a:avLst/>
          </a:prstGeom>
        </p:spPr>
      </p:pic>
    </p:spTree>
    <p:extLst>
      <p:ext uri="{BB962C8B-B14F-4D97-AF65-F5344CB8AC3E}">
        <p14:creationId xmlns:p14="http://schemas.microsoft.com/office/powerpoint/2010/main" val="2118016530"/>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le 1"/>
          <p:cNvSpPr>
            <a:spLocks noGrp="1"/>
          </p:cNvSpPr>
          <p:nvPr>
            <p:ph type="title"/>
          </p:nvPr>
        </p:nvSpPr>
        <p:spPr/>
        <p:txBody>
          <a:bodyPr/>
          <a:lstStyle/>
          <a:p>
            <a:r>
              <a:rPr lang="en-US" altLang="en-US" smtClean="0"/>
              <a:t> Limitations of MST algorithms</a:t>
            </a:r>
          </a:p>
        </p:txBody>
      </p:sp>
      <p:sp>
        <p:nvSpPr>
          <p:cNvPr id="65539" name="Content Placeholder 2"/>
          <p:cNvSpPr>
            <a:spLocks noGrp="1"/>
          </p:cNvSpPr>
          <p:nvPr>
            <p:ph sz="quarter" idx="1"/>
          </p:nvPr>
        </p:nvSpPr>
        <p:spPr/>
        <p:txBody>
          <a:bodyPr/>
          <a:lstStyle/>
          <a:p>
            <a:r>
              <a:rPr lang="en-US" altLang="en-US" smtClean="0"/>
              <a:t>Kruskal’s algorithm and Prim’s algorithm are designed for undirected graphs only.</a:t>
            </a:r>
          </a:p>
          <a:p>
            <a:r>
              <a:rPr lang="en-US" altLang="en-US" smtClean="0"/>
              <a:t>Prim’s cannot create spanning tree for disconnected graphs.</a:t>
            </a:r>
          </a:p>
          <a:p>
            <a:r>
              <a:rPr lang="en-US" altLang="en-US" smtClean="0"/>
              <a:t>Kruskal's algorithm may have disconnected graphs.</a:t>
            </a:r>
          </a:p>
          <a:p>
            <a:endParaRPr lang="en-US" altLang="en-US" smtClean="0"/>
          </a:p>
        </p:txBody>
      </p:sp>
    </p:spTree>
    <p:extLst>
      <p:ext uri="{BB962C8B-B14F-4D97-AF65-F5344CB8AC3E}">
        <p14:creationId xmlns:p14="http://schemas.microsoft.com/office/powerpoint/2010/main" val="3855791925"/>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le 1"/>
          <p:cNvSpPr>
            <a:spLocks noGrp="1"/>
          </p:cNvSpPr>
          <p:nvPr>
            <p:ph type="title"/>
          </p:nvPr>
        </p:nvSpPr>
        <p:spPr/>
        <p:txBody>
          <a:bodyPr>
            <a:normAutofit fontScale="90000"/>
          </a:bodyPr>
          <a:lstStyle/>
          <a:p>
            <a:r>
              <a:rPr lang="en-US" altLang="en-US" smtClean="0"/>
              <a:t>Applications of Minimum Spanning Trees:</a:t>
            </a:r>
            <a:br>
              <a:rPr lang="en-US" altLang="en-US" smtClean="0"/>
            </a:br>
            <a:endParaRPr lang="en-US" altLang="en-US" smtClean="0"/>
          </a:p>
        </p:txBody>
      </p:sp>
      <p:sp>
        <p:nvSpPr>
          <p:cNvPr id="66563" name="Content Placeholder 2"/>
          <p:cNvSpPr>
            <a:spLocks noGrp="1"/>
          </p:cNvSpPr>
          <p:nvPr>
            <p:ph sz="quarter" idx="1"/>
          </p:nvPr>
        </p:nvSpPr>
        <p:spPr/>
        <p:txBody>
          <a:bodyPr>
            <a:normAutofit fontScale="85000" lnSpcReduction="20000"/>
          </a:bodyPr>
          <a:lstStyle/>
          <a:p>
            <a:r>
              <a:rPr lang="en-US" altLang="en-US" b="1" smtClean="0"/>
              <a:t>Network design</a:t>
            </a:r>
            <a:r>
              <a:rPr lang="en-US" altLang="en-US" smtClean="0"/>
              <a:t>: Spanning trees can be used in network design to find the minimum number of connections required to connect all nodes. Minimum spanning trees, in particular, can help minimize the cost of the connections by selecting the cheapest edges.</a:t>
            </a:r>
          </a:p>
          <a:p>
            <a:r>
              <a:rPr lang="en-US" altLang="en-US" b="1" smtClean="0"/>
              <a:t>Image processing</a:t>
            </a:r>
            <a:r>
              <a:rPr lang="en-US" altLang="en-US" smtClean="0"/>
              <a:t>: Spanning trees can be used in image processing to identify regions of similar intensity or color, which can be useful for segmentation and classification tasks.</a:t>
            </a:r>
          </a:p>
          <a:p>
            <a:r>
              <a:rPr lang="en-US" altLang="en-US" b="1" smtClean="0"/>
              <a:t>Biology</a:t>
            </a:r>
            <a:r>
              <a:rPr lang="en-US" altLang="en-US" smtClean="0"/>
              <a:t>: Spanning trees and minimum spanning trees can be used in biology to construct phylogenetic trees to represent evolutionary relationships among species or genes.</a:t>
            </a:r>
          </a:p>
          <a:p>
            <a:r>
              <a:rPr lang="en-US" altLang="en-US" b="1" smtClean="0"/>
              <a:t>Social network analysis</a:t>
            </a:r>
            <a:r>
              <a:rPr lang="en-US" altLang="en-US" smtClean="0"/>
              <a:t>: Spanning trees and minimum spanning trees can be used in social network analysis to identify important connections and relationships among individuals or groups.</a:t>
            </a:r>
          </a:p>
          <a:p>
            <a:endParaRPr lang="en-US" altLang="en-US" smtClean="0"/>
          </a:p>
        </p:txBody>
      </p:sp>
    </p:spTree>
    <p:extLst>
      <p:ext uri="{BB962C8B-B14F-4D97-AF65-F5344CB8AC3E}">
        <p14:creationId xmlns:p14="http://schemas.microsoft.com/office/powerpoint/2010/main" val="890433421"/>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Single Source Shortest Path</a:t>
            </a:r>
            <a:endParaRPr lang="en-US" dirty="0"/>
          </a:p>
        </p:txBody>
      </p:sp>
      <p:sp>
        <p:nvSpPr>
          <p:cNvPr id="3" name="Content Placeholder 2"/>
          <p:cNvSpPr>
            <a:spLocks noGrp="1"/>
          </p:cNvSpPr>
          <p:nvPr>
            <p:ph sz="quarter" idx="1"/>
          </p:nvPr>
        </p:nvSpPr>
        <p:spPr/>
        <p:txBody>
          <a:bodyPr/>
          <a:lstStyle/>
          <a:p>
            <a:pPr marL="0" indent="0">
              <a:buNone/>
            </a:pPr>
            <a:endParaRPr lang="en-US" dirty="0" smtClean="0"/>
          </a:p>
          <a:p>
            <a:r>
              <a:rPr lang="en-US" dirty="0"/>
              <a:t>Given a graph and a source vertex in the graph, find the shortest paths from the source to all vertices in the given graph</a:t>
            </a:r>
            <a:r>
              <a:rPr lang="en-US" dirty="0" smtClean="0"/>
              <a:t>.</a:t>
            </a:r>
          </a:p>
          <a:p>
            <a:r>
              <a:rPr lang="en-US" dirty="0" smtClean="0"/>
              <a:t>Two algorithms:</a:t>
            </a:r>
          </a:p>
          <a:p>
            <a:r>
              <a:rPr lang="en-US" dirty="0" smtClean="0"/>
              <a:t>1) </a:t>
            </a:r>
            <a:r>
              <a:rPr lang="en-US" dirty="0" err="1" smtClean="0"/>
              <a:t>Dijkstra</a:t>
            </a:r>
            <a:endParaRPr lang="en-US" dirty="0" smtClean="0"/>
          </a:p>
          <a:p>
            <a:r>
              <a:rPr lang="en-US" dirty="0" smtClean="0"/>
              <a:t>2) Bellman Ford</a:t>
            </a:r>
          </a:p>
          <a:p>
            <a:endParaRPr lang="en-US" dirty="0"/>
          </a:p>
        </p:txBody>
      </p:sp>
    </p:spTree>
    <p:extLst>
      <p:ext uri="{BB962C8B-B14F-4D97-AF65-F5344CB8AC3E}">
        <p14:creationId xmlns:p14="http://schemas.microsoft.com/office/powerpoint/2010/main" val="2885082641"/>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Dijkstra’s</a:t>
            </a:r>
            <a:r>
              <a:rPr lang="en-US" dirty="0" smtClean="0"/>
              <a:t> Algorithm</a:t>
            </a:r>
            <a:endParaRPr lang="en-US" dirty="0"/>
          </a:p>
        </p:txBody>
      </p:sp>
      <p:sp>
        <p:nvSpPr>
          <p:cNvPr id="3" name="Content Placeholder 2"/>
          <p:cNvSpPr>
            <a:spLocks noGrp="1"/>
          </p:cNvSpPr>
          <p:nvPr>
            <p:ph sz="quarter" idx="1"/>
          </p:nvPr>
        </p:nvSpPr>
        <p:spPr/>
        <p:txBody>
          <a:bodyPr/>
          <a:lstStyle/>
          <a:p>
            <a:r>
              <a:rPr lang="en-US" dirty="0">
                <a:hlinkClick r:id="rId2"/>
              </a:rPr>
              <a:t>https://www.geeksforgeeks.org/dijkstras-shortest-path-algorithm-greedy-algo-7/</a:t>
            </a:r>
            <a:endParaRPr lang="en-US" dirty="0"/>
          </a:p>
          <a:p>
            <a:r>
              <a:rPr lang="en-US" dirty="0">
                <a:hlinkClick r:id="rId3"/>
              </a:rPr>
              <a:t>https://www.freecodecamp.org/news/dijkstras-shortest-path-algorithm-visual-introduction</a:t>
            </a:r>
            <a:r>
              <a:rPr lang="en-US" dirty="0" smtClean="0">
                <a:hlinkClick r:id="rId3"/>
              </a:rPr>
              <a:t>/</a:t>
            </a:r>
            <a:endParaRPr lang="en-US" dirty="0" smtClean="0"/>
          </a:p>
          <a:p>
            <a:endParaRPr lang="en-US" dirty="0"/>
          </a:p>
          <a:p>
            <a:endParaRPr lang="en-US" dirty="0" smtClean="0"/>
          </a:p>
          <a:p>
            <a:r>
              <a:rPr lang="en-US" dirty="0" err="1" smtClean="0"/>
              <a:t>Updation</a:t>
            </a:r>
            <a:r>
              <a:rPr lang="en-US" dirty="0" smtClean="0"/>
              <a:t> of the weight of nodes is called relaxation of the nodes.</a:t>
            </a:r>
          </a:p>
          <a:p>
            <a:endParaRPr lang="en-US" dirty="0"/>
          </a:p>
          <a:p>
            <a:r>
              <a:rPr lang="en-US" dirty="0"/>
              <a:t>Can work on both directed and undirected </a:t>
            </a:r>
            <a:r>
              <a:rPr lang="en-US" dirty="0" smtClean="0"/>
              <a:t>graph.</a:t>
            </a:r>
            <a:endParaRPr lang="en-US" dirty="0"/>
          </a:p>
          <a:p>
            <a:endParaRPr lang="en-US" dirty="0"/>
          </a:p>
          <a:p>
            <a:endParaRPr lang="en-US" dirty="0"/>
          </a:p>
        </p:txBody>
      </p:sp>
    </p:spTree>
    <p:extLst>
      <p:ext uri="{BB962C8B-B14F-4D97-AF65-F5344CB8AC3E}">
        <p14:creationId xmlns:p14="http://schemas.microsoft.com/office/powerpoint/2010/main" val="2022371675"/>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Relaxation of nodes</a:t>
            </a:r>
            <a:endParaRPr lang="en-US" dirty="0"/>
          </a:p>
        </p:txBody>
      </p:sp>
      <p:pic>
        <p:nvPicPr>
          <p:cNvPr id="4" name="Content Placeholder 3"/>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1295400" y="1676400"/>
            <a:ext cx="6934200" cy="4419600"/>
          </a:xfrm>
        </p:spPr>
      </p:pic>
    </p:spTree>
    <p:extLst>
      <p:ext uri="{BB962C8B-B14F-4D97-AF65-F5344CB8AC3E}">
        <p14:creationId xmlns:p14="http://schemas.microsoft.com/office/powerpoint/2010/main" val="2210341675"/>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sz="quarter" idx="1"/>
          </p:nvPr>
        </p:nvPicPr>
        <p:blipFill>
          <a:blip r:embed="rId2" cstate="print">
            <a:extLst>
              <a:ext uri="{28A0092B-C50C-407E-A947-70E740481C1C}">
                <a14:useLocalDpi xmlns:a14="http://schemas.microsoft.com/office/drawing/2010/main" val="0"/>
              </a:ext>
            </a:extLst>
          </a:blip>
          <a:stretch>
            <a:fillRect/>
          </a:stretch>
        </p:blipFill>
        <p:spPr>
          <a:xfrm>
            <a:off x="1143000" y="1527175"/>
            <a:ext cx="7086599" cy="4572000"/>
          </a:xfrm>
        </p:spPr>
      </p:pic>
    </p:spTree>
    <p:extLst>
      <p:ext uri="{BB962C8B-B14F-4D97-AF65-F5344CB8AC3E}">
        <p14:creationId xmlns:p14="http://schemas.microsoft.com/office/powerpoint/2010/main" val="1580767020"/>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sz="quarter" idx="1"/>
          </p:nvPr>
        </p:nvPicPr>
        <p:blipFill>
          <a:blip r:embed="rId2" cstate="print">
            <a:extLst>
              <a:ext uri="{28A0092B-C50C-407E-A947-70E740481C1C}">
                <a14:useLocalDpi xmlns:a14="http://schemas.microsoft.com/office/drawing/2010/main" val="0"/>
              </a:ext>
            </a:extLst>
          </a:blip>
          <a:stretch>
            <a:fillRect/>
          </a:stretch>
        </p:blipFill>
        <p:spPr>
          <a:xfrm>
            <a:off x="990600" y="1527175"/>
            <a:ext cx="7696199" cy="4572000"/>
          </a:xfrm>
        </p:spPr>
      </p:pic>
    </p:spTree>
    <p:extLst>
      <p:ext uri="{BB962C8B-B14F-4D97-AF65-F5344CB8AC3E}">
        <p14:creationId xmlns:p14="http://schemas.microsoft.com/office/powerpoint/2010/main" val="2829573292"/>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sz="quarter" idx="1"/>
          </p:nvPr>
        </p:nvPicPr>
        <p:blipFill>
          <a:blip r:embed="rId2" cstate="print">
            <a:extLst>
              <a:ext uri="{28A0092B-C50C-407E-A947-70E740481C1C}">
                <a14:useLocalDpi xmlns:a14="http://schemas.microsoft.com/office/drawing/2010/main" val="0"/>
              </a:ext>
            </a:extLst>
          </a:blip>
          <a:stretch>
            <a:fillRect/>
          </a:stretch>
        </p:blipFill>
        <p:spPr>
          <a:xfrm>
            <a:off x="457200" y="1527175"/>
            <a:ext cx="8229600" cy="4572000"/>
          </a:xfrm>
        </p:spPr>
      </p:pic>
    </p:spTree>
    <p:extLst>
      <p:ext uri="{BB962C8B-B14F-4D97-AF65-F5344CB8AC3E}">
        <p14:creationId xmlns:p14="http://schemas.microsoft.com/office/powerpoint/2010/main" val="3367512573"/>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Algorithm</a:t>
            </a:r>
            <a:endParaRPr lang="en-US" dirty="0"/>
          </a:p>
        </p:txBody>
      </p:sp>
      <p:sp>
        <p:nvSpPr>
          <p:cNvPr id="3" name="Content Placeholder 2"/>
          <p:cNvSpPr>
            <a:spLocks noGrp="1"/>
          </p:cNvSpPr>
          <p:nvPr>
            <p:ph sz="quarter" idx="1"/>
          </p:nvPr>
        </p:nvSpPr>
        <p:spPr/>
        <p:txBody>
          <a:bodyPr>
            <a:normAutofit fontScale="85000" lnSpcReduction="10000"/>
          </a:bodyPr>
          <a:lstStyle/>
          <a:p>
            <a:pPr fontAlgn="base"/>
            <a:r>
              <a:rPr lang="en-US" dirty="0" smtClean="0"/>
              <a:t>Create </a:t>
            </a:r>
            <a:r>
              <a:rPr lang="en-US" dirty="0"/>
              <a:t>a set </a:t>
            </a:r>
            <a:r>
              <a:rPr lang="en-US" b="1" dirty="0" err="1"/>
              <a:t>sptSet</a:t>
            </a:r>
            <a:r>
              <a:rPr lang="en-US" dirty="0"/>
              <a:t> (shortest path tree set) that keeps track of vertices included in the shortest path tree, i.e., whose minimum distance from the source is calculated and finalized. Initially, this set is empty. </a:t>
            </a:r>
          </a:p>
          <a:p>
            <a:pPr fontAlgn="base"/>
            <a:r>
              <a:rPr lang="en-US" dirty="0"/>
              <a:t>Assign a distance value to all vertices in the input graph. Initialize all distance values as </a:t>
            </a:r>
            <a:r>
              <a:rPr lang="en-US" b="1" dirty="0"/>
              <a:t>INFINITE</a:t>
            </a:r>
            <a:r>
              <a:rPr lang="en-US" dirty="0"/>
              <a:t>. Assign the distance value as 0 for the source vertex so that it is picked first. </a:t>
            </a:r>
          </a:p>
          <a:p>
            <a:pPr fontAlgn="base"/>
            <a:r>
              <a:rPr lang="en-US" dirty="0"/>
              <a:t>While </a:t>
            </a:r>
            <a:r>
              <a:rPr lang="en-US" b="1" dirty="0" err="1"/>
              <a:t>sptSet</a:t>
            </a:r>
            <a:r>
              <a:rPr lang="en-US" dirty="0"/>
              <a:t> doesn’t include all vertices </a:t>
            </a:r>
          </a:p>
          <a:p>
            <a:pPr lvl="1" fontAlgn="base"/>
            <a:r>
              <a:rPr lang="en-US" dirty="0">
                <a:solidFill>
                  <a:schemeClr val="tx1"/>
                </a:solidFill>
              </a:rPr>
              <a:t>Pick a vertex </a:t>
            </a:r>
            <a:r>
              <a:rPr lang="en-US" b="1" dirty="0">
                <a:solidFill>
                  <a:schemeClr val="tx1"/>
                </a:solidFill>
              </a:rPr>
              <a:t>u</a:t>
            </a:r>
            <a:r>
              <a:rPr lang="en-US" dirty="0">
                <a:solidFill>
                  <a:schemeClr val="tx1"/>
                </a:solidFill>
              </a:rPr>
              <a:t> that is not there in </a:t>
            </a:r>
            <a:r>
              <a:rPr lang="en-US" b="1" dirty="0" err="1">
                <a:solidFill>
                  <a:schemeClr val="tx1"/>
                </a:solidFill>
              </a:rPr>
              <a:t>sptSet</a:t>
            </a:r>
            <a:r>
              <a:rPr lang="en-US" b="1" dirty="0">
                <a:solidFill>
                  <a:schemeClr val="tx1"/>
                </a:solidFill>
              </a:rPr>
              <a:t> </a:t>
            </a:r>
            <a:r>
              <a:rPr lang="en-US" dirty="0">
                <a:solidFill>
                  <a:schemeClr val="tx1"/>
                </a:solidFill>
              </a:rPr>
              <a:t>and has a minimum distance value. </a:t>
            </a:r>
          </a:p>
          <a:p>
            <a:pPr lvl="1" fontAlgn="base"/>
            <a:r>
              <a:rPr lang="en-US" dirty="0">
                <a:solidFill>
                  <a:schemeClr val="tx1"/>
                </a:solidFill>
              </a:rPr>
              <a:t>Include u to </a:t>
            </a:r>
            <a:r>
              <a:rPr lang="en-US" b="1" dirty="0" err="1">
                <a:solidFill>
                  <a:schemeClr val="tx1"/>
                </a:solidFill>
              </a:rPr>
              <a:t>sptSet</a:t>
            </a:r>
            <a:r>
              <a:rPr lang="en-US" dirty="0">
                <a:solidFill>
                  <a:schemeClr val="tx1"/>
                </a:solidFill>
              </a:rPr>
              <a:t>. </a:t>
            </a:r>
          </a:p>
          <a:p>
            <a:pPr lvl="1" fontAlgn="base"/>
            <a:r>
              <a:rPr lang="en-US" dirty="0">
                <a:solidFill>
                  <a:schemeClr val="tx1"/>
                </a:solidFill>
              </a:rPr>
              <a:t>Then update the distance value of all adjacent vertices of u. </a:t>
            </a:r>
          </a:p>
          <a:p>
            <a:pPr lvl="2" fontAlgn="base"/>
            <a:r>
              <a:rPr lang="en-US" dirty="0"/>
              <a:t>To update the distance values, iterate through all adjacent vertices. </a:t>
            </a:r>
          </a:p>
          <a:p>
            <a:pPr lvl="2" fontAlgn="base"/>
            <a:r>
              <a:rPr lang="en-US" dirty="0"/>
              <a:t>For every adjacent vertex v, if the sum of the distance value of u (from source) and weight of edge u-v, is less than the distance value of v, then update the distance value of v. </a:t>
            </a:r>
          </a:p>
          <a:p>
            <a:endParaRPr lang="en-US" dirty="0"/>
          </a:p>
        </p:txBody>
      </p:sp>
    </p:spTree>
    <p:extLst>
      <p:ext uri="{BB962C8B-B14F-4D97-AF65-F5344CB8AC3E}">
        <p14:creationId xmlns:p14="http://schemas.microsoft.com/office/powerpoint/2010/main" val="4200003529"/>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Time &amp; Space Complexity</a:t>
            </a:r>
            <a:endParaRPr lang="en-US" dirty="0"/>
          </a:p>
        </p:txBody>
      </p:sp>
      <p:sp>
        <p:nvSpPr>
          <p:cNvPr id="3" name="Content Placeholder 2"/>
          <p:cNvSpPr>
            <a:spLocks noGrp="1"/>
          </p:cNvSpPr>
          <p:nvPr>
            <p:ph sz="quarter" idx="1"/>
          </p:nvPr>
        </p:nvSpPr>
        <p:spPr/>
        <p:txBody>
          <a:bodyPr/>
          <a:lstStyle/>
          <a:p>
            <a:pPr marL="0" indent="0">
              <a:buNone/>
            </a:pPr>
            <a:endParaRPr lang="en-US" dirty="0" smtClean="0"/>
          </a:p>
          <a:p>
            <a:endParaRPr lang="en-US" dirty="0"/>
          </a:p>
        </p:txBody>
      </p:sp>
      <p:sp>
        <p:nvSpPr>
          <p:cNvPr id="4" name="Rectangle 3"/>
          <p:cNvSpPr/>
          <p:nvPr/>
        </p:nvSpPr>
        <p:spPr>
          <a:xfrm>
            <a:off x="685800" y="1676400"/>
            <a:ext cx="4572000" cy="646331"/>
          </a:xfrm>
          <a:prstGeom prst="rect">
            <a:avLst/>
          </a:prstGeom>
        </p:spPr>
        <p:txBody>
          <a:bodyPr>
            <a:spAutoFit/>
          </a:bodyPr>
          <a:lstStyle/>
          <a:p>
            <a:r>
              <a:rPr lang="en-US" b="1" dirty="0">
                <a:solidFill>
                  <a:srgbClr val="273239"/>
                </a:solidFill>
                <a:latin typeface="Nunito"/>
              </a:rPr>
              <a:t>Time Complexity: </a:t>
            </a:r>
            <a:r>
              <a:rPr lang="en-US" dirty="0">
                <a:solidFill>
                  <a:srgbClr val="273239"/>
                </a:solidFill>
                <a:latin typeface="Nunito"/>
              </a:rPr>
              <a:t>O(V</a:t>
            </a:r>
            <a:r>
              <a:rPr lang="en-US" baseline="30000" dirty="0">
                <a:solidFill>
                  <a:srgbClr val="273239"/>
                </a:solidFill>
                <a:latin typeface="Nunito"/>
              </a:rPr>
              <a:t>2</a:t>
            </a:r>
            <a:r>
              <a:rPr lang="en-US" dirty="0">
                <a:solidFill>
                  <a:srgbClr val="273239"/>
                </a:solidFill>
                <a:latin typeface="Nunito"/>
              </a:rPr>
              <a:t>)</a:t>
            </a:r>
            <a:r>
              <a:rPr lang="en-US" dirty="0"/>
              <a:t/>
            </a:r>
            <a:br>
              <a:rPr lang="en-US" dirty="0"/>
            </a:br>
            <a:r>
              <a:rPr lang="en-US" b="1" dirty="0">
                <a:solidFill>
                  <a:srgbClr val="273239"/>
                </a:solidFill>
                <a:latin typeface="Nunito"/>
              </a:rPr>
              <a:t>Auxiliary Space: </a:t>
            </a:r>
            <a:r>
              <a:rPr lang="en-US" dirty="0">
                <a:solidFill>
                  <a:srgbClr val="273239"/>
                </a:solidFill>
                <a:latin typeface="Nunito"/>
              </a:rPr>
              <a:t>O(V)</a:t>
            </a:r>
            <a:endParaRPr lang="en-US" dirty="0"/>
          </a:p>
        </p:txBody>
      </p:sp>
      <p:sp>
        <p:nvSpPr>
          <p:cNvPr id="5" name="Rectangle 4"/>
          <p:cNvSpPr/>
          <p:nvPr/>
        </p:nvSpPr>
        <p:spPr>
          <a:xfrm>
            <a:off x="685800" y="2828836"/>
            <a:ext cx="7543800" cy="923330"/>
          </a:xfrm>
          <a:prstGeom prst="rect">
            <a:avLst/>
          </a:prstGeom>
        </p:spPr>
        <p:txBody>
          <a:bodyPr wrap="square">
            <a:spAutoFit/>
          </a:bodyPr>
          <a:lstStyle/>
          <a:p>
            <a:r>
              <a:rPr lang="en-US" dirty="0">
                <a:solidFill>
                  <a:srgbClr val="273239"/>
                </a:solidFill>
                <a:latin typeface="Nunito"/>
              </a:rPr>
              <a:t>The time Complexity of the implementation is </a:t>
            </a:r>
            <a:r>
              <a:rPr lang="en-US" b="1" dirty="0">
                <a:solidFill>
                  <a:srgbClr val="273239"/>
                </a:solidFill>
                <a:latin typeface="Nunito"/>
              </a:rPr>
              <a:t>O(V</a:t>
            </a:r>
            <a:r>
              <a:rPr lang="en-US" b="1" baseline="30000" dirty="0">
                <a:solidFill>
                  <a:srgbClr val="273239"/>
                </a:solidFill>
                <a:latin typeface="Nunito"/>
              </a:rPr>
              <a:t>2</a:t>
            </a:r>
            <a:r>
              <a:rPr lang="en-US" b="1" dirty="0">
                <a:solidFill>
                  <a:srgbClr val="273239"/>
                </a:solidFill>
                <a:latin typeface="Nunito"/>
              </a:rPr>
              <a:t>)</a:t>
            </a:r>
            <a:r>
              <a:rPr lang="en-US" dirty="0">
                <a:solidFill>
                  <a:srgbClr val="273239"/>
                </a:solidFill>
                <a:latin typeface="Nunito"/>
              </a:rPr>
              <a:t>. If the input </a:t>
            </a:r>
            <a:r>
              <a:rPr lang="en-US" u="sng" dirty="0">
                <a:latin typeface="Nunito"/>
                <a:hlinkClick r:id="rId2"/>
              </a:rPr>
              <a:t>graph is represented using adjacency list</a:t>
            </a:r>
            <a:r>
              <a:rPr lang="en-US" dirty="0">
                <a:solidFill>
                  <a:srgbClr val="273239"/>
                </a:solidFill>
                <a:latin typeface="Nunito"/>
              </a:rPr>
              <a:t>, it can be reduced to O(E * log V) with the help of a binary heap.</a:t>
            </a:r>
            <a:endParaRPr lang="en-US" dirty="0"/>
          </a:p>
        </p:txBody>
      </p:sp>
    </p:spTree>
    <p:extLst>
      <p:ext uri="{BB962C8B-B14F-4D97-AF65-F5344CB8AC3E}">
        <p14:creationId xmlns:p14="http://schemas.microsoft.com/office/powerpoint/2010/main" val="162316020"/>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Drawbacks</a:t>
            </a:r>
            <a:endParaRPr lang="en-US" dirty="0"/>
          </a:p>
        </p:txBody>
      </p:sp>
      <p:sp>
        <p:nvSpPr>
          <p:cNvPr id="3" name="Content Placeholder 2"/>
          <p:cNvSpPr>
            <a:spLocks noGrp="1"/>
          </p:cNvSpPr>
          <p:nvPr>
            <p:ph sz="quarter" idx="1"/>
          </p:nvPr>
        </p:nvSpPr>
        <p:spPr/>
        <p:txBody>
          <a:bodyPr/>
          <a:lstStyle/>
          <a:p>
            <a:pPr algn="just" fontAlgn="base"/>
            <a:r>
              <a:rPr lang="en-US" sz="1800" dirty="0" err="1"/>
              <a:t>Dijkstra's</a:t>
            </a:r>
            <a:r>
              <a:rPr lang="en-US" sz="1800" dirty="0"/>
              <a:t> Algorithm can only work with graphs that have </a:t>
            </a:r>
            <a:r>
              <a:rPr lang="en-US" sz="1800" b="1" dirty="0"/>
              <a:t>positive</a:t>
            </a:r>
            <a:r>
              <a:rPr lang="en-US" sz="1800" dirty="0"/>
              <a:t> weights. This is because, during the process, the weights of the edges have to be added to find the shortest path.</a:t>
            </a:r>
          </a:p>
          <a:p>
            <a:pPr algn="just" fontAlgn="base"/>
            <a:r>
              <a:rPr lang="en-US" sz="1800" dirty="0"/>
              <a:t>If there is a negative weight in the graph, then the algorithm </a:t>
            </a:r>
            <a:r>
              <a:rPr lang="en-US" sz="1800" dirty="0" smtClean="0"/>
              <a:t>may </a:t>
            </a:r>
            <a:r>
              <a:rPr lang="en-US" sz="1800" dirty="0"/>
              <a:t>not work properly. Once a node has been marked as "visited", the current path to that node is marked as the shortest path to reach that node. And negative weights can alter this if the total weight can be decremented after this step has occurred.</a:t>
            </a: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1600" y="4267200"/>
            <a:ext cx="2590800" cy="1831848"/>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24400" y="4171941"/>
            <a:ext cx="2286000" cy="1927107"/>
          </a:xfrm>
          <a:prstGeom prst="rect">
            <a:avLst/>
          </a:prstGeom>
        </p:spPr>
      </p:pic>
    </p:spTree>
    <p:extLst>
      <p:ext uri="{BB962C8B-B14F-4D97-AF65-F5344CB8AC3E}">
        <p14:creationId xmlns:p14="http://schemas.microsoft.com/office/powerpoint/2010/main" val="3769684856"/>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Practice Question</a:t>
            </a:r>
            <a:endParaRPr lang="en-US" dirty="0"/>
          </a:p>
        </p:txBody>
      </p:sp>
      <p:sp>
        <p:nvSpPr>
          <p:cNvPr id="3" name="Content Placeholder 2"/>
          <p:cNvSpPr>
            <a:spLocks noGrp="1"/>
          </p:cNvSpPr>
          <p:nvPr>
            <p:ph sz="quarter" idx="1"/>
          </p:nvPr>
        </p:nvSpPr>
        <p:spPr/>
        <p:txBody>
          <a:bodyPr/>
          <a:lstStyle/>
          <a:p>
            <a:r>
              <a:rPr lang="en-US" dirty="0">
                <a:hlinkClick r:id="rId3"/>
              </a:rPr>
              <a:t>https://www.geeksforgeeks.org/gate-gate-cs-2012-question-40</a:t>
            </a:r>
            <a:r>
              <a:rPr lang="en-US" dirty="0" smtClean="0">
                <a:hlinkClick r:id="rId3"/>
              </a:rPr>
              <a:t>/</a:t>
            </a:r>
            <a:endParaRPr lang="en-US" dirty="0" smtClean="0"/>
          </a:p>
          <a:p>
            <a:endParaRPr lang="en-US" dirty="0"/>
          </a:p>
        </p:txBody>
      </p:sp>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 y="2514600"/>
            <a:ext cx="6172517" cy="3403720"/>
          </a:xfrm>
          <a:prstGeom prst="rect">
            <a:avLst/>
          </a:prstGeom>
        </p:spPr>
      </p:pic>
      <p:pic>
        <p:nvPicPr>
          <p:cNvPr id="5" name="Picture 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098606" y="2819400"/>
            <a:ext cx="1397072" cy="1676400"/>
          </a:xfrm>
          <a:prstGeom prst="rect">
            <a:avLst/>
          </a:prstGeom>
        </p:spPr>
      </p:pic>
    </p:spTree>
    <p:extLst>
      <p:ext uri="{BB962C8B-B14F-4D97-AF65-F5344CB8AC3E}">
        <p14:creationId xmlns:p14="http://schemas.microsoft.com/office/powerpoint/2010/main" val="3742222699"/>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Bellman Ford</a:t>
            </a:r>
            <a:endParaRPr lang="en-US" dirty="0"/>
          </a:p>
        </p:txBody>
      </p:sp>
      <p:sp>
        <p:nvSpPr>
          <p:cNvPr id="3" name="Content Placeholder 2"/>
          <p:cNvSpPr>
            <a:spLocks noGrp="1"/>
          </p:cNvSpPr>
          <p:nvPr>
            <p:ph sz="quarter" idx="1"/>
          </p:nvPr>
        </p:nvSpPr>
        <p:spPr/>
        <p:txBody>
          <a:bodyPr>
            <a:normAutofit fontScale="77500" lnSpcReduction="20000"/>
          </a:bodyPr>
          <a:lstStyle/>
          <a:p>
            <a:pPr algn="just"/>
            <a:r>
              <a:rPr lang="en-US" dirty="0"/>
              <a:t>The Bellman-Ford algorithm is an example of Dynamic Programming</a:t>
            </a:r>
            <a:r>
              <a:rPr lang="en-US" dirty="0" smtClean="0"/>
              <a:t>.</a:t>
            </a:r>
          </a:p>
          <a:p>
            <a:pPr algn="just"/>
            <a:r>
              <a:rPr lang="en-US" dirty="0" smtClean="0"/>
              <a:t>Idea is to relax all the edges whether directly connected or not.</a:t>
            </a:r>
          </a:p>
          <a:p>
            <a:pPr algn="just"/>
            <a:r>
              <a:rPr lang="en-US" dirty="0" smtClean="0"/>
              <a:t>All the nodes of the graph should be relaxed V-1 times to get the shortest path.</a:t>
            </a:r>
          </a:p>
          <a:p>
            <a:pPr algn="just"/>
            <a:r>
              <a:rPr lang="en-US" dirty="0" smtClean="0"/>
              <a:t>Some graphs may get shortest path in 1 time relaxation, or 2 times, or 3 times…..V-1, therefore, at most V-1 times relaxation is required to get the shortest path.</a:t>
            </a:r>
          </a:p>
          <a:p>
            <a:pPr algn="just"/>
            <a:r>
              <a:rPr lang="en-US" dirty="0" smtClean="0"/>
              <a:t>Helps to identify negative weight cycle in the graph</a:t>
            </a:r>
          </a:p>
          <a:p>
            <a:pPr algn="just"/>
            <a:r>
              <a:rPr lang="en-US" dirty="0" smtClean="0"/>
              <a:t>Bellman-Ford </a:t>
            </a:r>
            <a:r>
              <a:rPr lang="en-US" dirty="0"/>
              <a:t>shortest path algorithm is a single source shortest path algorithm. So it can only find cycles which are reachable from a given source, not any negative weight cycle. Consider a disconnected where a negative weight cycle is not reachable from the source at all.</a:t>
            </a:r>
          </a:p>
          <a:p>
            <a:pPr algn="just"/>
            <a:endParaRPr lang="en-US" dirty="0"/>
          </a:p>
          <a:p>
            <a:pPr algn="just"/>
            <a:r>
              <a:rPr lang="en-US" dirty="0"/>
              <a:t>If there is a negative weight cycle, then it will appear in shortest path as the negative weight cycle will always form a shorter path when iterated through the cycle again and again.</a:t>
            </a:r>
          </a:p>
          <a:p>
            <a:endParaRPr lang="en-US" dirty="0" smtClean="0"/>
          </a:p>
          <a:p>
            <a:endParaRPr lang="en-US" dirty="0"/>
          </a:p>
        </p:txBody>
      </p:sp>
    </p:spTree>
    <p:extLst>
      <p:ext uri="{BB962C8B-B14F-4D97-AF65-F5344CB8AC3E}">
        <p14:creationId xmlns:p14="http://schemas.microsoft.com/office/powerpoint/2010/main" val="3033633172"/>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normAutofit fontScale="85000" lnSpcReduction="20000"/>
          </a:bodyPr>
          <a:lstStyle/>
          <a:p>
            <a:pPr algn="just"/>
            <a:r>
              <a:rPr lang="en-US" dirty="0"/>
              <a:t>Although Bellman-Ford is slower than </a:t>
            </a:r>
            <a:r>
              <a:rPr lang="en-US" dirty="0" err="1"/>
              <a:t>Dijkstra’s</a:t>
            </a:r>
            <a:r>
              <a:rPr lang="en-US" dirty="0"/>
              <a:t> algorithm, it is capable of handling graphs with </a:t>
            </a:r>
            <a:r>
              <a:rPr lang="en-US" b="1" dirty="0"/>
              <a:t>negative edge weights</a:t>
            </a:r>
            <a:r>
              <a:rPr lang="en-US" dirty="0"/>
              <a:t>, which makes it more versatile. The shortest path cannot be found if there exists a negative cycle in the graph. If we continue to go around the negative cycle an infinite number of times, then the cost of the path will continue to decrease (even though the length of the path is increasing). As a result, Bellman-Ford is also capable of detecting negative cycles, which is an important feature</a:t>
            </a:r>
            <a:r>
              <a:rPr lang="en-US" dirty="0" smtClean="0"/>
              <a:t>.</a:t>
            </a:r>
          </a:p>
          <a:p>
            <a:pPr fontAlgn="base"/>
            <a:r>
              <a:rPr lang="en-US" b="1" dirty="0"/>
              <a:t>The idea behind Bellman Ford Algorithm:</a:t>
            </a:r>
          </a:p>
          <a:p>
            <a:pPr fontAlgn="base"/>
            <a:r>
              <a:rPr lang="en-US" dirty="0"/>
              <a:t>The Bellman-Ford algorithm’s primary principle is that it starts with a single source and calculates the distance to each node. The distance is initially unknown and assumed to be infinite, but as time goes on, the algorithm relaxes those paths by identifying a few shorter paths. Hence it is said that Bellman-Ford is based on “</a:t>
            </a:r>
            <a:r>
              <a:rPr lang="en-US" b="1" dirty="0"/>
              <a:t>Principle of Relaxation</a:t>
            </a:r>
            <a:r>
              <a:rPr lang="en-US" dirty="0"/>
              <a:t>“.</a:t>
            </a:r>
          </a:p>
          <a:p>
            <a:pPr algn="just"/>
            <a:endParaRPr lang="en-US" dirty="0"/>
          </a:p>
        </p:txBody>
      </p:sp>
    </p:spTree>
    <p:extLst>
      <p:ext uri="{BB962C8B-B14F-4D97-AF65-F5344CB8AC3E}">
        <p14:creationId xmlns:p14="http://schemas.microsoft.com/office/powerpoint/2010/main" val="1179787172"/>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sz="quarter" idx="1"/>
          </p:nvPr>
        </p:nvPicPr>
        <p:blipFill>
          <a:blip r:embed="rId3">
            <a:extLst>
              <a:ext uri="{28A0092B-C50C-407E-A947-70E740481C1C}">
                <a14:useLocalDpi xmlns:a14="http://schemas.microsoft.com/office/drawing/2010/main" val="0"/>
              </a:ext>
            </a:extLst>
          </a:blip>
          <a:stretch>
            <a:fillRect/>
          </a:stretch>
        </p:blipFill>
        <p:spPr>
          <a:xfrm>
            <a:off x="1676400" y="2209800"/>
            <a:ext cx="3403600" cy="2417762"/>
          </a:xfrm>
        </p:spPr>
      </p:pic>
    </p:spTree>
    <p:extLst>
      <p:ext uri="{BB962C8B-B14F-4D97-AF65-F5344CB8AC3E}">
        <p14:creationId xmlns:p14="http://schemas.microsoft.com/office/powerpoint/2010/main" val="111310141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pic>
        <p:nvPicPr>
          <p:cNvPr id="4" name="Content Placeholder 3"/>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609600" y="2034618"/>
            <a:ext cx="3733800" cy="3680382"/>
          </a:xfr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24400" y="2034618"/>
            <a:ext cx="3886200" cy="3680382"/>
          </a:xfrm>
          <a:prstGeom prst="rect">
            <a:avLst/>
          </a:prstGeom>
        </p:spPr>
      </p:pic>
    </p:spTree>
    <p:extLst>
      <p:ext uri="{BB962C8B-B14F-4D97-AF65-F5344CB8AC3E}">
        <p14:creationId xmlns:p14="http://schemas.microsoft.com/office/powerpoint/2010/main" val="847970605"/>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Time and Space Complexity Analysis</a:t>
            </a:r>
            <a:endParaRPr lang="en-US" dirty="0"/>
          </a:p>
        </p:txBody>
      </p:sp>
      <p:sp>
        <p:nvSpPr>
          <p:cNvPr id="3" name="Content Placeholder 2"/>
          <p:cNvSpPr>
            <a:spLocks noGrp="1"/>
          </p:cNvSpPr>
          <p:nvPr>
            <p:ph sz="quarter" idx="1"/>
          </p:nvPr>
        </p:nvSpPr>
        <p:spPr/>
        <p:txBody>
          <a:bodyPr>
            <a:normAutofit fontScale="77500" lnSpcReduction="20000"/>
          </a:bodyPr>
          <a:lstStyle/>
          <a:p>
            <a:pPr marL="0" indent="0">
              <a:buNone/>
            </a:pPr>
            <a:endParaRPr lang="en-US" dirty="0" smtClean="0"/>
          </a:p>
          <a:p>
            <a:pPr algn="just"/>
            <a:r>
              <a:rPr lang="en-US" dirty="0"/>
              <a:t>T</a:t>
            </a:r>
            <a:r>
              <a:rPr lang="en-US" dirty="0" smtClean="0"/>
              <a:t>ime </a:t>
            </a:r>
            <a:r>
              <a:rPr lang="en-US" dirty="0"/>
              <a:t>complexity of Bellman-Ford is O(VE), which is more than </a:t>
            </a:r>
            <a:r>
              <a:rPr lang="en-US" dirty="0" err="1"/>
              <a:t>Dijkstra</a:t>
            </a:r>
            <a:r>
              <a:rPr lang="en-US" dirty="0"/>
              <a:t>. where V is a number of vertices and E is a number of edges. For a complete graph with n vertices, V = n, E = O(n</a:t>
            </a:r>
            <a:r>
              <a:rPr lang="en-US" baseline="30000" dirty="0"/>
              <a:t>2</a:t>
            </a:r>
            <a:r>
              <a:rPr lang="en-US" dirty="0"/>
              <a:t>). So overall time complexity becomes O(n</a:t>
            </a:r>
            <a:r>
              <a:rPr lang="en-US" baseline="30000" dirty="0"/>
              <a:t>3</a:t>
            </a:r>
            <a:r>
              <a:rPr lang="en-US" dirty="0" smtClean="0"/>
              <a:t>).</a:t>
            </a:r>
          </a:p>
          <a:p>
            <a:pPr algn="just"/>
            <a:endParaRPr lang="en-US" dirty="0"/>
          </a:p>
          <a:p>
            <a:pPr algn="just"/>
            <a:r>
              <a:rPr lang="en-US" dirty="0" smtClean="0"/>
              <a:t>For complete graph E=(n(n-1))/2, where n is number of vertices</a:t>
            </a:r>
          </a:p>
          <a:p>
            <a:pPr algn="just"/>
            <a:endParaRPr lang="en-US" dirty="0" smtClean="0"/>
          </a:p>
          <a:p>
            <a:pPr algn="just"/>
            <a:r>
              <a:rPr lang="en-US" dirty="0" smtClean="0"/>
              <a:t>Best </a:t>
            </a:r>
            <a:r>
              <a:rPr lang="en-US" dirty="0"/>
              <a:t>Case: O(E), when distance array after 1st and 2nd relaxation are same , we can simply stop further </a:t>
            </a:r>
            <a:r>
              <a:rPr lang="en-US" dirty="0" smtClean="0"/>
              <a:t>processing.</a:t>
            </a:r>
            <a:endParaRPr lang="en-US" dirty="0"/>
          </a:p>
          <a:p>
            <a:pPr algn="just"/>
            <a:r>
              <a:rPr lang="en-US" dirty="0"/>
              <a:t>Average Case: O(V*E)</a:t>
            </a:r>
          </a:p>
          <a:p>
            <a:pPr algn="just"/>
            <a:r>
              <a:rPr lang="en-US" dirty="0"/>
              <a:t>Worst Case: O(V*E</a:t>
            </a:r>
            <a:r>
              <a:rPr lang="en-US" dirty="0" smtClean="0"/>
              <a:t>)</a:t>
            </a:r>
          </a:p>
          <a:p>
            <a:pPr algn="just"/>
            <a:endParaRPr lang="en-US" dirty="0"/>
          </a:p>
          <a:p>
            <a:pPr algn="just"/>
            <a:endParaRPr lang="en-US" dirty="0"/>
          </a:p>
          <a:p>
            <a:pPr algn="just"/>
            <a:r>
              <a:rPr lang="en-US" b="1" dirty="0"/>
              <a:t>Auxiliary Space: </a:t>
            </a:r>
            <a:r>
              <a:rPr lang="en-US" dirty="0"/>
              <a:t>O(V), where V is the number of vertices in the graph.</a:t>
            </a:r>
          </a:p>
          <a:p>
            <a:pPr algn="just"/>
            <a:endParaRPr lang="en-US" dirty="0"/>
          </a:p>
        </p:txBody>
      </p:sp>
    </p:spTree>
    <p:extLst>
      <p:ext uri="{BB962C8B-B14F-4D97-AF65-F5344CB8AC3E}">
        <p14:creationId xmlns:p14="http://schemas.microsoft.com/office/powerpoint/2010/main" val="1024291734"/>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Drawback</a:t>
            </a:r>
            <a:endParaRPr lang="en-US" dirty="0"/>
          </a:p>
        </p:txBody>
      </p:sp>
      <p:sp>
        <p:nvSpPr>
          <p:cNvPr id="3" name="Content Placeholder 2"/>
          <p:cNvSpPr>
            <a:spLocks noGrp="1"/>
          </p:cNvSpPr>
          <p:nvPr>
            <p:ph sz="quarter" idx="1"/>
          </p:nvPr>
        </p:nvSpPr>
        <p:spPr/>
        <p:txBody>
          <a:bodyPr/>
          <a:lstStyle/>
          <a:p>
            <a:pPr algn="just"/>
            <a:r>
              <a:rPr lang="en-US" dirty="0" smtClean="0"/>
              <a:t>Will not give correct result if negative weight cycle is present in the graph.</a:t>
            </a:r>
          </a:p>
          <a:p>
            <a:pPr algn="just"/>
            <a:endParaRPr lang="en-US" dirty="0"/>
          </a:p>
          <a:p>
            <a:pPr algn="just"/>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3600" y="2743200"/>
            <a:ext cx="4648200" cy="2362200"/>
          </a:xfrm>
          <a:prstGeom prst="rect">
            <a:avLst/>
          </a:prstGeom>
        </p:spPr>
      </p:pic>
    </p:spTree>
    <p:extLst>
      <p:ext uri="{BB962C8B-B14F-4D97-AF65-F5344CB8AC3E}">
        <p14:creationId xmlns:p14="http://schemas.microsoft.com/office/powerpoint/2010/main" val="1310393412"/>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Bellman ford to detect negative weight cycle in the graph </a:t>
            </a:r>
            <a:endParaRPr lang="en-US" dirty="0"/>
          </a:p>
        </p:txBody>
      </p:sp>
      <p:sp>
        <p:nvSpPr>
          <p:cNvPr id="3" name="Content Placeholder 2"/>
          <p:cNvSpPr>
            <a:spLocks noGrp="1"/>
          </p:cNvSpPr>
          <p:nvPr>
            <p:ph sz="quarter" idx="1"/>
          </p:nvPr>
        </p:nvSpPr>
        <p:spPr/>
        <p:txBody>
          <a:bodyPr/>
          <a:lstStyle/>
          <a:p>
            <a:r>
              <a:rPr lang="en-US" dirty="0"/>
              <a:t>https://www.geeksforgeeks.org/bellman-ford-algorithm-dp-23/</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9200" y="2362200"/>
            <a:ext cx="6229670" cy="3283119"/>
          </a:xfrm>
          <a:prstGeom prst="rect">
            <a:avLst/>
          </a:prstGeom>
        </p:spPr>
      </p:pic>
    </p:spTree>
    <p:extLst>
      <p:ext uri="{BB962C8B-B14F-4D97-AF65-F5344CB8AC3E}">
        <p14:creationId xmlns:p14="http://schemas.microsoft.com/office/powerpoint/2010/main" val="1520108764"/>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sz="quarter" idx="1"/>
          </p:nvPr>
        </p:nvPicPr>
        <p:blipFill>
          <a:blip r:embed="rId3">
            <a:extLst>
              <a:ext uri="{28A0092B-C50C-407E-A947-70E740481C1C}">
                <a14:useLocalDpi xmlns:a14="http://schemas.microsoft.com/office/drawing/2010/main" val="0"/>
              </a:ext>
            </a:extLst>
          </a:blip>
          <a:stretch>
            <a:fillRect/>
          </a:stretch>
        </p:blipFill>
        <p:spPr>
          <a:xfrm>
            <a:off x="609600" y="1527175"/>
            <a:ext cx="7467600" cy="4572000"/>
          </a:xfrm>
        </p:spPr>
      </p:pic>
    </p:spTree>
    <p:extLst>
      <p:ext uri="{BB962C8B-B14F-4D97-AF65-F5344CB8AC3E}">
        <p14:creationId xmlns:p14="http://schemas.microsoft.com/office/powerpoint/2010/main" val="3352767297"/>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Difference between Bellman Ford and </a:t>
            </a:r>
            <a:r>
              <a:rPr lang="en-US" dirty="0" err="1" smtClean="0"/>
              <a:t>Dijkstra</a:t>
            </a:r>
            <a:r>
              <a:rPr lang="en-US" dirty="0" smtClean="0"/>
              <a:t> Algorithms</a:t>
            </a:r>
            <a:endParaRPr lang="en-US" dirty="0"/>
          </a:p>
        </p:txBody>
      </p:sp>
      <p:graphicFrame>
        <p:nvGraphicFramePr>
          <p:cNvPr id="4" name="Content Placeholder 3"/>
          <p:cNvGraphicFramePr>
            <a:graphicFrameLocks noGrp="1"/>
          </p:cNvGraphicFramePr>
          <p:nvPr>
            <p:ph sz="quarter" idx="1"/>
          </p:nvPr>
        </p:nvGraphicFramePr>
        <p:xfrm>
          <a:off x="301625" y="1599418"/>
          <a:ext cx="8504238" cy="4427514"/>
        </p:xfrm>
        <a:graphic>
          <a:graphicData uri="http://schemas.openxmlformats.org/drawingml/2006/table">
            <a:tbl>
              <a:tblPr/>
              <a:tblGrid>
                <a:gridCol w="4252119">
                  <a:extLst>
                    <a:ext uri="{9D8B030D-6E8A-4147-A177-3AD203B41FA5}">
                      <a16:colId xmlns:a16="http://schemas.microsoft.com/office/drawing/2014/main" val="3775135654"/>
                    </a:ext>
                  </a:extLst>
                </a:gridCol>
                <a:gridCol w="4252119">
                  <a:extLst>
                    <a:ext uri="{9D8B030D-6E8A-4147-A177-3AD203B41FA5}">
                      <a16:colId xmlns:a16="http://schemas.microsoft.com/office/drawing/2014/main" val="3500300700"/>
                    </a:ext>
                  </a:extLst>
                </a:gridCol>
              </a:tblGrid>
              <a:tr h="339157">
                <a:tc>
                  <a:txBody>
                    <a:bodyPr/>
                    <a:lstStyle/>
                    <a:p>
                      <a:pPr algn="ctr" fontAlgn="base"/>
                      <a:r>
                        <a:rPr lang="en-US" sz="1400" b="1">
                          <a:effectLst/>
                        </a:rPr>
                        <a:t>Bellman Ford’s Algorithm</a:t>
                      </a:r>
                    </a:p>
                  </a:txBody>
                  <a:tcPr marL="37965" marR="37965" marT="63276" marB="63276"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US" sz="1400" b="1">
                          <a:effectLst/>
                        </a:rPr>
                        <a:t>Dijkstra’s Algorithm</a:t>
                      </a:r>
                    </a:p>
                  </a:txBody>
                  <a:tcPr marL="63276" marR="63276" marT="63276" marB="63276"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930934016"/>
                  </a:ext>
                </a:extLst>
              </a:tr>
              <a:tr h="746652">
                <a:tc>
                  <a:txBody>
                    <a:bodyPr/>
                    <a:lstStyle/>
                    <a:p>
                      <a:pPr algn="ctr" fontAlgn="ctr"/>
                      <a:r>
                        <a:rPr lang="en-US" sz="1200" b="0">
                          <a:effectLst/>
                        </a:rPr>
                        <a:t>Bellman Ford’s Algorithm works when there is negative weight edge, it also detects the negative weight cycle.</a:t>
                      </a:r>
                    </a:p>
                  </a:txBody>
                  <a:tcPr marL="63276" marR="63276" marT="88586" marB="88586"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a:effectLst/>
                        </a:rPr>
                        <a:t>Dijkstra’s Algorithm may or may not work when there is negative weight edge. But will definitely not work when there is a negative weight cycle.</a:t>
                      </a:r>
                    </a:p>
                  </a:txBody>
                  <a:tcPr marL="63276" marR="63276" marT="88586" marB="88586"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3017911"/>
                  </a:ext>
                </a:extLst>
              </a:tr>
              <a:tr h="746652">
                <a:tc>
                  <a:txBody>
                    <a:bodyPr/>
                    <a:lstStyle/>
                    <a:p>
                      <a:pPr algn="ctr" fontAlgn="ctr"/>
                      <a:r>
                        <a:rPr lang="en-US" sz="1200" b="0">
                          <a:effectLst/>
                        </a:rPr>
                        <a:t>The result contains the vertices which contains the information about the other vertices they are connected to.</a:t>
                      </a:r>
                    </a:p>
                  </a:txBody>
                  <a:tcPr marL="63276" marR="63276" marT="88586" marB="88586"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a:effectLst/>
                        </a:rPr>
                        <a:t>The result contains the vertices containing whole information about the network, not only the vertices they are connected to.</a:t>
                      </a:r>
                    </a:p>
                  </a:txBody>
                  <a:tcPr marL="63276" marR="63276" marT="88586" marB="88586"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439876137"/>
                  </a:ext>
                </a:extLst>
              </a:tr>
              <a:tr h="366998">
                <a:tc>
                  <a:txBody>
                    <a:bodyPr/>
                    <a:lstStyle/>
                    <a:p>
                      <a:pPr algn="ctr" fontAlgn="ctr"/>
                      <a:r>
                        <a:rPr lang="en-US" sz="1200" b="0">
                          <a:effectLst/>
                        </a:rPr>
                        <a:t>It can easily be implemented in a distributed way.</a:t>
                      </a:r>
                    </a:p>
                  </a:txBody>
                  <a:tcPr marL="63276" marR="63276" marT="88586" marB="88586"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a:effectLst/>
                        </a:rPr>
                        <a:t>It can not be implemented easily in a distributed way.</a:t>
                      </a:r>
                    </a:p>
                  </a:txBody>
                  <a:tcPr marL="63276" marR="63276" marT="88586" marB="88586"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4054924798"/>
                  </a:ext>
                </a:extLst>
              </a:tr>
              <a:tr h="556825">
                <a:tc>
                  <a:txBody>
                    <a:bodyPr/>
                    <a:lstStyle/>
                    <a:p>
                      <a:pPr algn="ctr" fontAlgn="ctr"/>
                      <a:r>
                        <a:rPr lang="en-US" sz="1200" b="0">
                          <a:effectLst/>
                        </a:rPr>
                        <a:t>It is more time consuming than Dijkstra’s algorithm. Its time complexity is O(VE).</a:t>
                      </a:r>
                    </a:p>
                  </a:txBody>
                  <a:tcPr marL="63276" marR="63276" marT="88586" marB="88586"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a:effectLst/>
                        </a:rPr>
                        <a:t>It is less time consuming. The time complexity is O(E logV).</a:t>
                      </a:r>
                    </a:p>
                  </a:txBody>
                  <a:tcPr marL="63276" marR="63276" marT="88586" marB="88586"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936238828"/>
                  </a:ext>
                </a:extLst>
              </a:tr>
              <a:tr h="556825">
                <a:tc>
                  <a:txBody>
                    <a:bodyPr/>
                    <a:lstStyle/>
                    <a:p>
                      <a:pPr algn="ctr" fontAlgn="ctr"/>
                      <a:r>
                        <a:rPr lang="en-US" sz="1200" b="0">
                          <a:effectLst/>
                        </a:rPr>
                        <a:t>Dynamic Programming approach is taken to implement the algorithm.</a:t>
                      </a:r>
                    </a:p>
                  </a:txBody>
                  <a:tcPr marL="63276" marR="63276" marT="88586" marB="88586"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a:effectLst/>
                        </a:rPr>
                        <a:t>Greedy approach is taken to implement the algorithm.</a:t>
                      </a:r>
                    </a:p>
                  </a:txBody>
                  <a:tcPr marL="63276" marR="63276" marT="88586" marB="88586"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207634102"/>
                  </a:ext>
                </a:extLst>
              </a:tr>
              <a:tr h="556825">
                <a:tc>
                  <a:txBody>
                    <a:bodyPr/>
                    <a:lstStyle/>
                    <a:p>
                      <a:pPr algn="ctr" fontAlgn="ctr"/>
                      <a:r>
                        <a:rPr lang="en-US" sz="1200" b="0">
                          <a:effectLst/>
                        </a:rPr>
                        <a:t>Bellman Ford’s Algorithm have more overheads than Dijkstra’s Algorithm.</a:t>
                      </a:r>
                    </a:p>
                  </a:txBody>
                  <a:tcPr marL="63276" marR="63276" marT="88586" marB="88586"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a:effectLst/>
                        </a:rPr>
                        <a:t>Dijkstra’s Algorithm have less overheads than Bellman Ford’s Algorithm. </a:t>
                      </a:r>
                    </a:p>
                  </a:txBody>
                  <a:tcPr marL="63276" marR="63276" marT="88586" marB="88586"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902153553"/>
                  </a:ext>
                </a:extLst>
              </a:tr>
              <a:tr h="556825">
                <a:tc>
                  <a:txBody>
                    <a:bodyPr/>
                    <a:lstStyle/>
                    <a:p>
                      <a:pPr algn="ctr" fontAlgn="ctr"/>
                      <a:r>
                        <a:rPr lang="en-US" sz="1200" b="0">
                          <a:effectLst/>
                        </a:rPr>
                        <a:t>Bellman Ford’s Algorithm have less scalability than Dijkstra’s Algorithm.</a:t>
                      </a:r>
                    </a:p>
                  </a:txBody>
                  <a:tcPr marL="63276" marR="63276" marT="88586" marB="88586"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dirty="0" err="1">
                          <a:effectLst/>
                        </a:rPr>
                        <a:t>Dijkstra’s</a:t>
                      </a:r>
                      <a:r>
                        <a:rPr lang="en-US" sz="1200" b="0" dirty="0">
                          <a:effectLst/>
                        </a:rPr>
                        <a:t> Algorithm have more scalability than Bellman Ford’s Algorithm.  .</a:t>
                      </a:r>
                    </a:p>
                  </a:txBody>
                  <a:tcPr marL="63276" marR="63276" marT="88586" marB="88586"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174178696"/>
                  </a:ext>
                </a:extLst>
              </a:tr>
            </a:tbl>
          </a:graphicData>
        </a:graphic>
      </p:graphicFrame>
    </p:spTree>
    <p:extLst>
      <p:ext uri="{BB962C8B-B14F-4D97-AF65-F5344CB8AC3E}">
        <p14:creationId xmlns:p14="http://schemas.microsoft.com/office/powerpoint/2010/main" val="2565936439"/>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Difference between MSTs and Shortest Path Algorithms</a:t>
            </a:r>
            <a:endParaRPr lang="en-US" dirty="0"/>
          </a:p>
        </p:txBody>
      </p:sp>
      <p:sp>
        <p:nvSpPr>
          <p:cNvPr id="3" name="Content Placeholder 2"/>
          <p:cNvSpPr>
            <a:spLocks noGrp="1"/>
          </p:cNvSpPr>
          <p:nvPr>
            <p:ph sz="quarter" idx="1"/>
          </p:nvPr>
        </p:nvSpPr>
        <p:spPr/>
        <p:txBody>
          <a:bodyPr/>
          <a:lstStyle/>
          <a:p>
            <a:pPr algn="just"/>
            <a:r>
              <a:rPr lang="en-US" dirty="0"/>
              <a:t>So we’ve seen the various Minimum Spanning Trees Algorithms and the Shortest Path Algorithms till now. Both focus on minimizing the weights of the edges. But the outcomes are different. MSTs give Trees as Outputs whereas, in Shortest Path Algorithms, it actually gives us a path we could traverse in the Graph, with minimum Weight/ Cost</a:t>
            </a:r>
            <a:r>
              <a:rPr lang="en-US" dirty="0" smtClean="0"/>
              <a:t>.</a:t>
            </a:r>
          </a:p>
          <a:p>
            <a:pPr algn="just"/>
            <a:r>
              <a:rPr lang="en-US" dirty="0"/>
              <a:t>Let’s clear it up by taking an </a:t>
            </a:r>
            <a:r>
              <a:rPr lang="en-US" dirty="0" smtClean="0"/>
              <a:t>example-</a:t>
            </a:r>
          </a:p>
          <a:p>
            <a:pPr algn="just"/>
            <a:endParaRPr lang="en-US" dirty="0"/>
          </a:p>
        </p:txBody>
      </p:sp>
      <p:sp>
        <p:nvSpPr>
          <p:cNvPr id="6" name="Rectangle 4"/>
          <p:cNvSpPr>
            <a:spLocks noChangeArrowheads="1"/>
          </p:cNvSpPr>
          <p:nvPr/>
        </p:nvSpPr>
        <p:spPr bwMode="auto">
          <a:xfrm>
            <a:off x="0" y="43934"/>
            <a:ext cx="31290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Arial" panose="020B0604020202020204" pitchFamily="34" charset="0"/>
              </a:rPr>
              <a:t>  </a:t>
            </a:r>
            <a:endParaRPr kumimoji="0" lang="en-US" altLang="en-US" sz="13400" b="0" i="0" u="none" strike="noStrike" cap="none" normalizeH="0" baseline="0" dirty="0" smtClean="0">
              <a:ln>
                <a:noFill/>
              </a:ln>
              <a:solidFill>
                <a:schemeClr val="tx1"/>
              </a:solidFill>
              <a:effectLst/>
              <a:latin typeface="Arial" panose="020B0604020202020204" pitchFamily="34" charset="0"/>
            </a:endParaRPr>
          </a:p>
        </p:txBody>
      </p:sp>
      <p:pic>
        <p:nvPicPr>
          <p:cNvPr id="1029" name="Picture 5" descr="https://miro.medium.com/v2/resize:fit:366/1*MZGZcrQ3wcCznvXzUwDtHg.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5029200"/>
            <a:ext cx="2324100" cy="15270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8891411"/>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pPr algn="just"/>
            <a:r>
              <a:rPr lang="en-US" dirty="0"/>
              <a:t>The spanning-tree looks like below. This is because if we add up the edges in this configuration, we get the least total cost possible: 2+5+14+4=25</a:t>
            </a:r>
            <a:r>
              <a:rPr lang="en-US" dirty="0" smtClean="0"/>
              <a:t>.</a:t>
            </a:r>
          </a:p>
          <a:p>
            <a:endParaRPr lang="en-US" dirty="0"/>
          </a:p>
          <a:p>
            <a:endParaRPr lang="en-US" dirty="0"/>
          </a:p>
        </p:txBody>
      </p:sp>
      <p:pic>
        <p:nvPicPr>
          <p:cNvPr id="7" name="Picture 2" descr="https://miro.medium.com/v2/resize:fit:209/1*kSuELaX9iNihulQvyu8nIA.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05912" y="3048000"/>
            <a:ext cx="2895600" cy="1032529"/>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p:cNvSpPr/>
          <p:nvPr/>
        </p:nvSpPr>
        <p:spPr>
          <a:xfrm>
            <a:off x="835152" y="4344447"/>
            <a:ext cx="7467600" cy="1477328"/>
          </a:xfrm>
          <a:prstGeom prst="rect">
            <a:avLst/>
          </a:prstGeom>
        </p:spPr>
        <p:txBody>
          <a:bodyPr wrap="square">
            <a:spAutoFit/>
          </a:bodyPr>
          <a:lstStyle/>
          <a:p>
            <a:pPr algn="just"/>
            <a:r>
              <a:rPr lang="en-US" dirty="0"/>
              <a:t>By just seeing the Graph, we might be thinking that this MST gives us the shortest path, but it doesn’t. If we </a:t>
            </a:r>
            <a:r>
              <a:rPr lang="en-US" dirty="0" smtClean="0"/>
              <a:t>want </a:t>
            </a:r>
            <a:r>
              <a:rPr lang="en-US" dirty="0"/>
              <a:t>to go from 1 to 4, the cost would be 7, whereas it’s just 5, using </a:t>
            </a:r>
            <a:r>
              <a:rPr lang="en-US" dirty="0" err="1"/>
              <a:t>Dijkstra’s</a:t>
            </a:r>
            <a:r>
              <a:rPr lang="en-US" dirty="0"/>
              <a:t> Algorithm. This proves that MSTs </a:t>
            </a:r>
            <a:r>
              <a:rPr lang="en-US" dirty="0" smtClean="0"/>
              <a:t>and </a:t>
            </a:r>
            <a:r>
              <a:rPr lang="en-US" dirty="0"/>
              <a:t>Shortest Path problems are different and should not be confused with each other.</a:t>
            </a:r>
          </a:p>
        </p:txBody>
      </p:sp>
    </p:spTree>
    <p:extLst>
      <p:ext uri="{BB962C8B-B14F-4D97-AF65-F5344CB8AC3E}">
        <p14:creationId xmlns:p14="http://schemas.microsoft.com/office/powerpoint/2010/main" val="2077950477"/>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graphicFrame>
        <p:nvGraphicFramePr>
          <p:cNvPr id="4" name="Content Placeholder 3"/>
          <p:cNvGraphicFramePr>
            <a:graphicFrameLocks noGrp="1"/>
          </p:cNvGraphicFramePr>
          <p:nvPr>
            <p:ph sz="quarter" idx="1"/>
            <p:extLst/>
          </p:nvPr>
        </p:nvGraphicFramePr>
        <p:xfrm>
          <a:off x="609600" y="2170330"/>
          <a:ext cx="7924800" cy="4154272"/>
        </p:xfrm>
        <a:graphic>
          <a:graphicData uri="http://schemas.openxmlformats.org/drawingml/2006/table">
            <a:tbl>
              <a:tblPr/>
              <a:tblGrid>
                <a:gridCol w="3962400">
                  <a:extLst>
                    <a:ext uri="{9D8B030D-6E8A-4147-A177-3AD203B41FA5}">
                      <a16:colId xmlns:a16="http://schemas.microsoft.com/office/drawing/2014/main" val="1231501366"/>
                    </a:ext>
                  </a:extLst>
                </a:gridCol>
                <a:gridCol w="3962400">
                  <a:extLst>
                    <a:ext uri="{9D8B030D-6E8A-4147-A177-3AD203B41FA5}">
                      <a16:colId xmlns:a16="http://schemas.microsoft.com/office/drawing/2014/main" val="3890845744"/>
                    </a:ext>
                  </a:extLst>
                </a:gridCol>
              </a:tblGrid>
              <a:tr h="225978">
                <a:tc>
                  <a:txBody>
                    <a:bodyPr/>
                    <a:lstStyle/>
                    <a:p>
                      <a:pPr algn="ctr" fontAlgn="ctr"/>
                      <a:r>
                        <a:rPr lang="en-US" sz="700" b="1" dirty="0">
                          <a:effectLst/>
                        </a:rPr>
                        <a:t>Minimum spanning tree(MST)</a:t>
                      </a:r>
                      <a:endParaRPr lang="en-US" sz="700" b="0" dirty="0">
                        <a:effectLst/>
                      </a:endParaRPr>
                    </a:p>
                  </a:txBody>
                  <a:tcPr marL="35115" marR="35115" marT="49161" marB="49161"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700" b="1">
                          <a:effectLst/>
                        </a:rPr>
                        <a:t>The Shortest path</a:t>
                      </a:r>
                      <a:endParaRPr lang="en-US" sz="700" b="0">
                        <a:effectLst/>
                      </a:endParaRPr>
                    </a:p>
                  </a:txBody>
                  <a:tcPr marL="35115" marR="35115" marT="49161" marB="49161"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314332200"/>
                  </a:ext>
                </a:extLst>
              </a:tr>
              <a:tr h="458173">
                <a:tc>
                  <a:txBody>
                    <a:bodyPr/>
                    <a:lstStyle/>
                    <a:p>
                      <a:pPr algn="ctr" fontAlgn="ctr"/>
                      <a:r>
                        <a:rPr lang="en-US" sz="700" b="0">
                          <a:effectLst/>
                        </a:rPr>
                        <a:t>In MST there is no source and no destination, but it is the subset (tree) of the graph(</a:t>
                      </a:r>
                      <a:r>
                        <a:rPr lang="en-US" sz="700" b="1">
                          <a:effectLst/>
                        </a:rPr>
                        <a:t>G</a:t>
                      </a:r>
                      <a:r>
                        <a:rPr lang="en-US" sz="700" b="0">
                          <a:effectLst/>
                        </a:rPr>
                        <a:t>) which connects all the vertices of the graph </a:t>
                      </a:r>
                      <a:r>
                        <a:rPr lang="en-US" sz="700" b="1">
                          <a:effectLst/>
                        </a:rPr>
                        <a:t>G</a:t>
                      </a:r>
                      <a:r>
                        <a:rPr lang="en-US" sz="700" b="0">
                          <a:effectLst/>
                        </a:rPr>
                        <a:t> without any cycles and the minimum possible total edge weight.</a:t>
                      </a:r>
                    </a:p>
                  </a:txBody>
                  <a:tcPr marL="35115" marR="35115" marT="49161" marB="49161"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700" b="0">
                          <a:effectLst/>
                        </a:rPr>
                        <a:t>There is a source and destination, and one need to find out the shortest path between them</a:t>
                      </a:r>
                    </a:p>
                  </a:txBody>
                  <a:tcPr marL="35115" marR="35115" marT="49161" marB="49161"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148430887"/>
                  </a:ext>
                </a:extLst>
              </a:tr>
              <a:tr h="272427">
                <a:tc>
                  <a:txBody>
                    <a:bodyPr/>
                    <a:lstStyle/>
                    <a:p>
                      <a:pPr algn="ctr" fontAlgn="ctr"/>
                      <a:r>
                        <a:rPr lang="en-US" sz="700" b="0">
                          <a:effectLst/>
                        </a:rPr>
                        <a:t>Graph </a:t>
                      </a:r>
                      <a:r>
                        <a:rPr lang="en-US" sz="700" b="1">
                          <a:effectLst/>
                        </a:rPr>
                        <a:t>(G)</a:t>
                      </a:r>
                      <a:r>
                        <a:rPr lang="en-US" sz="700" b="0">
                          <a:effectLst/>
                        </a:rPr>
                        <a:t> should be connected, undirected, edge-weighted, labeled.</a:t>
                      </a:r>
                    </a:p>
                  </a:txBody>
                  <a:tcPr marL="35115" marR="35115" marT="49161" marB="49161"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700" b="0">
                          <a:effectLst/>
                        </a:rPr>
                        <a:t>It is not necessary for the Graph</a:t>
                      </a:r>
                      <a:r>
                        <a:rPr lang="en-US" sz="700" b="1">
                          <a:effectLst/>
                        </a:rPr>
                        <a:t> (G)</a:t>
                      </a:r>
                      <a:r>
                        <a:rPr lang="en-US" sz="700" b="0">
                          <a:effectLst/>
                        </a:rPr>
                        <a:t> to be connected, undirected, edge-weighted, labeled.</a:t>
                      </a:r>
                    </a:p>
                  </a:txBody>
                  <a:tcPr marL="35115" marR="35115" marT="49161" marB="49161"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860052094"/>
                  </a:ext>
                </a:extLst>
              </a:tr>
              <a:tr h="813957">
                <a:tc>
                  <a:txBody>
                    <a:bodyPr/>
                    <a:lstStyle/>
                    <a:p>
                      <a:pPr algn="ctr" fontAlgn="base"/>
                      <a:r>
                        <a:rPr lang="en-US" sz="700" b="0">
                          <a:effectLst/>
                        </a:rPr>
                        <a:t>Here </a:t>
                      </a:r>
                      <a:r>
                        <a:rPr lang="en-US" sz="700" b="1">
                          <a:effectLst/>
                        </a:rPr>
                        <a:t>relaxation of edges</a:t>
                      </a:r>
                      <a:r>
                        <a:rPr lang="en-US" sz="700" b="0">
                          <a:effectLst/>
                        </a:rPr>
                        <a:t> is not performed but here the minimum edge weight is chosen one by one from the set of all edge weights (sorted according to min weight) and the tree is formed by them (i.e. there should not be any cycle).</a:t>
                      </a:r>
                    </a:p>
                  </a:txBody>
                  <a:tcPr marL="35115" marR="35115" marT="49161" marB="49161"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US" sz="700" b="0" dirty="0">
                          <a:effectLst/>
                        </a:rPr>
                        <a:t>Here the </a:t>
                      </a:r>
                      <a:r>
                        <a:rPr lang="en-US" sz="700" b="1" dirty="0">
                          <a:effectLst/>
                        </a:rPr>
                        <a:t>relaxation of edges</a:t>
                      </a:r>
                      <a:r>
                        <a:rPr lang="en-US" sz="700" b="0" dirty="0">
                          <a:effectLst/>
                        </a:rPr>
                        <a:t> is performed.</a:t>
                      </a:r>
                    </a:p>
                    <a:p>
                      <a:pPr algn="l" fontAlgn="base">
                        <a:buFont typeface="Arial" panose="020B0604020202020204" pitchFamily="34" charset="0"/>
                        <a:buChar char="•"/>
                      </a:pPr>
                      <a:r>
                        <a:rPr lang="en-US" sz="700" b="0" dirty="0">
                          <a:effectLst/>
                        </a:rPr>
                        <a:t>Here</a:t>
                      </a:r>
                      <a:r>
                        <a:rPr lang="en-US" sz="700" b="1" dirty="0">
                          <a:effectLst/>
                        </a:rPr>
                        <a:t> d(U) </a:t>
                      </a:r>
                      <a:r>
                        <a:rPr lang="en-US" sz="700" b="0" dirty="0">
                          <a:effectLst/>
                        </a:rPr>
                        <a:t>means the distance of source vertex </a:t>
                      </a:r>
                      <a:r>
                        <a:rPr lang="en-US" sz="700" b="1" dirty="0">
                          <a:effectLst/>
                        </a:rPr>
                        <a:t>S</a:t>
                      </a:r>
                      <a:r>
                        <a:rPr lang="en-US" sz="700" b="0" dirty="0">
                          <a:effectLst/>
                        </a:rPr>
                        <a:t> to vertex where </a:t>
                      </a:r>
                      <a:r>
                        <a:rPr lang="en-US" sz="700" b="1" dirty="0">
                          <a:effectLst/>
                        </a:rPr>
                        <a:t>C(U, V)</a:t>
                      </a:r>
                      <a:r>
                        <a:rPr lang="en-US" sz="700" b="0" dirty="0">
                          <a:effectLst/>
                        </a:rPr>
                        <a:t> is the distance between </a:t>
                      </a:r>
                      <a:r>
                        <a:rPr lang="en-US" sz="700" b="1" dirty="0">
                          <a:effectLst/>
                        </a:rPr>
                        <a:t>U</a:t>
                      </a:r>
                      <a:r>
                        <a:rPr lang="en-US" sz="700" b="0" dirty="0">
                          <a:effectLst/>
                        </a:rPr>
                        <a:t> and </a:t>
                      </a:r>
                      <a:r>
                        <a:rPr lang="en-US" sz="700" b="1" dirty="0">
                          <a:effectLst/>
                        </a:rPr>
                        <a:t>V.</a:t>
                      </a:r>
                      <a:endParaRPr lang="en-US" sz="700" b="0" dirty="0">
                        <a:effectLst/>
                      </a:endParaRPr>
                    </a:p>
                    <a:p>
                      <a:pPr algn="l" fontAlgn="base">
                        <a:buFont typeface="Arial" panose="020B0604020202020204" pitchFamily="34" charset="0"/>
                        <a:buChar char="•"/>
                      </a:pPr>
                      <a:r>
                        <a:rPr lang="en-US" sz="700" b="0" dirty="0">
                          <a:effectLst/>
                        </a:rPr>
                        <a:t>If</a:t>
                      </a:r>
                      <a:r>
                        <a:rPr lang="en-US" sz="700" b="1" dirty="0">
                          <a:effectLst/>
                        </a:rPr>
                        <a:t> d(U) &gt; d(V) + C(U, V)</a:t>
                      </a:r>
                      <a:r>
                        <a:rPr lang="en-US" sz="700" b="0" dirty="0">
                          <a:effectLst/>
                        </a:rPr>
                        <a:t> then </a:t>
                      </a:r>
                      <a:r>
                        <a:rPr lang="en-US" sz="700" b="1" dirty="0">
                          <a:effectLst/>
                        </a:rPr>
                        <a:t>d(U) = d(V) + C(U, V).</a:t>
                      </a:r>
                      <a:endParaRPr lang="en-US" sz="700" b="0" dirty="0">
                        <a:effectLst/>
                      </a:endParaRPr>
                    </a:p>
                    <a:p>
                      <a:pPr algn="l" fontAlgn="base">
                        <a:buFont typeface="Arial" panose="020B0604020202020204" pitchFamily="34" charset="0"/>
                        <a:buChar char="•"/>
                      </a:pPr>
                      <a:r>
                        <a:rPr lang="en-US" sz="700" b="0" dirty="0">
                          <a:effectLst/>
                        </a:rPr>
                        <a:t>For example, </a:t>
                      </a:r>
                      <a:r>
                        <a:rPr lang="en-US" sz="700" b="1" dirty="0">
                          <a:effectLst/>
                        </a:rPr>
                        <a:t>20&gt;10+5, d(U) = 15</a:t>
                      </a:r>
                      <a:r>
                        <a:rPr lang="en-US" sz="700" b="0" dirty="0">
                          <a:effectLst/>
                        </a:rPr>
                        <a:t>, is the minimum distance from source vertex </a:t>
                      </a:r>
                      <a:r>
                        <a:rPr lang="en-US" sz="700" b="1" dirty="0">
                          <a:effectLst/>
                        </a:rPr>
                        <a:t>S</a:t>
                      </a:r>
                      <a:r>
                        <a:rPr lang="en-US" sz="700" b="0" dirty="0">
                          <a:effectLst/>
                        </a:rPr>
                        <a:t> to vertex </a:t>
                      </a:r>
                      <a:r>
                        <a:rPr lang="en-US" sz="700" b="1" dirty="0">
                          <a:effectLst/>
                        </a:rPr>
                        <a:t>U</a:t>
                      </a:r>
                      <a:r>
                        <a:rPr lang="en-US" sz="700" b="0" dirty="0">
                          <a:effectLst/>
                        </a:rPr>
                        <a:t>.</a:t>
                      </a:r>
                    </a:p>
                    <a:p>
                      <a:pPr algn="l" fontAlgn="base">
                        <a:buFont typeface="Arial" panose="020B0604020202020204" pitchFamily="34" charset="0"/>
                        <a:buChar char="•"/>
                      </a:pPr>
                      <a:r>
                        <a:rPr lang="en-US" sz="700" b="0" dirty="0">
                          <a:effectLst/>
                        </a:rPr>
                        <a:t>Therefore, relaxation is performed.</a:t>
                      </a:r>
                    </a:p>
                  </a:txBody>
                  <a:tcPr marL="35115" marR="35115" marT="49161" marB="49161"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092428754"/>
                  </a:ext>
                </a:extLst>
              </a:tr>
              <a:tr h="551046">
                <a:tc>
                  <a:txBody>
                    <a:bodyPr/>
                    <a:lstStyle/>
                    <a:p>
                      <a:pPr algn="ctr" fontAlgn="ctr"/>
                      <a:r>
                        <a:rPr lang="en-US" sz="700" b="0">
                          <a:effectLst/>
                        </a:rPr>
                        <a:t>In this case, a minimum spanning tree can be formed but negative weights edge cycles are not generally used. Using the cycle property of MST, the minimum edge weight among all the edge weights in the negative edge cycle can be selected.</a:t>
                      </a:r>
                    </a:p>
                  </a:txBody>
                  <a:tcPr marL="35115" marR="35115" marT="49161" marB="49161"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700" b="0">
                          <a:effectLst/>
                        </a:rPr>
                        <a:t>If the graph is connected, and if a negative weight edge cycle present in the graph. Then the shortest path can not be computed, but the negative edge cycle can be detected using the</a:t>
                      </a:r>
                      <a:r>
                        <a:rPr lang="en-US" sz="700" b="0" u="sng">
                          <a:effectLst/>
                          <a:hlinkClick r:id="rId2"/>
                        </a:rPr>
                        <a:t> Bellman-Ford algorithm.</a:t>
                      </a:r>
                      <a:endParaRPr lang="en-US" sz="700" b="0">
                        <a:effectLst/>
                      </a:endParaRPr>
                    </a:p>
                  </a:txBody>
                  <a:tcPr marL="35115" marR="35115" marT="49161" marB="49161"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546048069"/>
                  </a:ext>
                </a:extLst>
              </a:tr>
              <a:tr h="365300">
                <a:tc>
                  <a:txBody>
                    <a:bodyPr/>
                    <a:lstStyle/>
                    <a:p>
                      <a:pPr algn="ctr" fontAlgn="ctr"/>
                      <a:r>
                        <a:rPr lang="en-US" sz="700" b="0">
                          <a:effectLst/>
                        </a:rPr>
                        <a:t>In the case of a </a:t>
                      </a:r>
                      <a:r>
                        <a:rPr lang="en-US" sz="700" b="0" u="sng">
                          <a:effectLst/>
                          <a:hlinkClick r:id="rId3"/>
                        </a:rPr>
                        <a:t>disconnected graph</a:t>
                      </a:r>
                      <a:r>
                        <a:rPr lang="en-US" sz="700" b="0">
                          <a:effectLst/>
                        </a:rPr>
                        <a:t>, the minimum spanning tree can not be formed but many spanning-tree forests can be formed.</a:t>
                      </a:r>
                    </a:p>
                  </a:txBody>
                  <a:tcPr marL="35115" marR="35115" marT="49161" marB="49161"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700" b="0">
                          <a:effectLst/>
                        </a:rPr>
                        <a:t>In the case of a </a:t>
                      </a:r>
                      <a:r>
                        <a:rPr lang="en-US" sz="700" b="0" u="sng">
                          <a:effectLst/>
                          <a:hlinkClick r:id="rId3"/>
                        </a:rPr>
                        <a:t>disconnected graph</a:t>
                      </a:r>
                      <a:r>
                        <a:rPr lang="en-US" sz="700" b="0">
                          <a:effectLst/>
                        </a:rPr>
                        <a:t>, the distance between two vertices present in two different components is infinity.</a:t>
                      </a:r>
                    </a:p>
                  </a:txBody>
                  <a:tcPr marL="35115" marR="35115" marT="49161" marB="49161"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231228482"/>
                  </a:ext>
                </a:extLst>
              </a:tr>
              <a:tr h="643918">
                <a:tc>
                  <a:txBody>
                    <a:bodyPr/>
                    <a:lstStyle/>
                    <a:p>
                      <a:pPr algn="ctr" fontAlgn="base"/>
                      <a:r>
                        <a:rPr lang="en-US" sz="700" b="0">
                          <a:effectLst/>
                        </a:rPr>
                        <a:t>Here the </a:t>
                      </a:r>
                      <a:r>
                        <a:rPr lang="en-US" sz="700" b="0" u="sng">
                          <a:effectLst/>
                          <a:hlinkClick r:id="rId4"/>
                        </a:rPr>
                        <a:t>Greedy approach</a:t>
                      </a:r>
                      <a:r>
                        <a:rPr lang="en-US" sz="700" b="0">
                          <a:effectLst/>
                        </a:rPr>
                        <a:t> is used for finding MST for a graph, For example, </a:t>
                      </a:r>
                      <a:r>
                        <a:rPr lang="en-US" sz="700" b="0" u="sng">
                          <a:effectLst/>
                          <a:hlinkClick r:id="rId5"/>
                        </a:rPr>
                        <a:t>Prim’s algorithm</a:t>
                      </a:r>
                      <a:r>
                        <a:rPr lang="en-US" sz="700" b="0">
                          <a:effectLst/>
                        </a:rPr>
                        <a:t> and</a:t>
                      </a:r>
                      <a:r>
                        <a:rPr lang="en-US" sz="700" b="0" u="sng">
                          <a:effectLst/>
                          <a:hlinkClick r:id="rId6"/>
                        </a:rPr>
                        <a:t> Kruskal’s algorithm</a:t>
                      </a:r>
                      <a:r>
                        <a:rPr lang="en-US" sz="700" b="0">
                          <a:effectLst/>
                        </a:rPr>
                        <a:t>.</a:t>
                      </a:r>
                    </a:p>
                  </a:txBody>
                  <a:tcPr marL="35115" marR="35115" marT="49161" marB="49161"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l" fontAlgn="base">
                        <a:buFont typeface="Arial" panose="020B0604020202020204" pitchFamily="34" charset="0"/>
                        <a:buChar char="•"/>
                      </a:pPr>
                      <a:r>
                        <a:rPr lang="en-US" sz="700" b="0">
                          <a:effectLst/>
                        </a:rPr>
                        <a:t>The </a:t>
                      </a:r>
                      <a:r>
                        <a:rPr lang="en-US" sz="700" b="0" u="sng">
                          <a:effectLst/>
                          <a:hlinkClick r:id="rId7"/>
                        </a:rPr>
                        <a:t>Dijkstra algorithm </a:t>
                      </a:r>
                      <a:r>
                        <a:rPr lang="en-US" sz="700" b="0">
                          <a:effectLst/>
                        </a:rPr>
                        <a:t>based on the </a:t>
                      </a:r>
                      <a:r>
                        <a:rPr lang="en-US" sz="700" b="0" u="sng">
                          <a:effectLst/>
                          <a:hlinkClick r:id="rId4"/>
                        </a:rPr>
                        <a:t>Greedy approach</a:t>
                      </a:r>
                      <a:r>
                        <a:rPr lang="en-US" sz="700" b="0">
                          <a:effectLst/>
                        </a:rPr>
                        <a:t> and </a:t>
                      </a:r>
                      <a:r>
                        <a:rPr lang="en-US" sz="700" b="0" u="sng">
                          <a:effectLst/>
                          <a:hlinkClick r:id="rId2"/>
                        </a:rPr>
                        <a:t>Bellman ford</a:t>
                      </a:r>
                      <a:r>
                        <a:rPr lang="en-US" sz="700" b="0">
                          <a:effectLst/>
                        </a:rPr>
                        <a:t> based on </a:t>
                      </a:r>
                      <a:r>
                        <a:rPr lang="en-US" sz="700" b="0" u="sng">
                          <a:effectLst/>
                          <a:hlinkClick r:id="rId8"/>
                        </a:rPr>
                        <a:t>Dynamic programming</a:t>
                      </a:r>
                      <a:r>
                        <a:rPr lang="en-US" sz="700" b="0">
                          <a:effectLst/>
                        </a:rPr>
                        <a:t> are generally used for finding the </a:t>
                      </a:r>
                      <a:r>
                        <a:rPr lang="en-US" sz="700" b="0" u="sng">
                          <a:effectLst/>
                          <a:hlinkClick r:id="rId9"/>
                        </a:rPr>
                        <a:t>single-source shortest paths</a:t>
                      </a:r>
                      <a:r>
                        <a:rPr lang="en-US" sz="700" b="0">
                          <a:effectLst/>
                        </a:rPr>
                        <a:t>.</a:t>
                      </a:r>
                    </a:p>
                    <a:p>
                      <a:pPr algn="l" fontAlgn="base">
                        <a:buFont typeface="Arial" panose="020B0604020202020204" pitchFamily="34" charset="0"/>
                        <a:buChar char="•"/>
                      </a:pPr>
                      <a:r>
                        <a:rPr lang="en-US" sz="700" b="0" u="sng">
                          <a:effectLst/>
                          <a:hlinkClick r:id="rId10"/>
                        </a:rPr>
                        <a:t>Floyd-War shall algorithm</a:t>
                      </a:r>
                      <a:r>
                        <a:rPr lang="en-US" sz="700" b="0">
                          <a:effectLst/>
                        </a:rPr>
                        <a:t> based on the </a:t>
                      </a:r>
                      <a:r>
                        <a:rPr lang="en-US" sz="700" b="0" u="sng">
                          <a:effectLst/>
                          <a:hlinkClick r:id="rId8"/>
                        </a:rPr>
                        <a:t>Dynamic programming</a:t>
                      </a:r>
                      <a:r>
                        <a:rPr lang="en-US" sz="700" b="0">
                          <a:effectLst/>
                        </a:rPr>
                        <a:t> is used for finding </a:t>
                      </a:r>
                      <a:r>
                        <a:rPr lang="en-US" sz="700" b="0" u="sng">
                          <a:effectLst/>
                          <a:hlinkClick r:id="rId10"/>
                        </a:rPr>
                        <a:t>all pairs the shortest path.</a:t>
                      </a:r>
                      <a:endParaRPr lang="en-US" sz="700" b="0">
                        <a:effectLst/>
                      </a:endParaRPr>
                    </a:p>
                  </a:txBody>
                  <a:tcPr marL="35115" marR="35115" marT="49161" marB="49161"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755689971"/>
                  </a:ext>
                </a:extLst>
              </a:tr>
              <a:tr h="458173">
                <a:tc>
                  <a:txBody>
                    <a:bodyPr/>
                    <a:lstStyle/>
                    <a:p>
                      <a:pPr algn="ctr" fontAlgn="ctr"/>
                      <a:r>
                        <a:rPr lang="en-US" sz="700" b="0">
                          <a:effectLst/>
                        </a:rPr>
                        <a:t>If there are </a:t>
                      </a:r>
                      <a:r>
                        <a:rPr lang="en-US" sz="700" b="1">
                          <a:effectLst/>
                        </a:rPr>
                        <a:t>N</a:t>
                      </a:r>
                      <a:r>
                        <a:rPr lang="en-US" sz="700" b="0">
                          <a:effectLst/>
                        </a:rPr>
                        <a:t> vertices are present inside graph G then the minimum spanning tree of the graph will contain </a:t>
                      </a:r>
                      <a:r>
                        <a:rPr lang="en-US" sz="700" b="1">
                          <a:effectLst/>
                        </a:rPr>
                        <a:t>N-1</a:t>
                      </a:r>
                      <a:r>
                        <a:rPr lang="en-US" sz="700" b="0">
                          <a:effectLst/>
                        </a:rPr>
                        <a:t> edges and </a:t>
                      </a:r>
                      <a:r>
                        <a:rPr lang="en-US" sz="700" b="1">
                          <a:effectLst/>
                        </a:rPr>
                        <a:t>N</a:t>
                      </a:r>
                      <a:r>
                        <a:rPr lang="en-US" sz="700" b="0">
                          <a:effectLst/>
                        </a:rPr>
                        <a:t> vertices.</a:t>
                      </a:r>
                    </a:p>
                  </a:txBody>
                  <a:tcPr marL="35115" marR="35115" marT="49161" marB="49161"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700" b="0">
                          <a:effectLst/>
                        </a:rPr>
                        <a:t>If there are </a:t>
                      </a:r>
                      <a:r>
                        <a:rPr lang="en-US" sz="700" b="1">
                          <a:effectLst/>
                        </a:rPr>
                        <a:t>N</a:t>
                      </a:r>
                      <a:r>
                        <a:rPr lang="en-US" sz="700" b="0">
                          <a:effectLst/>
                        </a:rPr>
                        <a:t> vertices present inside graph </a:t>
                      </a:r>
                      <a:r>
                        <a:rPr lang="en-US" sz="700" b="1">
                          <a:effectLst/>
                        </a:rPr>
                        <a:t>G</a:t>
                      </a:r>
                      <a:r>
                        <a:rPr lang="en-US" sz="700" b="0">
                          <a:effectLst/>
                        </a:rPr>
                        <a:t>, then in the shortest path between two vertices there can be at most </a:t>
                      </a:r>
                      <a:r>
                        <a:rPr lang="en-US" sz="700" b="1">
                          <a:effectLst/>
                        </a:rPr>
                        <a:t>N-1</a:t>
                      </a:r>
                      <a:r>
                        <a:rPr lang="en-US" sz="700" b="0">
                          <a:effectLst/>
                        </a:rPr>
                        <a:t> edges, and at most</a:t>
                      </a:r>
                      <a:r>
                        <a:rPr lang="en-US" sz="700" b="1">
                          <a:effectLst/>
                        </a:rPr>
                        <a:t> N</a:t>
                      </a:r>
                      <a:r>
                        <a:rPr lang="en-US" sz="700" b="0">
                          <a:effectLst/>
                        </a:rPr>
                        <a:t> vertices can be present in the shortest path.</a:t>
                      </a:r>
                    </a:p>
                  </a:txBody>
                  <a:tcPr marL="35115" marR="35115" marT="49161" marB="49161"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851556866"/>
                  </a:ext>
                </a:extLst>
              </a:tr>
              <a:tr h="365300">
                <a:tc>
                  <a:txBody>
                    <a:bodyPr/>
                    <a:lstStyle/>
                    <a:p>
                      <a:pPr algn="ctr" fontAlgn="ctr"/>
                      <a:r>
                        <a:rPr lang="en-US" sz="700" b="0">
                          <a:effectLst/>
                        </a:rPr>
                        <a:t>It is used in network design (computer networks, telecommunication networks, water supply networks) and in circuit design applications, and many more.</a:t>
                      </a:r>
                    </a:p>
                  </a:txBody>
                  <a:tcPr marL="35115" marR="35115" marT="49161" marB="49161"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700" b="0" dirty="0">
                          <a:effectLst/>
                        </a:rPr>
                        <a:t>It is used to find out direction between physical locations like in Google Map</a:t>
                      </a:r>
                    </a:p>
                  </a:txBody>
                  <a:tcPr marL="35115" marR="35115" marT="49161" marB="49161"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25247629"/>
                  </a:ext>
                </a:extLst>
              </a:tr>
            </a:tbl>
          </a:graphicData>
        </a:graphic>
      </p:graphicFrame>
      <p:sp>
        <p:nvSpPr>
          <p:cNvPr id="6" name="Rectangle 5"/>
          <p:cNvSpPr/>
          <p:nvPr/>
        </p:nvSpPr>
        <p:spPr>
          <a:xfrm>
            <a:off x="609600" y="1524000"/>
            <a:ext cx="8226552" cy="646331"/>
          </a:xfrm>
          <a:prstGeom prst="rect">
            <a:avLst/>
          </a:prstGeom>
        </p:spPr>
        <p:txBody>
          <a:bodyPr wrap="square">
            <a:spAutoFit/>
          </a:bodyPr>
          <a:lstStyle/>
          <a:p>
            <a:r>
              <a:rPr lang="en-US" dirty="0"/>
              <a:t>https://www.geeksforgeeks.org/difference-between-minimum-spanning-tree-and-shortest-path/</a:t>
            </a:r>
          </a:p>
        </p:txBody>
      </p:sp>
    </p:spTree>
    <p:extLst>
      <p:ext uri="{BB962C8B-B14F-4D97-AF65-F5344CB8AC3E}">
        <p14:creationId xmlns:p14="http://schemas.microsoft.com/office/powerpoint/2010/main" val="1405994805"/>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Oriel</Template>
  <TotalTime>17855</TotalTime>
  <Words>5245</Words>
  <Application>Microsoft Office PowerPoint</Application>
  <PresentationFormat>On-screen Show (4:3)</PresentationFormat>
  <Paragraphs>610</Paragraphs>
  <Slides>79</Slides>
  <Notes>4</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79</vt:i4>
      </vt:variant>
    </vt:vector>
  </HeadingPairs>
  <TitlesOfParts>
    <vt:vector size="91" baseType="lpstr">
      <vt:lpstr>Arial</vt:lpstr>
      <vt:lpstr>Calibri</vt:lpstr>
      <vt:lpstr>Century Schoolbook</vt:lpstr>
      <vt:lpstr>Droid Sans</vt:lpstr>
      <vt:lpstr>Nunito</vt:lpstr>
      <vt:lpstr>source-serif-pro</vt:lpstr>
      <vt:lpstr>Symbol</vt:lpstr>
      <vt:lpstr>Tahoma</vt:lpstr>
      <vt:lpstr>Wingdings</vt:lpstr>
      <vt:lpstr>Wingdings 2</vt:lpstr>
      <vt:lpstr>Oriel</vt:lpstr>
      <vt:lpstr>Equation</vt:lpstr>
      <vt:lpstr>Graphs</vt:lpstr>
      <vt:lpstr>Definitions - Graph</vt:lpstr>
      <vt:lpstr>Definitions – Edge Type</vt:lpstr>
      <vt:lpstr>Definitions – Edge Type</vt:lpstr>
      <vt:lpstr>Definitions – Graph Type</vt:lpstr>
      <vt:lpstr>Definitions – Graph Type</vt:lpstr>
      <vt:lpstr>Definitions – Graph Type</vt:lpstr>
      <vt:lpstr>Different Types of Graphs</vt:lpstr>
      <vt:lpstr>Definitions – Graph Type</vt:lpstr>
      <vt:lpstr>Definitions – Graph Type</vt:lpstr>
      <vt:lpstr>Definitions – Graph Type</vt:lpstr>
      <vt:lpstr>Definitions – Graph Type</vt:lpstr>
      <vt:lpstr>Terminology – Undirected graphs</vt:lpstr>
      <vt:lpstr>Terminology – Directed graphs</vt:lpstr>
      <vt:lpstr>Simple graphs – special cases</vt:lpstr>
      <vt:lpstr>Simple graphs – special cases</vt:lpstr>
      <vt:lpstr>Subgraphs</vt:lpstr>
      <vt:lpstr>Subgraphs</vt:lpstr>
      <vt:lpstr>PowerPoint Presentation</vt:lpstr>
      <vt:lpstr>Representation</vt:lpstr>
      <vt:lpstr>Representation- Incidence Matrix</vt:lpstr>
      <vt:lpstr>Representation- Incidence Matrix</vt:lpstr>
      <vt:lpstr>Representation- Incidence Matrix</vt:lpstr>
      <vt:lpstr>Representation- Adjacency Matrix</vt:lpstr>
      <vt:lpstr>Representation- Adjacency Matrix</vt:lpstr>
      <vt:lpstr>Representation- Adjacency Matrix</vt:lpstr>
      <vt:lpstr>Representation- Adjacency Matrix</vt:lpstr>
      <vt:lpstr>Representation- Adjacency List</vt:lpstr>
      <vt:lpstr>Connectivity</vt:lpstr>
      <vt:lpstr>Connectivity – Path</vt:lpstr>
      <vt:lpstr>Connectivity – Path</vt:lpstr>
      <vt:lpstr>Connectivity – Connectedness</vt:lpstr>
      <vt:lpstr>Connectivity – Connectedness</vt:lpstr>
      <vt:lpstr>Graph Traversal Techniques</vt:lpstr>
      <vt:lpstr>PowerPoint Presentation</vt:lpstr>
      <vt:lpstr>Breadth First Search </vt:lpstr>
      <vt:lpstr>Breadth First Search </vt:lpstr>
      <vt:lpstr>BFS</vt:lpstr>
      <vt:lpstr>BFS</vt:lpstr>
      <vt:lpstr>Depth First Search</vt:lpstr>
      <vt:lpstr>DFS</vt:lpstr>
      <vt:lpstr>Illustration of DFS</vt:lpstr>
      <vt:lpstr>Applications of DFS and BFS</vt:lpstr>
      <vt:lpstr>PowerPoint Presentation</vt:lpstr>
      <vt:lpstr>Spanning Tree</vt:lpstr>
      <vt:lpstr>Properties of a Spanning Tree: </vt:lpstr>
      <vt:lpstr>Spanning Tree</vt:lpstr>
      <vt:lpstr>Spanning Tree (weights)</vt:lpstr>
      <vt:lpstr>Minimum Spanning Tree</vt:lpstr>
      <vt:lpstr>PowerPoint Presentation</vt:lpstr>
      <vt:lpstr>Minimum Spanning Tree</vt:lpstr>
      <vt:lpstr>Minimum Cost Spanning Tree</vt:lpstr>
      <vt:lpstr>Minimum Spanning Tree</vt:lpstr>
      <vt:lpstr>Algorithms to find MST</vt:lpstr>
      <vt:lpstr>Example</vt:lpstr>
      <vt:lpstr> Limitations of MST algorithms</vt:lpstr>
      <vt:lpstr>Applications of Minimum Spanning Trees: </vt:lpstr>
      <vt:lpstr>Single Source Shortest Path</vt:lpstr>
      <vt:lpstr>Dijkstra’s Algorithm</vt:lpstr>
      <vt:lpstr>Relaxation of nodes</vt:lpstr>
      <vt:lpstr>PowerPoint Presentation</vt:lpstr>
      <vt:lpstr>PowerPoint Presentation</vt:lpstr>
      <vt:lpstr>PowerPoint Presentation</vt:lpstr>
      <vt:lpstr>Algorithm</vt:lpstr>
      <vt:lpstr>Time &amp; Space Complexity</vt:lpstr>
      <vt:lpstr>Drawbacks</vt:lpstr>
      <vt:lpstr>Practice Question</vt:lpstr>
      <vt:lpstr>Bellman Ford</vt:lpstr>
      <vt:lpstr>PowerPoint Presentation</vt:lpstr>
      <vt:lpstr>PowerPoint Presentation</vt:lpstr>
      <vt:lpstr>Example</vt:lpstr>
      <vt:lpstr>Time and Space Complexity Analysis</vt:lpstr>
      <vt:lpstr>Drawback</vt:lpstr>
      <vt:lpstr>Bellman ford to detect negative weight cycle in the graph </vt:lpstr>
      <vt:lpstr>PowerPoint Presentation</vt:lpstr>
      <vt:lpstr>Difference between Bellman Ford and Dijkstra Algorithms</vt:lpstr>
      <vt:lpstr>Difference between MSTs and Shortest Path Algorithms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AVL TREE</dc:title>
  <dc:creator>Shahina Anwarul</dc:creator>
  <cp:lastModifiedBy>Shahina Anwarul</cp:lastModifiedBy>
  <cp:revision>72</cp:revision>
  <dcterms:created xsi:type="dcterms:W3CDTF">2018-04-08T10:17:27Z</dcterms:created>
  <dcterms:modified xsi:type="dcterms:W3CDTF">2026-04-23T05:24:21Z</dcterms:modified>
</cp:coreProperties>
</file>