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303" r:id="rId32"/>
    <p:sldId id="304" r:id="rId33"/>
    <p:sldId id="305" r:id="rId34"/>
    <p:sldId id="306" r:id="rId35"/>
    <p:sldId id="307" r:id="rId36"/>
    <p:sldId id="310" r:id="rId37"/>
    <p:sldId id="311" r:id="rId38"/>
    <p:sldId id="312" r:id="rId39"/>
    <p:sldId id="313" r:id="rId40"/>
    <p:sldId id="314" r:id="rId41"/>
    <p:sldId id="299" r:id="rId42"/>
    <p:sldId id="308" r:id="rId43"/>
    <p:sldId id="300" r:id="rId44"/>
    <p:sldId id="301" r:id="rId45"/>
    <p:sldId id="30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83" autoAdjust="0"/>
  </p:normalViewPr>
  <p:slideViewPr>
    <p:cSldViewPr>
      <p:cViewPr varScale="1">
        <p:scale>
          <a:sx n="68" d="100"/>
          <a:sy n="68" d="100"/>
        </p:scale>
        <p:origin x="124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F7174-4669-498D-ABF4-7742B93763D8}" type="datetimeFigureOut">
              <a:rPr lang="en-IN" smtClean="0"/>
              <a:t>14-04-2025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C6DE39-288F-47F2-BA8C-AE8BCFC7B114}" type="slidenum">
              <a:rPr lang="en-IN" smtClean="0"/>
              <a:t>‹#›</a:t>
            </a:fld>
            <a:endParaRPr lang="en-IN"/>
          </a:p>
        </p:txBody>
      </p:sp>
    </p:spTree>
    <p:extLst>
      <p:ext uri="{BB962C8B-B14F-4D97-AF65-F5344CB8AC3E}">
        <p14:creationId xmlns:p14="http://schemas.microsoft.com/office/powerpoint/2010/main" val="349129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A heap is a data structure with several applications, including a way to implement Priority Queues, as shown in Chapter 11. The definition of a heap is a special kind of complete binary tree.</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You probably recall that a complete binary tree requires that its nodes are added in a particular order...</a:t>
            </a:r>
          </a:p>
        </p:txBody>
      </p:sp>
      <p:sp>
        <p:nvSpPr>
          <p:cNvPr id="35843"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16020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The first node of a complete binary tree is always the root...</a:t>
            </a:r>
          </a:p>
        </p:txBody>
      </p:sp>
      <p:sp>
        <p:nvSpPr>
          <p:cNvPr id="36867"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732113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...the second node is always the left child of the root...</a:t>
            </a:r>
          </a:p>
        </p:txBody>
      </p:sp>
      <p:sp>
        <p:nvSpPr>
          <p:cNvPr id="37891"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384421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...then the right child of the root...</a:t>
            </a:r>
          </a:p>
        </p:txBody>
      </p:sp>
      <p:sp>
        <p:nvSpPr>
          <p:cNvPr id="38915"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894687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...and so on. The nodes always fill each level from left-to-right...</a:t>
            </a:r>
          </a:p>
          <a:p>
            <a:pPr marL="1828800" lvl="4"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p:txBody>
      </p:sp>
      <p:sp>
        <p:nvSpPr>
          <p:cNvPr id="39939"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888804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...from left-to-right...</a:t>
            </a:r>
          </a:p>
        </p:txBody>
      </p:sp>
      <p:sp>
        <p:nvSpPr>
          <p:cNvPr id="40963"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880220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...from left-to-right...</a:t>
            </a:r>
          </a:p>
        </p:txBody>
      </p:sp>
      <p:sp>
        <p:nvSpPr>
          <p:cNvPr id="41987"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456709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...from left-to-right...</a:t>
            </a:r>
          </a:p>
        </p:txBody>
      </p:sp>
      <p:sp>
        <p:nvSpPr>
          <p:cNvPr id="43011"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162518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...and when a level is filled you start the next level at the left.</a:t>
            </a:r>
          </a:p>
        </p:txBody>
      </p:sp>
      <p:sp>
        <p:nvSpPr>
          <p:cNvPr id="44035"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1693952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So, a heap is a complete binary tree. Each node in a heap contains a key, and these keys must be organized in a particular manner. Notice that this is </a:t>
            </a:r>
            <a:r>
              <a:rPr lang="en-GB" altLang="en-US" u="sng" smtClean="0">
                <a:latin typeface="Arial" charset="0"/>
                <a:cs typeface="Arial Unicode MS" charset="0"/>
              </a:rPr>
              <a:t>not</a:t>
            </a:r>
            <a:r>
              <a:rPr lang="en-GB" altLang="en-US" smtClean="0">
                <a:latin typeface="Arial" charset="0"/>
                <a:cs typeface="Arial Unicode MS" charset="0"/>
              </a:rPr>
              <a:t> a binary search tree, but the keys do follow some semblance of order.</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Can you see what rule is being enforced here?</a:t>
            </a:r>
          </a:p>
        </p:txBody>
      </p:sp>
      <p:sp>
        <p:nvSpPr>
          <p:cNvPr id="45059"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702129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The heap property requires that each node's key is &gt;= to the keys of its children.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This is a handy property because the biggest node is always at the top. Because of this, a heap can easily implement a priority queue (where we need quick access to the highest priority item).</a:t>
            </a:r>
          </a:p>
        </p:txBody>
      </p:sp>
      <p:sp>
        <p:nvSpPr>
          <p:cNvPr id="46083"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087773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We can add new elements to a heap whenever we like. Because the heap is a complete binary search tree, we must add the new element at the next available location, filling in the levels from left-to-right. </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In this example, I have just added the new element with a key of 42.</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Of course, we now have a problem: The heap property is no longer valid. The 42 is bigger than its parent 27.  </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To fix the problem, we will push the new node upwards until it reaches an acceptable location.</a:t>
            </a:r>
          </a:p>
        </p:txBody>
      </p:sp>
      <p:sp>
        <p:nvSpPr>
          <p:cNvPr id="47107"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1342116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Here we have pushed the 42 upward one level, swapping it with its smaller parent 27.  </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We can't stop here though, because the parent 35 is still smaller than the new node 42.</a:t>
            </a:r>
          </a:p>
        </p:txBody>
      </p:sp>
      <p:sp>
        <p:nvSpPr>
          <p:cNvPr id="48131"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835181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Can we stop now?  Yes, because the 42 is less than or equal to its parent. </a:t>
            </a:r>
          </a:p>
        </p:txBody>
      </p:sp>
      <p:sp>
        <p:nvSpPr>
          <p:cNvPr id="49155"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1188985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In general, there are two conditions that can stop the pushing upward:</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1. We reach a spot where the parent is &gt;= the new node, or</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2. We reach the root.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This process is called </a:t>
            </a:r>
            <a:r>
              <a:rPr lang="en-GB" altLang="en-US" u="sng" smtClean="0">
                <a:latin typeface="Arial" charset="0"/>
                <a:cs typeface="Arial Unicode MS" charset="0"/>
              </a:rPr>
              <a:t>reheapification upward </a:t>
            </a:r>
            <a:r>
              <a:rPr lang="en-GB" altLang="en-US" smtClean="0">
                <a:latin typeface="Arial" charset="0"/>
                <a:cs typeface="Arial Unicode MS" charset="0"/>
              </a:rPr>
              <a:t>(I didn't just make up that name, really).</a:t>
            </a:r>
          </a:p>
        </p:txBody>
      </p:sp>
      <p:sp>
        <p:nvSpPr>
          <p:cNvPr id="50179"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601645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We can also remove the top node from a heap. The first step of the removal is to move the last node of the tree onto the root. In this example we move the 27 onto the root.</a:t>
            </a:r>
          </a:p>
        </p:txBody>
      </p:sp>
      <p:sp>
        <p:nvSpPr>
          <p:cNvPr id="51203"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820360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Now the 27 is on top of the heap, and the original root (45) is no longer around. But the heap property is once again violated. </a:t>
            </a:r>
          </a:p>
        </p:txBody>
      </p:sp>
      <p:sp>
        <p:nvSpPr>
          <p:cNvPr id="52227"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2985682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We'll fix the problem by pushing the out-of-place node downward. Perhaps you can guess what the downward pushing is called....</a:t>
            </a:r>
            <a:r>
              <a:rPr lang="en-GB" altLang="en-US" u="sng" smtClean="0">
                <a:latin typeface="Arial" charset="0"/>
                <a:cs typeface="Arial Unicode MS" charset="0"/>
              </a:rPr>
              <a:t>reheapification downward</a:t>
            </a:r>
            <a:r>
              <a:rPr lang="en-GB" altLang="en-US" smtClean="0">
                <a:latin typeface="Arial" charset="0"/>
                <a:cs typeface="Arial Unicode MS" charset="0"/>
              </a:rPr>
              <a:t>.</a:t>
            </a:r>
          </a:p>
        </p:txBody>
      </p:sp>
      <p:sp>
        <p:nvSpPr>
          <p:cNvPr id="53251"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789618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When we push a node downward it is important to swap it with its largest child.  (Otherwise we are creating extra problems by placing the smaller child on top of the larger child.) This is what the tree looks like after one swap. </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Should I continue with the reheapification downward?</a:t>
            </a:r>
          </a:p>
        </p:txBody>
      </p:sp>
      <p:sp>
        <p:nvSpPr>
          <p:cNvPr id="54275"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4060337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Yes, I swap again, and now the 27 is in an acceptable location.</a:t>
            </a:r>
          </a:p>
        </p:txBody>
      </p:sp>
      <p:sp>
        <p:nvSpPr>
          <p:cNvPr id="55299"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786973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Reheapification downward can stop under two circumstances: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1. The children all have keys that are &lt;= the out-of-place node.</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2. The out-of-place node reaches a leaf.</a:t>
            </a:r>
          </a:p>
        </p:txBody>
      </p:sp>
      <p:sp>
        <p:nvSpPr>
          <p:cNvPr id="56323"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840614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This slide shows the typical way that a heap is implemented. For the most part, there is nothing new here, because you already know how to implement a complete binary tree using a partially-filled array. That is what we are doing with the heap.</a:t>
            </a:r>
          </a:p>
        </p:txBody>
      </p:sp>
      <p:sp>
        <p:nvSpPr>
          <p:cNvPr id="57347"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662061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Following the usual technique for implementing a complete binary tree, the data from the root is stored in the first entry of the array.</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latin typeface="Arial" charset="0"/>
              <a:cs typeface="Arial Unicode MS" charset="0"/>
            </a:endParaRPr>
          </a:p>
        </p:txBody>
      </p:sp>
      <p:sp>
        <p:nvSpPr>
          <p:cNvPr id="58371"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2531616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The next two nodes go in the next two locations of the array.</a:t>
            </a:r>
          </a:p>
        </p:txBody>
      </p:sp>
      <p:sp>
        <p:nvSpPr>
          <p:cNvPr id="59395"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090648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and so on.</a:t>
            </a:r>
          </a:p>
        </p:txBody>
      </p:sp>
      <p:sp>
        <p:nvSpPr>
          <p:cNvPr id="60419"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92010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As with any partially-filled array, we are only concerned with the front part of the array. If the tree has five nodes, then we are only concerned with the entries in the first five components of the array.</a:t>
            </a:r>
          </a:p>
        </p:txBody>
      </p:sp>
      <p:sp>
        <p:nvSpPr>
          <p:cNvPr id="61443"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22655933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With this implementation of a heap, there are no pointers. The only way that we know that the array is a heap is the manner in which we manipulate it.</a:t>
            </a:r>
          </a:p>
        </p:txBody>
      </p:sp>
      <p:sp>
        <p:nvSpPr>
          <p:cNvPr id="62467"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3967801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The manipulations are the same manipulations that you've used for a complete binary tree, making it easy to compute the index where various nodes are stored.</a:t>
            </a:r>
          </a:p>
        </p:txBody>
      </p:sp>
      <p:sp>
        <p:nvSpPr>
          <p:cNvPr id="63491"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710895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Text Box 1"/>
          <p:cNvSpPr txBox="1">
            <a:spLocks noGrp="1"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latin typeface="Arial" charset="0"/>
                <a:cs typeface="Arial Unicode MS" charset="0"/>
              </a:rPr>
              <a:t>A quick summary . . .</a:t>
            </a:r>
          </a:p>
        </p:txBody>
      </p:sp>
      <p:sp>
        <p:nvSpPr>
          <p:cNvPr id="64515" name="Rectangle 2"/>
          <p:cNvSpPr>
            <a:spLocks noGrp="1" noRot="1" noChangeAspect="1" noChangeArrowheads="1" noTextEdit="1"/>
          </p:cNvSpPr>
          <p:nvPr>
            <p:ph type="sldImg" idx="1"/>
          </p:nvPr>
        </p:nvSpPr>
        <p:spPr>
          <a:xfrm>
            <a:off x="1150938" y="692150"/>
            <a:ext cx="4556125" cy="3416300"/>
          </a:xfrm>
          <a:ln/>
        </p:spPr>
      </p:sp>
    </p:spTree>
    <p:extLst>
      <p:ext uri="{BB962C8B-B14F-4D97-AF65-F5344CB8AC3E}">
        <p14:creationId xmlns:p14="http://schemas.microsoft.com/office/powerpoint/2010/main" val="922833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Ans</a:t>
            </a:r>
            <a:r>
              <a:rPr lang="en-US" dirty="0" smtClean="0"/>
              <a:t> C</a:t>
            </a:r>
          </a:p>
          <a:p>
            <a:r>
              <a:rPr lang="en-US" dirty="0" err="1" smtClean="0"/>
              <a:t>Ans</a:t>
            </a:r>
            <a:r>
              <a:rPr lang="en-US" dirty="0" smtClean="0"/>
              <a:t> 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5ED033D8-1DB7-4E34-8C6A-A80AF3BD44F7}" type="slidenum">
              <a:rPr lang="en-US" smtClean="0"/>
              <a:t>35</a:t>
            </a:fld>
            <a:endParaRPr lang="en-US"/>
          </a:p>
        </p:txBody>
      </p:sp>
    </p:spTree>
    <p:extLst>
      <p:ext uri="{BB962C8B-B14F-4D97-AF65-F5344CB8AC3E}">
        <p14:creationId xmlns:p14="http://schemas.microsoft.com/office/powerpoint/2010/main" val="1021242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E7577929-AE19-4616-9215-540172FCC40F}" type="datetimeFigureOut">
              <a:rPr lang="en-US" smtClean="0"/>
              <a:t>4/14/2025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472D444A-3CF8-4237-9BE3-778DFCA50DB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E7577929-AE19-4616-9215-540172FCC40F}" type="datetimeFigureOut">
              <a:rPr lang="en-US" smtClean="0"/>
              <a:t>4/14/2025</a:t>
            </a:fld>
            <a:endParaRPr lang="en-US"/>
          </a:p>
        </p:txBody>
      </p:sp>
      <p:sp>
        <p:nvSpPr>
          <p:cNvPr id="9" name="Slide Number Placeholder 8"/>
          <p:cNvSpPr>
            <a:spLocks noGrp="1"/>
          </p:cNvSpPr>
          <p:nvPr>
            <p:ph type="sldNum" sz="quarter" idx="15"/>
          </p:nvPr>
        </p:nvSpPr>
        <p:spPr/>
        <p:txBody>
          <a:bodyPr rtlCol="0"/>
          <a:lstStyle/>
          <a:p>
            <a:fld id="{472D444A-3CF8-4237-9BE3-778DFCA50DBB}"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7577929-AE19-4616-9215-540172FCC40F}" type="datetimeFigureOut">
              <a:rPr lang="en-US" smtClean="0"/>
              <a:t>4/14/2025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472D444A-3CF8-4237-9BE3-778DFCA50DB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7577929-AE19-4616-9215-540172FCC40F}"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2D444A-3CF8-4237-9BE3-778DFCA50DBB}"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E7577929-AE19-4616-9215-540172FCC40F}" type="datetimeFigureOut">
              <a:rPr lang="en-US" smtClean="0"/>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2D444A-3CF8-4237-9BE3-778DFCA50DBB}"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E7577929-AE19-4616-9215-540172FCC40F}" type="datetimeFigureOut">
              <a:rPr lang="en-US" smtClean="0"/>
              <a:t>4/14/2025</a:t>
            </a:fld>
            <a:endParaRPr lang="en-US"/>
          </a:p>
        </p:txBody>
      </p:sp>
      <p:sp>
        <p:nvSpPr>
          <p:cNvPr id="7" name="Slide Number Placeholder 6"/>
          <p:cNvSpPr>
            <a:spLocks noGrp="1"/>
          </p:cNvSpPr>
          <p:nvPr>
            <p:ph type="sldNum" sz="quarter" idx="11"/>
          </p:nvPr>
        </p:nvSpPr>
        <p:spPr/>
        <p:txBody>
          <a:bodyPr rtlCol="0"/>
          <a:lstStyle/>
          <a:p>
            <a:fld id="{472D444A-3CF8-4237-9BE3-778DFCA50DBB}"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77929-AE19-4616-9215-540172FCC40F}" type="datetimeFigureOut">
              <a:rPr lang="en-US" smtClean="0"/>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E7577929-AE19-4616-9215-540172FCC40F}" type="datetimeFigureOut">
              <a:rPr lang="en-US" smtClean="0"/>
              <a:t>4/14/2025</a:t>
            </a:fld>
            <a:endParaRPr lang="en-US"/>
          </a:p>
        </p:txBody>
      </p:sp>
      <p:sp>
        <p:nvSpPr>
          <p:cNvPr id="22" name="Slide Number Placeholder 21"/>
          <p:cNvSpPr>
            <a:spLocks noGrp="1"/>
          </p:cNvSpPr>
          <p:nvPr>
            <p:ph type="sldNum" sz="quarter" idx="15"/>
          </p:nvPr>
        </p:nvSpPr>
        <p:spPr/>
        <p:txBody>
          <a:bodyPr rtlCol="0"/>
          <a:lstStyle/>
          <a:p>
            <a:fld id="{472D444A-3CF8-4237-9BE3-778DFCA50DBB}"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7577929-AE19-4616-9215-540172FCC40F}" type="datetimeFigureOut">
              <a:rPr lang="en-US" smtClean="0"/>
              <a:t>4/14/2025</a:t>
            </a:fld>
            <a:endParaRPr lang="en-US"/>
          </a:p>
        </p:txBody>
      </p:sp>
      <p:sp>
        <p:nvSpPr>
          <p:cNvPr id="18" name="Slide Number Placeholder 17"/>
          <p:cNvSpPr>
            <a:spLocks noGrp="1"/>
          </p:cNvSpPr>
          <p:nvPr>
            <p:ph type="sldNum" sz="quarter" idx="11"/>
          </p:nvPr>
        </p:nvSpPr>
        <p:spPr/>
        <p:txBody>
          <a:bodyPr rtlCol="0"/>
          <a:lstStyle/>
          <a:p>
            <a:fld id="{472D444A-3CF8-4237-9BE3-778DFCA50DBB}"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7577929-AE19-4616-9215-540172FCC40F}" type="datetimeFigureOut">
              <a:rPr lang="en-US" smtClean="0"/>
              <a:t>4/14/2025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472D444A-3CF8-4237-9BE3-778DFCA50DB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geeksforgeeks.org/heap-sort/"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133600"/>
            <a:ext cx="6172200" cy="1219200"/>
          </a:xfrm>
        </p:spPr>
        <p:txBody>
          <a:bodyPr>
            <a:normAutofit/>
          </a:bodyPr>
          <a:lstStyle/>
          <a:p>
            <a:r>
              <a:rPr lang="en-US" sz="5400" dirty="0" smtClean="0"/>
              <a:t>Heaps</a:t>
            </a:r>
            <a:endParaRPr lang="en-US" sz="54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54607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3075" name="Rectangle 2"/>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A </a:t>
            </a:r>
            <a:r>
              <a:rPr lang="en-GB" altLang="en-US" b="1" u="sng" smtClean="0">
                <a:solidFill>
                  <a:srgbClr val="FF8000"/>
                </a:solidFill>
                <a:effectLst/>
              </a:rPr>
              <a:t>heap </a:t>
            </a:r>
            <a:r>
              <a:rPr lang="en-GB" altLang="en-US" smtClean="0">
                <a:effectLst/>
              </a:rPr>
              <a:t>is a certain kind of complete binary tree.</a:t>
            </a:r>
          </a:p>
        </p:txBody>
      </p:sp>
    </p:spTree>
    <p:extLst>
      <p:ext uri="{BB962C8B-B14F-4D97-AF65-F5344CB8AC3E}">
        <p14:creationId xmlns:p14="http://schemas.microsoft.com/office/powerpoint/2010/main" val="264012863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4099" name="Rectangle 2"/>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A </a:t>
            </a:r>
            <a:r>
              <a:rPr lang="en-GB" altLang="en-US" b="1" u="sng" smtClean="0">
                <a:solidFill>
                  <a:srgbClr val="FF8000"/>
                </a:solidFill>
                <a:effectLst/>
              </a:rPr>
              <a:t>heap</a:t>
            </a:r>
            <a:r>
              <a:rPr lang="en-GB" altLang="en-US" smtClean="0">
                <a:effectLst/>
              </a:rPr>
              <a:t> is a certain kind of complete binary tree.</a:t>
            </a:r>
          </a:p>
        </p:txBody>
      </p:sp>
      <p:grpSp>
        <p:nvGrpSpPr>
          <p:cNvPr id="4100" name="Group 3"/>
          <p:cNvGrpSpPr>
            <a:grpSpLocks/>
          </p:cNvGrpSpPr>
          <p:nvPr/>
        </p:nvGrpSpPr>
        <p:grpSpPr bwMode="auto">
          <a:xfrm>
            <a:off x="2871788" y="4610100"/>
            <a:ext cx="3186112" cy="1570038"/>
            <a:chOff x="1809" y="2904"/>
            <a:chExt cx="2007" cy="989"/>
          </a:xfrm>
        </p:grpSpPr>
        <p:sp>
          <p:nvSpPr>
            <p:cNvPr id="5124" name="AutoShape 4"/>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4104" name="AutoShape 5"/>
            <p:cNvSpPr>
              <a:spLocks noChangeArrowheads="1"/>
            </p:cNvSpPr>
            <p:nvPr/>
          </p:nvSpPr>
          <p:spPr bwMode="auto">
            <a:xfrm>
              <a:off x="1850"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When a complete</a:t>
              </a:r>
            </a:p>
            <a:p>
              <a:pPr algn="ctr">
                <a:spcBef>
                  <a:spcPct val="0"/>
                </a:spcBef>
                <a:buClr>
                  <a:srgbClr val="E0E0E0"/>
                </a:buClr>
                <a:buSzPct val="100000"/>
                <a:buFont typeface="Arial" charset="0"/>
                <a:buNone/>
              </a:pPr>
              <a:r>
                <a:rPr lang="en-GB" altLang="en-US" sz="2400">
                  <a:solidFill>
                    <a:schemeClr val="tx1"/>
                  </a:solidFill>
                </a:rPr>
                <a:t>binary tree is built,</a:t>
              </a:r>
            </a:p>
            <a:p>
              <a:pPr algn="ctr">
                <a:spcBef>
                  <a:spcPct val="0"/>
                </a:spcBef>
                <a:buClr>
                  <a:srgbClr val="E0E0E0"/>
                </a:buClr>
                <a:buSzPct val="100000"/>
                <a:buFont typeface="Arial" charset="0"/>
                <a:buNone/>
              </a:pPr>
              <a:r>
                <a:rPr lang="en-GB" altLang="en-US" sz="2400">
                  <a:solidFill>
                    <a:schemeClr val="tx1"/>
                  </a:solidFill>
                </a:rPr>
                <a:t>its first node must be</a:t>
              </a:r>
            </a:p>
            <a:p>
              <a:pPr algn="ctr">
                <a:spcBef>
                  <a:spcPct val="0"/>
                </a:spcBef>
                <a:buClr>
                  <a:srgbClr val="E0E0E0"/>
                </a:buClr>
                <a:buSzPct val="100000"/>
                <a:buFont typeface="Arial" charset="0"/>
                <a:buNone/>
              </a:pPr>
              <a:r>
                <a:rPr lang="en-GB" altLang="en-US" sz="2400">
                  <a:solidFill>
                    <a:schemeClr val="tx1"/>
                  </a:solidFill>
                </a:rPr>
                <a:t>the root.</a:t>
              </a:r>
            </a:p>
          </p:txBody>
        </p:sp>
      </p:grpSp>
      <p:sp>
        <p:nvSpPr>
          <p:cNvPr id="4101" name="AutoShape 6"/>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4102" name="AutoShape 7"/>
          <p:cNvSpPr>
            <a:spLocks noChangeArrowheads="1"/>
          </p:cNvSpPr>
          <p:nvPr/>
        </p:nvSpPr>
        <p:spPr bwMode="auto">
          <a:xfrm>
            <a:off x="7299325" y="1081088"/>
            <a:ext cx="7762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a:solidFill>
                  <a:schemeClr val="bg1"/>
                </a:solidFill>
              </a:rPr>
              <a:t>Root</a:t>
            </a:r>
          </a:p>
        </p:txBody>
      </p:sp>
    </p:spTree>
    <p:extLst>
      <p:ext uri="{BB962C8B-B14F-4D97-AF65-F5344CB8AC3E}">
        <p14:creationId xmlns:p14="http://schemas.microsoft.com/office/powerpoint/2010/main" val="502734978"/>
      </p:ext>
    </p:extLst>
  </p:cSld>
  <p:clrMapOvr>
    <a:masterClrMapping/>
  </p:clrMapOvr>
  <p:transition>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1"/>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 name="Rectangle 2"/>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5124" name="Rectangle 3"/>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sp>
        <p:nvSpPr>
          <p:cNvPr id="5125" name="AutoShape 4"/>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5126" name="AutoShape 5"/>
          <p:cNvSpPr>
            <a:spLocks noChangeArrowheads="1"/>
          </p:cNvSpPr>
          <p:nvPr/>
        </p:nvSpPr>
        <p:spPr bwMode="auto">
          <a:xfrm>
            <a:off x="4271963" y="1857375"/>
            <a:ext cx="1377950" cy="1187450"/>
          </a:xfrm>
          <a:prstGeom prst="roundRect">
            <a:avLst>
              <a:gd name="adj" fmla="val 13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a:solidFill>
                  <a:schemeClr val="bg1"/>
                </a:solidFill>
              </a:rPr>
              <a:t>Left child</a:t>
            </a:r>
          </a:p>
          <a:p>
            <a:pPr>
              <a:spcBef>
                <a:spcPct val="0"/>
              </a:spcBef>
              <a:buClr>
                <a:srgbClr val="E0E0E0"/>
              </a:buClr>
              <a:buSzPct val="100000"/>
              <a:buFont typeface="Times New Roman" pitchFamily="18" charset="0"/>
              <a:buNone/>
            </a:pPr>
            <a:r>
              <a:rPr lang="en-GB" altLang="en-US" sz="2400">
                <a:solidFill>
                  <a:schemeClr val="bg1"/>
                </a:solidFill>
              </a:rPr>
              <a:t>of the</a:t>
            </a:r>
          </a:p>
          <a:p>
            <a:pPr>
              <a:spcBef>
                <a:spcPct val="0"/>
              </a:spcBef>
              <a:buClr>
                <a:srgbClr val="E0E0E0"/>
              </a:buClr>
              <a:buSzPct val="100000"/>
              <a:buFont typeface="Times New Roman" pitchFamily="18" charset="0"/>
              <a:buNone/>
            </a:pPr>
            <a:r>
              <a:rPr lang="en-GB" altLang="en-US" sz="2400">
                <a:solidFill>
                  <a:schemeClr val="bg1"/>
                </a:solidFill>
              </a:rPr>
              <a:t>root</a:t>
            </a:r>
          </a:p>
        </p:txBody>
      </p:sp>
      <p:grpSp>
        <p:nvGrpSpPr>
          <p:cNvPr id="5127" name="Group 6"/>
          <p:cNvGrpSpPr>
            <a:grpSpLocks/>
          </p:cNvGrpSpPr>
          <p:nvPr/>
        </p:nvGrpSpPr>
        <p:grpSpPr bwMode="auto">
          <a:xfrm>
            <a:off x="2871788" y="4610100"/>
            <a:ext cx="3186112" cy="1570038"/>
            <a:chOff x="1809" y="2904"/>
            <a:chExt cx="2007" cy="989"/>
          </a:xfrm>
        </p:grpSpPr>
        <p:sp>
          <p:nvSpPr>
            <p:cNvPr id="6151" name="AutoShape 7"/>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5130" name="AutoShape 8"/>
            <p:cNvSpPr>
              <a:spLocks noChangeArrowheads="1"/>
            </p:cNvSpPr>
            <p:nvPr/>
          </p:nvSpPr>
          <p:spPr bwMode="auto">
            <a:xfrm>
              <a:off x="1850"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The second node is</a:t>
              </a:r>
            </a:p>
            <a:p>
              <a:pPr algn="ctr">
                <a:spcBef>
                  <a:spcPct val="0"/>
                </a:spcBef>
                <a:buClr>
                  <a:srgbClr val="E0E0E0"/>
                </a:buClr>
                <a:buSzPct val="100000"/>
                <a:buFont typeface="Arial" charset="0"/>
                <a:buNone/>
              </a:pPr>
              <a:r>
                <a:rPr lang="en-GB" altLang="en-US" sz="2400">
                  <a:solidFill>
                    <a:schemeClr val="tx1"/>
                  </a:solidFill>
                </a:rPr>
                <a:t>always the left child</a:t>
              </a:r>
            </a:p>
            <a:p>
              <a:pPr algn="ctr">
                <a:spcBef>
                  <a:spcPct val="0"/>
                </a:spcBef>
                <a:buClr>
                  <a:srgbClr val="E0E0E0"/>
                </a:buClr>
                <a:buSzPct val="100000"/>
                <a:buFont typeface="Arial" charset="0"/>
                <a:buNone/>
              </a:pPr>
              <a:r>
                <a:rPr lang="en-GB" altLang="en-US" sz="2400">
                  <a:solidFill>
                    <a:schemeClr val="tx1"/>
                  </a:solidFill>
                </a:rPr>
                <a:t>of the root.</a:t>
              </a:r>
            </a:p>
          </p:txBody>
        </p:sp>
      </p:grpSp>
      <p:sp>
        <p:nvSpPr>
          <p:cNvPr id="5128" name="AutoShape 9"/>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3946888914"/>
      </p:ext>
    </p:extLst>
  </p:cSld>
  <p:clrMapOvr>
    <a:masterClrMapping/>
  </p:clrMapOvr>
  <p:transition>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1"/>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 name="Rectangle 2"/>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6148" name="Rectangle 3"/>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sp>
        <p:nvSpPr>
          <p:cNvPr id="6149" name="AutoShape 4"/>
          <p:cNvSpPr>
            <a:spLocks noChangeArrowheads="1"/>
          </p:cNvSpPr>
          <p:nvPr/>
        </p:nvSpPr>
        <p:spPr bwMode="auto">
          <a:xfrm>
            <a:off x="7580313" y="1919288"/>
            <a:ext cx="1547812" cy="1187450"/>
          </a:xfrm>
          <a:prstGeom prst="roundRect">
            <a:avLst>
              <a:gd name="adj" fmla="val 13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r">
              <a:lnSpc>
                <a:spcPct val="95000"/>
              </a:lnSpc>
              <a:spcBef>
                <a:spcPct val="0"/>
              </a:spcBef>
              <a:buClr>
                <a:srgbClr val="E0E0E0"/>
              </a:buClr>
              <a:buSzPct val="100000"/>
              <a:buFont typeface="Times New Roman" pitchFamily="18" charset="0"/>
              <a:buNone/>
            </a:pPr>
            <a:r>
              <a:rPr lang="en-GB" altLang="en-US" sz="2400">
                <a:solidFill>
                  <a:schemeClr val="bg1"/>
                </a:solidFill>
              </a:rPr>
              <a:t>Right child</a:t>
            </a:r>
          </a:p>
          <a:p>
            <a:pPr algn="r">
              <a:spcBef>
                <a:spcPct val="0"/>
              </a:spcBef>
              <a:buClr>
                <a:srgbClr val="E0E0E0"/>
              </a:buClr>
              <a:buSzPct val="100000"/>
              <a:buFont typeface="Times New Roman" pitchFamily="18" charset="0"/>
              <a:buNone/>
            </a:pPr>
            <a:r>
              <a:rPr lang="en-GB" altLang="en-US" sz="2400">
                <a:solidFill>
                  <a:schemeClr val="bg1"/>
                </a:solidFill>
              </a:rPr>
              <a:t>of the</a:t>
            </a:r>
          </a:p>
          <a:p>
            <a:pPr algn="r">
              <a:spcBef>
                <a:spcPct val="0"/>
              </a:spcBef>
              <a:buClr>
                <a:srgbClr val="E0E0E0"/>
              </a:buClr>
              <a:buSzPct val="100000"/>
              <a:buFont typeface="Times New Roman" pitchFamily="18" charset="0"/>
              <a:buNone/>
            </a:pPr>
            <a:r>
              <a:rPr lang="en-GB" altLang="en-US" sz="2400">
                <a:solidFill>
                  <a:schemeClr val="bg1"/>
                </a:solidFill>
              </a:rPr>
              <a:t>root</a:t>
            </a:r>
          </a:p>
        </p:txBody>
      </p:sp>
      <p:grpSp>
        <p:nvGrpSpPr>
          <p:cNvPr id="6150" name="Group 5"/>
          <p:cNvGrpSpPr>
            <a:grpSpLocks/>
          </p:cNvGrpSpPr>
          <p:nvPr/>
        </p:nvGrpSpPr>
        <p:grpSpPr bwMode="auto">
          <a:xfrm>
            <a:off x="2871788" y="4610100"/>
            <a:ext cx="3186112" cy="1570038"/>
            <a:chOff x="1809" y="2904"/>
            <a:chExt cx="2007" cy="989"/>
          </a:xfrm>
        </p:grpSpPr>
        <p:sp>
          <p:nvSpPr>
            <p:cNvPr id="7174" name="AutoShape 6"/>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6156" name="AutoShape 7"/>
            <p:cNvSpPr>
              <a:spLocks noChangeArrowheads="1"/>
            </p:cNvSpPr>
            <p:nvPr/>
          </p:nvSpPr>
          <p:spPr bwMode="auto">
            <a:xfrm>
              <a:off x="1850"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The third node is</a:t>
              </a:r>
            </a:p>
            <a:p>
              <a:pPr algn="ctr">
                <a:spcBef>
                  <a:spcPct val="0"/>
                </a:spcBef>
                <a:buClr>
                  <a:srgbClr val="E0E0E0"/>
                </a:buClr>
                <a:buSzPct val="100000"/>
                <a:buFont typeface="Arial" charset="0"/>
                <a:buNone/>
              </a:pPr>
              <a:r>
                <a:rPr lang="en-GB" altLang="en-US" sz="2400">
                  <a:solidFill>
                    <a:schemeClr val="tx1"/>
                  </a:solidFill>
                </a:rPr>
                <a:t>always the right child</a:t>
              </a:r>
            </a:p>
            <a:p>
              <a:pPr algn="ctr">
                <a:spcBef>
                  <a:spcPct val="0"/>
                </a:spcBef>
                <a:buClr>
                  <a:srgbClr val="E0E0E0"/>
                </a:buClr>
                <a:buSzPct val="100000"/>
                <a:buFont typeface="Arial" charset="0"/>
                <a:buNone/>
              </a:pPr>
              <a:r>
                <a:rPr lang="en-GB" altLang="en-US" sz="2400">
                  <a:solidFill>
                    <a:schemeClr val="tx1"/>
                  </a:solidFill>
                </a:rPr>
                <a:t>of the root.</a:t>
              </a:r>
            </a:p>
          </p:txBody>
        </p:sp>
      </p:grpSp>
      <p:sp>
        <p:nvSpPr>
          <p:cNvPr id="6151" name="AutoShape 8"/>
          <p:cNvSpPr>
            <a:spLocks noChangeArrowheads="1"/>
          </p:cNvSpPr>
          <p:nvPr/>
        </p:nvSpPr>
        <p:spPr bwMode="auto">
          <a:xfrm>
            <a:off x="7437438" y="23987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6152" name="Line 9"/>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 name="AutoShape 10"/>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6154" name="AutoShape 11"/>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2900074367"/>
      </p:ext>
    </p:extLst>
  </p:cSld>
  <p:clrMapOvr>
    <a:masterClrMapping/>
  </p:clrMapOvr>
  <p:transition>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1"/>
          <p:cNvGrpSpPr>
            <a:grpSpLocks/>
          </p:cNvGrpSpPr>
          <p:nvPr/>
        </p:nvGrpSpPr>
        <p:grpSpPr bwMode="auto">
          <a:xfrm>
            <a:off x="4679950" y="2941638"/>
            <a:ext cx="1157288" cy="1103312"/>
            <a:chOff x="2948" y="1853"/>
            <a:chExt cx="729" cy="695"/>
          </a:xfrm>
        </p:grpSpPr>
        <p:sp>
          <p:nvSpPr>
            <p:cNvPr id="7181" name="Line 2"/>
            <p:cNvSpPr>
              <a:spLocks noChangeShapeType="1"/>
            </p:cNvSpPr>
            <p:nvPr/>
          </p:nvSpPr>
          <p:spPr bwMode="auto">
            <a:xfrm flipH="1">
              <a:off x="3322"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82" name="AutoShape 3"/>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7171" name="Rectangle 4"/>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7172" name="Rectangle 5"/>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grpSp>
        <p:nvGrpSpPr>
          <p:cNvPr id="7173" name="Group 6"/>
          <p:cNvGrpSpPr>
            <a:grpSpLocks/>
          </p:cNvGrpSpPr>
          <p:nvPr/>
        </p:nvGrpSpPr>
        <p:grpSpPr bwMode="auto">
          <a:xfrm>
            <a:off x="2871788" y="4610100"/>
            <a:ext cx="3186112" cy="1570038"/>
            <a:chOff x="1809" y="2904"/>
            <a:chExt cx="2007" cy="989"/>
          </a:xfrm>
        </p:grpSpPr>
        <p:sp>
          <p:nvSpPr>
            <p:cNvPr id="8199" name="AutoShape 7"/>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8200" name="AutoShape 8"/>
            <p:cNvSpPr>
              <a:spLocks noChangeArrowheads="1"/>
            </p:cNvSpPr>
            <p:nvPr/>
          </p:nvSpPr>
          <p:spPr bwMode="auto">
            <a:xfrm>
              <a:off x="1850" y="2945"/>
              <a:ext cx="1926" cy="908"/>
            </a:xfrm>
            <a:prstGeom prst="roundRect">
              <a:avLst>
                <a:gd name="adj" fmla="val 106"/>
              </a:avLst>
            </a:prstGeom>
            <a:noFill/>
            <a:ln w="9525">
              <a:noFill/>
              <a:round/>
              <a:headEnd/>
              <a:tailEnd/>
            </a:ln>
          </p:spPr>
          <p:txBody>
            <a:bodyPr lIns="90360" tIns="44280" rIns="90360" bIns="44280" anchor="ctr" anchorCtr="1"/>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400">
                  <a:solidFill>
                    <a:schemeClr val="tx1"/>
                  </a:solidFill>
                  <a:latin typeface="Times New Roman" pitchFamily="16" charset="0"/>
                  <a:cs typeface="+mn-cs"/>
                </a:rPr>
                <a:t>The next nodes</a:t>
              </a:r>
            </a:p>
            <a:p>
              <a:pPr algn="ctr">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400">
                  <a:solidFill>
                    <a:schemeClr val="tx1"/>
                  </a:solidFill>
                  <a:latin typeface="Times New Roman" pitchFamily="16" charset="0"/>
                  <a:cs typeface="+mn-cs"/>
                </a:rPr>
                <a:t>always fill the next</a:t>
              </a:r>
            </a:p>
            <a:p>
              <a:pPr algn="ctr">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400">
                  <a:solidFill>
                    <a:schemeClr val="tx1"/>
                  </a:solidFill>
                  <a:latin typeface="Times New Roman" pitchFamily="16" charset="0"/>
                  <a:cs typeface="+mn-cs"/>
                </a:rPr>
                <a:t>level from left-to-right</a:t>
              </a:r>
              <a:r>
                <a:rPr lang="en-GB" sz="2400">
                  <a:solidFill>
                    <a:schemeClr val="tx1"/>
                  </a:solidFill>
                  <a:effectLst>
                    <a:outerShdw blurRad="38100" dist="38100" dir="2700000" algn="tl">
                      <a:srgbClr val="FFFFFF"/>
                    </a:outerShdw>
                  </a:effectLst>
                  <a:latin typeface="Times New Roman" pitchFamily="16" charset="0"/>
                  <a:cs typeface="+mn-cs"/>
                </a:rPr>
                <a:t>.</a:t>
              </a:r>
            </a:p>
          </p:txBody>
        </p:sp>
      </p:grpSp>
      <p:sp>
        <p:nvSpPr>
          <p:cNvPr id="7174" name="Line 9"/>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5" name="AutoShape 10"/>
          <p:cNvSpPr>
            <a:spLocks noChangeArrowheads="1"/>
          </p:cNvSpPr>
          <p:nvPr/>
        </p:nvSpPr>
        <p:spPr bwMode="auto">
          <a:xfrm>
            <a:off x="7437438" y="23987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7176" name="Line 11"/>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7" name="AutoShape 12"/>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7178" name="AutoShape 13"/>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4101746530"/>
      </p:ext>
    </p:extLst>
  </p:cSld>
  <p:clrMapOvr>
    <a:masterClrMapping/>
  </p:clrMapOvr>
  <p:transition>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1"/>
          <p:cNvGrpSpPr>
            <a:grpSpLocks/>
          </p:cNvGrpSpPr>
          <p:nvPr/>
        </p:nvGrpSpPr>
        <p:grpSpPr bwMode="auto">
          <a:xfrm>
            <a:off x="5516563" y="2941638"/>
            <a:ext cx="1157287" cy="1103312"/>
            <a:chOff x="3475" y="1853"/>
            <a:chExt cx="729" cy="695"/>
          </a:xfrm>
        </p:grpSpPr>
        <p:sp>
          <p:nvSpPr>
            <p:cNvPr id="8208" name="Line 2"/>
            <p:cNvSpPr>
              <a:spLocks noChangeShapeType="1"/>
            </p:cNvSpPr>
            <p:nvPr/>
          </p:nvSpPr>
          <p:spPr bwMode="auto">
            <a:xfrm>
              <a:off x="3475" y="1853"/>
              <a:ext cx="355"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9" name="AutoShape 3"/>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8195" name="Rectangle 4"/>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8196" name="Rectangle 5"/>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grpSp>
        <p:nvGrpSpPr>
          <p:cNvPr id="8197" name="Group 6"/>
          <p:cNvGrpSpPr>
            <a:grpSpLocks/>
          </p:cNvGrpSpPr>
          <p:nvPr/>
        </p:nvGrpSpPr>
        <p:grpSpPr bwMode="auto">
          <a:xfrm>
            <a:off x="2871788" y="4610100"/>
            <a:ext cx="3186112" cy="1570038"/>
            <a:chOff x="1809" y="2904"/>
            <a:chExt cx="2007" cy="989"/>
          </a:xfrm>
        </p:grpSpPr>
        <p:sp>
          <p:nvSpPr>
            <p:cNvPr id="9223" name="AutoShape 7"/>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8207" name="AutoShape 8"/>
            <p:cNvSpPr>
              <a:spLocks noChangeArrowheads="1"/>
            </p:cNvSpPr>
            <p:nvPr/>
          </p:nvSpPr>
          <p:spPr bwMode="auto">
            <a:xfrm>
              <a:off x="1850"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nchorCtr="1"/>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The next nodes</a:t>
              </a:r>
            </a:p>
            <a:p>
              <a:pPr algn="ctr">
                <a:spcBef>
                  <a:spcPct val="0"/>
                </a:spcBef>
                <a:buClr>
                  <a:srgbClr val="E0E0E0"/>
                </a:buClr>
                <a:buSzPct val="100000"/>
                <a:buFont typeface="Arial" charset="0"/>
                <a:buNone/>
              </a:pPr>
              <a:r>
                <a:rPr lang="en-GB" altLang="en-US" sz="2400">
                  <a:solidFill>
                    <a:schemeClr val="tx1"/>
                  </a:solidFill>
                </a:rPr>
                <a:t>always fill the next</a:t>
              </a:r>
            </a:p>
            <a:p>
              <a:pPr algn="ctr">
                <a:spcBef>
                  <a:spcPct val="0"/>
                </a:spcBef>
                <a:buClr>
                  <a:srgbClr val="E0E0E0"/>
                </a:buClr>
                <a:buSzPct val="100000"/>
                <a:buFont typeface="Arial" charset="0"/>
                <a:buNone/>
              </a:pPr>
              <a:r>
                <a:rPr lang="en-GB" altLang="en-US" sz="2400">
                  <a:solidFill>
                    <a:schemeClr val="tx1"/>
                  </a:solidFill>
                </a:rPr>
                <a:t>level from left-to-right.</a:t>
              </a:r>
            </a:p>
          </p:txBody>
        </p:sp>
      </p:grpSp>
      <p:grpSp>
        <p:nvGrpSpPr>
          <p:cNvPr id="8198" name="Group 9"/>
          <p:cNvGrpSpPr>
            <a:grpSpLocks/>
          </p:cNvGrpSpPr>
          <p:nvPr/>
        </p:nvGrpSpPr>
        <p:grpSpPr bwMode="auto">
          <a:xfrm>
            <a:off x="4679950" y="2941638"/>
            <a:ext cx="1157288" cy="1103312"/>
            <a:chOff x="2948" y="1853"/>
            <a:chExt cx="729" cy="695"/>
          </a:xfrm>
        </p:grpSpPr>
        <p:sp>
          <p:nvSpPr>
            <p:cNvPr id="8204" name="Line 10"/>
            <p:cNvSpPr>
              <a:spLocks noChangeShapeType="1"/>
            </p:cNvSpPr>
            <p:nvPr/>
          </p:nvSpPr>
          <p:spPr bwMode="auto">
            <a:xfrm flipH="1">
              <a:off x="3322"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 name="AutoShape 1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8199" name="Line 12"/>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 name="AutoShape 13"/>
          <p:cNvSpPr>
            <a:spLocks noChangeArrowheads="1"/>
          </p:cNvSpPr>
          <p:nvPr/>
        </p:nvSpPr>
        <p:spPr bwMode="auto">
          <a:xfrm>
            <a:off x="7437438" y="23987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8201" name="Line 14"/>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 name="AutoShape 15"/>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8203" name="AutoShape 16"/>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1022407020"/>
      </p:ext>
    </p:extLst>
  </p:cSld>
  <p:clrMapOvr>
    <a:masterClrMapping/>
  </p:clrMapOvr>
  <p:transition>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9219" name="Rectangle 2"/>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grpSp>
        <p:nvGrpSpPr>
          <p:cNvPr id="9220" name="Group 3"/>
          <p:cNvGrpSpPr>
            <a:grpSpLocks/>
          </p:cNvGrpSpPr>
          <p:nvPr/>
        </p:nvGrpSpPr>
        <p:grpSpPr bwMode="auto">
          <a:xfrm>
            <a:off x="2871788" y="4610100"/>
            <a:ext cx="3186112" cy="1570038"/>
            <a:chOff x="1809" y="2904"/>
            <a:chExt cx="2007" cy="989"/>
          </a:xfrm>
        </p:grpSpPr>
        <p:sp>
          <p:nvSpPr>
            <p:cNvPr id="10244" name="AutoShape 4"/>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9236" name="AutoShape 5"/>
            <p:cNvSpPr>
              <a:spLocks noChangeArrowheads="1"/>
            </p:cNvSpPr>
            <p:nvPr/>
          </p:nvSpPr>
          <p:spPr bwMode="auto">
            <a:xfrm>
              <a:off x="1850"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nchorCtr="1"/>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The next nodes</a:t>
              </a:r>
            </a:p>
            <a:p>
              <a:pPr algn="ctr">
                <a:spcBef>
                  <a:spcPct val="0"/>
                </a:spcBef>
                <a:buClr>
                  <a:srgbClr val="E0E0E0"/>
                </a:buClr>
                <a:buSzPct val="100000"/>
                <a:buFont typeface="Arial" charset="0"/>
                <a:buNone/>
              </a:pPr>
              <a:r>
                <a:rPr lang="en-GB" altLang="en-US" sz="2400">
                  <a:solidFill>
                    <a:schemeClr val="tx1"/>
                  </a:solidFill>
                </a:rPr>
                <a:t>always fill the next</a:t>
              </a:r>
            </a:p>
            <a:p>
              <a:pPr algn="ctr">
                <a:spcBef>
                  <a:spcPct val="0"/>
                </a:spcBef>
                <a:buClr>
                  <a:srgbClr val="E0E0E0"/>
                </a:buClr>
                <a:buSzPct val="100000"/>
                <a:buFont typeface="Arial" charset="0"/>
                <a:buNone/>
              </a:pPr>
              <a:r>
                <a:rPr lang="en-GB" altLang="en-US" sz="2400">
                  <a:solidFill>
                    <a:schemeClr val="tx1"/>
                  </a:solidFill>
                </a:rPr>
                <a:t>level from left-to-right.</a:t>
              </a:r>
            </a:p>
          </p:txBody>
        </p:sp>
      </p:grpSp>
      <p:grpSp>
        <p:nvGrpSpPr>
          <p:cNvPr id="9221" name="Group 6"/>
          <p:cNvGrpSpPr>
            <a:grpSpLocks/>
          </p:cNvGrpSpPr>
          <p:nvPr/>
        </p:nvGrpSpPr>
        <p:grpSpPr bwMode="auto">
          <a:xfrm>
            <a:off x="6892925" y="2941638"/>
            <a:ext cx="1157288" cy="1103312"/>
            <a:chOff x="4342" y="1853"/>
            <a:chExt cx="729" cy="695"/>
          </a:xfrm>
        </p:grpSpPr>
        <p:sp>
          <p:nvSpPr>
            <p:cNvPr id="9233" name="Line 7"/>
            <p:cNvSpPr>
              <a:spLocks noChangeShapeType="1"/>
            </p:cNvSpPr>
            <p:nvPr/>
          </p:nvSpPr>
          <p:spPr bwMode="auto">
            <a:xfrm flipH="1">
              <a:off x="4716"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4" name="AutoShape 8"/>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9222" name="Group 9"/>
          <p:cNvGrpSpPr>
            <a:grpSpLocks/>
          </p:cNvGrpSpPr>
          <p:nvPr/>
        </p:nvGrpSpPr>
        <p:grpSpPr bwMode="auto">
          <a:xfrm>
            <a:off x="5516563" y="2941638"/>
            <a:ext cx="1157287" cy="1103312"/>
            <a:chOff x="3475" y="1853"/>
            <a:chExt cx="729" cy="695"/>
          </a:xfrm>
        </p:grpSpPr>
        <p:sp>
          <p:nvSpPr>
            <p:cNvPr id="9231" name="Line 10"/>
            <p:cNvSpPr>
              <a:spLocks noChangeShapeType="1"/>
            </p:cNvSpPr>
            <p:nvPr/>
          </p:nvSpPr>
          <p:spPr bwMode="auto">
            <a:xfrm>
              <a:off x="3475" y="1853"/>
              <a:ext cx="355"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 name="AutoShape 11"/>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9223" name="Group 12"/>
          <p:cNvGrpSpPr>
            <a:grpSpLocks/>
          </p:cNvGrpSpPr>
          <p:nvPr/>
        </p:nvGrpSpPr>
        <p:grpSpPr bwMode="auto">
          <a:xfrm>
            <a:off x="4679950" y="2941638"/>
            <a:ext cx="1157288" cy="1103312"/>
            <a:chOff x="2948" y="1853"/>
            <a:chExt cx="729" cy="695"/>
          </a:xfrm>
        </p:grpSpPr>
        <p:sp>
          <p:nvSpPr>
            <p:cNvPr id="9229" name="Line 13"/>
            <p:cNvSpPr>
              <a:spLocks noChangeShapeType="1"/>
            </p:cNvSpPr>
            <p:nvPr/>
          </p:nvSpPr>
          <p:spPr bwMode="auto">
            <a:xfrm flipH="1">
              <a:off x="3322"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0" name="AutoShape 14"/>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9224" name="Line 15"/>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 name="AutoShape 16"/>
          <p:cNvSpPr>
            <a:spLocks noChangeArrowheads="1"/>
          </p:cNvSpPr>
          <p:nvPr/>
        </p:nvSpPr>
        <p:spPr bwMode="auto">
          <a:xfrm>
            <a:off x="7437438" y="23987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9226" name="Line 1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7" name="AutoShape 18"/>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9228" name="AutoShape 19"/>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2851874616"/>
      </p:ext>
    </p:extLst>
  </p:cSld>
  <p:clrMapOvr>
    <a:masterClrMapping/>
  </p:clrMapOvr>
  <p:transition>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1"/>
          <p:cNvGrpSpPr>
            <a:grpSpLocks/>
          </p:cNvGrpSpPr>
          <p:nvPr/>
        </p:nvGrpSpPr>
        <p:grpSpPr bwMode="auto">
          <a:xfrm>
            <a:off x="7697788" y="2941638"/>
            <a:ext cx="1157287" cy="1103312"/>
            <a:chOff x="4849" y="1853"/>
            <a:chExt cx="729" cy="695"/>
          </a:xfrm>
        </p:grpSpPr>
        <p:sp>
          <p:nvSpPr>
            <p:cNvPr id="10262" name="Line 2"/>
            <p:cNvSpPr>
              <a:spLocks noChangeShapeType="1"/>
            </p:cNvSpPr>
            <p:nvPr/>
          </p:nvSpPr>
          <p:spPr bwMode="auto">
            <a:xfrm>
              <a:off x="4849" y="1853"/>
              <a:ext cx="355"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3" name="AutoShape 3"/>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10243" name="Rectangle 4"/>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10244" name="Rectangle 5"/>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grpSp>
        <p:nvGrpSpPr>
          <p:cNvPr id="10245" name="Group 6"/>
          <p:cNvGrpSpPr>
            <a:grpSpLocks/>
          </p:cNvGrpSpPr>
          <p:nvPr/>
        </p:nvGrpSpPr>
        <p:grpSpPr bwMode="auto">
          <a:xfrm>
            <a:off x="2871788" y="4610100"/>
            <a:ext cx="3186112" cy="1570038"/>
            <a:chOff x="1809" y="2904"/>
            <a:chExt cx="2007" cy="989"/>
          </a:xfrm>
        </p:grpSpPr>
        <p:sp>
          <p:nvSpPr>
            <p:cNvPr id="11271" name="AutoShape 7"/>
            <p:cNvSpPr>
              <a:spLocks noChangeArrowheads="1"/>
            </p:cNvSpPr>
            <p:nvPr/>
          </p:nvSpPr>
          <p:spPr bwMode="auto">
            <a:xfrm>
              <a:off x="1809"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10261" name="AutoShape 8"/>
            <p:cNvSpPr>
              <a:spLocks noChangeArrowheads="1"/>
            </p:cNvSpPr>
            <p:nvPr/>
          </p:nvSpPr>
          <p:spPr bwMode="auto">
            <a:xfrm>
              <a:off x="1850"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nchorCtr="1"/>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The next nodes</a:t>
              </a:r>
            </a:p>
            <a:p>
              <a:pPr algn="ctr">
                <a:spcBef>
                  <a:spcPct val="0"/>
                </a:spcBef>
                <a:buClr>
                  <a:srgbClr val="E0E0E0"/>
                </a:buClr>
                <a:buSzPct val="100000"/>
                <a:buFont typeface="Arial" charset="0"/>
                <a:buNone/>
              </a:pPr>
              <a:r>
                <a:rPr lang="en-GB" altLang="en-US" sz="2400">
                  <a:solidFill>
                    <a:schemeClr val="tx1"/>
                  </a:solidFill>
                </a:rPr>
                <a:t>always fill the next</a:t>
              </a:r>
            </a:p>
            <a:p>
              <a:pPr algn="ctr">
                <a:spcBef>
                  <a:spcPct val="0"/>
                </a:spcBef>
                <a:buClr>
                  <a:srgbClr val="E0E0E0"/>
                </a:buClr>
                <a:buSzPct val="100000"/>
                <a:buFont typeface="Arial" charset="0"/>
                <a:buNone/>
              </a:pPr>
              <a:r>
                <a:rPr lang="en-GB" altLang="en-US" sz="2400">
                  <a:solidFill>
                    <a:schemeClr val="tx1"/>
                  </a:solidFill>
                </a:rPr>
                <a:t>level from left-to-right.</a:t>
              </a:r>
            </a:p>
          </p:txBody>
        </p:sp>
      </p:grpSp>
      <p:grpSp>
        <p:nvGrpSpPr>
          <p:cNvPr id="10246" name="Group 9"/>
          <p:cNvGrpSpPr>
            <a:grpSpLocks/>
          </p:cNvGrpSpPr>
          <p:nvPr/>
        </p:nvGrpSpPr>
        <p:grpSpPr bwMode="auto">
          <a:xfrm>
            <a:off x="6892925" y="2941638"/>
            <a:ext cx="1157288" cy="1103312"/>
            <a:chOff x="4342" y="1853"/>
            <a:chExt cx="729" cy="695"/>
          </a:xfrm>
        </p:grpSpPr>
        <p:sp>
          <p:nvSpPr>
            <p:cNvPr id="10258" name="Line 10"/>
            <p:cNvSpPr>
              <a:spLocks noChangeShapeType="1"/>
            </p:cNvSpPr>
            <p:nvPr/>
          </p:nvSpPr>
          <p:spPr bwMode="auto">
            <a:xfrm flipH="1">
              <a:off x="4716"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9" name="AutoShape 11"/>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10247" name="Group 12"/>
          <p:cNvGrpSpPr>
            <a:grpSpLocks/>
          </p:cNvGrpSpPr>
          <p:nvPr/>
        </p:nvGrpSpPr>
        <p:grpSpPr bwMode="auto">
          <a:xfrm>
            <a:off x="5516563" y="2941638"/>
            <a:ext cx="1157287" cy="1103312"/>
            <a:chOff x="3475" y="1853"/>
            <a:chExt cx="729" cy="695"/>
          </a:xfrm>
        </p:grpSpPr>
        <p:sp>
          <p:nvSpPr>
            <p:cNvPr id="10256" name="Line 13"/>
            <p:cNvSpPr>
              <a:spLocks noChangeShapeType="1"/>
            </p:cNvSpPr>
            <p:nvPr/>
          </p:nvSpPr>
          <p:spPr bwMode="auto">
            <a:xfrm>
              <a:off x="3475" y="1853"/>
              <a:ext cx="355"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7" name="AutoShape 14"/>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10248" name="Group 15"/>
          <p:cNvGrpSpPr>
            <a:grpSpLocks/>
          </p:cNvGrpSpPr>
          <p:nvPr/>
        </p:nvGrpSpPr>
        <p:grpSpPr bwMode="auto">
          <a:xfrm>
            <a:off x="4679950" y="2941638"/>
            <a:ext cx="1157288" cy="1103312"/>
            <a:chOff x="2948" y="1853"/>
            <a:chExt cx="729" cy="695"/>
          </a:xfrm>
        </p:grpSpPr>
        <p:sp>
          <p:nvSpPr>
            <p:cNvPr id="10254" name="Line 16"/>
            <p:cNvSpPr>
              <a:spLocks noChangeShapeType="1"/>
            </p:cNvSpPr>
            <p:nvPr/>
          </p:nvSpPr>
          <p:spPr bwMode="auto">
            <a:xfrm flipH="1">
              <a:off x="3322"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5" name="AutoShape 17"/>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10249" name="Line 18"/>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0" name="AutoShape 19"/>
          <p:cNvSpPr>
            <a:spLocks noChangeArrowheads="1"/>
          </p:cNvSpPr>
          <p:nvPr/>
        </p:nvSpPr>
        <p:spPr bwMode="auto">
          <a:xfrm>
            <a:off x="7437438" y="23987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0251" name="Line 20"/>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2" name="AutoShape 21"/>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0253" name="AutoShape 22"/>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2110182865"/>
      </p:ext>
    </p:extLst>
  </p:cSld>
  <p:clrMapOvr>
    <a:masterClrMapping/>
  </p:clrMapOvr>
  <p:transition>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1"/>
          <p:cNvGrpSpPr>
            <a:grpSpLocks/>
          </p:cNvGrpSpPr>
          <p:nvPr/>
        </p:nvGrpSpPr>
        <p:grpSpPr bwMode="auto">
          <a:xfrm>
            <a:off x="3917950" y="3883025"/>
            <a:ext cx="1157288" cy="1103313"/>
            <a:chOff x="2468" y="2446"/>
            <a:chExt cx="729" cy="695"/>
          </a:xfrm>
        </p:grpSpPr>
        <p:sp>
          <p:nvSpPr>
            <p:cNvPr id="11286" name="Line 2"/>
            <p:cNvSpPr>
              <a:spLocks noChangeShapeType="1"/>
            </p:cNvSpPr>
            <p:nvPr/>
          </p:nvSpPr>
          <p:spPr bwMode="auto">
            <a:xfrm flipH="1">
              <a:off x="2842" y="2446"/>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7" name="AutoShape 3"/>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11267" name="Group 4"/>
          <p:cNvGrpSpPr>
            <a:grpSpLocks/>
          </p:cNvGrpSpPr>
          <p:nvPr/>
        </p:nvGrpSpPr>
        <p:grpSpPr bwMode="auto">
          <a:xfrm>
            <a:off x="7697788" y="2941638"/>
            <a:ext cx="1157287" cy="1103312"/>
            <a:chOff x="4849" y="1853"/>
            <a:chExt cx="729" cy="695"/>
          </a:xfrm>
        </p:grpSpPr>
        <p:sp>
          <p:nvSpPr>
            <p:cNvPr id="11284" name="Line 5"/>
            <p:cNvSpPr>
              <a:spLocks noChangeShapeType="1"/>
            </p:cNvSpPr>
            <p:nvPr/>
          </p:nvSpPr>
          <p:spPr bwMode="auto">
            <a:xfrm>
              <a:off x="4849" y="1853"/>
              <a:ext cx="355"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5" name="AutoShape 6"/>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11268" name="Rectangle 7"/>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11269" name="Rectangle 8"/>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Complete binary tree.</a:t>
            </a:r>
          </a:p>
        </p:txBody>
      </p:sp>
      <p:grpSp>
        <p:nvGrpSpPr>
          <p:cNvPr id="11270" name="Group 9"/>
          <p:cNvGrpSpPr>
            <a:grpSpLocks/>
          </p:cNvGrpSpPr>
          <p:nvPr/>
        </p:nvGrpSpPr>
        <p:grpSpPr bwMode="auto">
          <a:xfrm>
            <a:off x="6892925" y="2941638"/>
            <a:ext cx="1157288" cy="1103312"/>
            <a:chOff x="4342" y="1853"/>
            <a:chExt cx="729" cy="695"/>
          </a:xfrm>
        </p:grpSpPr>
        <p:sp>
          <p:nvSpPr>
            <p:cNvPr id="11282" name="Line 10"/>
            <p:cNvSpPr>
              <a:spLocks noChangeShapeType="1"/>
            </p:cNvSpPr>
            <p:nvPr/>
          </p:nvSpPr>
          <p:spPr bwMode="auto">
            <a:xfrm flipH="1">
              <a:off x="4716"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3" name="AutoShape 11"/>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11271" name="Group 12"/>
          <p:cNvGrpSpPr>
            <a:grpSpLocks/>
          </p:cNvGrpSpPr>
          <p:nvPr/>
        </p:nvGrpSpPr>
        <p:grpSpPr bwMode="auto">
          <a:xfrm>
            <a:off x="5516563" y="2941638"/>
            <a:ext cx="1157287" cy="1103312"/>
            <a:chOff x="3475" y="1853"/>
            <a:chExt cx="729" cy="695"/>
          </a:xfrm>
        </p:grpSpPr>
        <p:sp>
          <p:nvSpPr>
            <p:cNvPr id="11280" name="Line 13"/>
            <p:cNvSpPr>
              <a:spLocks noChangeShapeType="1"/>
            </p:cNvSpPr>
            <p:nvPr/>
          </p:nvSpPr>
          <p:spPr bwMode="auto">
            <a:xfrm>
              <a:off x="3475" y="1853"/>
              <a:ext cx="355"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1" name="AutoShape 14"/>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grpSp>
        <p:nvGrpSpPr>
          <p:cNvPr id="11272" name="Group 15"/>
          <p:cNvGrpSpPr>
            <a:grpSpLocks/>
          </p:cNvGrpSpPr>
          <p:nvPr/>
        </p:nvGrpSpPr>
        <p:grpSpPr bwMode="auto">
          <a:xfrm>
            <a:off x="4679950" y="2941638"/>
            <a:ext cx="1157288" cy="1103312"/>
            <a:chOff x="2948" y="1853"/>
            <a:chExt cx="729" cy="695"/>
          </a:xfrm>
        </p:grpSpPr>
        <p:sp>
          <p:nvSpPr>
            <p:cNvPr id="11278" name="Line 16"/>
            <p:cNvSpPr>
              <a:spLocks noChangeShapeType="1"/>
            </p:cNvSpPr>
            <p:nvPr/>
          </p:nvSpPr>
          <p:spPr bwMode="auto">
            <a:xfrm flipH="1">
              <a:off x="3322" y="1853"/>
              <a:ext cx="357" cy="40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9" name="AutoShape 17"/>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grpSp>
      <p:sp>
        <p:nvSpPr>
          <p:cNvPr id="11273" name="Line 18"/>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 name="AutoShape 19"/>
          <p:cNvSpPr>
            <a:spLocks noChangeArrowheads="1"/>
          </p:cNvSpPr>
          <p:nvPr/>
        </p:nvSpPr>
        <p:spPr bwMode="auto">
          <a:xfrm>
            <a:off x="7437438" y="23987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1275" name="Line 20"/>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 name="AutoShape 21"/>
          <p:cNvSpPr>
            <a:spLocks noChangeArrowheads="1"/>
          </p:cNvSpPr>
          <p:nvPr/>
        </p:nvSpPr>
        <p:spPr bwMode="auto">
          <a:xfrm>
            <a:off x="6376988" y="1331913"/>
            <a:ext cx="795337"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1277" name="AutoShape 22"/>
          <p:cNvSpPr>
            <a:spLocks noChangeArrowheads="1"/>
          </p:cNvSpPr>
          <p:nvPr/>
        </p:nvSpPr>
        <p:spPr bwMode="auto">
          <a:xfrm>
            <a:off x="5273675" y="2398713"/>
            <a:ext cx="795338" cy="733425"/>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Tree>
    <p:extLst>
      <p:ext uri="{BB962C8B-B14F-4D97-AF65-F5344CB8AC3E}">
        <p14:creationId xmlns:p14="http://schemas.microsoft.com/office/powerpoint/2010/main" val="2395375302"/>
      </p:ext>
    </p:extLst>
  </p:cSld>
  <p:clrMapOvr>
    <a:masterClrMapping/>
  </p:clrMapOvr>
  <p:transition>
    <p:randomBar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12291" name="Rectangle 2"/>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A heap is a </a:t>
            </a:r>
            <a:r>
              <a:rPr lang="en-GB" altLang="en-US" b="1" u="sng" smtClean="0">
                <a:solidFill>
                  <a:srgbClr val="FF8000"/>
                </a:solidFill>
                <a:effectLst/>
              </a:rPr>
              <a:t>certain</a:t>
            </a:r>
            <a:r>
              <a:rPr lang="en-GB" altLang="en-US" smtClean="0">
                <a:effectLst/>
              </a:rPr>
              <a:t> kind of complete binary tree.</a:t>
            </a:r>
          </a:p>
        </p:txBody>
      </p:sp>
      <p:grpSp>
        <p:nvGrpSpPr>
          <p:cNvPr id="12292" name="Group 3"/>
          <p:cNvGrpSpPr>
            <a:grpSpLocks/>
          </p:cNvGrpSpPr>
          <p:nvPr/>
        </p:nvGrpSpPr>
        <p:grpSpPr bwMode="auto">
          <a:xfrm>
            <a:off x="4975225" y="4610100"/>
            <a:ext cx="3186113" cy="1570038"/>
            <a:chOff x="3134" y="2904"/>
            <a:chExt cx="2007" cy="989"/>
          </a:xfrm>
        </p:grpSpPr>
        <p:sp>
          <p:nvSpPr>
            <p:cNvPr id="13316" name="AutoShape 4"/>
            <p:cNvSpPr>
              <a:spLocks noChangeArrowheads="1"/>
            </p:cNvSpPr>
            <p:nvPr/>
          </p:nvSpPr>
          <p:spPr bwMode="auto">
            <a:xfrm>
              <a:off x="3134"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12325" name="AutoShape 5"/>
            <p:cNvSpPr>
              <a:spLocks noChangeArrowheads="1"/>
            </p:cNvSpPr>
            <p:nvPr/>
          </p:nvSpPr>
          <p:spPr bwMode="auto">
            <a:xfrm>
              <a:off x="3175"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Each node in a heap</a:t>
              </a:r>
            </a:p>
            <a:p>
              <a:pPr algn="ctr">
                <a:spcBef>
                  <a:spcPct val="0"/>
                </a:spcBef>
                <a:buClr>
                  <a:srgbClr val="E0E0E0"/>
                </a:buClr>
                <a:buSzPct val="100000"/>
                <a:buFont typeface="Arial" charset="0"/>
                <a:buNone/>
              </a:pPr>
              <a:r>
                <a:rPr lang="en-GB" altLang="en-US" sz="2400">
                  <a:solidFill>
                    <a:schemeClr val="tx1"/>
                  </a:solidFill>
                </a:rPr>
                <a:t>contains a key that</a:t>
              </a:r>
            </a:p>
            <a:p>
              <a:pPr algn="ctr">
                <a:spcBef>
                  <a:spcPct val="0"/>
                </a:spcBef>
                <a:buClr>
                  <a:srgbClr val="E0E0E0"/>
                </a:buClr>
                <a:buSzPct val="100000"/>
                <a:buFont typeface="Arial" charset="0"/>
                <a:buNone/>
              </a:pPr>
              <a:r>
                <a:rPr lang="en-GB" altLang="en-US" sz="2400">
                  <a:solidFill>
                    <a:schemeClr val="tx1"/>
                  </a:solidFill>
                </a:rPr>
                <a:t>can be compared to</a:t>
              </a:r>
            </a:p>
            <a:p>
              <a:pPr algn="ctr">
                <a:spcBef>
                  <a:spcPct val="0"/>
                </a:spcBef>
                <a:buClr>
                  <a:srgbClr val="E0E0E0"/>
                </a:buClr>
                <a:buSzPct val="100000"/>
                <a:buFont typeface="Arial" charset="0"/>
                <a:buNone/>
              </a:pPr>
              <a:r>
                <a:rPr lang="en-GB" altLang="en-US" sz="2400">
                  <a:solidFill>
                    <a:schemeClr val="tx1"/>
                  </a:solidFill>
                </a:rPr>
                <a:t>other nodes' keys.</a:t>
              </a:r>
            </a:p>
          </p:txBody>
        </p:sp>
      </p:grpSp>
      <p:sp>
        <p:nvSpPr>
          <p:cNvPr id="12293" name="Line 6"/>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294" name="Group 7"/>
          <p:cNvGrpSpPr>
            <a:grpSpLocks/>
          </p:cNvGrpSpPr>
          <p:nvPr/>
        </p:nvGrpSpPr>
        <p:grpSpPr bwMode="auto">
          <a:xfrm>
            <a:off x="3917950" y="4254500"/>
            <a:ext cx="793750" cy="731838"/>
            <a:chOff x="2468" y="2680"/>
            <a:chExt cx="500" cy="461"/>
          </a:xfrm>
        </p:grpSpPr>
        <p:sp>
          <p:nvSpPr>
            <p:cNvPr id="12322" name="AutoShape 8"/>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23" name="AutoShape 9"/>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2295" name="Line 10"/>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296" name="Group 11"/>
          <p:cNvGrpSpPr>
            <a:grpSpLocks/>
          </p:cNvGrpSpPr>
          <p:nvPr/>
        </p:nvGrpSpPr>
        <p:grpSpPr bwMode="auto">
          <a:xfrm>
            <a:off x="8061325" y="3313113"/>
            <a:ext cx="793750" cy="731837"/>
            <a:chOff x="5078" y="2087"/>
            <a:chExt cx="500" cy="461"/>
          </a:xfrm>
        </p:grpSpPr>
        <p:sp>
          <p:nvSpPr>
            <p:cNvPr id="12320" name="AutoShape 12"/>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21" name="AutoShape 13"/>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2297" name="Line 14"/>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298" name="Group 15"/>
          <p:cNvGrpSpPr>
            <a:grpSpLocks/>
          </p:cNvGrpSpPr>
          <p:nvPr/>
        </p:nvGrpSpPr>
        <p:grpSpPr bwMode="auto">
          <a:xfrm>
            <a:off x="6892925" y="3313113"/>
            <a:ext cx="793750" cy="731837"/>
            <a:chOff x="4342" y="2087"/>
            <a:chExt cx="500" cy="461"/>
          </a:xfrm>
        </p:grpSpPr>
        <p:sp>
          <p:nvSpPr>
            <p:cNvPr id="12318" name="AutoShape 16"/>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19" name="AutoShape 17"/>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2299" name="Line 18"/>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00" name="Group 19"/>
          <p:cNvGrpSpPr>
            <a:grpSpLocks/>
          </p:cNvGrpSpPr>
          <p:nvPr/>
        </p:nvGrpSpPr>
        <p:grpSpPr bwMode="auto">
          <a:xfrm>
            <a:off x="5880100" y="3313113"/>
            <a:ext cx="793750" cy="731837"/>
            <a:chOff x="3704" y="2087"/>
            <a:chExt cx="500" cy="461"/>
          </a:xfrm>
        </p:grpSpPr>
        <p:sp>
          <p:nvSpPr>
            <p:cNvPr id="12316" name="AutoShape 20"/>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17" name="AutoShape 21"/>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2301" name="Line 22"/>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02" name="Group 23"/>
          <p:cNvGrpSpPr>
            <a:grpSpLocks/>
          </p:cNvGrpSpPr>
          <p:nvPr/>
        </p:nvGrpSpPr>
        <p:grpSpPr bwMode="auto">
          <a:xfrm>
            <a:off x="4679950" y="3313113"/>
            <a:ext cx="793750" cy="731837"/>
            <a:chOff x="2948" y="2087"/>
            <a:chExt cx="500" cy="461"/>
          </a:xfrm>
        </p:grpSpPr>
        <p:sp>
          <p:nvSpPr>
            <p:cNvPr id="12314" name="AutoShape 24"/>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15" name="AutoShape 25"/>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12303" name="Line 26"/>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04" name="Group 27"/>
          <p:cNvGrpSpPr>
            <a:grpSpLocks/>
          </p:cNvGrpSpPr>
          <p:nvPr/>
        </p:nvGrpSpPr>
        <p:grpSpPr bwMode="auto">
          <a:xfrm>
            <a:off x="7437438" y="2398713"/>
            <a:ext cx="793750" cy="731837"/>
            <a:chOff x="4685" y="1511"/>
            <a:chExt cx="500" cy="461"/>
          </a:xfrm>
        </p:grpSpPr>
        <p:sp>
          <p:nvSpPr>
            <p:cNvPr id="12312" name="AutoShape 28"/>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13" name="AutoShape 29"/>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2305" name="Line 30"/>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06" name="Group 31"/>
          <p:cNvGrpSpPr>
            <a:grpSpLocks/>
          </p:cNvGrpSpPr>
          <p:nvPr/>
        </p:nvGrpSpPr>
        <p:grpSpPr bwMode="auto">
          <a:xfrm>
            <a:off x="6376988" y="1331913"/>
            <a:ext cx="793750" cy="731837"/>
            <a:chOff x="4017" y="839"/>
            <a:chExt cx="500" cy="461"/>
          </a:xfrm>
        </p:grpSpPr>
        <p:sp>
          <p:nvSpPr>
            <p:cNvPr id="12310" name="AutoShape 32"/>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11" name="AutoShape 33"/>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2307" name="Group 34"/>
          <p:cNvGrpSpPr>
            <a:grpSpLocks/>
          </p:cNvGrpSpPr>
          <p:nvPr/>
        </p:nvGrpSpPr>
        <p:grpSpPr bwMode="auto">
          <a:xfrm>
            <a:off x="5273675" y="2398713"/>
            <a:ext cx="793750" cy="731837"/>
            <a:chOff x="3322" y="1511"/>
            <a:chExt cx="500" cy="461"/>
          </a:xfrm>
        </p:grpSpPr>
        <p:sp>
          <p:nvSpPr>
            <p:cNvPr id="12308" name="AutoShape 35"/>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2309" name="AutoShape 36"/>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a:solidFill>
                    <a:schemeClr val="tx1"/>
                  </a:solidFill>
                </a:rPr>
                <a:t>35</a:t>
              </a:r>
            </a:p>
          </p:txBody>
        </p:sp>
      </p:grpSp>
    </p:spTree>
    <p:extLst>
      <p:ext uri="{BB962C8B-B14F-4D97-AF65-F5344CB8AC3E}">
        <p14:creationId xmlns:p14="http://schemas.microsoft.com/office/powerpoint/2010/main" val="3040785958"/>
      </p:ext>
    </p:extLst>
  </p:cSld>
  <p:clrMapOvr>
    <a:masterClrMapping/>
  </p:clrMapOvr>
  <p:transition>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Heaps</a:t>
            </a:r>
          </a:p>
        </p:txBody>
      </p:sp>
      <p:sp>
        <p:nvSpPr>
          <p:cNvPr id="13315" name="Rectangle 2"/>
          <p:cNvSpPr>
            <a:spLocks noGrp="1" noChangeArrowheads="1"/>
          </p:cNvSpPr>
          <p:nvPr>
            <p:ph sz="quarter" idx="1"/>
          </p:nvPr>
        </p:nvSpPr>
        <p:spPr>
          <a:xfrm>
            <a:off x="685800" y="1981200"/>
            <a:ext cx="2651125" cy="4114800"/>
          </a:xfrm>
        </p:spPr>
        <p:txBody>
          <a:bodyPr/>
          <a:lstStyle/>
          <a:p>
            <a:pPr marL="0" indent="0">
              <a:lnSpc>
                <a:spcPct val="95000"/>
              </a:lnSpc>
              <a:buFont typeface="Monotype Sorts" charset="2"/>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altLang="en-US" smtClean="0">
                <a:effectLst/>
              </a:rPr>
              <a:t>A heap is a </a:t>
            </a:r>
            <a:r>
              <a:rPr lang="en-GB" altLang="en-US" b="1" u="sng" smtClean="0">
                <a:solidFill>
                  <a:srgbClr val="FF8000"/>
                </a:solidFill>
                <a:effectLst/>
              </a:rPr>
              <a:t>certain</a:t>
            </a:r>
            <a:r>
              <a:rPr lang="en-GB" altLang="en-US" smtClean="0">
                <a:effectLst/>
              </a:rPr>
              <a:t> kind of complete binary tree.</a:t>
            </a:r>
          </a:p>
        </p:txBody>
      </p:sp>
      <p:grpSp>
        <p:nvGrpSpPr>
          <p:cNvPr id="13316" name="Group 3"/>
          <p:cNvGrpSpPr>
            <a:grpSpLocks/>
          </p:cNvGrpSpPr>
          <p:nvPr/>
        </p:nvGrpSpPr>
        <p:grpSpPr bwMode="auto">
          <a:xfrm>
            <a:off x="4975225" y="4610100"/>
            <a:ext cx="3186113" cy="1570038"/>
            <a:chOff x="3134" y="2904"/>
            <a:chExt cx="2007" cy="989"/>
          </a:xfrm>
        </p:grpSpPr>
        <p:sp>
          <p:nvSpPr>
            <p:cNvPr id="14340" name="AutoShape 4"/>
            <p:cNvSpPr>
              <a:spLocks noChangeArrowheads="1"/>
            </p:cNvSpPr>
            <p:nvPr/>
          </p:nvSpPr>
          <p:spPr bwMode="auto">
            <a:xfrm>
              <a:off x="3134" y="2904"/>
              <a:ext cx="2008" cy="990"/>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latin typeface="Times New Roman" pitchFamily="16" charset="0"/>
                <a:cs typeface="+mn-cs"/>
              </a:endParaRPr>
            </a:p>
          </p:txBody>
        </p:sp>
        <p:sp>
          <p:nvSpPr>
            <p:cNvPr id="13349" name="AutoShape 5"/>
            <p:cNvSpPr>
              <a:spLocks noChangeArrowheads="1"/>
            </p:cNvSpPr>
            <p:nvPr/>
          </p:nvSpPr>
          <p:spPr bwMode="auto">
            <a:xfrm>
              <a:off x="3175" y="2945"/>
              <a:ext cx="1926" cy="908"/>
            </a:xfrm>
            <a:prstGeom prst="roundRect">
              <a:avLst>
                <a:gd name="adj" fmla="val 10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3000"/>
                </a:lnSpc>
                <a:spcBef>
                  <a:spcPct val="0"/>
                </a:spcBef>
                <a:buClr>
                  <a:srgbClr val="E0E0E0"/>
                </a:buClr>
                <a:buSzPct val="100000"/>
                <a:buFont typeface="Arial" charset="0"/>
                <a:buNone/>
              </a:pPr>
              <a:r>
                <a:rPr lang="en-GB" altLang="en-US" sz="2400">
                  <a:solidFill>
                    <a:schemeClr val="tx1"/>
                  </a:solidFill>
                </a:rPr>
                <a:t>The "heap property"</a:t>
              </a:r>
            </a:p>
            <a:p>
              <a:pPr algn="ctr">
                <a:spcBef>
                  <a:spcPct val="0"/>
                </a:spcBef>
                <a:buClr>
                  <a:srgbClr val="E0E0E0"/>
                </a:buClr>
                <a:buSzPct val="100000"/>
                <a:buFont typeface="Arial" charset="0"/>
                <a:buNone/>
              </a:pPr>
              <a:r>
                <a:rPr lang="en-GB" altLang="en-US" sz="2400">
                  <a:solidFill>
                    <a:schemeClr val="tx1"/>
                  </a:solidFill>
                </a:rPr>
                <a:t>requires that each</a:t>
              </a:r>
            </a:p>
            <a:p>
              <a:pPr algn="ctr">
                <a:spcBef>
                  <a:spcPct val="0"/>
                </a:spcBef>
                <a:buClr>
                  <a:srgbClr val="E0E0E0"/>
                </a:buClr>
                <a:buSzPct val="100000"/>
                <a:buFont typeface="Arial" charset="0"/>
                <a:buNone/>
              </a:pPr>
              <a:r>
                <a:rPr lang="en-GB" altLang="en-US" sz="2400">
                  <a:solidFill>
                    <a:schemeClr val="tx1"/>
                  </a:solidFill>
                </a:rPr>
                <a:t>node's key is &gt;= the</a:t>
              </a:r>
            </a:p>
            <a:p>
              <a:pPr algn="ctr">
                <a:spcBef>
                  <a:spcPct val="0"/>
                </a:spcBef>
                <a:buClr>
                  <a:srgbClr val="E0E0E0"/>
                </a:buClr>
                <a:buSzPct val="100000"/>
                <a:buFont typeface="Arial" charset="0"/>
                <a:buNone/>
              </a:pPr>
              <a:r>
                <a:rPr lang="en-GB" altLang="en-US" sz="2400">
                  <a:solidFill>
                    <a:schemeClr val="tx1"/>
                  </a:solidFill>
                </a:rPr>
                <a:t>keys of its children</a:t>
              </a:r>
            </a:p>
          </p:txBody>
        </p:sp>
      </p:grpSp>
      <p:sp>
        <p:nvSpPr>
          <p:cNvPr id="13317" name="Line 6"/>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18" name="Group 7"/>
          <p:cNvGrpSpPr>
            <a:grpSpLocks/>
          </p:cNvGrpSpPr>
          <p:nvPr/>
        </p:nvGrpSpPr>
        <p:grpSpPr bwMode="auto">
          <a:xfrm>
            <a:off x="3917950" y="4254500"/>
            <a:ext cx="793750" cy="731838"/>
            <a:chOff x="2468" y="2680"/>
            <a:chExt cx="500" cy="461"/>
          </a:xfrm>
        </p:grpSpPr>
        <p:sp>
          <p:nvSpPr>
            <p:cNvPr id="13346" name="AutoShape 8"/>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47" name="AutoShape 9"/>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3319" name="Line 10"/>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20" name="Group 11"/>
          <p:cNvGrpSpPr>
            <a:grpSpLocks/>
          </p:cNvGrpSpPr>
          <p:nvPr/>
        </p:nvGrpSpPr>
        <p:grpSpPr bwMode="auto">
          <a:xfrm>
            <a:off x="8061325" y="3313113"/>
            <a:ext cx="793750" cy="731837"/>
            <a:chOff x="5078" y="2087"/>
            <a:chExt cx="500" cy="461"/>
          </a:xfrm>
        </p:grpSpPr>
        <p:sp>
          <p:nvSpPr>
            <p:cNvPr id="13344" name="AutoShape 12"/>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45" name="AutoShape 13"/>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3321" name="Line 14"/>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22" name="Group 15"/>
          <p:cNvGrpSpPr>
            <a:grpSpLocks/>
          </p:cNvGrpSpPr>
          <p:nvPr/>
        </p:nvGrpSpPr>
        <p:grpSpPr bwMode="auto">
          <a:xfrm>
            <a:off x="6892925" y="3313113"/>
            <a:ext cx="793750" cy="731837"/>
            <a:chOff x="4342" y="2087"/>
            <a:chExt cx="500" cy="461"/>
          </a:xfrm>
        </p:grpSpPr>
        <p:sp>
          <p:nvSpPr>
            <p:cNvPr id="13342" name="AutoShape 16"/>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43" name="AutoShape 17"/>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3323" name="Line 18"/>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24" name="Group 19"/>
          <p:cNvGrpSpPr>
            <a:grpSpLocks/>
          </p:cNvGrpSpPr>
          <p:nvPr/>
        </p:nvGrpSpPr>
        <p:grpSpPr bwMode="auto">
          <a:xfrm>
            <a:off x="5880100" y="3313113"/>
            <a:ext cx="793750" cy="731837"/>
            <a:chOff x="3704" y="2087"/>
            <a:chExt cx="500" cy="461"/>
          </a:xfrm>
        </p:grpSpPr>
        <p:sp>
          <p:nvSpPr>
            <p:cNvPr id="13340" name="AutoShape 20"/>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41" name="AutoShape 21"/>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3325" name="Line 22"/>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26" name="Group 23"/>
          <p:cNvGrpSpPr>
            <a:grpSpLocks/>
          </p:cNvGrpSpPr>
          <p:nvPr/>
        </p:nvGrpSpPr>
        <p:grpSpPr bwMode="auto">
          <a:xfrm>
            <a:off x="4679950" y="3313113"/>
            <a:ext cx="793750" cy="731837"/>
            <a:chOff x="2948" y="2087"/>
            <a:chExt cx="500" cy="461"/>
          </a:xfrm>
        </p:grpSpPr>
        <p:sp>
          <p:nvSpPr>
            <p:cNvPr id="13338" name="AutoShape 24"/>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39" name="AutoShape 25"/>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13327" name="Line 26"/>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28" name="Group 27"/>
          <p:cNvGrpSpPr>
            <a:grpSpLocks/>
          </p:cNvGrpSpPr>
          <p:nvPr/>
        </p:nvGrpSpPr>
        <p:grpSpPr bwMode="auto">
          <a:xfrm>
            <a:off x="7437438" y="2398713"/>
            <a:ext cx="793750" cy="731837"/>
            <a:chOff x="4685" y="1511"/>
            <a:chExt cx="500" cy="461"/>
          </a:xfrm>
        </p:grpSpPr>
        <p:sp>
          <p:nvSpPr>
            <p:cNvPr id="13336" name="AutoShape 28"/>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37" name="AutoShape 29"/>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3329" name="Line 30"/>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30" name="Group 31"/>
          <p:cNvGrpSpPr>
            <a:grpSpLocks/>
          </p:cNvGrpSpPr>
          <p:nvPr/>
        </p:nvGrpSpPr>
        <p:grpSpPr bwMode="auto">
          <a:xfrm>
            <a:off x="6376988" y="1331913"/>
            <a:ext cx="793750" cy="731837"/>
            <a:chOff x="4017" y="839"/>
            <a:chExt cx="500" cy="461"/>
          </a:xfrm>
        </p:grpSpPr>
        <p:sp>
          <p:nvSpPr>
            <p:cNvPr id="13334" name="AutoShape 32"/>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35" name="AutoShape 33"/>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3331" name="Group 34"/>
          <p:cNvGrpSpPr>
            <a:grpSpLocks/>
          </p:cNvGrpSpPr>
          <p:nvPr/>
        </p:nvGrpSpPr>
        <p:grpSpPr bwMode="auto">
          <a:xfrm>
            <a:off x="5273675" y="2398713"/>
            <a:ext cx="793750" cy="731837"/>
            <a:chOff x="3322" y="1511"/>
            <a:chExt cx="500" cy="461"/>
          </a:xfrm>
        </p:grpSpPr>
        <p:sp>
          <p:nvSpPr>
            <p:cNvPr id="13332" name="AutoShape 35"/>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3333" name="AutoShape 36"/>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a:solidFill>
                    <a:schemeClr val="tx1"/>
                  </a:solidFill>
                </a:rPr>
                <a:t>35</a:t>
              </a:r>
            </a:p>
          </p:txBody>
        </p:sp>
      </p:grpSp>
    </p:spTree>
    <p:extLst>
      <p:ext uri="{BB962C8B-B14F-4D97-AF65-F5344CB8AC3E}">
        <p14:creationId xmlns:p14="http://schemas.microsoft.com/office/powerpoint/2010/main" val="3874342400"/>
      </p:ext>
    </p:extLst>
  </p:cSld>
  <p:clrMapOvr>
    <a:masterClrMapping/>
  </p:clrMapOvr>
  <p:transition>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Line 1"/>
          <p:cNvSpPr>
            <a:spLocks noChangeShapeType="1"/>
          </p:cNvSpPr>
          <p:nvPr/>
        </p:nvSpPr>
        <p:spPr bwMode="auto">
          <a:xfrm>
            <a:off x="5181600" y="3886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 name="Rectangle 2"/>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Adding a Node to a Heap</a:t>
            </a:r>
          </a:p>
        </p:txBody>
      </p:sp>
      <p:sp>
        <p:nvSpPr>
          <p:cNvPr id="15363" name="Rectangle 3"/>
          <p:cNvSpPr>
            <a:spLocks noGrp="1" noChangeArrowheads="1"/>
          </p:cNvSpPr>
          <p:nvPr>
            <p:ph sz="quarter" idx="1"/>
          </p:nvPr>
        </p:nvSpPr>
        <p:spPr>
          <a:xfrm>
            <a:off x="685800" y="1981200"/>
            <a:ext cx="3565525" cy="3717925"/>
          </a:xfrm>
        </p:spPr>
        <p:txBody>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Put the new node in the next available spot.</a:t>
            </a:r>
          </a:p>
          <a:p>
            <a:pPr marL="287338" indent="-287338">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Push the new node upward, swapping with its parent until the new node reaches an acceptable location.</a:t>
            </a:r>
          </a:p>
        </p:txBody>
      </p:sp>
      <p:sp>
        <p:nvSpPr>
          <p:cNvPr id="14341" name="Line 4"/>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42" name="Group 5"/>
          <p:cNvGrpSpPr>
            <a:grpSpLocks/>
          </p:cNvGrpSpPr>
          <p:nvPr/>
        </p:nvGrpSpPr>
        <p:grpSpPr bwMode="auto">
          <a:xfrm>
            <a:off x="3917950" y="4254500"/>
            <a:ext cx="793750" cy="731838"/>
            <a:chOff x="2468" y="2680"/>
            <a:chExt cx="500" cy="461"/>
          </a:xfrm>
        </p:grpSpPr>
        <p:sp>
          <p:nvSpPr>
            <p:cNvPr id="14373" name="AutoShape 6"/>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74" name="AutoShape 7"/>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4343" name="Line 8"/>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44" name="Group 9"/>
          <p:cNvGrpSpPr>
            <a:grpSpLocks/>
          </p:cNvGrpSpPr>
          <p:nvPr/>
        </p:nvGrpSpPr>
        <p:grpSpPr bwMode="auto">
          <a:xfrm>
            <a:off x="8061325" y="3313113"/>
            <a:ext cx="793750" cy="731837"/>
            <a:chOff x="5078" y="2087"/>
            <a:chExt cx="500" cy="461"/>
          </a:xfrm>
        </p:grpSpPr>
        <p:sp>
          <p:nvSpPr>
            <p:cNvPr id="14371" name="AutoShape 10"/>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72" name="AutoShape 11"/>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4345" name="Line 12"/>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46" name="Group 13"/>
          <p:cNvGrpSpPr>
            <a:grpSpLocks/>
          </p:cNvGrpSpPr>
          <p:nvPr/>
        </p:nvGrpSpPr>
        <p:grpSpPr bwMode="auto">
          <a:xfrm>
            <a:off x="6892925" y="3313113"/>
            <a:ext cx="793750" cy="731837"/>
            <a:chOff x="4342" y="2087"/>
            <a:chExt cx="500" cy="461"/>
          </a:xfrm>
        </p:grpSpPr>
        <p:sp>
          <p:nvSpPr>
            <p:cNvPr id="14369" name="AutoShape 14"/>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70" name="AutoShape 15"/>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4347" name="Line 16"/>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48" name="Group 17"/>
          <p:cNvGrpSpPr>
            <a:grpSpLocks/>
          </p:cNvGrpSpPr>
          <p:nvPr/>
        </p:nvGrpSpPr>
        <p:grpSpPr bwMode="auto">
          <a:xfrm>
            <a:off x="5880100" y="3313113"/>
            <a:ext cx="793750" cy="731837"/>
            <a:chOff x="3704" y="2087"/>
            <a:chExt cx="500" cy="461"/>
          </a:xfrm>
        </p:grpSpPr>
        <p:sp>
          <p:nvSpPr>
            <p:cNvPr id="14367" name="AutoShape 18"/>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68" name="AutoShape 19"/>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4349" name="Line 20"/>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50" name="Group 21"/>
          <p:cNvGrpSpPr>
            <a:grpSpLocks/>
          </p:cNvGrpSpPr>
          <p:nvPr/>
        </p:nvGrpSpPr>
        <p:grpSpPr bwMode="auto">
          <a:xfrm>
            <a:off x="4679950" y="3313113"/>
            <a:ext cx="793750" cy="731837"/>
            <a:chOff x="2948" y="2087"/>
            <a:chExt cx="500" cy="461"/>
          </a:xfrm>
        </p:grpSpPr>
        <p:sp>
          <p:nvSpPr>
            <p:cNvPr id="14365" name="AutoShape 22"/>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66" name="AutoShape 23"/>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14351" name="Line 24"/>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52" name="Group 25"/>
          <p:cNvGrpSpPr>
            <a:grpSpLocks/>
          </p:cNvGrpSpPr>
          <p:nvPr/>
        </p:nvGrpSpPr>
        <p:grpSpPr bwMode="auto">
          <a:xfrm>
            <a:off x="7437438" y="2398713"/>
            <a:ext cx="793750" cy="731837"/>
            <a:chOff x="4685" y="1511"/>
            <a:chExt cx="500" cy="461"/>
          </a:xfrm>
        </p:grpSpPr>
        <p:sp>
          <p:nvSpPr>
            <p:cNvPr id="14363" name="AutoShape 26"/>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64" name="AutoShape 27"/>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4353" name="Line 28"/>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354" name="Group 29"/>
          <p:cNvGrpSpPr>
            <a:grpSpLocks/>
          </p:cNvGrpSpPr>
          <p:nvPr/>
        </p:nvGrpSpPr>
        <p:grpSpPr bwMode="auto">
          <a:xfrm>
            <a:off x="6376988" y="1331913"/>
            <a:ext cx="793750" cy="731837"/>
            <a:chOff x="4017" y="839"/>
            <a:chExt cx="500" cy="461"/>
          </a:xfrm>
        </p:grpSpPr>
        <p:sp>
          <p:nvSpPr>
            <p:cNvPr id="14361" name="AutoShape 30"/>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62" name="AutoShape 31"/>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4355" name="Group 32"/>
          <p:cNvGrpSpPr>
            <a:grpSpLocks/>
          </p:cNvGrpSpPr>
          <p:nvPr/>
        </p:nvGrpSpPr>
        <p:grpSpPr bwMode="auto">
          <a:xfrm>
            <a:off x="5273675" y="2398713"/>
            <a:ext cx="793750" cy="731837"/>
            <a:chOff x="3322" y="1511"/>
            <a:chExt cx="500" cy="461"/>
          </a:xfrm>
        </p:grpSpPr>
        <p:sp>
          <p:nvSpPr>
            <p:cNvPr id="14359" name="AutoShape 33"/>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60" name="AutoShape 34"/>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a:solidFill>
                    <a:schemeClr val="tx1"/>
                  </a:solidFill>
                </a:rPr>
                <a:t>35</a:t>
              </a:r>
            </a:p>
          </p:txBody>
        </p:sp>
      </p:grpSp>
      <p:grpSp>
        <p:nvGrpSpPr>
          <p:cNvPr id="14356" name="Group 35"/>
          <p:cNvGrpSpPr>
            <a:grpSpLocks/>
          </p:cNvGrpSpPr>
          <p:nvPr/>
        </p:nvGrpSpPr>
        <p:grpSpPr bwMode="auto">
          <a:xfrm>
            <a:off x="5545138" y="4257675"/>
            <a:ext cx="793750" cy="731838"/>
            <a:chOff x="3493" y="2682"/>
            <a:chExt cx="500" cy="461"/>
          </a:xfrm>
        </p:grpSpPr>
        <p:sp>
          <p:nvSpPr>
            <p:cNvPr id="14357" name="AutoShape 36"/>
            <p:cNvSpPr>
              <a:spLocks noChangeArrowheads="1"/>
            </p:cNvSpPr>
            <p:nvPr/>
          </p:nvSpPr>
          <p:spPr bwMode="auto">
            <a:xfrm>
              <a:off x="3493" y="2682"/>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4358" name="AutoShape 37"/>
            <p:cNvSpPr>
              <a:spLocks noChangeArrowheads="1"/>
            </p:cNvSpPr>
            <p:nvPr/>
          </p:nvSpPr>
          <p:spPr bwMode="auto">
            <a:xfrm>
              <a:off x="3512" y="2701"/>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42</a:t>
              </a:r>
            </a:p>
          </p:txBody>
        </p:sp>
      </p:grpSp>
    </p:spTree>
    <p:extLst>
      <p:ext uri="{BB962C8B-B14F-4D97-AF65-F5344CB8AC3E}">
        <p14:creationId xmlns:p14="http://schemas.microsoft.com/office/powerpoint/2010/main" val="15492334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up)">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up)">
                                      <p:cBhvr>
                                        <p:cTn id="12" dur="500"/>
                                        <p:tgtEl>
                                          <p:spTgt spid="153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Line 1"/>
          <p:cNvSpPr>
            <a:spLocks noChangeShapeType="1"/>
          </p:cNvSpPr>
          <p:nvPr/>
        </p:nvSpPr>
        <p:spPr bwMode="auto">
          <a:xfrm>
            <a:off x="5181600" y="3886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3" name="Rectangle 2"/>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Adding a Node to a Heap</a:t>
            </a:r>
          </a:p>
        </p:txBody>
      </p:sp>
      <p:sp>
        <p:nvSpPr>
          <p:cNvPr id="15364" name="Rectangle 3"/>
          <p:cNvSpPr>
            <a:spLocks noGrp="1" noChangeArrowheads="1"/>
          </p:cNvSpPr>
          <p:nvPr>
            <p:ph sz="quarter" idx="1"/>
          </p:nvPr>
        </p:nvSpPr>
        <p:spPr>
          <a:xfrm>
            <a:off x="685800" y="1981200"/>
            <a:ext cx="3565525" cy="3717925"/>
          </a:xfrm>
        </p:spPr>
        <p:txBody>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Put the new node in the next available spot.</a:t>
            </a:r>
          </a:p>
          <a:p>
            <a:pPr marL="287338" indent="-287338">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Push the new node upward, swapping with its parent until the new node reaches an acceptable location.</a:t>
            </a:r>
          </a:p>
        </p:txBody>
      </p:sp>
      <p:sp>
        <p:nvSpPr>
          <p:cNvPr id="15365" name="Line 4"/>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66" name="Group 5"/>
          <p:cNvGrpSpPr>
            <a:grpSpLocks/>
          </p:cNvGrpSpPr>
          <p:nvPr/>
        </p:nvGrpSpPr>
        <p:grpSpPr bwMode="auto">
          <a:xfrm>
            <a:off x="3917950" y="4254500"/>
            <a:ext cx="793750" cy="731838"/>
            <a:chOff x="2468" y="2680"/>
            <a:chExt cx="500" cy="461"/>
          </a:xfrm>
        </p:grpSpPr>
        <p:sp>
          <p:nvSpPr>
            <p:cNvPr id="15397" name="AutoShape 6"/>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98" name="AutoShape 7"/>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5367" name="Line 8"/>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68" name="Group 9"/>
          <p:cNvGrpSpPr>
            <a:grpSpLocks/>
          </p:cNvGrpSpPr>
          <p:nvPr/>
        </p:nvGrpSpPr>
        <p:grpSpPr bwMode="auto">
          <a:xfrm>
            <a:off x="8061325" y="3313113"/>
            <a:ext cx="793750" cy="731837"/>
            <a:chOff x="5078" y="2087"/>
            <a:chExt cx="500" cy="461"/>
          </a:xfrm>
        </p:grpSpPr>
        <p:sp>
          <p:nvSpPr>
            <p:cNvPr id="15395" name="AutoShape 10"/>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96" name="AutoShape 11"/>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5369" name="Line 12"/>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70" name="Group 13"/>
          <p:cNvGrpSpPr>
            <a:grpSpLocks/>
          </p:cNvGrpSpPr>
          <p:nvPr/>
        </p:nvGrpSpPr>
        <p:grpSpPr bwMode="auto">
          <a:xfrm>
            <a:off x="6892925" y="3313113"/>
            <a:ext cx="793750" cy="731837"/>
            <a:chOff x="4342" y="2087"/>
            <a:chExt cx="500" cy="461"/>
          </a:xfrm>
        </p:grpSpPr>
        <p:sp>
          <p:nvSpPr>
            <p:cNvPr id="15393" name="AutoShape 14"/>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94" name="AutoShape 15"/>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5371" name="Line 16"/>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72" name="Group 17"/>
          <p:cNvGrpSpPr>
            <a:grpSpLocks/>
          </p:cNvGrpSpPr>
          <p:nvPr/>
        </p:nvGrpSpPr>
        <p:grpSpPr bwMode="auto">
          <a:xfrm>
            <a:off x="5880100" y="3313113"/>
            <a:ext cx="793750" cy="731837"/>
            <a:chOff x="3704" y="2087"/>
            <a:chExt cx="500" cy="461"/>
          </a:xfrm>
        </p:grpSpPr>
        <p:sp>
          <p:nvSpPr>
            <p:cNvPr id="15391" name="AutoShape 18"/>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92" name="AutoShape 19"/>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5373" name="Line 20"/>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74" name="Group 21"/>
          <p:cNvGrpSpPr>
            <a:grpSpLocks/>
          </p:cNvGrpSpPr>
          <p:nvPr/>
        </p:nvGrpSpPr>
        <p:grpSpPr bwMode="auto">
          <a:xfrm>
            <a:off x="4679950" y="3313113"/>
            <a:ext cx="793750" cy="731837"/>
            <a:chOff x="2948" y="2087"/>
            <a:chExt cx="500" cy="461"/>
          </a:xfrm>
        </p:grpSpPr>
        <p:sp>
          <p:nvSpPr>
            <p:cNvPr id="15389" name="AutoShape 22"/>
            <p:cNvSpPr>
              <a:spLocks noChangeArrowheads="1"/>
            </p:cNvSpPr>
            <p:nvPr/>
          </p:nvSpPr>
          <p:spPr bwMode="auto">
            <a:xfrm>
              <a:off x="2948" y="2087"/>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90" name="AutoShape 23"/>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42</a:t>
              </a:r>
            </a:p>
          </p:txBody>
        </p:sp>
      </p:grpSp>
      <p:sp>
        <p:nvSpPr>
          <p:cNvPr id="15375" name="Line 24"/>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76" name="Group 25"/>
          <p:cNvGrpSpPr>
            <a:grpSpLocks/>
          </p:cNvGrpSpPr>
          <p:nvPr/>
        </p:nvGrpSpPr>
        <p:grpSpPr bwMode="auto">
          <a:xfrm>
            <a:off x="7437438" y="2398713"/>
            <a:ext cx="793750" cy="731837"/>
            <a:chOff x="4685" y="1511"/>
            <a:chExt cx="500" cy="461"/>
          </a:xfrm>
        </p:grpSpPr>
        <p:sp>
          <p:nvSpPr>
            <p:cNvPr id="15387" name="AutoShape 26"/>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88" name="AutoShape 27"/>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5377" name="Line 28"/>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78" name="Group 29"/>
          <p:cNvGrpSpPr>
            <a:grpSpLocks/>
          </p:cNvGrpSpPr>
          <p:nvPr/>
        </p:nvGrpSpPr>
        <p:grpSpPr bwMode="auto">
          <a:xfrm>
            <a:off x="6376988" y="1331913"/>
            <a:ext cx="793750" cy="731837"/>
            <a:chOff x="4017" y="839"/>
            <a:chExt cx="500" cy="461"/>
          </a:xfrm>
        </p:grpSpPr>
        <p:sp>
          <p:nvSpPr>
            <p:cNvPr id="15385" name="AutoShape 30"/>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86" name="AutoShape 31"/>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5379" name="Group 32"/>
          <p:cNvGrpSpPr>
            <a:grpSpLocks/>
          </p:cNvGrpSpPr>
          <p:nvPr/>
        </p:nvGrpSpPr>
        <p:grpSpPr bwMode="auto">
          <a:xfrm>
            <a:off x="5273675" y="2398713"/>
            <a:ext cx="793750" cy="731837"/>
            <a:chOff x="3322" y="1511"/>
            <a:chExt cx="500" cy="461"/>
          </a:xfrm>
        </p:grpSpPr>
        <p:sp>
          <p:nvSpPr>
            <p:cNvPr id="15383" name="AutoShape 33"/>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84" name="AutoShape 34"/>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a:solidFill>
                    <a:schemeClr val="tx1"/>
                  </a:solidFill>
                </a:rPr>
                <a:t>35</a:t>
              </a:r>
            </a:p>
          </p:txBody>
        </p:sp>
      </p:grpSp>
      <p:grpSp>
        <p:nvGrpSpPr>
          <p:cNvPr id="15380" name="Group 35"/>
          <p:cNvGrpSpPr>
            <a:grpSpLocks/>
          </p:cNvGrpSpPr>
          <p:nvPr/>
        </p:nvGrpSpPr>
        <p:grpSpPr bwMode="auto">
          <a:xfrm>
            <a:off x="5545138" y="4257675"/>
            <a:ext cx="793750" cy="731838"/>
            <a:chOff x="3493" y="2682"/>
            <a:chExt cx="500" cy="461"/>
          </a:xfrm>
        </p:grpSpPr>
        <p:sp>
          <p:nvSpPr>
            <p:cNvPr id="15381" name="AutoShape 36"/>
            <p:cNvSpPr>
              <a:spLocks noChangeArrowheads="1"/>
            </p:cNvSpPr>
            <p:nvPr/>
          </p:nvSpPr>
          <p:spPr bwMode="auto">
            <a:xfrm>
              <a:off x="3493" y="2682"/>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5382" name="AutoShape 37"/>
            <p:cNvSpPr>
              <a:spLocks noChangeArrowheads="1"/>
            </p:cNvSpPr>
            <p:nvPr/>
          </p:nvSpPr>
          <p:spPr bwMode="auto">
            <a:xfrm>
              <a:off x="3512" y="2701"/>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Tree>
    <p:extLst>
      <p:ext uri="{BB962C8B-B14F-4D97-AF65-F5344CB8AC3E}">
        <p14:creationId xmlns:p14="http://schemas.microsoft.com/office/powerpoint/2010/main" val="1784152122"/>
      </p:ext>
    </p:extLst>
  </p:cSld>
  <p:clrMapOvr>
    <a:masterClrMapping/>
  </p:clrMapOvr>
  <p:transition>
    <p:strips/>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Line 1"/>
          <p:cNvSpPr>
            <a:spLocks noChangeShapeType="1"/>
          </p:cNvSpPr>
          <p:nvPr/>
        </p:nvSpPr>
        <p:spPr bwMode="auto">
          <a:xfrm>
            <a:off x="5181600" y="3886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87" name="Rectangle 2"/>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Adding a Node to a Heap</a:t>
            </a:r>
          </a:p>
        </p:txBody>
      </p:sp>
      <p:sp>
        <p:nvSpPr>
          <p:cNvPr id="16388" name="Rectangle 3"/>
          <p:cNvSpPr>
            <a:spLocks noGrp="1" noChangeArrowheads="1"/>
          </p:cNvSpPr>
          <p:nvPr>
            <p:ph sz="quarter" idx="1"/>
          </p:nvPr>
        </p:nvSpPr>
        <p:spPr>
          <a:xfrm>
            <a:off x="685800" y="1981200"/>
            <a:ext cx="3565525" cy="3717925"/>
          </a:xfrm>
        </p:spPr>
        <p:txBody>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Put the new node in the next available spot.</a:t>
            </a:r>
          </a:p>
          <a:p>
            <a:pPr marL="287338" indent="-287338">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Push the new node upward, swapping with its parent until the new node reaches an acceptable location.</a:t>
            </a:r>
          </a:p>
        </p:txBody>
      </p:sp>
      <p:sp>
        <p:nvSpPr>
          <p:cNvPr id="16389" name="Line 4"/>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390" name="Group 5"/>
          <p:cNvGrpSpPr>
            <a:grpSpLocks/>
          </p:cNvGrpSpPr>
          <p:nvPr/>
        </p:nvGrpSpPr>
        <p:grpSpPr bwMode="auto">
          <a:xfrm>
            <a:off x="3917950" y="4254500"/>
            <a:ext cx="793750" cy="731838"/>
            <a:chOff x="2468" y="2680"/>
            <a:chExt cx="500" cy="461"/>
          </a:xfrm>
        </p:grpSpPr>
        <p:sp>
          <p:nvSpPr>
            <p:cNvPr id="16421" name="AutoShape 6"/>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22" name="AutoShape 7"/>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6391" name="Line 8"/>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392" name="Group 9"/>
          <p:cNvGrpSpPr>
            <a:grpSpLocks/>
          </p:cNvGrpSpPr>
          <p:nvPr/>
        </p:nvGrpSpPr>
        <p:grpSpPr bwMode="auto">
          <a:xfrm>
            <a:off x="8061325" y="3313113"/>
            <a:ext cx="793750" cy="731837"/>
            <a:chOff x="5078" y="2087"/>
            <a:chExt cx="500" cy="461"/>
          </a:xfrm>
        </p:grpSpPr>
        <p:sp>
          <p:nvSpPr>
            <p:cNvPr id="16419" name="AutoShape 10"/>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20" name="AutoShape 11"/>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6393" name="Line 12"/>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394" name="Group 13"/>
          <p:cNvGrpSpPr>
            <a:grpSpLocks/>
          </p:cNvGrpSpPr>
          <p:nvPr/>
        </p:nvGrpSpPr>
        <p:grpSpPr bwMode="auto">
          <a:xfrm>
            <a:off x="6892925" y="3313113"/>
            <a:ext cx="793750" cy="731837"/>
            <a:chOff x="4342" y="2087"/>
            <a:chExt cx="500" cy="461"/>
          </a:xfrm>
        </p:grpSpPr>
        <p:sp>
          <p:nvSpPr>
            <p:cNvPr id="16417" name="AutoShape 14"/>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18" name="AutoShape 15"/>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6395" name="Line 16"/>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396" name="Group 17"/>
          <p:cNvGrpSpPr>
            <a:grpSpLocks/>
          </p:cNvGrpSpPr>
          <p:nvPr/>
        </p:nvGrpSpPr>
        <p:grpSpPr bwMode="auto">
          <a:xfrm>
            <a:off x="5880100" y="3313113"/>
            <a:ext cx="793750" cy="731837"/>
            <a:chOff x="3704" y="2087"/>
            <a:chExt cx="500" cy="461"/>
          </a:xfrm>
        </p:grpSpPr>
        <p:sp>
          <p:nvSpPr>
            <p:cNvPr id="16415" name="AutoShape 18"/>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16" name="AutoShape 19"/>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6397" name="Line 20"/>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398" name="Group 21"/>
          <p:cNvGrpSpPr>
            <a:grpSpLocks/>
          </p:cNvGrpSpPr>
          <p:nvPr/>
        </p:nvGrpSpPr>
        <p:grpSpPr bwMode="auto">
          <a:xfrm>
            <a:off x="4679950" y="3313113"/>
            <a:ext cx="793750" cy="731837"/>
            <a:chOff x="2948" y="2087"/>
            <a:chExt cx="500" cy="461"/>
          </a:xfrm>
        </p:grpSpPr>
        <p:sp>
          <p:nvSpPr>
            <p:cNvPr id="16413" name="AutoShape 22"/>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14" name="AutoShape 23"/>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16399" name="Line 24"/>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400" name="Group 25"/>
          <p:cNvGrpSpPr>
            <a:grpSpLocks/>
          </p:cNvGrpSpPr>
          <p:nvPr/>
        </p:nvGrpSpPr>
        <p:grpSpPr bwMode="auto">
          <a:xfrm>
            <a:off x="7437438" y="2398713"/>
            <a:ext cx="793750" cy="731837"/>
            <a:chOff x="4685" y="1511"/>
            <a:chExt cx="500" cy="461"/>
          </a:xfrm>
        </p:grpSpPr>
        <p:sp>
          <p:nvSpPr>
            <p:cNvPr id="16411" name="AutoShape 26"/>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12" name="AutoShape 27"/>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6401" name="Line 28"/>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6402" name="Group 29"/>
          <p:cNvGrpSpPr>
            <a:grpSpLocks/>
          </p:cNvGrpSpPr>
          <p:nvPr/>
        </p:nvGrpSpPr>
        <p:grpSpPr bwMode="auto">
          <a:xfrm>
            <a:off x="6376988" y="1331913"/>
            <a:ext cx="793750" cy="731837"/>
            <a:chOff x="4017" y="839"/>
            <a:chExt cx="500" cy="461"/>
          </a:xfrm>
        </p:grpSpPr>
        <p:sp>
          <p:nvSpPr>
            <p:cNvPr id="16409" name="AutoShape 30"/>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10" name="AutoShape 31"/>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6403" name="Group 32"/>
          <p:cNvGrpSpPr>
            <a:grpSpLocks/>
          </p:cNvGrpSpPr>
          <p:nvPr/>
        </p:nvGrpSpPr>
        <p:grpSpPr bwMode="auto">
          <a:xfrm>
            <a:off x="5273675" y="2398713"/>
            <a:ext cx="793750" cy="731837"/>
            <a:chOff x="3322" y="1511"/>
            <a:chExt cx="500" cy="461"/>
          </a:xfrm>
        </p:grpSpPr>
        <p:sp>
          <p:nvSpPr>
            <p:cNvPr id="16407" name="AutoShape 33"/>
            <p:cNvSpPr>
              <a:spLocks noChangeArrowheads="1"/>
            </p:cNvSpPr>
            <p:nvPr/>
          </p:nvSpPr>
          <p:spPr bwMode="auto">
            <a:xfrm>
              <a:off x="3322" y="1511"/>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08" name="AutoShape 34"/>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42</a:t>
              </a:r>
            </a:p>
          </p:txBody>
        </p:sp>
      </p:grpSp>
      <p:grpSp>
        <p:nvGrpSpPr>
          <p:cNvPr id="16404" name="Group 35"/>
          <p:cNvGrpSpPr>
            <a:grpSpLocks/>
          </p:cNvGrpSpPr>
          <p:nvPr/>
        </p:nvGrpSpPr>
        <p:grpSpPr bwMode="auto">
          <a:xfrm>
            <a:off x="5545138" y="4257675"/>
            <a:ext cx="793750" cy="731838"/>
            <a:chOff x="3493" y="2682"/>
            <a:chExt cx="500" cy="461"/>
          </a:xfrm>
        </p:grpSpPr>
        <p:sp>
          <p:nvSpPr>
            <p:cNvPr id="16405" name="AutoShape 36"/>
            <p:cNvSpPr>
              <a:spLocks noChangeArrowheads="1"/>
            </p:cNvSpPr>
            <p:nvPr/>
          </p:nvSpPr>
          <p:spPr bwMode="auto">
            <a:xfrm>
              <a:off x="3493" y="2682"/>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6406" name="AutoShape 37"/>
            <p:cNvSpPr>
              <a:spLocks noChangeArrowheads="1"/>
            </p:cNvSpPr>
            <p:nvPr/>
          </p:nvSpPr>
          <p:spPr bwMode="auto">
            <a:xfrm>
              <a:off x="3512" y="2701"/>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Tree>
    <p:extLst>
      <p:ext uri="{BB962C8B-B14F-4D97-AF65-F5344CB8AC3E}">
        <p14:creationId xmlns:p14="http://schemas.microsoft.com/office/powerpoint/2010/main" val="1758924279"/>
      </p:ext>
    </p:extLst>
  </p:cSld>
  <p:clrMapOvr>
    <a:masterClrMapping/>
  </p:clrMapOvr>
  <p:transition>
    <p:strips dir="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Line 1"/>
          <p:cNvSpPr>
            <a:spLocks noChangeShapeType="1"/>
          </p:cNvSpPr>
          <p:nvPr/>
        </p:nvSpPr>
        <p:spPr bwMode="auto">
          <a:xfrm>
            <a:off x="5181600" y="3886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1" name="Rectangle 2"/>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Adding a Node to a Heap</a:t>
            </a:r>
          </a:p>
        </p:txBody>
      </p:sp>
      <p:sp>
        <p:nvSpPr>
          <p:cNvPr id="18435" name="Rectangle 3"/>
          <p:cNvSpPr>
            <a:spLocks noGrp="1" noChangeArrowheads="1"/>
          </p:cNvSpPr>
          <p:nvPr>
            <p:ph sz="quarter" idx="1"/>
          </p:nvPr>
        </p:nvSpPr>
        <p:spPr>
          <a:xfrm>
            <a:off x="685800" y="1981200"/>
            <a:ext cx="3565525" cy="3475038"/>
          </a:xfrm>
        </p:spPr>
        <p:txBody>
          <a:bodyPr>
            <a:normAutofit fontScale="92500"/>
          </a:bodyPr>
          <a:lstStyle/>
          <a:p>
            <a:pPr marL="287338" indent="-287338">
              <a:lnSpc>
                <a:spcPct val="95000"/>
              </a:lnSpc>
              <a:spcBef>
                <a:spcPts val="600"/>
              </a:spcBef>
              <a:buClr>
                <a:srgbClr val="00FF00"/>
              </a:buClr>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defRPr/>
            </a:pPr>
            <a:r>
              <a:rPr lang="en-GB" sz="2400" dirty="0" smtClean="0">
                <a:effectLst/>
              </a:rPr>
              <a:t>The parent has a  key that is &gt;= new node, or</a:t>
            </a:r>
          </a:p>
          <a:p>
            <a:pPr marL="287338" indent="-287338">
              <a:spcBef>
                <a:spcPts val="600"/>
              </a:spcBef>
              <a:buClr>
                <a:srgbClr val="00FF00"/>
              </a:buClr>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defRPr/>
            </a:pPr>
            <a:r>
              <a:rPr lang="en-GB" sz="2400" dirty="0" smtClean="0">
                <a:effectLst/>
              </a:rPr>
              <a:t>The node reaches the root.</a:t>
            </a:r>
          </a:p>
          <a:p>
            <a:pPr marL="287338" indent="-287338">
              <a:spcBef>
                <a:spcPts val="600"/>
              </a:spcBef>
              <a:buClr>
                <a:srgbClr val="00FF00"/>
              </a:buClr>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defRPr/>
            </a:pPr>
            <a:r>
              <a:rPr lang="en-GB" sz="2400" dirty="0" smtClean="0">
                <a:effectLst/>
              </a:rPr>
              <a:t>The process of pushing the new node upward       is called                       </a:t>
            </a:r>
            <a:r>
              <a:rPr lang="en-GB" sz="2400" b="1" u="sng" dirty="0" err="1" smtClean="0">
                <a:solidFill>
                  <a:srgbClr val="FF8000"/>
                </a:solidFill>
              </a:rPr>
              <a:t>reheapification</a:t>
            </a:r>
            <a:r>
              <a:rPr lang="en-GB" sz="2400" dirty="0" smtClean="0">
                <a:solidFill>
                  <a:srgbClr val="FF8000"/>
                </a:solidFill>
                <a:effectLst/>
              </a:rPr>
              <a:t>          </a:t>
            </a:r>
            <a:r>
              <a:rPr lang="en-GB" sz="2400" b="1" u="sng" dirty="0" smtClean="0">
                <a:solidFill>
                  <a:srgbClr val="FF8000"/>
                </a:solidFill>
                <a:effectLst/>
              </a:rPr>
              <a:t>upward</a:t>
            </a:r>
            <a:r>
              <a:rPr lang="en-GB" sz="2400" dirty="0" smtClean="0">
                <a:effectLst/>
              </a:rPr>
              <a:t>.</a:t>
            </a:r>
          </a:p>
        </p:txBody>
      </p:sp>
      <p:sp>
        <p:nvSpPr>
          <p:cNvPr id="17413" name="Line 4"/>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14" name="Group 5"/>
          <p:cNvGrpSpPr>
            <a:grpSpLocks/>
          </p:cNvGrpSpPr>
          <p:nvPr/>
        </p:nvGrpSpPr>
        <p:grpSpPr bwMode="auto">
          <a:xfrm>
            <a:off x="3917950" y="4254500"/>
            <a:ext cx="793750" cy="731838"/>
            <a:chOff x="2468" y="2680"/>
            <a:chExt cx="500" cy="461"/>
          </a:xfrm>
        </p:grpSpPr>
        <p:sp>
          <p:nvSpPr>
            <p:cNvPr id="17445" name="AutoShape 6"/>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46" name="AutoShape 7"/>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7415" name="Line 8"/>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16" name="Group 9"/>
          <p:cNvGrpSpPr>
            <a:grpSpLocks/>
          </p:cNvGrpSpPr>
          <p:nvPr/>
        </p:nvGrpSpPr>
        <p:grpSpPr bwMode="auto">
          <a:xfrm>
            <a:off x="8061325" y="3313113"/>
            <a:ext cx="793750" cy="731837"/>
            <a:chOff x="5078" y="2087"/>
            <a:chExt cx="500" cy="461"/>
          </a:xfrm>
        </p:grpSpPr>
        <p:sp>
          <p:nvSpPr>
            <p:cNvPr id="17443" name="AutoShape 10"/>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44" name="AutoShape 11"/>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7417" name="Line 12"/>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18" name="Group 13"/>
          <p:cNvGrpSpPr>
            <a:grpSpLocks/>
          </p:cNvGrpSpPr>
          <p:nvPr/>
        </p:nvGrpSpPr>
        <p:grpSpPr bwMode="auto">
          <a:xfrm>
            <a:off x="6892925" y="3313113"/>
            <a:ext cx="793750" cy="731837"/>
            <a:chOff x="4342" y="2087"/>
            <a:chExt cx="500" cy="461"/>
          </a:xfrm>
        </p:grpSpPr>
        <p:sp>
          <p:nvSpPr>
            <p:cNvPr id="17441" name="AutoShape 14"/>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42" name="AutoShape 15"/>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7419" name="Line 16"/>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0" name="Group 17"/>
          <p:cNvGrpSpPr>
            <a:grpSpLocks/>
          </p:cNvGrpSpPr>
          <p:nvPr/>
        </p:nvGrpSpPr>
        <p:grpSpPr bwMode="auto">
          <a:xfrm>
            <a:off x="5880100" y="3313113"/>
            <a:ext cx="793750" cy="731837"/>
            <a:chOff x="3704" y="2087"/>
            <a:chExt cx="500" cy="461"/>
          </a:xfrm>
        </p:grpSpPr>
        <p:sp>
          <p:nvSpPr>
            <p:cNvPr id="17439" name="AutoShape 18"/>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40" name="AutoShape 19"/>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7421" name="Line 20"/>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2" name="Group 21"/>
          <p:cNvGrpSpPr>
            <a:grpSpLocks/>
          </p:cNvGrpSpPr>
          <p:nvPr/>
        </p:nvGrpSpPr>
        <p:grpSpPr bwMode="auto">
          <a:xfrm>
            <a:off x="4679950" y="3313113"/>
            <a:ext cx="793750" cy="731837"/>
            <a:chOff x="2948" y="2087"/>
            <a:chExt cx="500" cy="461"/>
          </a:xfrm>
        </p:grpSpPr>
        <p:sp>
          <p:nvSpPr>
            <p:cNvPr id="17437" name="AutoShape 22"/>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38" name="AutoShape 23"/>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17423" name="Line 24"/>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4" name="Group 25"/>
          <p:cNvGrpSpPr>
            <a:grpSpLocks/>
          </p:cNvGrpSpPr>
          <p:nvPr/>
        </p:nvGrpSpPr>
        <p:grpSpPr bwMode="auto">
          <a:xfrm>
            <a:off x="7437438" y="2398713"/>
            <a:ext cx="793750" cy="731837"/>
            <a:chOff x="4685" y="1511"/>
            <a:chExt cx="500" cy="461"/>
          </a:xfrm>
        </p:grpSpPr>
        <p:sp>
          <p:nvSpPr>
            <p:cNvPr id="17435" name="AutoShape 26"/>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36" name="AutoShape 27"/>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7425" name="Line 28"/>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6" name="Group 29"/>
          <p:cNvGrpSpPr>
            <a:grpSpLocks/>
          </p:cNvGrpSpPr>
          <p:nvPr/>
        </p:nvGrpSpPr>
        <p:grpSpPr bwMode="auto">
          <a:xfrm>
            <a:off x="6376988" y="1331913"/>
            <a:ext cx="793750" cy="731837"/>
            <a:chOff x="4017" y="839"/>
            <a:chExt cx="500" cy="461"/>
          </a:xfrm>
        </p:grpSpPr>
        <p:sp>
          <p:nvSpPr>
            <p:cNvPr id="17433" name="AutoShape 30"/>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34" name="AutoShape 31"/>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7427" name="Group 32"/>
          <p:cNvGrpSpPr>
            <a:grpSpLocks/>
          </p:cNvGrpSpPr>
          <p:nvPr/>
        </p:nvGrpSpPr>
        <p:grpSpPr bwMode="auto">
          <a:xfrm>
            <a:off x="5273675" y="2398713"/>
            <a:ext cx="793750" cy="731837"/>
            <a:chOff x="3322" y="1511"/>
            <a:chExt cx="500" cy="461"/>
          </a:xfrm>
        </p:grpSpPr>
        <p:sp>
          <p:nvSpPr>
            <p:cNvPr id="17431" name="AutoShape 33"/>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32" name="AutoShape 34"/>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17428" name="Group 35"/>
          <p:cNvGrpSpPr>
            <a:grpSpLocks/>
          </p:cNvGrpSpPr>
          <p:nvPr/>
        </p:nvGrpSpPr>
        <p:grpSpPr bwMode="auto">
          <a:xfrm>
            <a:off x="5545138" y="4257675"/>
            <a:ext cx="793750" cy="731838"/>
            <a:chOff x="3493" y="2682"/>
            <a:chExt cx="500" cy="461"/>
          </a:xfrm>
        </p:grpSpPr>
        <p:sp>
          <p:nvSpPr>
            <p:cNvPr id="17429" name="AutoShape 36"/>
            <p:cNvSpPr>
              <a:spLocks noChangeArrowheads="1"/>
            </p:cNvSpPr>
            <p:nvPr/>
          </p:nvSpPr>
          <p:spPr bwMode="auto">
            <a:xfrm>
              <a:off x="3493" y="2682"/>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7430" name="AutoShape 37"/>
            <p:cNvSpPr>
              <a:spLocks noChangeArrowheads="1"/>
            </p:cNvSpPr>
            <p:nvPr/>
          </p:nvSpPr>
          <p:spPr bwMode="auto">
            <a:xfrm>
              <a:off x="3512" y="2701"/>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Tree>
    <p:extLst>
      <p:ext uri="{BB962C8B-B14F-4D97-AF65-F5344CB8AC3E}">
        <p14:creationId xmlns:p14="http://schemas.microsoft.com/office/powerpoint/2010/main" val="19879528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up)">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up)">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up)">
                                      <p:cBhvr>
                                        <p:cTn id="17"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Removing the Top of a Heap</a:t>
            </a:r>
          </a:p>
        </p:txBody>
      </p:sp>
      <p:sp>
        <p:nvSpPr>
          <p:cNvPr id="18435" name="Rectangle 2"/>
          <p:cNvSpPr>
            <a:spLocks noGrp="1" noChangeArrowheads="1"/>
          </p:cNvSpPr>
          <p:nvPr>
            <p:ph sz="quarter" idx="1"/>
          </p:nvPr>
        </p:nvSpPr>
        <p:spPr>
          <a:xfrm>
            <a:off x="685800" y="1981200"/>
            <a:ext cx="3565525" cy="3717925"/>
          </a:xfrm>
        </p:spPr>
        <p:txBody>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Move the last node onto the root.</a:t>
            </a:r>
          </a:p>
        </p:txBody>
      </p:sp>
      <p:sp>
        <p:nvSpPr>
          <p:cNvPr id="18436" name="Line 3"/>
          <p:cNvSpPr>
            <a:spLocks noChangeShapeType="1"/>
          </p:cNvSpPr>
          <p:nvPr/>
        </p:nvSpPr>
        <p:spPr bwMode="auto">
          <a:xfrm>
            <a:off x="5181600" y="3886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7" name="Line 4"/>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38" name="Group 5"/>
          <p:cNvGrpSpPr>
            <a:grpSpLocks/>
          </p:cNvGrpSpPr>
          <p:nvPr/>
        </p:nvGrpSpPr>
        <p:grpSpPr bwMode="auto">
          <a:xfrm>
            <a:off x="3917950" y="4254500"/>
            <a:ext cx="793750" cy="731838"/>
            <a:chOff x="2468" y="2680"/>
            <a:chExt cx="500" cy="461"/>
          </a:xfrm>
        </p:grpSpPr>
        <p:sp>
          <p:nvSpPr>
            <p:cNvPr id="18472" name="AutoShape 6"/>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73" name="AutoShape 7"/>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8439" name="Line 8"/>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0" name="Group 9"/>
          <p:cNvGrpSpPr>
            <a:grpSpLocks/>
          </p:cNvGrpSpPr>
          <p:nvPr/>
        </p:nvGrpSpPr>
        <p:grpSpPr bwMode="auto">
          <a:xfrm>
            <a:off x="8061325" y="3313113"/>
            <a:ext cx="793750" cy="731837"/>
            <a:chOff x="5078" y="2087"/>
            <a:chExt cx="500" cy="461"/>
          </a:xfrm>
        </p:grpSpPr>
        <p:sp>
          <p:nvSpPr>
            <p:cNvPr id="18470" name="AutoShape 10"/>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71" name="AutoShape 11"/>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8441" name="Line 12"/>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2" name="Group 13"/>
          <p:cNvGrpSpPr>
            <a:grpSpLocks/>
          </p:cNvGrpSpPr>
          <p:nvPr/>
        </p:nvGrpSpPr>
        <p:grpSpPr bwMode="auto">
          <a:xfrm>
            <a:off x="6892925" y="3313113"/>
            <a:ext cx="793750" cy="731837"/>
            <a:chOff x="4342" y="2087"/>
            <a:chExt cx="500" cy="461"/>
          </a:xfrm>
        </p:grpSpPr>
        <p:sp>
          <p:nvSpPr>
            <p:cNvPr id="18468" name="AutoShape 14"/>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69" name="AutoShape 15"/>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8443" name="Line 16"/>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4" name="Group 17"/>
          <p:cNvGrpSpPr>
            <a:grpSpLocks/>
          </p:cNvGrpSpPr>
          <p:nvPr/>
        </p:nvGrpSpPr>
        <p:grpSpPr bwMode="auto">
          <a:xfrm>
            <a:off x="5880100" y="3313113"/>
            <a:ext cx="793750" cy="731837"/>
            <a:chOff x="3704" y="2087"/>
            <a:chExt cx="500" cy="461"/>
          </a:xfrm>
        </p:grpSpPr>
        <p:sp>
          <p:nvSpPr>
            <p:cNvPr id="18466" name="AutoShape 18"/>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67" name="AutoShape 19"/>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8445" name="Line 20"/>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6" name="Group 21"/>
          <p:cNvGrpSpPr>
            <a:grpSpLocks/>
          </p:cNvGrpSpPr>
          <p:nvPr/>
        </p:nvGrpSpPr>
        <p:grpSpPr bwMode="auto">
          <a:xfrm>
            <a:off x="4679950" y="3313113"/>
            <a:ext cx="793750" cy="731837"/>
            <a:chOff x="2948" y="2087"/>
            <a:chExt cx="500" cy="461"/>
          </a:xfrm>
        </p:grpSpPr>
        <p:sp>
          <p:nvSpPr>
            <p:cNvPr id="18464" name="AutoShape 22"/>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65" name="AutoShape 23"/>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18447" name="Line 24"/>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8" name="Group 25"/>
          <p:cNvGrpSpPr>
            <a:grpSpLocks/>
          </p:cNvGrpSpPr>
          <p:nvPr/>
        </p:nvGrpSpPr>
        <p:grpSpPr bwMode="auto">
          <a:xfrm>
            <a:off x="7437438" y="2398713"/>
            <a:ext cx="793750" cy="731837"/>
            <a:chOff x="4685" y="1511"/>
            <a:chExt cx="500" cy="461"/>
          </a:xfrm>
        </p:grpSpPr>
        <p:sp>
          <p:nvSpPr>
            <p:cNvPr id="18462" name="AutoShape 26"/>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63" name="AutoShape 27"/>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8449" name="Line 28"/>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50" name="Group 29"/>
          <p:cNvGrpSpPr>
            <a:grpSpLocks/>
          </p:cNvGrpSpPr>
          <p:nvPr/>
        </p:nvGrpSpPr>
        <p:grpSpPr bwMode="auto">
          <a:xfrm>
            <a:off x="6376988" y="1331913"/>
            <a:ext cx="793750" cy="731837"/>
            <a:chOff x="4017" y="839"/>
            <a:chExt cx="500" cy="461"/>
          </a:xfrm>
        </p:grpSpPr>
        <p:sp>
          <p:nvSpPr>
            <p:cNvPr id="18460" name="AutoShape 30"/>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61" name="AutoShape 31"/>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45</a:t>
              </a:r>
            </a:p>
          </p:txBody>
        </p:sp>
      </p:grpSp>
      <p:grpSp>
        <p:nvGrpSpPr>
          <p:cNvPr id="18451" name="Group 32"/>
          <p:cNvGrpSpPr>
            <a:grpSpLocks/>
          </p:cNvGrpSpPr>
          <p:nvPr/>
        </p:nvGrpSpPr>
        <p:grpSpPr bwMode="auto">
          <a:xfrm>
            <a:off x="5273675" y="2398713"/>
            <a:ext cx="793750" cy="731837"/>
            <a:chOff x="3322" y="1511"/>
            <a:chExt cx="500" cy="461"/>
          </a:xfrm>
        </p:grpSpPr>
        <p:sp>
          <p:nvSpPr>
            <p:cNvPr id="18458" name="AutoShape 33"/>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59" name="AutoShape 34"/>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18452" name="Group 35"/>
          <p:cNvGrpSpPr>
            <a:grpSpLocks/>
          </p:cNvGrpSpPr>
          <p:nvPr/>
        </p:nvGrpSpPr>
        <p:grpSpPr bwMode="auto">
          <a:xfrm>
            <a:off x="5545138" y="4257675"/>
            <a:ext cx="793750" cy="731838"/>
            <a:chOff x="3493" y="2682"/>
            <a:chExt cx="500" cy="461"/>
          </a:xfrm>
        </p:grpSpPr>
        <p:sp>
          <p:nvSpPr>
            <p:cNvPr id="18456" name="AutoShape 36"/>
            <p:cNvSpPr>
              <a:spLocks noChangeArrowheads="1"/>
            </p:cNvSpPr>
            <p:nvPr/>
          </p:nvSpPr>
          <p:spPr bwMode="auto">
            <a:xfrm>
              <a:off x="3493" y="2682"/>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57" name="AutoShape 37"/>
            <p:cNvSpPr>
              <a:spLocks noChangeArrowheads="1"/>
            </p:cNvSpPr>
            <p:nvPr/>
          </p:nvSpPr>
          <p:spPr bwMode="auto">
            <a:xfrm>
              <a:off x="3512" y="2701"/>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grpSp>
        <p:nvGrpSpPr>
          <p:cNvPr id="18453" name="Group 38"/>
          <p:cNvGrpSpPr>
            <a:grpSpLocks/>
          </p:cNvGrpSpPr>
          <p:nvPr/>
        </p:nvGrpSpPr>
        <p:grpSpPr bwMode="auto">
          <a:xfrm>
            <a:off x="6126163" y="2301875"/>
            <a:ext cx="760412" cy="2132013"/>
            <a:chOff x="3859" y="1450"/>
            <a:chExt cx="479" cy="1343"/>
          </a:xfrm>
        </p:grpSpPr>
        <p:sp>
          <p:nvSpPr>
            <p:cNvPr id="18454" name="AutoShape 39"/>
            <p:cNvSpPr>
              <a:spLocks noChangeArrowheads="1"/>
            </p:cNvSpPr>
            <p:nvPr/>
          </p:nvSpPr>
          <p:spPr bwMode="auto">
            <a:xfrm>
              <a:off x="3859" y="1450"/>
              <a:ext cx="480" cy="1344"/>
            </a:xfrm>
            <a:prstGeom prst="roundRect">
              <a:avLst>
                <a:gd name="adj" fmla="val 20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320">
                  <a:solidFill>
                    <a:srgbClr val="000000"/>
                  </a:solidFill>
                  <a:round/>
                  <a:headEnd type="triangle" w="med" len="med"/>
                  <a:tailEnd/>
                </a14:hiddenLine>
              </a:ext>
            </a:extLst>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8455" name="Freeform 40"/>
            <p:cNvSpPr>
              <a:spLocks/>
            </p:cNvSpPr>
            <p:nvPr/>
          </p:nvSpPr>
          <p:spPr bwMode="auto">
            <a:xfrm>
              <a:off x="3859" y="1450"/>
              <a:ext cx="480" cy="1344"/>
            </a:xfrm>
            <a:custGeom>
              <a:avLst/>
              <a:gdLst>
                <a:gd name="T0" fmla="*/ 0 w 2118"/>
                <a:gd name="T1" fmla="*/ 1344 h 5928"/>
                <a:gd name="T2" fmla="*/ 25 w 2118"/>
                <a:gd name="T3" fmla="*/ 1342 h 5928"/>
                <a:gd name="T4" fmla="*/ 50 w 2118"/>
                <a:gd name="T5" fmla="*/ 1337 h 5928"/>
                <a:gd name="T6" fmla="*/ 75 w 2118"/>
                <a:gd name="T7" fmla="*/ 1327 h 5928"/>
                <a:gd name="T8" fmla="*/ 100 w 2118"/>
                <a:gd name="T9" fmla="*/ 1314 h 5928"/>
                <a:gd name="T10" fmla="*/ 124 w 2118"/>
                <a:gd name="T11" fmla="*/ 1298 h 5928"/>
                <a:gd name="T12" fmla="*/ 148 w 2118"/>
                <a:gd name="T13" fmla="*/ 1278 h 5928"/>
                <a:gd name="T14" fmla="*/ 172 w 2118"/>
                <a:gd name="T15" fmla="*/ 1254 h 5928"/>
                <a:gd name="T16" fmla="*/ 195 w 2118"/>
                <a:gd name="T17" fmla="*/ 1228 h 5928"/>
                <a:gd name="T18" fmla="*/ 218 w 2118"/>
                <a:gd name="T19" fmla="*/ 1197 h 5928"/>
                <a:gd name="T20" fmla="*/ 240 w 2118"/>
                <a:gd name="T21" fmla="*/ 1164 h 5928"/>
                <a:gd name="T22" fmla="*/ 261 w 2118"/>
                <a:gd name="T23" fmla="*/ 1127 h 5928"/>
                <a:gd name="T24" fmla="*/ 282 w 2118"/>
                <a:gd name="T25" fmla="*/ 1087 h 5928"/>
                <a:gd name="T26" fmla="*/ 302 w 2118"/>
                <a:gd name="T27" fmla="*/ 1044 h 5928"/>
                <a:gd name="T28" fmla="*/ 321 w 2118"/>
                <a:gd name="T29" fmla="*/ 999 h 5928"/>
                <a:gd name="T30" fmla="*/ 339 w 2118"/>
                <a:gd name="T31" fmla="*/ 950 h 5928"/>
                <a:gd name="T32" fmla="*/ 356 w 2118"/>
                <a:gd name="T33" fmla="*/ 899 h 5928"/>
                <a:gd name="T34" fmla="*/ 373 w 2118"/>
                <a:gd name="T35" fmla="*/ 846 h 5928"/>
                <a:gd name="T36" fmla="*/ 388 w 2118"/>
                <a:gd name="T37" fmla="*/ 790 h 5928"/>
                <a:gd name="T38" fmla="*/ 402 w 2118"/>
                <a:gd name="T39" fmla="*/ 732 h 5928"/>
                <a:gd name="T40" fmla="*/ 415 w 2118"/>
                <a:gd name="T41" fmla="*/ 672 h 5928"/>
                <a:gd name="T42" fmla="*/ 427 w 2118"/>
                <a:gd name="T43" fmla="*/ 610 h 5928"/>
                <a:gd name="T44" fmla="*/ 438 w 2118"/>
                <a:gd name="T45" fmla="*/ 547 h 5928"/>
                <a:gd name="T46" fmla="*/ 448 w 2118"/>
                <a:gd name="T47" fmla="*/ 482 h 5928"/>
                <a:gd name="T48" fmla="*/ 456 w 2118"/>
                <a:gd name="T49" fmla="*/ 415 h 5928"/>
                <a:gd name="T50" fmla="*/ 463 w 2118"/>
                <a:gd name="T51" fmla="*/ 348 h 5928"/>
                <a:gd name="T52" fmla="*/ 469 w 2118"/>
                <a:gd name="T53" fmla="*/ 279 h 5928"/>
                <a:gd name="T54" fmla="*/ 474 w 2118"/>
                <a:gd name="T55" fmla="*/ 210 h 5928"/>
                <a:gd name="T56" fmla="*/ 477 w 2118"/>
                <a:gd name="T57" fmla="*/ 141 h 5928"/>
                <a:gd name="T58" fmla="*/ 479 w 2118"/>
                <a:gd name="T59" fmla="*/ 70 h 5928"/>
                <a:gd name="T60" fmla="*/ 480 w 2118"/>
                <a:gd name="T61" fmla="*/ 0 h 592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118"/>
                <a:gd name="T94" fmla="*/ 0 h 5928"/>
                <a:gd name="T95" fmla="*/ 2118 w 2118"/>
                <a:gd name="T96" fmla="*/ 5928 h 592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118" h="5928">
                  <a:moveTo>
                    <a:pt x="0" y="5927"/>
                  </a:moveTo>
                  <a:lnTo>
                    <a:pt x="111" y="5919"/>
                  </a:lnTo>
                  <a:lnTo>
                    <a:pt x="221" y="5895"/>
                  </a:lnTo>
                  <a:lnTo>
                    <a:pt x="331" y="5854"/>
                  </a:lnTo>
                  <a:lnTo>
                    <a:pt x="440" y="5797"/>
                  </a:lnTo>
                  <a:lnTo>
                    <a:pt x="548" y="5725"/>
                  </a:lnTo>
                  <a:lnTo>
                    <a:pt x="654" y="5637"/>
                  </a:lnTo>
                  <a:lnTo>
                    <a:pt x="759" y="5533"/>
                  </a:lnTo>
                  <a:lnTo>
                    <a:pt x="861" y="5415"/>
                  </a:lnTo>
                  <a:lnTo>
                    <a:pt x="961" y="5281"/>
                  </a:lnTo>
                  <a:lnTo>
                    <a:pt x="1059" y="5133"/>
                  </a:lnTo>
                  <a:lnTo>
                    <a:pt x="1153" y="4971"/>
                  </a:lnTo>
                  <a:lnTo>
                    <a:pt x="1244" y="4795"/>
                  </a:lnTo>
                  <a:lnTo>
                    <a:pt x="1332" y="4606"/>
                  </a:lnTo>
                  <a:lnTo>
                    <a:pt x="1417" y="4405"/>
                  </a:lnTo>
                  <a:lnTo>
                    <a:pt x="1497" y="4191"/>
                  </a:lnTo>
                  <a:lnTo>
                    <a:pt x="1573" y="3966"/>
                  </a:lnTo>
                  <a:lnTo>
                    <a:pt x="1645" y="3730"/>
                  </a:lnTo>
                  <a:lnTo>
                    <a:pt x="1713" y="3484"/>
                  </a:lnTo>
                  <a:lnTo>
                    <a:pt x="1775" y="3228"/>
                  </a:lnTo>
                  <a:lnTo>
                    <a:pt x="1833" y="2963"/>
                  </a:lnTo>
                  <a:lnTo>
                    <a:pt x="1886" y="2691"/>
                  </a:lnTo>
                  <a:lnTo>
                    <a:pt x="1934" y="2411"/>
                  </a:lnTo>
                  <a:lnTo>
                    <a:pt x="1976" y="2124"/>
                  </a:lnTo>
                  <a:lnTo>
                    <a:pt x="2013" y="1832"/>
                  </a:lnTo>
                  <a:lnTo>
                    <a:pt x="2045" y="1534"/>
                  </a:lnTo>
                  <a:lnTo>
                    <a:pt x="2071" y="1232"/>
                  </a:lnTo>
                  <a:lnTo>
                    <a:pt x="2091" y="927"/>
                  </a:lnTo>
                  <a:lnTo>
                    <a:pt x="2105" y="620"/>
                  </a:lnTo>
                  <a:lnTo>
                    <a:pt x="2114" y="310"/>
                  </a:lnTo>
                  <a:lnTo>
                    <a:pt x="2117" y="0"/>
                  </a:lnTo>
                </a:path>
              </a:pathLst>
            </a:custGeom>
            <a:noFill/>
            <a:ln w="76320">
              <a:solidFill>
                <a:srgbClr val="FF8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spTree>
    <p:extLst>
      <p:ext uri="{BB962C8B-B14F-4D97-AF65-F5344CB8AC3E}">
        <p14:creationId xmlns:p14="http://schemas.microsoft.com/office/powerpoint/2010/main" val="342704061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Removing the Top of a Heap</a:t>
            </a:r>
          </a:p>
        </p:txBody>
      </p:sp>
      <p:sp>
        <p:nvSpPr>
          <p:cNvPr id="19459" name="Rectangle 2"/>
          <p:cNvSpPr>
            <a:spLocks noGrp="1" noChangeArrowheads="1"/>
          </p:cNvSpPr>
          <p:nvPr>
            <p:ph sz="quarter" idx="1"/>
          </p:nvPr>
        </p:nvSpPr>
        <p:spPr>
          <a:xfrm>
            <a:off x="685800" y="1981200"/>
            <a:ext cx="3565525" cy="3717925"/>
          </a:xfrm>
        </p:spPr>
        <p:txBody>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smtClean="0">
                <a:effectLst/>
              </a:rPr>
              <a:t>Move the last node onto the root.</a:t>
            </a:r>
          </a:p>
        </p:txBody>
      </p:sp>
      <p:sp>
        <p:nvSpPr>
          <p:cNvPr id="19460" name="Line 3"/>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61" name="Group 4"/>
          <p:cNvGrpSpPr>
            <a:grpSpLocks/>
          </p:cNvGrpSpPr>
          <p:nvPr/>
        </p:nvGrpSpPr>
        <p:grpSpPr bwMode="auto">
          <a:xfrm>
            <a:off x="3917950" y="4254500"/>
            <a:ext cx="793750" cy="731838"/>
            <a:chOff x="2468" y="2680"/>
            <a:chExt cx="500" cy="461"/>
          </a:xfrm>
        </p:grpSpPr>
        <p:sp>
          <p:nvSpPr>
            <p:cNvPr id="19489" name="AutoShape 5"/>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90" name="AutoShape 6"/>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19462" name="Line 7"/>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63" name="Group 8"/>
          <p:cNvGrpSpPr>
            <a:grpSpLocks/>
          </p:cNvGrpSpPr>
          <p:nvPr/>
        </p:nvGrpSpPr>
        <p:grpSpPr bwMode="auto">
          <a:xfrm>
            <a:off x="8061325" y="3313113"/>
            <a:ext cx="793750" cy="731837"/>
            <a:chOff x="5078" y="2087"/>
            <a:chExt cx="500" cy="461"/>
          </a:xfrm>
        </p:grpSpPr>
        <p:sp>
          <p:nvSpPr>
            <p:cNvPr id="19487" name="AutoShape 9"/>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88" name="AutoShape 10"/>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19464" name="Line 11"/>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65" name="Group 12"/>
          <p:cNvGrpSpPr>
            <a:grpSpLocks/>
          </p:cNvGrpSpPr>
          <p:nvPr/>
        </p:nvGrpSpPr>
        <p:grpSpPr bwMode="auto">
          <a:xfrm>
            <a:off x="6892925" y="3313113"/>
            <a:ext cx="793750" cy="731837"/>
            <a:chOff x="4342" y="2087"/>
            <a:chExt cx="500" cy="461"/>
          </a:xfrm>
        </p:grpSpPr>
        <p:sp>
          <p:nvSpPr>
            <p:cNvPr id="19485" name="AutoShape 13"/>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86" name="AutoShape 14"/>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19466"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67" name="Group 16"/>
          <p:cNvGrpSpPr>
            <a:grpSpLocks/>
          </p:cNvGrpSpPr>
          <p:nvPr/>
        </p:nvGrpSpPr>
        <p:grpSpPr bwMode="auto">
          <a:xfrm>
            <a:off x="5880100" y="3313113"/>
            <a:ext cx="793750" cy="731837"/>
            <a:chOff x="3704" y="2087"/>
            <a:chExt cx="500" cy="461"/>
          </a:xfrm>
        </p:grpSpPr>
        <p:sp>
          <p:nvSpPr>
            <p:cNvPr id="19483"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84"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19468"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69" name="Group 20"/>
          <p:cNvGrpSpPr>
            <a:grpSpLocks/>
          </p:cNvGrpSpPr>
          <p:nvPr/>
        </p:nvGrpSpPr>
        <p:grpSpPr bwMode="auto">
          <a:xfrm>
            <a:off x="4679950" y="3313113"/>
            <a:ext cx="793750" cy="731837"/>
            <a:chOff x="2948" y="2087"/>
            <a:chExt cx="500" cy="461"/>
          </a:xfrm>
        </p:grpSpPr>
        <p:sp>
          <p:nvSpPr>
            <p:cNvPr id="19481" name="AutoShape 2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82"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19470"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71" name="Group 24"/>
          <p:cNvGrpSpPr>
            <a:grpSpLocks/>
          </p:cNvGrpSpPr>
          <p:nvPr/>
        </p:nvGrpSpPr>
        <p:grpSpPr bwMode="auto">
          <a:xfrm>
            <a:off x="7437438" y="2398713"/>
            <a:ext cx="793750" cy="731837"/>
            <a:chOff x="4685" y="1511"/>
            <a:chExt cx="500" cy="461"/>
          </a:xfrm>
        </p:grpSpPr>
        <p:sp>
          <p:nvSpPr>
            <p:cNvPr id="19479"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80"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19472"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73" name="Group 28"/>
          <p:cNvGrpSpPr>
            <a:grpSpLocks/>
          </p:cNvGrpSpPr>
          <p:nvPr/>
        </p:nvGrpSpPr>
        <p:grpSpPr bwMode="auto">
          <a:xfrm>
            <a:off x="6376988" y="1331913"/>
            <a:ext cx="793750" cy="731837"/>
            <a:chOff x="4017" y="839"/>
            <a:chExt cx="500" cy="461"/>
          </a:xfrm>
        </p:grpSpPr>
        <p:sp>
          <p:nvSpPr>
            <p:cNvPr id="19477" name="AutoShape 29"/>
            <p:cNvSpPr>
              <a:spLocks noChangeArrowheads="1"/>
            </p:cNvSpPr>
            <p:nvPr/>
          </p:nvSpPr>
          <p:spPr bwMode="auto">
            <a:xfrm>
              <a:off x="4017" y="839"/>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78"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27</a:t>
              </a:r>
            </a:p>
          </p:txBody>
        </p:sp>
      </p:grpSp>
      <p:grpSp>
        <p:nvGrpSpPr>
          <p:cNvPr id="19474" name="Group 31"/>
          <p:cNvGrpSpPr>
            <a:grpSpLocks/>
          </p:cNvGrpSpPr>
          <p:nvPr/>
        </p:nvGrpSpPr>
        <p:grpSpPr bwMode="auto">
          <a:xfrm>
            <a:off x="5273675" y="2398713"/>
            <a:ext cx="793750" cy="731837"/>
            <a:chOff x="3322" y="1511"/>
            <a:chExt cx="500" cy="461"/>
          </a:xfrm>
        </p:grpSpPr>
        <p:sp>
          <p:nvSpPr>
            <p:cNvPr id="19475" name="AutoShape 32"/>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19476"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spTree>
    <p:extLst>
      <p:ext uri="{BB962C8B-B14F-4D97-AF65-F5344CB8AC3E}">
        <p14:creationId xmlns:p14="http://schemas.microsoft.com/office/powerpoint/2010/main" val="413582785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Removing the Top of a Heap</a:t>
            </a:r>
          </a:p>
        </p:txBody>
      </p:sp>
      <p:sp>
        <p:nvSpPr>
          <p:cNvPr id="20483" name="Rectangle 2"/>
          <p:cNvSpPr>
            <a:spLocks noGrp="1" noChangeArrowheads="1"/>
          </p:cNvSpPr>
          <p:nvPr>
            <p:ph sz="quarter" idx="1"/>
          </p:nvPr>
        </p:nvSpPr>
        <p:spPr>
          <a:xfrm>
            <a:off x="685800" y="1981200"/>
            <a:ext cx="3262313" cy="3717925"/>
          </a:xfrm>
        </p:spPr>
        <p:txBody>
          <a:bodyPr>
            <a:normAutofit lnSpcReduction="10000"/>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dirty="0" smtClean="0">
                <a:effectLst/>
              </a:rPr>
              <a:t>Move the last node onto the root.</a:t>
            </a:r>
          </a:p>
          <a:p>
            <a:pPr marL="287338" indent="-287338">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dirty="0" smtClean="0">
                <a:effectLst/>
              </a:rPr>
              <a:t>Push the out-of-place node downward, swapping with its larger child until the new node reaches an acceptable location.</a:t>
            </a:r>
          </a:p>
        </p:txBody>
      </p:sp>
      <p:sp>
        <p:nvSpPr>
          <p:cNvPr id="20484" name="Line 3"/>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85" name="Group 4"/>
          <p:cNvGrpSpPr>
            <a:grpSpLocks/>
          </p:cNvGrpSpPr>
          <p:nvPr/>
        </p:nvGrpSpPr>
        <p:grpSpPr bwMode="auto">
          <a:xfrm>
            <a:off x="3917950" y="4254500"/>
            <a:ext cx="793750" cy="731838"/>
            <a:chOff x="2468" y="2680"/>
            <a:chExt cx="500" cy="461"/>
          </a:xfrm>
        </p:grpSpPr>
        <p:sp>
          <p:nvSpPr>
            <p:cNvPr id="20513" name="AutoShape 5"/>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14" name="AutoShape 6"/>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dirty="0">
                  <a:solidFill>
                    <a:schemeClr val="tx1"/>
                  </a:solidFill>
                </a:rPr>
                <a:t>19</a:t>
              </a:r>
            </a:p>
          </p:txBody>
        </p:sp>
      </p:grpSp>
      <p:sp>
        <p:nvSpPr>
          <p:cNvPr id="20486" name="Line 7"/>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87" name="Group 8"/>
          <p:cNvGrpSpPr>
            <a:grpSpLocks/>
          </p:cNvGrpSpPr>
          <p:nvPr/>
        </p:nvGrpSpPr>
        <p:grpSpPr bwMode="auto">
          <a:xfrm>
            <a:off x="8061325" y="3313113"/>
            <a:ext cx="793750" cy="731837"/>
            <a:chOff x="5078" y="2087"/>
            <a:chExt cx="500" cy="461"/>
          </a:xfrm>
        </p:grpSpPr>
        <p:sp>
          <p:nvSpPr>
            <p:cNvPr id="20511" name="AutoShape 9"/>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12" name="AutoShape 10"/>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20488" name="Line 11"/>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89" name="Group 12"/>
          <p:cNvGrpSpPr>
            <a:grpSpLocks/>
          </p:cNvGrpSpPr>
          <p:nvPr/>
        </p:nvGrpSpPr>
        <p:grpSpPr bwMode="auto">
          <a:xfrm>
            <a:off x="6892925" y="3313113"/>
            <a:ext cx="793750" cy="731837"/>
            <a:chOff x="4342" y="2087"/>
            <a:chExt cx="500" cy="461"/>
          </a:xfrm>
        </p:grpSpPr>
        <p:sp>
          <p:nvSpPr>
            <p:cNvPr id="20509" name="AutoShape 13"/>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10" name="AutoShape 14"/>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20490"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91" name="Group 16"/>
          <p:cNvGrpSpPr>
            <a:grpSpLocks/>
          </p:cNvGrpSpPr>
          <p:nvPr/>
        </p:nvGrpSpPr>
        <p:grpSpPr bwMode="auto">
          <a:xfrm>
            <a:off x="5880100" y="3313113"/>
            <a:ext cx="793750" cy="731837"/>
            <a:chOff x="3704" y="2087"/>
            <a:chExt cx="500" cy="461"/>
          </a:xfrm>
        </p:grpSpPr>
        <p:sp>
          <p:nvSpPr>
            <p:cNvPr id="20507"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08"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0492"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93" name="Group 20"/>
          <p:cNvGrpSpPr>
            <a:grpSpLocks/>
          </p:cNvGrpSpPr>
          <p:nvPr/>
        </p:nvGrpSpPr>
        <p:grpSpPr bwMode="auto">
          <a:xfrm>
            <a:off x="4679950" y="3313113"/>
            <a:ext cx="793750" cy="731837"/>
            <a:chOff x="2948" y="2087"/>
            <a:chExt cx="500" cy="461"/>
          </a:xfrm>
        </p:grpSpPr>
        <p:sp>
          <p:nvSpPr>
            <p:cNvPr id="20505" name="AutoShape 2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06"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0494"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95" name="Group 24"/>
          <p:cNvGrpSpPr>
            <a:grpSpLocks/>
          </p:cNvGrpSpPr>
          <p:nvPr/>
        </p:nvGrpSpPr>
        <p:grpSpPr bwMode="auto">
          <a:xfrm>
            <a:off x="7437438" y="2398713"/>
            <a:ext cx="793750" cy="731837"/>
            <a:chOff x="4685" y="1511"/>
            <a:chExt cx="500" cy="461"/>
          </a:xfrm>
        </p:grpSpPr>
        <p:sp>
          <p:nvSpPr>
            <p:cNvPr id="20503"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04"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0496"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497" name="Group 28"/>
          <p:cNvGrpSpPr>
            <a:grpSpLocks/>
          </p:cNvGrpSpPr>
          <p:nvPr/>
        </p:nvGrpSpPr>
        <p:grpSpPr bwMode="auto">
          <a:xfrm>
            <a:off x="6376988" y="1331913"/>
            <a:ext cx="793750" cy="731837"/>
            <a:chOff x="4017" y="839"/>
            <a:chExt cx="500" cy="461"/>
          </a:xfrm>
        </p:grpSpPr>
        <p:sp>
          <p:nvSpPr>
            <p:cNvPr id="20501" name="AutoShape 29"/>
            <p:cNvSpPr>
              <a:spLocks noChangeArrowheads="1"/>
            </p:cNvSpPr>
            <p:nvPr/>
          </p:nvSpPr>
          <p:spPr bwMode="auto">
            <a:xfrm>
              <a:off x="4017" y="839"/>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02"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27</a:t>
              </a:r>
            </a:p>
          </p:txBody>
        </p:sp>
      </p:grpSp>
      <p:grpSp>
        <p:nvGrpSpPr>
          <p:cNvPr id="20498" name="Group 31"/>
          <p:cNvGrpSpPr>
            <a:grpSpLocks/>
          </p:cNvGrpSpPr>
          <p:nvPr/>
        </p:nvGrpSpPr>
        <p:grpSpPr bwMode="auto">
          <a:xfrm>
            <a:off x="5273675" y="2398713"/>
            <a:ext cx="793750" cy="731837"/>
            <a:chOff x="3322" y="1511"/>
            <a:chExt cx="500" cy="461"/>
          </a:xfrm>
        </p:grpSpPr>
        <p:sp>
          <p:nvSpPr>
            <p:cNvPr id="20499" name="AutoShape 32"/>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0500"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spTree>
    <p:extLst>
      <p:ext uri="{BB962C8B-B14F-4D97-AF65-F5344CB8AC3E}">
        <p14:creationId xmlns:p14="http://schemas.microsoft.com/office/powerpoint/2010/main" val="306147826"/>
      </p:ext>
    </p:extLst>
  </p:cSld>
  <p:clrMapOvr>
    <a:masterClrMapping/>
  </p:clrMapOvr>
  <p:transition>
    <p:wipe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Removing the Top of a Heap</a:t>
            </a:r>
          </a:p>
        </p:txBody>
      </p:sp>
      <p:sp>
        <p:nvSpPr>
          <p:cNvPr id="21507" name="Rectangle 2"/>
          <p:cNvSpPr>
            <a:spLocks noGrp="1" noChangeArrowheads="1"/>
          </p:cNvSpPr>
          <p:nvPr>
            <p:ph sz="quarter" idx="1"/>
          </p:nvPr>
        </p:nvSpPr>
        <p:spPr>
          <a:xfrm>
            <a:off x="685801" y="1981200"/>
            <a:ext cx="3232150" cy="3717925"/>
          </a:xfrm>
        </p:spPr>
        <p:txBody>
          <a:bodyPr>
            <a:normAutofit lnSpcReduction="10000"/>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dirty="0" smtClean="0">
                <a:effectLst/>
              </a:rPr>
              <a:t>Move the last node onto the root.</a:t>
            </a:r>
          </a:p>
          <a:p>
            <a:pPr marL="287338" indent="-287338">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dirty="0" smtClean="0">
                <a:effectLst/>
              </a:rPr>
              <a:t>Push the out-of-place node downward, swapping with its larger child until the new node reaches an acceptable location.</a:t>
            </a:r>
          </a:p>
        </p:txBody>
      </p:sp>
      <p:sp>
        <p:nvSpPr>
          <p:cNvPr id="21508" name="Line 3"/>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09" name="Group 4"/>
          <p:cNvGrpSpPr>
            <a:grpSpLocks/>
          </p:cNvGrpSpPr>
          <p:nvPr/>
        </p:nvGrpSpPr>
        <p:grpSpPr bwMode="auto">
          <a:xfrm>
            <a:off x="3917950" y="4254500"/>
            <a:ext cx="793750" cy="731838"/>
            <a:chOff x="2468" y="2680"/>
            <a:chExt cx="500" cy="461"/>
          </a:xfrm>
        </p:grpSpPr>
        <p:sp>
          <p:nvSpPr>
            <p:cNvPr id="21537" name="AutoShape 5"/>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38" name="AutoShape 6"/>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21510" name="Line 7"/>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11" name="Group 8"/>
          <p:cNvGrpSpPr>
            <a:grpSpLocks/>
          </p:cNvGrpSpPr>
          <p:nvPr/>
        </p:nvGrpSpPr>
        <p:grpSpPr bwMode="auto">
          <a:xfrm>
            <a:off x="8061325" y="3313113"/>
            <a:ext cx="793750" cy="731837"/>
            <a:chOff x="5078" y="2087"/>
            <a:chExt cx="500" cy="461"/>
          </a:xfrm>
        </p:grpSpPr>
        <p:sp>
          <p:nvSpPr>
            <p:cNvPr id="21535" name="AutoShape 9"/>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36" name="AutoShape 10"/>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21512" name="Line 11"/>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13" name="Group 12"/>
          <p:cNvGrpSpPr>
            <a:grpSpLocks/>
          </p:cNvGrpSpPr>
          <p:nvPr/>
        </p:nvGrpSpPr>
        <p:grpSpPr bwMode="auto">
          <a:xfrm>
            <a:off x="6892925" y="3313113"/>
            <a:ext cx="793750" cy="731837"/>
            <a:chOff x="4342" y="2087"/>
            <a:chExt cx="500" cy="461"/>
          </a:xfrm>
        </p:grpSpPr>
        <p:sp>
          <p:nvSpPr>
            <p:cNvPr id="21533" name="AutoShape 13"/>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34" name="AutoShape 14"/>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21514"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15" name="Group 16"/>
          <p:cNvGrpSpPr>
            <a:grpSpLocks/>
          </p:cNvGrpSpPr>
          <p:nvPr/>
        </p:nvGrpSpPr>
        <p:grpSpPr bwMode="auto">
          <a:xfrm>
            <a:off x="5880100" y="3313113"/>
            <a:ext cx="793750" cy="731837"/>
            <a:chOff x="3704" y="2087"/>
            <a:chExt cx="500" cy="461"/>
          </a:xfrm>
        </p:grpSpPr>
        <p:sp>
          <p:nvSpPr>
            <p:cNvPr id="21531"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32"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1516"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17" name="Group 20"/>
          <p:cNvGrpSpPr>
            <a:grpSpLocks/>
          </p:cNvGrpSpPr>
          <p:nvPr/>
        </p:nvGrpSpPr>
        <p:grpSpPr bwMode="auto">
          <a:xfrm>
            <a:off x="4679950" y="3313113"/>
            <a:ext cx="793750" cy="731837"/>
            <a:chOff x="2948" y="2087"/>
            <a:chExt cx="500" cy="461"/>
          </a:xfrm>
        </p:grpSpPr>
        <p:sp>
          <p:nvSpPr>
            <p:cNvPr id="21529" name="AutoShape 2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30"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1518"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19" name="Group 24"/>
          <p:cNvGrpSpPr>
            <a:grpSpLocks/>
          </p:cNvGrpSpPr>
          <p:nvPr/>
        </p:nvGrpSpPr>
        <p:grpSpPr bwMode="auto">
          <a:xfrm>
            <a:off x="7437438" y="2398713"/>
            <a:ext cx="793750" cy="731837"/>
            <a:chOff x="4685" y="1511"/>
            <a:chExt cx="500" cy="461"/>
          </a:xfrm>
        </p:grpSpPr>
        <p:sp>
          <p:nvSpPr>
            <p:cNvPr id="21527"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28"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1520"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21" name="Group 28"/>
          <p:cNvGrpSpPr>
            <a:grpSpLocks/>
          </p:cNvGrpSpPr>
          <p:nvPr/>
        </p:nvGrpSpPr>
        <p:grpSpPr bwMode="auto">
          <a:xfrm>
            <a:off x="6376988" y="1331913"/>
            <a:ext cx="793750" cy="731837"/>
            <a:chOff x="4017" y="839"/>
            <a:chExt cx="500" cy="461"/>
          </a:xfrm>
        </p:grpSpPr>
        <p:sp>
          <p:nvSpPr>
            <p:cNvPr id="21525" name="AutoShape 29"/>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26"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1522" name="Group 31"/>
          <p:cNvGrpSpPr>
            <a:grpSpLocks/>
          </p:cNvGrpSpPr>
          <p:nvPr/>
        </p:nvGrpSpPr>
        <p:grpSpPr bwMode="auto">
          <a:xfrm>
            <a:off x="5273675" y="2398713"/>
            <a:ext cx="793750" cy="731837"/>
            <a:chOff x="3322" y="1511"/>
            <a:chExt cx="500" cy="461"/>
          </a:xfrm>
        </p:grpSpPr>
        <p:sp>
          <p:nvSpPr>
            <p:cNvPr id="21523" name="AutoShape 32"/>
            <p:cNvSpPr>
              <a:spLocks noChangeArrowheads="1"/>
            </p:cNvSpPr>
            <p:nvPr/>
          </p:nvSpPr>
          <p:spPr bwMode="auto">
            <a:xfrm>
              <a:off x="3322" y="1511"/>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1524"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27</a:t>
              </a:r>
            </a:p>
          </p:txBody>
        </p:sp>
      </p:grpSp>
    </p:spTree>
    <p:extLst>
      <p:ext uri="{BB962C8B-B14F-4D97-AF65-F5344CB8AC3E}">
        <p14:creationId xmlns:p14="http://schemas.microsoft.com/office/powerpoint/2010/main" val="4183216422"/>
      </p:ext>
    </p:extLst>
  </p:cSld>
  <p:clrMapOvr>
    <a:masterClrMapping/>
  </p:clrMapOvr>
  <p:transition>
    <p:strips dir="l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Removing the Top of a Heap</a:t>
            </a:r>
          </a:p>
        </p:txBody>
      </p:sp>
      <p:sp>
        <p:nvSpPr>
          <p:cNvPr id="22531" name="Rectangle 2"/>
          <p:cNvSpPr>
            <a:spLocks noGrp="1" noChangeArrowheads="1"/>
          </p:cNvSpPr>
          <p:nvPr>
            <p:ph sz="quarter" idx="1"/>
          </p:nvPr>
        </p:nvSpPr>
        <p:spPr>
          <a:xfrm>
            <a:off x="685801" y="1981200"/>
            <a:ext cx="3232150" cy="3717925"/>
          </a:xfrm>
        </p:spPr>
        <p:txBody>
          <a:bodyPr>
            <a:normAutofit lnSpcReduction="10000"/>
          </a:bodyPr>
          <a:lstStyle/>
          <a:p>
            <a:pPr marL="287338" indent="-287338">
              <a:lnSpc>
                <a:spcPct val="95000"/>
              </a:lnSpc>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dirty="0" smtClean="0">
                <a:effectLst/>
              </a:rPr>
              <a:t>Move the last node onto the root.</a:t>
            </a:r>
          </a:p>
          <a:p>
            <a:pPr marL="287338" indent="-287338">
              <a:spcBef>
                <a:spcPts val="600"/>
              </a:spcBef>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pPr>
            <a:r>
              <a:rPr lang="en-GB" altLang="en-US" sz="2400" dirty="0" smtClean="0">
                <a:effectLst/>
              </a:rPr>
              <a:t>Push the out-of-place node downward, swapping with its larger child until the new node reaches an acceptable location.</a:t>
            </a:r>
          </a:p>
        </p:txBody>
      </p:sp>
      <p:sp>
        <p:nvSpPr>
          <p:cNvPr id="22532" name="Line 3"/>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33" name="Group 4"/>
          <p:cNvGrpSpPr>
            <a:grpSpLocks/>
          </p:cNvGrpSpPr>
          <p:nvPr/>
        </p:nvGrpSpPr>
        <p:grpSpPr bwMode="auto">
          <a:xfrm>
            <a:off x="3917950" y="4254500"/>
            <a:ext cx="793750" cy="731838"/>
            <a:chOff x="2468" y="2680"/>
            <a:chExt cx="500" cy="461"/>
          </a:xfrm>
        </p:grpSpPr>
        <p:sp>
          <p:nvSpPr>
            <p:cNvPr id="22561" name="AutoShape 5"/>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62" name="AutoShape 6"/>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22534" name="Line 7"/>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35" name="Group 8"/>
          <p:cNvGrpSpPr>
            <a:grpSpLocks/>
          </p:cNvGrpSpPr>
          <p:nvPr/>
        </p:nvGrpSpPr>
        <p:grpSpPr bwMode="auto">
          <a:xfrm>
            <a:off x="8061325" y="3313113"/>
            <a:ext cx="793750" cy="731837"/>
            <a:chOff x="5078" y="2087"/>
            <a:chExt cx="500" cy="461"/>
          </a:xfrm>
        </p:grpSpPr>
        <p:sp>
          <p:nvSpPr>
            <p:cNvPr id="22559" name="AutoShape 9"/>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60" name="AutoShape 10"/>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22536" name="Line 11"/>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37" name="Group 12"/>
          <p:cNvGrpSpPr>
            <a:grpSpLocks/>
          </p:cNvGrpSpPr>
          <p:nvPr/>
        </p:nvGrpSpPr>
        <p:grpSpPr bwMode="auto">
          <a:xfrm>
            <a:off x="6892925" y="3313113"/>
            <a:ext cx="793750" cy="731837"/>
            <a:chOff x="4342" y="2087"/>
            <a:chExt cx="500" cy="461"/>
          </a:xfrm>
        </p:grpSpPr>
        <p:sp>
          <p:nvSpPr>
            <p:cNvPr id="22557" name="AutoShape 13"/>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58" name="AutoShape 14"/>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22538"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39" name="Group 16"/>
          <p:cNvGrpSpPr>
            <a:grpSpLocks/>
          </p:cNvGrpSpPr>
          <p:nvPr/>
        </p:nvGrpSpPr>
        <p:grpSpPr bwMode="auto">
          <a:xfrm>
            <a:off x="5880100" y="3313113"/>
            <a:ext cx="793750" cy="731837"/>
            <a:chOff x="3704" y="2087"/>
            <a:chExt cx="500" cy="461"/>
          </a:xfrm>
        </p:grpSpPr>
        <p:sp>
          <p:nvSpPr>
            <p:cNvPr id="22555"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56"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2540"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41" name="Group 20"/>
          <p:cNvGrpSpPr>
            <a:grpSpLocks/>
          </p:cNvGrpSpPr>
          <p:nvPr/>
        </p:nvGrpSpPr>
        <p:grpSpPr bwMode="auto">
          <a:xfrm>
            <a:off x="4679950" y="3313113"/>
            <a:ext cx="793750" cy="731837"/>
            <a:chOff x="2948" y="2087"/>
            <a:chExt cx="500" cy="461"/>
          </a:xfrm>
        </p:grpSpPr>
        <p:sp>
          <p:nvSpPr>
            <p:cNvPr id="22553" name="AutoShape 21"/>
            <p:cNvSpPr>
              <a:spLocks noChangeArrowheads="1"/>
            </p:cNvSpPr>
            <p:nvPr/>
          </p:nvSpPr>
          <p:spPr bwMode="auto">
            <a:xfrm>
              <a:off x="2948" y="2087"/>
              <a:ext cx="501" cy="462"/>
            </a:xfrm>
            <a:prstGeom prst="roundRect">
              <a:avLst>
                <a:gd name="adj" fmla="val 12551"/>
              </a:avLst>
            </a:prstGeom>
            <a:blipFill dpi="0" rotWithShape="0">
              <a:blip r:embed="rId3"/>
              <a:srcRect/>
              <a:tile tx="0" ty="0" sx="100000" sy="100000" flip="none" algn="tl"/>
            </a:blipFill>
            <a:ln w="12600">
              <a:solidFill>
                <a:srgbClr val="FF800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54"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FF8000"/>
                </a:buClr>
                <a:buSzPct val="100000"/>
                <a:buFont typeface="Times New Roman" pitchFamily="18" charset="0"/>
                <a:buNone/>
              </a:pPr>
              <a:r>
                <a:rPr lang="en-GB" altLang="en-US" sz="2400" b="1">
                  <a:solidFill>
                    <a:srgbClr val="FF8000"/>
                  </a:solidFill>
                </a:rPr>
                <a:t>27</a:t>
              </a:r>
            </a:p>
          </p:txBody>
        </p:sp>
      </p:grpSp>
      <p:sp>
        <p:nvSpPr>
          <p:cNvPr id="22542"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43" name="Group 24"/>
          <p:cNvGrpSpPr>
            <a:grpSpLocks/>
          </p:cNvGrpSpPr>
          <p:nvPr/>
        </p:nvGrpSpPr>
        <p:grpSpPr bwMode="auto">
          <a:xfrm>
            <a:off x="7437438" y="2398713"/>
            <a:ext cx="793750" cy="731837"/>
            <a:chOff x="4685" y="1511"/>
            <a:chExt cx="500" cy="461"/>
          </a:xfrm>
        </p:grpSpPr>
        <p:sp>
          <p:nvSpPr>
            <p:cNvPr id="22551"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52"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2544"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45" name="Group 28"/>
          <p:cNvGrpSpPr>
            <a:grpSpLocks/>
          </p:cNvGrpSpPr>
          <p:nvPr/>
        </p:nvGrpSpPr>
        <p:grpSpPr bwMode="auto">
          <a:xfrm>
            <a:off x="6376988" y="1331913"/>
            <a:ext cx="793750" cy="731837"/>
            <a:chOff x="4017" y="839"/>
            <a:chExt cx="500" cy="461"/>
          </a:xfrm>
        </p:grpSpPr>
        <p:sp>
          <p:nvSpPr>
            <p:cNvPr id="22549" name="AutoShape 29"/>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50"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2546" name="Group 31"/>
          <p:cNvGrpSpPr>
            <a:grpSpLocks/>
          </p:cNvGrpSpPr>
          <p:nvPr/>
        </p:nvGrpSpPr>
        <p:grpSpPr bwMode="auto">
          <a:xfrm>
            <a:off x="5273675" y="2398713"/>
            <a:ext cx="793750" cy="731837"/>
            <a:chOff x="3322" y="1511"/>
            <a:chExt cx="500" cy="461"/>
          </a:xfrm>
        </p:grpSpPr>
        <p:sp>
          <p:nvSpPr>
            <p:cNvPr id="22547" name="AutoShape 32"/>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2548"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Tree>
    <p:extLst>
      <p:ext uri="{BB962C8B-B14F-4D97-AF65-F5344CB8AC3E}">
        <p14:creationId xmlns:p14="http://schemas.microsoft.com/office/powerpoint/2010/main" val="211286252"/>
      </p:ext>
    </p:extLst>
  </p:cSld>
  <p:clrMapOvr>
    <a:masterClrMapping/>
  </p:clrMapOvr>
  <p:transition>
    <p:strips dir="l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Removing the Top of a Heap</a:t>
            </a:r>
          </a:p>
        </p:txBody>
      </p:sp>
      <p:sp>
        <p:nvSpPr>
          <p:cNvPr id="24578" name="Rectangle 2"/>
          <p:cNvSpPr>
            <a:spLocks noGrp="1" noChangeArrowheads="1"/>
          </p:cNvSpPr>
          <p:nvPr>
            <p:ph sz="quarter" idx="1"/>
          </p:nvPr>
        </p:nvSpPr>
        <p:spPr>
          <a:xfrm>
            <a:off x="685801" y="1981200"/>
            <a:ext cx="3232150" cy="3833813"/>
          </a:xfrm>
        </p:spPr>
        <p:txBody>
          <a:bodyPr>
            <a:normAutofit fontScale="92500" lnSpcReduction="10000"/>
          </a:bodyPr>
          <a:lstStyle/>
          <a:p>
            <a:pPr marL="287338" indent="-287338">
              <a:lnSpc>
                <a:spcPct val="95000"/>
              </a:lnSpc>
              <a:spcBef>
                <a:spcPts val="600"/>
              </a:spcBef>
              <a:buClr>
                <a:srgbClr val="00FF00"/>
              </a:buClr>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defRPr/>
            </a:pPr>
            <a:r>
              <a:rPr lang="en-GB" sz="2400" dirty="0" smtClean="0">
                <a:effectLst/>
              </a:rPr>
              <a:t>The children all have keys &lt;= the out-of-place node, or</a:t>
            </a:r>
          </a:p>
          <a:p>
            <a:pPr marL="287338" indent="-287338">
              <a:spcBef>
                <a:spcPts val="600"/>
              </a:spcBef>
              <a:buClr>
                <a:srgbClr val="00FF00"/>
              </a:buClr>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defRPr/>
            </a:pPr>
            <a:r>
              <a:rPr lang="en-GB" sz="2400" dirty="0" smtClean="0">
                <a:effectLst/>
              </a:rPr>
              <a:t>The node reaches the leaf.</a:t>
            </a:r>
          </a:p>
          <a:p>
            <a:pPr marL="287338" indent="-287338">
              <a:spcBef>
                <a:spcPts val="600"/>
              </a:spcBef>
              <a:buClr>
                <a:srgbClr val="00FF00"/>
              </a:buClr>
              <a:buFont typeface="Wingdings" pitchFamily="2" charset="2"/>
              <a:buChar char="q"/>
              <a:tabLst>
                <a:tab pos="857250" algn="l"/>
                <a:tab pos="1771650" algn="l"/>
                <a:tab pos="2686050" algn="l"/>
                <a:tab pos="3600450" algn="l"/>
                <a:tab pos="4514850" algn="l"/>
                <a:tab pos="5429250" algn="l"/>
                <a:tab pos="6343650" algn="l"/>
                <a:tab pos="7258050" algn="l"/>
                <a:tab pos="8172450" algn="l"/>
                <a:tab pos="9086850" algn="l"/>
                <a:tab pos="10001250" algn="l"/>
              </a:tabLst>
              <a:defRPr/>
            </a:pPr>
            <a:r>
              <a:rPr lang="en-GB" sz="2400" dirty="0" smtClean="0">
                <a:effectLst/>
              </a:rPr>
              <a:t>The process of pushing the new node    downward is called                       </a:t>
            </a:r>
            <a:r>
              <a:rPr lang="en-GB" sz="2400" b="1" u="sng" dirty="0" err="1" smtClean="0">
                <a:solidFill>
                  <a:srgbClr val="FF8000"/>
                </a:solidFill>
              </a:rPr>
              <a:t>reheapification</a:t>
            </a:r>
            <a:r>
              <a:rPr lang="en-GB" sz="2400" dirty="0" smtClean="0">
                <a:solidFill>
                  <a:srgbClr val="FF8000"/>
                </a:solidFill>
                <a:effectLst/>
              </a:rPr>
              <a:t>          </a:t>
            </a:r>
            <a:r>
              <a:rPr lang="en-GB" sz="2400" b="1" u="sng" dirty="0" smtClean="0">
                <a:solidFill>
                  <a:srgbClr val="FF8000"/>
                </a:solidFill>
                <a:effectLst/>
              </a:rPr>
              <a:t>downward</a:t>
            </a:r>
            <a:r>
              <a:rPr lang="en-GB" sz="2400" dirty="0" smtClean="0">
                <a:effectLst/>
              </a:rPr>
              <a:t>.</a:t>
            </a:r>
          </a:p>
        </p:txBody>
      </p:sp>
      <p:sp>
        <p:nvSpPr>
          <p:cNvPr id="23556" name="Line 3"/>
          <p:cNvSpPr>
            <a:spLocks noChangeShapeType="1"/>
          </p:cNvSpPr>
          <p:nvPr/>
        </p:nvSpPr>
        <p:spPr bwMode="auto">
          <a:xfrm flipH="1">
            <a:off x="4511675" y="3883025"/>
            <a:ext cx="566738"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57" name="Group 4"/>
          <p:cNvGrpSpPr>
            <a:grpSpLocks/>
          </p:cNvGrpSpPr>
          <p:nvPr/>
        </p:nvGrpSpPr>
        <p:grpSpPr bwMode="auto">
          <a:xfrm>
            <a:off x="3917950" y="4254500"/>
            <a:ext cx="793750" cy="731838"/>
            <a:chOff x="2468" y="2680"/>
            <a:chExt cx="500" cy="461"/>
          </a:xfrm>
        </p:grpSpPr>
        <p:sp>
          <p:nvSpPr>
            <p:cNvPr id="23585" name="AutoShape 5"/>
            <p:cNvSpPr>
              <a:spLocks noChangeArrowheads="1"/>
            </p:cNvSpPr>
            <p:nvPr/>
          </p:nvSpPr>
          <p:spPr bwMode="auto">
            <a:xfrm>
              <a:off x="2468" y="2680"/>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86" name="AutoShape 6"/>
            <p:cNvSpPr>
              <a:spLocks noChangeArrowheads="1"/>
            </p:cNvSpPr>
            <p:nvPr/>
          </p:nvSpPr>
          <p:spPr bwMode="auto">
            <a:xfrm>
              <a:off x="2487" y="2699"/>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19</a:t>
              </a:r>
            </a:p>
          </p:txBody>
        </p:sp>
      </p:grpSp>
      <p:sp>
        <p:nvSpPr>
          <p:cNvPr id="23558" name="Line 7"/>
          <p:cNvSpPr>
            <a:spLocks noChangeShapeType="1"/>
          </p:cNvSpPr>
          <p:nvPr/>
        </p:nvSpPr>
        <p:spPr bwMode="auto">
          <a:xfrm>
            <a:off x="76977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59" name="Group 8"/>
          <p:cNvGrpSpPr>
            <a:grpSpLocks/>
          </p:cNvGrpSpPr>
          <p:nvPr/>
        </p:nvGrpSpPr>
        <p:grpSpPr bwMode="auto">
          <a:xfrm>
            <a:off x="8061325" y="3313113"/>
            <a:ext cx="793750" cy="731837"/>
            <a:chOff x="5078" y="2087"/>
            <a:chExt cx="500" cy="461"/>
          </a:xfrm>
        </p:grpSpPr>
        <p:sp>
          <p:nvSpPr>
            <p:cNvPr id="23583" name="AutoShape 9"/>
            <p:cNvSpPr>
              <a:spLocks noChangeArrowheads="1"/>
            </p:cNvSpPr>
            <p:nvPr/>
          </p:nvSpPr>
          <p:spPr bwMode="auto">
            <a:xfrm>
              <a:off x="507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84" name="AutoShape 10"/>
            <p:cNvSpPr>
              <a:spLocks noChangeArrowheads="1"/>
            </p:cNvSpPr>
            <p:nvPr/>
          </p:nvSpPr>
          <p:spPr bwMode="auto">
            <a:xfrm>
              <a:off x="509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a:t>
              </a:r>
            </a:p>
          </p:txBody>
        </p:sp>
      </p:grpSp>
      <p:sp>
        <p:nvSpPr>
          <p:cNvPr id="23560" name="Line 11"/>
          <p:cNvSpPr>
            <a:spLocks noChangeShapeType="1"/>
          </p:cNvSpPr>
          <p:nvPr/>
        </p:nvSpPr>
        <p:spPr bwMode="auto">
          <a:xfrm flipH="1">
            <a:off x="748665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61" name="Group 12"/>
          <p:cNvGrpSpPr>
            <a:grpSpLocks/>
          </p:cNvGrpSpPr>
          <p:nvPr/>
        </p:nvGrpSpPr>
        <p:grpSpPr bwMode="auto">
          <a:xfrm>
            <a:off x="6892925" y="3313113"/>
            <a:ext cx="793750" cy="731837"/>
            <a:chOff x="4342" y="2087"/>
            <a:chExt cx="500" cy="461"/>
          </a:xfrm>
        </p:grpSpPr>
        <p:sp>
          <p:nvSpPr>
            <p:cNvPr id="23581" name="AutoShape 13"/>
            <p:cNvSpPr>
              <a:spLocks noChangeArrowheads="1"/>
            </p:cNvSpPr>
            <p:nvPr/>
          </p:nvSpPr>
          <p:spPr bwMode="auto">
            <a:xfrm>
              <a:off x="4342"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82" name="AutoShape 14"/>
            <p:cNvSpPr>
              <a:spLocks noChangeArrowheads="1"/>
            </p:cNvSpPr>
            <p:nvPr/>
          </p:nvSpPr>
          <p:spPr bwMode="auto">
            <a:xfrm>
              <a:off x="4361"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22</a:t>
              </a:r>
            </a:p>
          </p:txBody>
        </p:sp>
      </p:grpSp>
      <p:sp>
        <p:nvSpPr>
          <p:cNvPr id="23562"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63" name="Group 16"/>
          <p:cNvGrpSpPr>
            <a:grpSpLocks/>
          </p:cNvGrpSpPr>
          <p:nvPr/>
        </p:nvGrpSpPr>
        <p:grpSpPr bwMode="auto">
          <a:xfrm>
            <a:off x="5880100" y="3313113"/>
            <a:ext cx="793750" cy="731837"/>
            <a:chOff x="3704" y="2087"/>
            <a:chExt cx="500" cy="461"/>
          </a:xfrm>
        </p:grpSpPr>
        <p:sp>
          <p:nvSpPr>
            <p:cNvPr id="23579"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80"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3564"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65" name="Group 20"/>
          <p:cNvGrpSpPr>
            <a:grpSpLocks/>
          </p:cNvGrpSpPr>
          <p:nvPr/>
        </p:nvGrpSpPr>
        <p:grpSpPr bwMode="auto">
          <a:xfrm>
            <a:off x="4679950" y="3313113"/>
            <a:ext cx="793750" cy="731837"/>
            <a:chOff x="2948" y="2087"/>
            <a:chExt cx="500" cy="461"/>
          </a:xfrm>
        </p:grpSpPr>
        <p:sp>
          <p:nvSpPr>
            <p:cNvPr id="23577" name="AutoShape 2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78"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3566"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67" name="Group 24"/>
          <p:cNvGrpSpPr>
            <a:grpSpLocks/>
          </p:cNvGrpSpPr>
          <p:nvPr/>
        </p:nvGrpSpPr>
        <p:grpSpPr bwMode="auto">
          <a:xfrm>
            <a:off x="7437438" y="2398713"/>
            <a:ext cx="793750" cy="731837"/>
            <a:chOff x="4685" y="1511"/>
            <a:chExt cx="500" cy="461"/>
          </a:xfrm>
        </p:grpSpPr>
        <p:sp>
          <p:nvSpPr>
            <p:cNvPr id="23575"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76"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3568"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69" name="Group 28"/>
          <p:cNvGrpSpPr>
            <a:grpSpLocks/>
          </p:cNvGrpSpPr>
          <p:nvPr/>
        </p:nvGrpSpPr>
        <p:grpSpPr bwMode="auto">
          <a:xfrm>
            <a:off x="6376988" y="1331913"/>
            <a:ext cx="793750" cy="731837"/>
            <a:chOff x="4017" y="839"/>
            <a:chExt cx="500" cy="461"/>
          </a:xfrm>
        </p:grpSpPr>
        <p:sp>
          <p:nvSpPr>
            <p:cNvPr id="23573" name="AutoShape 29"/>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74"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3570" name="Group 31"/>
          <p:cNvGrpSpPr>
            <a:grpSpLocks/>
          </p:cNvGrpSpPr>
          <p:nvPr/>
        </p:nvGrpSpPr>
        <p:grpSpPr bwMode="auto">
          <a:xfrm>
            <a:off x="5273675" y="2398713"/>
            <a:ext cx="793750" cy="731837"/>
            <a:chOff x="3322" y="1511"/>
            <a:chExt cx="500" cy="461"/>
          </a:xfrm>
        </p:grpSpPr>
        <p:sp>
          <p:nvSpPr>
            <p:cNvPr id="23571" name="AutoShape 32"/>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3572"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Tree>
    <p:extLst>
      <p:ext uri="{BB962C8B-B14F-4D97-AF65-F5344CB8AC3E}">
        <p14:creationId xmlns:p14="http://schemas.microsoft.com/office/powerpoint/2010/main" val="618691045"/>
      </p:ext>
    </p:extLst>
  </p:cSld>
  <p:clrMapOvr>
    <a:masterClrMapping/>
  </p:clrMapOvr>
  <p:transition>
    <p:strips dir="l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Implementing a Heap</a:t>
            </a:r>
          </a:p>
        </p:txBody>
      </p:sp>
      <p:sp>
        <p:nvSpPr>
          <p:cNvPr id="25602" name="Rectangle 2"/>
          <p:cNvSpPr>
            <a:spLocks noGrp="1" noChangeArrowheads="1"/>
          </p:cNvSpPr>
          <p:nvPr>
            <p:ph sz="quarter" idx="1"/>
          </p:nvPr>
        </p:nvSpPr>
        <p:spPr>
          <a:xfrm>
            <a:off x="685800" y="1981200"/>
            <a:ext cx="3276600" cy="4114800"/>
          </a:xfrm>
        </p:spPr>
        <p:txBody>
          <a:bodyPr/>
          <a:lstStyle/>
          <a:p>
            <a:pPr>
              <a:lnSpc>
                <a:spcPct val="95000"/>
              </a:lnSpc>
              <a:spcBef>
                <a:spcPts val="700"/>
              </a:spcBef>
              <a:buFont typeface="Wingdings" pitchFamily="2" charset="2"/>
              <a:buChar char="q"/>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smtClean="0"/>
              <a:t>We will store the data from the nodes in a partially-filled array.</a:t>
            </a:r>
          </a:p>
        </p:txBody>
      </p:sp>
      <p:sp>
        <p:nvSpPr>
          <p:cNvPr id="24580" name="AutoShape 3"/>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4581" name="Line 4"/>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2" name="Line 5"/>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3" name="Line 6"/>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Line 7"/>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8"/>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9"/>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AutoShape 10"/>
          <p:cNvSpPr>
            <a:spLocks noChangeArrowheads="1"/>
          </p:cNvSpPr>
          <p:nvPr/>
        </p:nvSpPr>
        <p:spPr bwMode="auto">
          <a:xfrm>
            <a:off x="1096963" y="5565775"/>
            <a:ext cx="218916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An array of data</a:t>
            </a:r>
          </a:p>
        </p:txBody>
      </p:sp>
      <p:sp>
        <p:nvSpPr>
          <p:cNvPr id="24588" name="Freeform 11"/>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89" name="Line 12"/>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590" name="Group 13"/>
          <p:cNvGrpSpPr>
            <a:grpSpLocks/>
          </p:cNvGrpSpPr>
          <p:nvPr/>
        </p:nvGrpSpPr>
        <p:grpSpPr bwMode="auto">
          <a:xfrm>
            <a:off x="5880100" y="3313113"/>
            <a:ext cx="793750" cy="731837"/>
            <a:chOff x="3704" y="2087"/>
            <a:chExt cx="500" cy="461"/>
          </a:xfrm>
        </p:grpSpPr>
        <p:sp>
          <p:nvSpPr>
            <p:cNvPr id="24606" name="AutoShape 14"/>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4607" name="AutoShape 15"/>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4591" name="Line 16"/>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592" name="Group 17"/>
          <p:cNvGrpSpPr>
            <a:grpSpLocks/>
          </p:cNvGrpSpPr>
          <p:nvPr/>
        </p:nvGrpSpPr>
        <p:grpSpPr bwMode="auto">
          <a:xfrm>
            <a:off x="4679950" y="3313113"/>
            <a:ext cx="793750" cy="731837"/>
            <a:chOff x="2948" y="2087"/>
            <a:chExt cx="500" cy="461"/>
          </a:xfrm>
        </p:grpSpPr>
        <p:sp>
          <p:nvSpPr>
            <p:cNvPr id="24604" name="AutoShape 18"/>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4605" name="AutoShape 19"/>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4593" name="Line 20"/>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594" name="Group 21"/>
          <p:cNvGrpSpPr>
            <a:grpSpLocks/>
          </p:cNvGrpSpPr>
          <p:nvPr/>
        </p:nvGrpSpPr>
        <p:grpSpPr bwMode="auto">
          <a:xfrm>
            <a:off x="7437438" y="2398713"/>
            <a:ext cx="793750" cy="731837"/>
            <a:chOff x="4685" y="1511"/>
            <a:chExt cx="500" cy="461"/>
          </a:xfrm>
        </p:grpSpPr>
        <p:sp>
          <p:nvSpPr>
            <p:cNvPr id="24602" name="AutoShape 22"/>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4603" name="AutoShape 23"/>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4595" name="Line 24"/>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596" name="Group 25"/>
          <p:cNvGrpSpPr>
            <a:grpSpLocks/>
          </p:cNvGrpSpPr>
          <p:nvPr/>
        </p:nvGrpSpPr>
        <p:grpSpPr bwMode="auto">
          <a:xfrm>
            <a:off x="6376988" y="1331913"/>
            <a:ext cx="793750" cy="731837"/>
            <a:chOff x="4017" y="839"/>
            <a:chExt cx="500" cy="461"/>
          </a:xfrm>
        </p:grpSpPr>
        <p:sp>
          <p:nvSpPr>
            <p:cNvPr id="24600" name="AutoShape 26"/>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4601" name="AutoShape 27"/>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4597" name="Group 28"/>
          <p:cNvGrpSpPr>
            <a:grpSpLocks/>
          </p:cNvGrpSpPr>
          <p:nvPr/>
        </p:nvGrpSpPr>
        <p:grpSpPr bwMode="auto">
          <a:xfrm>
            <a:off x="5273675" y="2398713"/>
            <a:ext cx="793750" cy="731837"/>
            <a:chOff x="3322" y="1511"/>
            <a:chExt cx="500" cy="461"/>
          </a:xfrm>
        </p:grpSpPr>
        <p:sp>
          <p:nvSpPr>
            <p:cNvPr id="24598" name="AutoShape 29"/>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4599" name="AutoShape 30"/>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Tree>
    <p:extLst>
      <p:ext uri="{BB962C8B-B14F-4D97-AF65-F5344CB8AC3E}">
        <p14:creationId xmlns:p14="http://schemas.microsoft.com/office/powerpoint/2010/main" val="381507792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1"/>
          <p:cNvGrpSpPr>
            <a:grpSpLocks/>
          </p:cNvGrpSpPr>
          <p:nvPr/>
        </p:nvGrpSpPr>
        <p:grpSpPr bwMode="auto">
          <a:xfrm>
            <a:off x="2257425" y="1782763"/>
            <a:ext cx="4021138" cy="2741612"/>
            <a:chOff x="1422" y="1123"/>
            <a:chExt cx="2533" cy="1727"/>
          </a:xfrm>
        </p:grpSpPr>
        <p:sp>
          <p:nvSpPr>
            <p:cNvPr id="25634" name="AutoShape 2"/>
            <p:cNvSpPr>
              <a:spLocks noChangeArrowheads="1"/>
            </p:cNvSpPr>
            <p:nvPr/>
          </p:nvSpPr>
          <p:spPr bwMode="auto">
            <a:xfrm>
              <a:off x="1422" y="1123"/>
              <a:ext cx="2534" cy="1728"/>
            </a:xfrm>
            <a:prstGeom prst="roundRect">
              <a:avLst>
                <a:gd name="adj" fmla="val 5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320">
                  <a:solidFill>
                    <a:srgbClr val="000000"/>
                  </a:solidFill>
                  <a:round/>
                  <a:headEnd type="triangle" w="med" len="med"/>
                  <a:tailEnd/>
                </a14:hiddenLine>
              </a:ext>
            </a:extLst>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35" name="Freeform 3"/>
            <p:cNvSpPr>
              <a:spLocks/>
            </p:cNvSpPr>
            <p:nvPr/>
          </p:nvSpPr>
          <p:spPr bwMode="auto">
            <a:xfrm>
              <a:off x="1422" y="1123"/>
              <a:ext cx="2534" cy="1728"/>
            </a:xfrm>
            <a:custGeom>
              <a:avLst/>
              <a:gdLst>
                <a:gd name="T0" fmla="*/ 2534 w 11175"/>
                <a:gd name="T1" fmla="*/ 0 h 7621"/>
                <a:gd name="T2" fmla="*/ 2470 w 11175"/>
                <a:gd name="T3" fmla="*/ 0 h 7621"/>
                <a:gd name="T4" fmla="*/ 2405 w 11175"/>
                <a:gd name="T5" fmla="*/ 2 h 7621"/>
                <a:gd name="T6" fmla="*/ 2341 w 11175"/>
                <a:gd name="T7" fmla="*/ 5 h 7621"/>
                <a:gd name="T8" fmla="*/ 2278 w 11175"/>
                <a:gd name="T9" fmla="*/ 9 h 7621"/>
                <a:gd name="T10" fmla="*/ 2214 w 11175"/>
                <a:gd name="T11" fmla="*/ 14 h 7621"/>
                <a:gd name="T12" fmla="*/ 2150 w 11175"/>
                <a:gd name="T13" fmla="*/ 20 h 7621"/>
                <a:gd name="T14" fmla="*/ 2087 w 11175"/>
                <a:gd name="T15" fmla="*/ 27 h 7621"/>
                <a:gd name="T16" fmla="*/ 2024 w 11175"/>
                <a:gd name="T17" fmla="*/ 35 h 7621"/>
                <a:gd name="T18" fmla="*/ 1961 w 11175"/>
                <a:gd name="T19" fmla="*/ 45 h 7621"/>
                <a:gd name="T20" fmla="*/ 1899 w 11175"/>
                <a:gd name="T21" fmla="*/ 55 h 7621"/>
                <a:gd name="T22" fmla="*/ 1837 w 11175"/>
                <a:gd name="T23" fmla="*/ 67 h 7621"/>
                <a:gd name="T24" fmla="*/ 1775 w 11175"/>
                <a:gd name="T25" fmla="*/ 79 h 7621"/>
                <a:gd name="T26" fmla="*/ 1714 w 11175"/>
                <a:gd name="T27" fmla="*/ 93 h 7621"/>
                <a:gd name="T28" fmla="*/ 1654 w 11175"/>
                <a:gd name="T29" fmla="*/ 107 h 7621"/>
                <a:gd name="T30" fmla="*/ 1594 w 11175"/>
                <a:gd name="T31" fmla="*/ 123 h 7621"/>
                <a:gd name="T32" fmla="*/ 1534 w 11175"/>
                <a:gd name="T33" fmla="*/ 140 h 7621"/>
                <a:gd name="T34" fmla="*/ 1476 w 11175"/>
                <a:gd name="T35" fmla="*/ 158 h 7621"/>
                <a:gd name="T36" fmla="*/ 1418 w 11175"/>
                <a:gd name="T37" fmla="*/ 177 h 7621"/>
                <a:gd name="T38" fmla="*/ 1361 w 11175"/>
                <a:gd name="T39" fmla="*/ 196 h 7621"/>
                <a:gd name="T40" fmla="*/ 1304 w 11175"/>
                <a:gd name="T41" fmla="*/ 217 h 7621"/>
                <a:gd name="T42" fmla="*/ 1248 w 11175"/>
                <a:gd name="T43" fmla="*/ 239 h 7621"/>
                <a:gd name="T44" fmla="*/ 1193 w 11175"/>
                <a:gd name="T45" fmla="*/ 261 h 7621"/>
                <a:gd name="T46" fmla="*/ 1139 w 11175"/>
                <a:gd name="T47" fmla="*/ 285 h 7621"/>
                <a:gd name="T48" fmla="*/ 1086 w 11175"/>
                <a:gd name="T49" fmla="*/ 310 h 7621"/>
                <a:gd name="T50" fmla="*/ 1034 w 11175"/>
                <a:gd name="T51" fmla="*/ 335 h 7621"/>
                <a:gd name="T52" fmla="*/ 983 w 11175"/>
                <a:gd name="T53" fmla="*/ 361 h 7621"/>
                <a:gd name="T54" fmla="*/ 933 w 11175"/>
                <a:gd name="T55" fmla="*/ 389 h 7621"/>
                <a:gd name="T56" fmla="*/ 883 w 11175"/>
                <a:gd name="T57" fmla="*/ 417 h 7621"/>
                <a:gd name="T58" fmla="*/ 835 w 11175"/>
                <a:gd name="T59" fmla="*/ 446 h 7621"/>
                <a:gd name="T60" fmla="*/ 788 w 11175"/>
                <a:gd name="T61" fmla="*/ 475 h 7621"/>
                <a:gd name="T62" fmla="*/ 742 w 11175"/>
                <a:gd name="T63" fmla="*/ 506 h 7621"/>
                <a:gd name="T64" fmla="*/ 697 w 11175"/>
                <a:gd name="T65" fmla="*/ 537 h 7621"/>
                <a:gd name="T66" fmla="*/ 654 w 11175"/>
                <a:gd name="T67" fmla="*/ 570 h 7621"/>
                <a:gd name="T68" fmla="*/ 611 w 11175"/>
                <a:gd name="T69" fmla="*/ 602 h 7621"/>
                <a:gd name="T70" fmla="*/ 570 w 11175"/>
                <a:gd name="T71" fmla="*/ 636 h 7621"/>
                <a:gd name="T72" fmla="*/ 530 w 11175"/>
                <a:gd name="T73" fmla="*/ 670 h 7621"/>
                <a:gd name="T74" fmla="*/ 491 w 11175"/>
                <a:gd name="T75" fmla="*/ 705 h 7621"/>
                <a:gd name="T76" fmla="*/ 454 w 11175"/>
                <a:gd name="T77" fmla="*/ 741 h 7621"/>
                <a:gd name="T78" fmla="*/ 418 w 11175"/>
                <a:gd name="T79" fmla="*/ 777 h 7621"/>
                <a:gd name="T80" fmla="*/ 383 w 11175"/>
                <a:gd name="T81" fmla="*/ 814 h 7621"/>
                <a:gd name="T82" fmla="*/ 350 w 11175"/>
                <a:gd name="T83" fmla="*/ 851 h 7621"/>
                <a:gd name="T84" fmla="*/ 318 w 11175"/>
                <a:gd name="T85" fmla="*/ 889 h 7621"/>
                <a:gd name="T86" fmla="*/ 288 w 11175"/>
                <a:gd name="T87" fmla="*/ 928 h 7621"/>
                <a:gd name="T88" fmla="*/ 259 w 11175"/>
                <a:gd name="T89" fmla="*/ 967 h 7621"/>
                <a:gd name="T90" fmla="*/ 231 w 11175"/>
                <a:gd name="T91" fmla="*/ 1007 h 7621"/>
                <a:gd name="T92" fmla="*/ 205 w 11175"/>
                <a:gd name="T93" fmla="*/ 1046 h 7621"/>
                <a:gd name="T94" fmla="*/ 181 w 11175"/>
                <a:gd name="T95" fmla="*/ 1087 h 7621"/>
                <a:gd name="T96" fmla="*/ 158 w 11175"/>
                <a:gd name="T97" fmla="*/ 1128 h 7621"/>
                <a:gd name="T98" fmla="*/ 136 w 11175"/>
                <a:gd name="T99" fmla="*/ 1169 h 7621"/>
                <a:gd name="T100" fmla="*/ 116 w 11175"/>
                <a:gd name="T101" fmla="*/ 1211 h 7621"/>
                <a:gd name="T102" fmla="*/ 98 w 11175"/>
                <a:gd name="T103" fmla="*/ 1253 h 7621"/>
                <a:gd name="T104" fmla="*/ 81 w 11175"/>
                <a:gd name="T105" fmla="*/ 1295 h 7621"/>
                <a:gd name="T106" fmla="*/ 66 w 11175"/>
                <a:gd name="T107" fmla="*/ 1337 h 7621"/>
                <a:gd name="T108" fmla="*/ 52 w 11175"/>
                <a:gd name="T109" fmla="*/ 1380 h 7621"/>
                <a:gd name="T110" fmla="*/ 40 w 11175"/>
                <a:gd name="T111" fmla="*/ 1423 h 7621"/>
                <a:gd name="T112" fmla="*/ 29 w 11175"/>
                <a:gd name="T113" fmla="*/ 1466 h 7621"/>
                <a:gd name="T114" fmla="*/ 20 w 11175"/>
                <a:gd name="T115" fmla="*/ 1509 h 7621"/>
                <a:gd name="T116" fmla="*/ 13 w 11175"/>
                <a:gd name="T117" fmla="*/ 1553 h 7621"/>
                <a:gd name="T118" fmla="*/ 7 w 11175"/>
                <a:gd name="T119" fmla="*/ 1596 h 7621"/>
                <a:gd name="T120" fmla="*/ 3 w 11175"/>
                <a:gd name="T121" fmla="*/ 1640 h 7621"/>
                <a:gd name="T122" fmla="*/ 1 w 11175"/>
                <a:gd name="T123" fmla="*/ 1684 h 7621"/>
                <a:gd name="T124" fmla="*/ 0 w 11175"/>
                <a:gd name="T125" fmla="*/ 1728 h 762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175"/>
                <a:gd name="T190" fmla="*/ 0 h 7621"/>
                <a:gd name="T191" fmla="*/ 11175 w 11175"/>
                <a:gd name="T192" fmla="*/ 7621 h 762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175" h="7621">
                  <a:moveTo>
                    <a:pt x="11174" y="0"/>
                  </a:moveTo>
                  <a:lnTo>
                    <a:pt x="10891" y="2"/>
                  </a:lnTo>
                  <a:lnTo>
                    <a:pt x="10608" y="10"/>
                  </a:lnTo>
                  <a:lnTo>
                    <a:pt x="10326" y="22"/>
                  </a:lnTo>
                  <a:lnTo>
                    <a:pt x="10044" y="39"/>
                  </a:lnTo>
                  <a:lnTo>
                    <a:pt x="9762" y="61"/>
                  </a:lnTo>
                  <a:lnTo>
                    <a:pt x="9482" y="88"/>
                  </a:lnTo>
                  <a:lnTo>
                    <a:pt x="9203" y="120"/>
                  </a:lnTo>
                  <a:lnTo>
                    <a:pt x="8925" y="156"/>
                  </a:lnTo>
                  <a:lnTo>
                    <a:pt x="8648" y="197"/>
                  </a:lnTo>
                  <a:lnTo>
                    <a:pt x="8373" y="243"/>
                  </a:lnTo>
                  <a:lnTo>
                    <a:pt x="8100" y="294"/>
                  </a:lnTo>
                  <a:lnTo>
                    <a:pt x="7829" y="349"/>
                  </a:lnTo>
                  <a:lnTo>
                    <a:pt x="7560" y="410"/>
                  </a:lnTo>
                  <a:lnTo>
                    <a:pt x="7293" y="474"/>
                  </a:lnTo>
                  <a:lnTo>
                    <a:pt x="7029" y="544"/>
                  </a:lnTo>
                  <a:lnTo>
                    <a:pt x="6767" y="618"/>
                  </a:lnTo>
                  <a:lnTo>
                    <a:pt x="6509" y="696"/>
                  </a:lnTo>
                  <a:lnTo>
                    <a:pt x="6253" y="779"/>
                  </a:lnTo>
                  <a:lnTo>
                    <a:pt x="6000" y="866"/>
                  </a:lnTo>
                  <a:lnTo>
                    <a:pt x="5751" y="957"/>
                  </a:lnTo>
                  <a:lnTo>
                    <a:pt x="5505" y="1053"/>
                  </a:lnTo>
                  <a:lnTo>
                    <a:pt x="5263" y="1153"/>
                  </a:lnTo>
                  <a:lnTo>
                    <a:pt x="5025" y="1258"/>
                  </a:lnTo>
                  <a:lnTo>
                    <a:pt x="4791" y="1366"/>
                  </a:lnTo>
                  <a:lnTo>
                    <a:pt x="4560" y="1478"/>
                  </a:lnTo>
                  <a:lnTo>
                    <a:pt x="4334" y="1594"/>
                  </a:lnTo>
                  <a:lnTo>
                    <a:pt x="4113" y="1714"/>
                  </a:lnTo>
                  <a:lnTo>
                    <a:pt x="3896" y="1838"/>
                  </a:lnTo>
                  <a:lnTo>
                    <a:pt x="3683" y="1966"/>
                  </a:lnTo>
                  <a:lnTo>
                    <a:pt x="3475" y="2097"/>
                  </a:lnTo>
                  <a:lnTo>
                    <a:pt x="3273" y="2232"/>
                  </a:lnTo>
                  <a:lnTo>
                    <a:pt x="3075" y="2370"/>
                  </a:lnTo>
                  <a:lnTo>
                    <a:pt x="2883" y="2512"/>
                  </a:lnTo>
                  <a:lnTo>
                    <a:pt x="2696" y="2657"/>
                  </a:lnTo>
                  <a:lnTo>
                    <a:pt x="2514" y="2805"/>
                  </a:lnTo>
                  <a:lnTo>
                    <a:pt x="2338" y="2956"/>
                  </a:lnTo>
                  <a:lnTo>
                    <a:pt x="2167" y="3110"/>
                  </a:lnTo>
                  <a:lnTo>
                    <a:pt x="2003" y="3267"/>
                  </a:lnTo>
                  <a:lnTo>
                    <a:pt x="1844" y="3427"/>
                  </a:lnTo>
                  <a:lnTo>
                    <a:pt x="1691" y="3589"/>
                  </a:lnTo>
                  <a:lnTo>
                    <a:pt x="1545" y="3754"/>
                  </a:lnTo>
                  <a:lnTo>
                    <a:pt x="1404" y="3922"/>
                  </a:lnTo>
                  <a:lnTo>
                    <a:pt x="1270" y="4092"/>
                  </a:lnTo>
                  <a:lnTo>
                    <a:pt x="1142" y="4264"/>
                  </a:lnTo>
                  <a:lnTo>
                    <a:pt x="1020" y="4439"/>
                  </a:lnTo>
                  <a:lnTo>
                    <a:pt x="906" y="4615"/>
                  </a:lnTo>
                  <a:lnTo>
                    <a:pt x="797" y="4793"/>
                  </a:lnTo>
                  <a:lnTo>
                    <a:pt x="696" y="4974"/>
                  </a:lnTo>
                  <a:lnTo>
                    <a:pt x="601" y="5155"/>
                  </a:lnTo>
                  <a:lnTo>
                    <a:pt x="512" y="5339"/>
                  </a:lnTo>
                  <a:lnTo>
                    <a:pt x="431" y="5524"/>
                  </a:lnTo>
                  <a:lnTo>
                    <a:pt x="357" y="5710"/>
                  </a:lnTo>
                  <a:lnTo>
                    <a:pt x="289" y="5898"/>
                  </a:lnTo>
                  <a:lnTo>
                    <a:pt x="229" y="6086"/>
                  </a:lnTo>
                  <a:lnTo>
                    <a:pt x="175" y="6276"/>
                  </a:lnTo>
                  <a:lnTo>
                    <a:pt x="129" y="6466"/>
                  </a:lnTo>
                  <a:lnTo>
                    <a:pt x="90" y="6657"/>
                  </a:lnTo>
                  <a:lnTo>
                    <a:pt x="57" y="6849"/>
                  </a:lnTo>
                  <a:lnTo>
                    <a:pt x="32" y="7041"/>
                  </a:lnTo>
                  <a:lnTo>
                    <a:pt x="14" y="7234"/>
                  </a:lnTo>
                  <a:lnTo>
                    <a:pt x="4" y="7427"/>
                  </a:lnTo>
                  <a:lnTo>
                    <a:pt x="0" y="7620"/>
                  </a:lnTo>
                </a:path>
              </a:pathLst>
            </a:custGeom>
            <a:noFill/>
            <a:ln w="76320">
              <a:solidFill>
                <a:srgbClr val="FF8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03" name="Rectangle 4"/>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Implementing a Heap</a:t>
            </a:r>
          </a:p>
        </p:txBody>
      </p:sp>
      <p:sp>
        <p:nvSpPr>
          <p:cNvPr id="26629" name="Rectangle 5"/>
          <p:cNvSpPr>
            <a:spLocks noGrp="1" noChangeArrowheads="1"/>
          </p:cNvSpPr>
          <p:nvPr>
            <p:ph sz="quarter" idx="1"/>
          </p:nvPr>
        </p:nvSpPr>
        <p:spPr>
          <a:xfrm>
            <a:off x="685800" y="1981200"/>
            <a:ext cx="33988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mtClean="0"/>
              <a:t>Data from the root goes in the</a:t>
            </a:r>
            <a:r>
              <a:rPr lang="en-GB" smtClean="0">
                <a:effectLst/>
              </a:rPr>
              <a:t>        </a:t>
            </a:r>
            <a:r>
              <a:rPr lang="en-GB" smtClean="0"/>
              <a:t> first              location                 of the               array.</a:t>
            </a:r>
          </a:p>
        </p:txBody>
      </p:sp>
      <p:sp>
        <p:nvSpPr>
          <p:cNvPr id="25605" name="AutoShape 6"/>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06" name="Line 7"/>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7" name="Line 8"/>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9"/>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10"/>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0" name="Line 11"/>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12"/>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AutoShape 13"/>
          <p:cNvSpPr>
            <a:spLocks noChangeArrowheads="1"/>
          </p:cNvSpPr>
          <p:nvPr/>
        </p:nvSpPr>
        <p:spPr bwMode="auto">
          <a:xfrm>
            <a:off x="1096963" y="5565775"/>
            <a:ext cx="218916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An array of data</a:t>
            </a:r>
          </a:p>
        </p:txBody>
      </p:sp>
      <p:sp>
        <p:nvSpPr>
          <p:cNvPr id="25613" name="Freeform 14"/>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14"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15" name="Group 16"/>
          <p:cNvGrpSpPr>
            <a:grpSpLocks/>
          </p:cNvGrpSpPr>
          <p:nvPr/>
        </p:nvGrpSpPr>
        <p:grpSpPr bwMode="auto">
          <a:xfrm>
            <a:off x="5880100" y="3313113"/>
            <a:ext cx="793750" cy="731837"/>
            <a:chOff x="3704" y="2087"/>
            <a:chExt cx="500" cy="461"/>
          </a:xfrm>
        </p:grpSpPr>
        <p:sp>
          <p:nvSpPr>
            <p:cNvPr id="25632"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33"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5616"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17" name="Group 20"/>
          <p:cNvGrpSpPr>
            <a:grpSpLocks/>
          </p:cNvGrpSpPr>
          <p:nvPr/>
        </p:nvGrpSpPr>
        <p:grpSpPr bwMode="auto">
          <a:xfrm>
            <a:off x="4679950" y="3313113"/>
            <a:ext cx="793750" cy="731837"/>
            <a:chOff x="2948" y="2087"/>
            <a:chExt cx="500" cy="461"/>
          </a:xfrm>
        </p:grpSpPr>
        <p:sp>
          <p:nvSpPr>
            <p:cNvPr id="25630" name="AutoShape 2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31"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5618"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19" name="Group 24"/>
          <p:cNvGrpSpPr>
            <a:grpSpLocks/>
          </p:cNvGrpSpPr>
          <p:nvPr/>
        </p:nvGrpSpPr>
        <p:grpSpPr bwMode="auto">
          <a:xfrm>
            <a:off x="7437438" y="2398713"/>
            <a:ext cx="793750" cy="731837"/>
            <a:chOff x="4685" y="1511"/>
            <a:chExt cx="500" cy="461"/>
          </a:xfrm>
        </p:grpSpPr>
        <p:sp>
          <p:nvSpPr>
            <p:cNvPr id="25628"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29"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5620"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21" name="Group 28"/>
          <p:cNvGrpSpPr>
            <a:grpSpLocks/>
          </p:cNvGrpSpPr>
          <p:nvPr/>
        </p:nvGrpSpPr>
        <p:grpSpPr bwMode="auto">
          <a:xfrm>
            <a:off x="6376988" y="1331913"/>
            <a:ext cx="793750" cy="731837"/>
            <a:chOff x="4017" y="839"/>
            <a:chExt cx="500" cy="461"/>
          </a:xfrm>
        </p:grpSpPr>
        <p:sp>
          <p:nvSpPr>
            <p:cNvPr id="25626" name="AutoShape 29"/>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27"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5622" name="Group 31"/>
          <p:cNvGrpSpPr>
            <a:grpSpLocks/>
          </p:cNvGrpSpPr>
          <p:nvPr/>
        </p:nvGrpSpPr>
        <p:grpSpPr bwMode="auto">
          <a:xfrm>
            <a:off x="5273675" y="2398713"/>
            <a:ext cx="793750" cy="731837"/>
            <a:chOff x="3322" y="1511"/>
            <a:chExt cx="500" cy="461"/>
          </a:xfrm>
        </p:grpSpPr>
        <p:sp>
          <p:nvSpPr>
            <p:cNvPr id="25624" name="AutoShape 32"/>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5625"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5623" name="AutoShape 34"/>
          <p:cNvSpPr>
            <a:spLocks noChangeArrowheads="1"/>
          </p:cNvSpPr>
          <p:nvPr/>
        </p:nvSpPr>
        <p:spPr bwMode="auto">
          <a:xfrm>
            <a:off x="1914525"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spTree>
    <p:extLst>
      <p:ext uri="{BB962C8B-B14F-4D97-AF65-F5344CB8AC3E}">
        <p14:creationId xmlns:p14="http://schemas.microsoft.com/office/powerpoint/2010/main" val="2709818612"/>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1"/>
          <p:cNvGrpSpPr>
            <a:grpSpLocks/>
          </p:cNvGrpSpPr>
          <p:nvPr/>
        </p:nvGrpSpPr>
        <p:grpSpPr bwMode="auto">
          <a:xfrm>
            <a:off x="3001963" y="2743200"/>
            <a:ext cx="2406650" cy="1903413"/>
            <a:chOff x="1891" y="1728"/>
            <a:chExt cx="1516" cy="1199"/>
          </a:xfrm>
        </p:grpSpPr>
        <p:sp>
          <p:nvSpPr>
            <p:cNvPr id="26663" name="AutoShape 2"/>
            <p:cNvSpPr>
              <a:spLocks noChangeArrowheads="1"/>
            </p:cNvSpPr>
            <p:nvPr/>
          </p:nvSpPr>
          <p:spPr bwMode="auto">
            <a:xfrm>
              <a:off x="1891" y="1728"/>
              <a:ext cx="1517" cy="1200"/>
            </a:xfrm>
            <a:prstGeom prst="roundRect">
              <a:avLst>
                <a:gd name="adj" fmla="val 8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320">
                  <a:solidFill>
                    <a:srgbClr val="000000"/>
                  </a:solidFill>
                  <a:round/>
                  <a:headEnd type="triangle" w="med" len="med"/>
                  <a:tailEnd/>
                </a14:hiddenLine>
              </a:ext>
            </a:extLst>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64" name="Freeform 3"/>
            <p:cNvSpPr>
              <a:spLocks/>
            </p:cNvSpPr>
            <p:nvPr/>
          </p:nvSpPr>
          <p:spPr bwMode="auto">
            <a:xfrm>
              <a:off x="1891" y="1728"/>
              <a:ext cx="1517" cy="1200"/>
            </a:xfrm>
            <a:custGeom>
              <a:avLst/>
              <a:gdLst>
                <a:gd name="T0" fmla="*/ 1517 w 6690"/>
                <a:gd name="T1" fmla="*/ 0 h 5293"/>
                <a:gd name="T2" fmla="*/ 1478 w 6690"/>
                <a:gd name="T3" fmla="*/ 0 h 5293"/>
                <a:gd name="T4" fmla="*/ 1440 w 6690"/>
                <a:gd name="T5" fmla="*/ 2 h 5293"/>
                <a:gd name="T6" fmla="*/ 1402 w 6690"/>
                <a:gd name="T7" fmla="*/ 3 h 5293"/>
                <a:gd name="T8" fmla="*/ 1363 w 6690"/>
                <a:gd name="T9" fmla="*/ 6 h 5293"/>
                <a:gd name="T10" fmla="*/ 1325 w 6690"/>
                <a:gd name="T11" fmla="*/ 10 h 5293"/>
                <a:gd name="T12" fmla="*/ 1287 w 6690"/>
                <a:gd name="T13" fmla="*/ 14 h 5293"/>
                <a:gd name="T14" fmla="*/ 1249 w 6690"/>
                <a:gd name="T15" fmla="*/ 19 h 5293"/>
                <a:gd name="T16" fmla="*/ 1212 w 6690"/>
                <a:gd name="T17" fmla="*/ 24 h 5293"/>
                <a:gd name="T18" fmla="*/ 1174 w 6690"/>
                <a:gd name="T19" fmla="*/ 31 h 5293"/>
                <a:gd name="T20" fmla="*/ 1137 w 6690"/>
                <a:gd name="T21" fmla="*/ 38 h 5293"/>
                <a:gd name="T22" fmla="*/ 1100 w 6690"/>
                <a:gd name="T23" fmla="*/ 46 h 5293"/>
                <a:gd name="T24" fmla="*/ 1063 w 6690"/>
                <a:gd name="T25" fmla="*/ 55 h 5293"/>
                <a:gd name="T26" fmla="*/ 1026 w 6690"/>
                <a:gd name="T27" fmla="*/ 64 h 5293"/>
                <a:gd name="T28" fmla="*/ 990 w 6690"/>
                <a:gd name="T29" fmla="*/ 75 h 5293"/>
                <a:gd name="T30" fmla="*/ 954 w 6690"/>
                <a:gd name="T31" fmla="*/ 86 h 5293"/>
                <a:gd name="T32" fmla="*/ 919 w 6690"/>
                <a:gd name="T33" fmla="*/ 97 h 5293"/>
                <a:gd name="T34" fmla="*/ 883 w 6690"/>
                <a:gd name="T35" fmla="*/ 110 h 5293"/>
                <a:gd name="T36" fmla="*/ 849 w 6690"/>
                <a:gd name="T37" fmla="*/ 123 h 5293"/>
                <a:gd name="T38" fmla="*/ 815 w 6690"/>
                <a:gd name="T39" fmla="*/ 136 h 5293"/>
                <a:gd name="T40" fmla="*/ 781 w 6690"/>
                <a:gd name="T41" fmla="*/ 151 h 5293"/>
                <a:gd name="T42" fmla="*/ 747 w 6690"/>
                <a:gd name="T43" fmla="*/ 166 h 5293"/>
                <a:gd name="T44" fmla="*/ 715 w 6690"/>
                <a:gd name="T45" fmla="*/ 182 h 5293"/>
                <a:gd name="T46" fmla="*/ 682 w 6690"/>
                <a:gd name="T47" fmla="*/ 198 h 5293"/>
                <a:gd name="T48" fmla="*/ 650 w 6690"/>
                <a:gd name="T49" fmla="*/ 215 h 5293"/>
                <a:gd name="T50" fmla="*/ 619 w 6690"/>
                <a:gd name="T51" fmla="*/ 233 h 5293"/>
                <a:gd name="T52" fmla="*/ 588 w 6690"/>
                <a:gd name="T53" fmla="*/ 251 h 5293"/>
                <a:gd name="T54" fmla="*/ 558 w 6690"/>
                <a:gd name="T55" fmla="*/ 270 h 5293"/>
                <a:gd name="T56" fmla="*/ 529 w 6690"/>
                <a:gd name="T57" fmla="*/ 290 h 5293"/>
                <a:gd name="T58" fmla="*/ 500 w 6690"/>
                <a:gd name="T59" fmla="*/ 309 h 5293"/>
                <a:gd name="T60" fmla="*/ 472 w 6690"/>
                <a:gd name="T61" fmla="*/ 330 h 5293"/>
                <a:gd name="T62" fmla="*/ 444 w 6690"/>
                <a:gd name="T63" fmla="*/ 351 h 5293"/>
                <a:gd name="T64" fmla="*/ 417 w 6690"/>
                <a:gd name="T65" fmla="*/ 373 h 5293"/>
                <a:gd name="T66" fmla="*/ 391 w 6690"/>
                <a:gd name="T67" fmla="*/ 395 h 5293"/>
                <a:gd name="T68" fmla="*/ 366 w 6690"/>
                <a:gd name="T69" fmla="*/ 418 h 5293"/>
                <a:gd name="T70" fmla="*/ 341 w 6690"/>
                <a:gd name="T71" fmla="*/ 442 h 5293"/>
                <a:gd name="T72" fmla="*/ 317 w 6690"/>
                <a:gd name="T73" fmla="*/ 465 h 5293"/>
                <a:gd name="T74" fmla="*/ 294 w 6690"/>
                <a:gd name="T75" fmla="*/ 490 h 5293"/>
                <a:gd name="T76" fmla="*/ 272 w 6690"/>
                <a:gd name="T77" fmla="*/ 514 h 5293"/>
                <a:gd name="T78" fmla="*/ 250 w 6690"/>
                <a:gd name="T79" fmla="*/ 540 h 5293"/>
                <a:gd name="T80" fmla="*/ 229 w 6690"/>
                <a:gd name="T81" fmla="*/ 565 h 5293"/>
                <a:gd name="T82" fmla="*/ 210 w 6690"/>
                <a:gd name="T83" fmla="*/ 591 h 5293"/>
                <a:gd name="T84" fmla="*/ 190 w 6690"/>
                <a:gd name="T85" fmla="*/ 618 h 5293"/>
                <a:gd name="T86" fmla="*/ 172 w 6690"/>
                <a:gd name="T87" fmla="*/ 644 h 5293"/>
                <a:gd name="T88" fmla="*/ 155 w 6690"/>
                <a:gd name="T89" fmla="*/ 671 h 5293"/>
                <a:gd name="T90" fmla="*/ 139 w 6690"/>
                <a:gd name="T91" fmla="*/ 699 h 5293"/>
                <a:gd name="T92" fmla="*/ 123 w 6690"/>
                <a:gd name="T93" fmla="*/ 727 h 5293"/>
                <a:gd name="T94" fmla="*/ 108 w 6690"/>
                <a:gd name="T95" fmla="*/ 755 h 5293"/>
                <a:gd name="T96" fmla="*/ 94 w 6690"/>
                <a:gd name="T97" fmla="*/ 783 h 5293"/>
                <a:gd name="T98" fmla="*/ 82 w 6690"/>
                <a:gd name="T99" fmla="*/ 812 h 5293"/>
                <a:gd name="T100" fmla="*/ 70 w 6690"/>
                <a:gd name="T101" fmla="*/ 841 h 5293"/>
                <a:gd name="T102" fmla="*/ 59 w 6690"/>
                <a:gd name="T103" fmla="*/ 870 h 5293"/>
                <a:gd name="T104" fmla="*/ 49 w 6690"/>
                <a:gd name="T105" fmla="*/ 899 h 5293"/>
                <a:gd name="T106" fmla="*/ 39 w 6690"/>
                <a:gd name="T107" fmla="*/ 929 h 5293"/>
                <a:gd name="T108" fmla="*/ 31 w 6690"/>
                <a:gd name="T109" fmla="*/ 958 h 5293"/>
                <a:gd name="T110" fmla="*/ 24 w 6690"/>
                <a:gd name="T111" fmla="*/ 988 h 5293"/>
                <a:gd name="T112" fmla="*/ 17 w 6690"/>
                <a:gd name="T113" fmla="*/ 1018 h 5293"/>
                <a:gd name="T114" fmla="*/ 12 w 6690"/>
                <a:gd name="T115" fmla="*/ 1048 h 5293"/>
                <a:gd name="T116" fmla="*/ 8 w 6690"/>
                <a:gd name="T117" fmla="*/ 1078 h 5293"/>
                <a:gd name="T118" fmla="*/ 4 w 6690"/>
                <a:gd name="T119" fmla="*/ 1109 h 5293"/>
                <a:gd name="T120" fmla="*/ 2 w 6690"/>
                <a:gd name="T121" fmla="*/ 1139 h 5293"/>
                <a:gd name="T122" fmla="*/ 0 w 6690"/>
                <a:gd name="T123" fmla="*/ 1169 h 5293"/>
                <a:gd name="T124" fmla="*/ 0 w 6690"/>
                <a:gd name="T125" fmla="*/ 1200 h 529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690"/>
                <a:gd name="T190" fmla="*/ 0 h 5293"/>
                <a:gd name="T191" fmla="*/ 6690 w 6690"/>
                <a:gd name="T192" fmla="*/ 5293 h 529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690" h="5293">
                  <a:moveTo>
                    <a:pt x="6689" y="0"/>
                  </a:moveTo>
                  <a:lnTo>
                    <a:pt x="6520" y="2"/>
                  </a:lnTo>
                  <a:lnTo>
                    <a:pt x="6350" y="7"/>
                  </a:lnTo>
                  <a:lnTo>
                    <a:pt x="6181" y="15"/>
                  </a:lnTo>
                  <a:lnTo>
                    <a:pt x="6012" y="27"/>
                  </a:lnTo>
                  <a:lnTo>
                    <a:pt x="5844" y="42"/>
                  </a:lnTo>
                  <a:lnTo>
                    <a:pt x="5676" y="61"/>
                  </a:lnTo>
                  <a:lnTo>
                    <a:pt x="5509" y="83"/>
                  </a:lnTo>
                  <a:lnTo>
                    <a:pt x="5343" y="108"/>
                  </a:lnTo>
                  <a:lnTo>
                    <a:pt x="5177" y="137"/>
                  </a:lnTo>
                  <a:lnTo>
                    <a:pt x="5012" y="169"/>
                  </a:lnTo>
                  <a:lnTo>
                    <a:pt x="4849" y="204"/>
                  </a:lnTo>
                  <a:lnTo>
                    <a:pt x="4687" y="243"/>
                  </a:lnTo>
                  <a:lnTo>
                    <a:pt x="4526" y="284"/>
                  </a:lnTo>
                  <a:lnTo>
                    <a:pt x="4366" y="329"/>
                  </a:lnTo>
                  <a:lnTo>
                    <a:pt x="4208" y="378"/>
                  </a:lnTo>
                  <a:lnTo>
                    <a:pt x="4051" y="429"/>
                  </a:lnTo>
                  <a:lnTo>
                    <a:pt x="3896" y="483"/>
                  </a:lnTo>
                  <a:lnTo>
                    <a:pt x="3743" y="541"/>
                  </a:lnTo>
                  <a:lnTo>
                    <a:pt x="3592" y="601"/>
                  </a:lnTo>
                  <a:lnTo>
                    <a:pt x="3443" y="665"/>
                  </a:lnTo>
                  <a:lnTo>
                    <a:pt x="3296" y="732"/>
                  </a:lnTo>
                  <a:lnTo>
                    <a:pt x="3151" y="801"/>
                  </a:lnTo>
                  <a:lnTo>
                    <a:pt x="3008" y="873"/>
                  </a:lnTo>
                  <a:lnTo>
                    <a:pt x="2868" y="949"/>
                  </a:lnTo>
                  <a:lnTo>
                    <a:pt x="2730" y="1026"/>
                  </a:lnTo>
                  <a:lnTo>
                    <a:pt x="2595" y="1107"/>
                  </a:lnTo>
                  <a:lnTo>
                    <a:pt x="2462" y="1191"/>
                  </a:lnTo>
                  <a:lnTo>
                    <a:pt x="2332" y="1277"/>
                  </a:lnTo>
                  <a:lnTo>
                    <a:pt x="2205" y="1365"/>
                  </a:lnTo>
                  <a:lnTo>
                    <a:pt x="2081" y="1456"/>
                  </a:lnTo>
                  <a:lnTo>
                    <a:pt x="1959" y="1550"/>
                  </a:lnTo>
                  <a:lnTo>
                    <a:pt x="1841" y="1646"/>
                  </a:lnTo>
                  <a:lnTo>
                    <a:pt x="1726" y="1744"/>
                  </a:lnTo>
                  <a:lnTo>
                    <a:pt x="1614" y="1845"/>
                  </a:lnTo>
                  <a:lnTo>
                    <a:pt x="1505" y="1948"/>
                  </a:lnTo>
                  <a:lnTo>
                    <a:pt x="1400" y="2053"/>
                  </a:lnTo>
                  <a:lnTo>
                    <a:pt x="1297" y="2160"/>
                  </a:lnTo>
                  <a:lnTo>
                    <a:pt x="1199" y="2269"/>
                  </a:lnTo>
                  <a:lnTo>
                    <a:pt x="1104" y="2380"/>
                  </a:lnTo>
                  <a:lnTo>
                    <a:pt x="1012" y="2493"/>
                  </a:lnTo>
                  <a:lnTo>
                    <a:pt x="925" y="2607"/>
                  </a:lnTo>
                  <a:lnTo>
                    <a:pt x="840" y="2724"/>
                  </a:lnTo>
                  <a:lnTo>
                    <a:pt x="760" y="2842"/>
                  </a:lnTo>
                  <a:lnTo>
                    <a:pt x="684" y="2961"/>
                  </a:lnTo>
                  <a:lnTo>
                    <a:pt x="611" y="3083"/>
                  </a:lnTo>
                  <a:lnTo>
                    <a:pt x="542" y="3205"/>
                  </a:lnTo>
                  <a:lnTo>
                    <a:pt x="477" y="3329"/>
                  </a:lnTo>
                  <a:lnTo>
                    <a:pt x="416" y="3454"/>
                  </a:lnTo>
                  <a:lnTo>
                    <a:pt x="360" y="3580"/>
                  </a:lnTo>
                  <a:lnTo>
                    <a:pt x="307" y="3708"/>
                  </a:lnTo>
                  <a:lnTo>
                    <a:pt x="258" y="3836"/>
                  </a:lnTo>
                  <a:lnTo>
                    <a:pt x="214" y="3966"/>
                  </a:lnTo>
                  <a:lnTo>
                    <a:pt x="173" y="4096"/>
                  </a:lnTo>
                  <a:lnTo>
                    <a:pt x="137" y="4227"/>
                  </a:lnTo>
                  <a:lnTo>
                    <a:pt x="105" y="4358"/>
                  </a:lnTo>
                  <a:lnTo>
                    <a:pt x="77" y="4491"/>
                  </a:lnTo>
                  <a:lnTo>
                    <a:pt x="54" y="4623"/>
                  </a:lnTo>
                  <a:lnTo>
                    <a:pt x="34" y="4757"/>
                  </a:lnTo>
                  <a:lnTo>
                    <a:pt x="19" y="4890"/>
                  </a:lnTo>
                  <a:lnTo>
                    <a:pt x="9" y="5024"/>
                  </a:lnTo>
                  <a:lnTo>
                    <a:pt x="2" y="5158"/>
                  </a:lnTo>
                  <a:lnTo>
                    <a:pt x="0" y="5292"/>
                  </a:lnTo>
                </a:path>
              </a:pathLst>
            </a:custGeom>
            <a:noFill/>
            <a:ln w="76320">
              <a:solidFill>
                <a:srgbClr val="FF8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627" name="Rectangle 4"/>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Implementing a Heap</a:t>
            </a:r>
          </a:p>
        </p:txBody>
      </p:sp>
      <p:sp>
        <p:nvSpPr>
          <p:cNvPr id="27653" name="Rectangle 5"/>
          <p:cNvSpPr>
            <a:spLocks noGrp="1" noChangeArrowheads="1"/>
          </p:cNvSpPr>
          <p:nvPr>
            <p:ph sz="quarter" idx="1"/>
          </p:nvPr>
        </p:nvSpPr>
        <p:spPr>
          <a:xfrm>
            <a:off x="685800" y="1981200"/>
            <a:ext cx="33988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mtClean="0"/>
              <a:t>Data from the next row goes</a:t>
            </a:r>
            <a:r>
              <a:rPr lang="en-GB" smtClean="0">
                <a:effectLst/>
              </a:rPr>
              <a:t> </a:t>
            </a:r>
            <a:r>
              <a:rPr lang="en-GB" smtClean="0"/>
              <a:t>in the </a:t>
            </a:r>
            <a:r>
              <a:rPr lang="en-GB" smtClean="0">
                <a:effectLst/>
              </a:rPr>
              <a:t>next two array locations.                  </a:t>
            </a:r>
          </a:p>
        </p:txBody>
      </p:sp>
      <p:sp>
        <p:nvSpPr>
          <p:cNvPr id="26629" name="AutoShape 6"/>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30" name="Line 7"/>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1" name="Line 8"/>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9"/>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10"/>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11"/>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5" name="Line 12"/>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AutoShape 13"/>
          <p:cNvSpPr>
            <a:spLocks noChangeArrowheads="1"/>
          </p:cNvSpPr>
          <p:nvPr/>
        </p:nvSpPr>
        <p:spPr bwMode="auto">
          <a:xfrm>
            <a:off x="1096963" y="5565775"/>
            <a:ext cx="218916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An array of data</a:t>
            </a:r>
          </a:p>
        </p:txBody>
      </p:sp>
      <p:sp>
        <p:nvSpPr>
          <p:cNvPr id="26637" name="Freeform 14"/>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38" name="Line 15"/>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39" name="Group 16"/>
          <p:cNvGrpSpPr>
            <a:grpSpLocks/>
          </p:cNvGrpSpPr>
          <p:nvPr/>
        </p:nvGrpSpPr>
        <p:grpSpPr bwMode="auto">
          <a:xfrm>
            <a:off x="5880100" y="3313113"/>
            <a:ext cx="793750" cy="731837"/>
            <a:chOff x="3704" y="2087"/>
            <a:chExt cx="500" cy="461"/>
          </a:xfrm>
        </p:grpSpPr>
        <p:sp>
          <p:nvSpPr>
            <p:cNvPr id="26661" name="AutoShape 17"/>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62" name="AutoShape 18"/>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6640" name="Line 19"/>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41" name="Group 20"/>
          <p:cNvGrpSpPr>
            <a:grpSpLocks/>
          </p:cNvGrpSpPr>
          <p:nvPr/>
        </p:nvGrpSpPr>
        <p:grpSpPr bwMode="auto">
          <a:xfrm>
            <a:off x="4679950" y="3313113"/>
            <a:ext cx="793750" cy="731837"/>
            <a:chOff x="2948" y="2087"/>
            <a:chExt cx="500" cy="461"/>
          </a:xfrm>
        </p:grpSpPr>
        <p:sp>
          <p:nvSpPr>
            <p:cNvPr id="26659" name="AutoShape 21"/>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60" name="AutoShape 22"/>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6642" name="Line 23"/>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43" name="Group 24"/>
          <p:cNvGrpSpPr>
            <a:grpSpLocks/>
          </p:cNvGrpSpPr>
          <p:nvPr/>
        </p:nvGrpSpPr>
        <p:grpSpPr bwMode="auto">
          <a:xfrm>
            <a:off x="7437438" y="2398713"/>
            <a:ext cx="793750" cy="731837"/>
            <a:chOff x="4685" y="1511"/>
            <a:chExt cx="500" cy="461"/>
          </a:xfrm>
        </p:grpSpPr>
        <p:sp>
          <p:nvSpPr>
            <p:cNvPr id="26657" name="AutoShape 25"/>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58" name="AutoShape 26"/>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6644" name="Line 27"/>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45" name="Group 28"/>
          <p:cNvGrpSpPr>
            <a:grpSpLocks/>
          </p:cNvGrpSpPr>
          <p:nvPr/>
        </p:nvGrpSpPr>
        <p:grpSpPr bwMode="auto">
          <a:xfrm>
            <a:off x="6376988" y="1331913"/>
            <a:ext cx="793750" cy="731837"/>
            <a:chOff x="4017" y="839"/>
            <a:chExt cx="500" cy="461"/>
          </a:xfrm>
        </p:grpSpPr>
        <p:sp>
          <p:nvSpPr>
            <p:cNvPr id="26655" name="AutoShape 29"/>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56" name="AutoShape 30"/>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6646" name="Group 31"/>
          <p:cNvGrpSpPr>
            <a:grpSpLocks/>
          </p:cNvGrpSpPr>
          <p:nvPr/>
        </p:nvGrpSpPr>
        <p:grpSpPr bwMode="auto">
          <a:xfrm>
            <a:off x="5273675" y="2398713"/>
            <a:ext cx="793750" cy="731837"/>
            <a:chOff x="3322" y="1511"/>
            <a:chExt cx="500" cy="461"/>
          </a:xfrm>
        </p:grpSpPr>
        <p:sp>
          <p:nvSpPr>
            <p:cNvPr id="26653" name="AutoShape 32"/>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54" name="AutoShape 33"/>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6647" name="AutoShape 34"/>
          <p:cNvSpPr>
            <a:spLocks noChangeArrowheads="1"/>
          </p:cNvSpPr>
          <p:nvPr/>
        </p:nvSpPr>
        <p:spPr bwMode="auto">
          <a:xfrm>
            <a:off x="1914525"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nvGrpSpPr>
          <p:cNvPr id="26648" name="Group 35"/>
          <p:cNvGrpSpPr>
            <a:grpSpLocks/>
          </p:cNvGrpSpPr>
          <p:nvPr/>
        </p:nvGrpSpPr>
        <p:grpSpPr bwMode="auto">
          <a:xfrm>
            <a:off x="4433888" y="3108325"/>
            <a:ext cx="3317875" cy="1906588"/>
            <a:chOff x="2793" y="1958"/>
            <a:chExt cx="2090" cy="1201"/>
          </a:xfrm>
        </p:grpSpPr>
        <p:sp>
          <p:nvSpPr>
            <p:cNvPr id="26651" name="AutoShape 36"/>
            <p:cNvSpPr>
              <a:spLocks noChangeArrowheads="1"/>
            </p:cNvSpPr>
            <p:nvPr/>
          </p:nvSpPr>
          <p:spPr bwMode="auto">
            <a:xfrm rot="5400000">
              <a:off x="3240" y="1514"/>
              <a:ext cx="1202" cy="2091"/>
            </a:xfrm>
            <a:prstGeom prst="roundRect">
              <a:avLst>
                <a:gd name="adj" fmla="val 7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320">
                  <a:solidFill>
                    <a:srgbClr val="000000"/>
                  </a:solidFill>
                  <a:round/>
                  <a:headEnd/>
                  <a:tailEnd type="triangle" w="med" len="med"/>
                </a14:hiddenLine>
              </a:ext>
            </a:extLst>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6652" name="Freeform 37"/>
            <p:cNvSpPr>
              <a:spLocks/>
            </p:cNvSpPr>
            <p:nvPr/>
          </p:nvSpPr>
          <p:spPr bwMode="auto">
            <a:xfrm>
              <a:off x="2793" y="1958"/>
              <a:ext cx="2091" cy="1202"/>
            </a:xfrm>
            <a:custGeom>
              <a:avLst/>
              <a:gdLst>
                <a:gd name="T0" fmla="*/ 0 w 9222"/>
                <a:gd name="T1" fmla="*/ 1202 h 5302"/>
                <a:gd name="T2" fmla="*/ 53 w 9222"/>
                <a:gd name="T3" fmla="*/ 1201 h 5302"/>
                <a:gd name="T4" fmla="*/ 106 w 9222"/>
                <a:gd name="T5" fmla="*/ 1200 h 5302"/>
                <a:gd name="T6" fmla="*/ 159 w 9222"/>
                <a:gd name="T7" fmla="*/ 1198 h 5302"/>
                <a:gd name="T8" fmla="*/ 212 w 9222"/>
                <a:gd name="T9" fmla="*/ 1196 h 5302"/>
                <a:gd name="T10" fmla="*/ 264 w 9222"/>
                <a:gd name="T11" fmla="*/ 1192 h 5302"/>
                <a:gd name="T12" fmla="*/ 317 w 9222"/>
                <a:gd name="T13" fmla="*/ 1188 h 5302"/>
                <a:gd name="T14" fmla="*/ 369 w 9222"/>
                <a:gd name="T15" fmla="*/ 1183 h 5302"/>
                <a:gd name="T16" fmla="*/ 421 w 9222"/>
                <a:gd name="T17" fmla="*/ 1177 h 5302"/>
                <a:gd name="T18" fmla="*/ 473 w 9222"/>
                <a:gd name="T19" fmla="*/ 1171 h 5302"/>
                <a:gd name="T20" fmla="*/ 524 w 9222"/>
                <a:gd name="T21" fmla="*/ 1163 h 5302"/>
                <a:gd name="T22" fmla="*/ 575 w 9222"/>
                <a:gd name="T23" fmla="*/ 1155 h 5302"/>
                <a:gd name="T24" fmla="*/ 626 w 9222"/>
                <a:gd name="T25" fmla="*/ 1147 h 5302"/>
                <a:gd name="T26" fmla="*/ 676 w 9222"/>
                <a:gd name="T27" fmla="*/ 1137 h 5302"/>
                <a:gd name="T28" fmla="*/ 726 w 9222"/>
                <a:gd name="T29" fmla="*/ 1127 h 5302"/>
                <a:gd name="T30" fmla="*/ 776 w 9222"/>
                <a:gd name="T31" fmla="*/ 1116 h 5302"/>
                <a:gd name="T32" fmla="*/ 824 w 9222"/>
                <a:gd name="T33" fmla="*/ 1104 h 5302"/>
                <a:gd name="T34" fmla="*/ 873 w 9222"/>
                <a:gd name="T35" fmla="*/ 1092 h 5302"/>
                <a:gd name="T36" fmla="*/ 921 w 9222"/>
                <a:gd name="T37" fmla="*/ 1079 h 5302"/>
                <a:gd name="T38" fmla="*/ 968 w 9222"/>
                <a:gd name="T39" fmla="*/ 1065 h 5302"/>
                <a:gd name="T40" fmla="*/ 1015 w 9222"/>
                <a:gd name="T41" fmla="*/ 1051 h 5302"/>
                <a:gd name="T42" fmla="*/ 1061 w 9222"/>
                <a:gd name="T43" fmla="*/ 1036 h 5302"/>
                <a:gd name="T44" fmla="*/ 1106 w 9222"/>
                <a:gd name="T45" fmla="*/ 1020 h 5302"/>
                <a:gd name="T46" fmla="*/ 1150 w 9222"/>
                <a:gd name="T47" fmla="*/ 1003 h 5302"/>
                <a:gd name="T48" fmla="*/ 1194 w 9222"/>
                <a:gd name="T49" fmla="*/ 986 h 5302"/>
                <a:gd name="T50" fmla="*/ 1238 w 9222"/>
                <a:gd name="T51" fmla="*/ 969 h 5302"/>
                <a:gd name="T52" fmla="*/ 1280 w 9222"/>
                <a:gd name="T53" fmla="*/ 950 h 5302"/>
                <a:gd name="T54" fmla="*/ 1321 w 9222"/>
                <a:gd name="T55" fmla="*/ 931 h 5302"/>
                <a:gd name="T56" fmla="*/ 1362 w 9222"/>
                <a:gd name="T57" fmla="*/ 912 h 5302"/>
                <a:gd name="T58" fmla="*/ 1402 w 9222"/>
                <a:gd name="T59" fmla="*/ 892 h 5302"/>
                <a:gd name="T60" fmla="*/ 1440 w 9222"/>
                <a:gd name="T61" fmla="*/ 871 h 5302"/>
                <a:gd name="T62" fmla="*/ 1478 w 9222"/>
                <a:gd name="T63" fmla="*/ 850 h 5302"/>
                <a:gd name="T64" fmla="*/ 1515 w 9222"/>
                <a:gd name="T65" fmla="*/ 828 h 5302"/>
                <a:gd name="T66" fmla="*/ 1551 w 9222"/>
                <a:gd name="T67" fmla="*/ 806 h 5302"/>
                <a:gd name="T68" fmla="*/ 1587 w 9222"/>
                <a:gd name="T69" fmla="*/ 783 h 5302"/>
                <a:gd name="T70" fmla="*/ 1620 w 9222"/>
                <a:gd name="T71" fmla="*/ 759 h 5302"/>
                <a:gd name="T72" fmla="*/ 1653 w 9222"/>
                <a:gd name="T73" fmla="*/ 736 h 5302"/>
                <a:gd name="T74" fmla="*/ 1685 w 9222"/>
                <a:gd name="T75" fmla="*/ 711 h 5302"/>
                <a:gd name="T76" fmla="*/ 1716 w 9222"/>
                <a:gd name="T77" fmla="*/ 686 h 5302"/>
                <a:gd name="T78" fmla="*/ 1746 w 9222"/>
                <a:gd name="T79" fmla="*/ 661 h 5302"/>
                <a:gd name="T80" fmla="*/ 1774 w 9222"/>
                <a:gd name="T81" fmla="*/ 636 h 5302"/>
                <a:gd name="T82" fmla="*/ 1802 w 9222"/>
                <a:gd name="T83" fmla="*/ 610 h 5302"/>
                <a:gd name="T84" fmla="*/ 1828 w 9222"/>
                <a:gd name="T85" fmla="*/ 583 h 5302"/>
                <a:gd name="T86" fmla="*/ 1853 w 9222"/>
                <a:gd name="T87" fmla="*/ 556 h 5302"/>
                <a:gd name="T88" fmla="*/ 1877 w 9222"/>
                <a:gd name="T89" fmla="*/ 529 h 5302"/>
                <a:gd name="T90" fmla="*/ 1900 w 9222"/>
                <a:gd name="T91" fmla="*/ 502 h 5302"/>
                <a:gd name="T92" fmla="*/ 1921 w 9222"/>
                <a:gd name="T93" fmla="*/ 474 h 5302"/>
                <a:gd name="T94" fmla="*/ 1942 w 9222"/>
                <a:gd name="T95" fmla="*/ 446 h 5302"/>
                <a:gd name="T96" fmla="*/ 1961 w 9222"/>
                <a:gd name="T97" fmla="*/ 417 h 5302"/>
                <a:gd name="T98" fmla="*/ 1978 w 9222"/>
                <a:gd name="T99" fmla="*/ 389 h 5302"/>
                <a:gd name="T100" fmla="*/ 1995 w 9222"/>
                <a:gd name="T101" fmla="*/ 360 h 5302"/>
                <a:gd name="T102" fmla="*/ 2010 w 9222"/>
                <a:gd name="T103" fmla="*/ 331 h 5302"/>
                <a:gd name="T104" fmla="*/ 2024 w 9222"/>
                <a:gd name="T105" fmla="*/ 301 h 5302"/>
                <a:gd name="T106" fmla="*/ 2037 w 9222"/>
                <a:gd name="T107" fmla="*/ 272 h 5302"/>
                <a:gd name="T108" fmla="*/ 2048 w 9222"/>
                <a:gd name="T109" fmla="*/ 242 h 5302"/>
                <a:gd name="T110" fmla="*/ 2058 w 9222"/>
                <a:gd name="T111" fmla="*/ 212 h 5302"/>
                <a:gd name="T112" fmla="*/ 2067 w 9222"/>
                <a:gd name="T113" fmla="*/ 182 h 5302"/>
                <a:gd name="T114" fmla="*/ 2074 w 9222"/>
                <a:gd name="T115" fmla="*/ 152 h 5302"/>
                <a:gd name="T116" fmla="*/ 2080 w 9222"/>
                <a:gd name="T117" fmla="*/ 122 h 5302"/>
                <a:gd name="T118" fmla="*/ 2085 w 9222"/>
                <a:gd name="T119" fmla="*/ 91 h 5302"/>
                <a:gd name="T120" fmla="*/ 2088 w 9222"/>
                <a:gd name="T121" fmla="*/ 61 h 5302"/>
                <a:gd name="T122" fmla="*/ 2090 w 9222"/>
                <a:gd name="T123" fmla="*/ 30 h 5302"/>
                <a:gd name="T124" fmla="*/ 2091 w 9222"/>
                <a:gd name="T125" fmla="*/ 0 h 53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222"/>
                <a:gd name="T190" fmla="*/ 0 h 5302"/>
                <a:gd name="T191" fmla="*/ 9222 w 9222"/>
                <a:gd name="T192" fmla="*/ 5302 h 53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222" h="5302">
                  <a:moveTo>
                    <a:pt x="0" y="5301"/>
                  </a:moveTo>
                  <a:lnTo>
                    <a:pt x="234" y="5299"/>
                  </a:lnTo>
                  <a:lnTo>
                    <a:pt x="467" y="5294"/>
                  </a:lnTo>
                  <a:lnTo>
                    <a:pt x="700" y="5286"/>
                  </a:lnTo>
                  <a:lnTo>
                    <a:pt x="933" y="5274"/>
                  </a:lnTo>
                  <a:lnTo>
                    <a:pt x="1165" y="5259"/>
                  </a:lnTo>
                  <a:lnTo>
                    <a:pt x="1396" y="5240"/>
                  </a:lnTo>
                  <a:lnTo>
                    <a:pt x="1627" y="5218"/>
                  </a:lnTo>
                  <a:lnTo>
                    <a:pt x="1856" y="5192"/>
                  </a:lnTo>
                  <a:lnTo>
                    <a:pt x="2084" y="5164"/>
                  </a:lnTo>
                  <a:lnTo>
                    <a:pt x="2311" y="5132"/>
                  </a:lnTo>
                  <a:lnTo>
                    <a:pt x="2537" y="5096"/>
                  </a:lnTo>
                  <a:lnTo>
                    <a:pt x="2760" y="5058"/>
                  </a:lnTo>
                  <a:lnTo>
                    <a:pt x="2982" y="5016"/>
                  </a:lnTo>
                  <a:lnTo>
                    <a:pt x="3203" y="4971"/>
                  </a:lnTo>
                  <a:lnTo>
                    <a:pt x="3421" y="4923"/>
                  </a:lnTo>
                  <a:lnTo>
                    <a:pt x="3636" y="4871"/>
                  </a:lnTo>
                  <a:lnTo>
                    <a:pt x="3850" y="4817"/>
                  </a:lnTo>
                  <a:lnTo>
                    <a:pt x="4061" y="4759"/>
                  </a:lnTo>
                  <a:lnTo>
                    <a:pt x="4269" y="4699"/>
                  </a:lnTo>
                  <a:lnTo>
                    <a:pt x="4475" y="4635"/>
                  </a:lnTo>
                  <a:lnTo>
                    <a:pt x="4678" y="4568"/>
                  </a:lnTo>
                  <a:lnTo>
                    <a:pt x="4878" y="4499"/>
                  </a:lnTo>
                  <a:lnTo>
                    <a:pt x="5074" y="4426"/>
                  </a:lnTo>
                  <a:lnTo>
                    <a:pt x="5268" y="4351"/>
                  </a:lnTo>
                  <a:lnTo>
                    <a:pt x="5458" y="4273"/>
                  </a:lnTo>
                  <a:lnTo>
                    <a:pt x="5644" y="4192"/>
                  </a:lnTo>
                  <a:lnTo>
                    <a:pt x="5827" y="4108"/>
                  </a:lnTo>
                  <a:lnTo>
                    <a:pt x="6006" y="4022"/>
                  </a:lnTo>
                  <a:lnTo>
                    <a:pt x="6182" y="3933"/>
                  </a:lnTo>
                  <a:lnTo>
                    <a:pt x="6353" y="3842"/>
                  </a:lnTo>
                  <a:lnTo>
                    <a:pt x="6520" y="3748"/>
                  </a:lnTo>
                  <a:lnTo>
                    <a:pt x="6683" y="3652"/>
                  </a:lnTo>
                  <a:lnTo>
                    <a:pt x="6842" y="3554"/>
                  </a:lnTo>
                  <a:lnTo>
                    <a:pt x="6997" y="3453"/>
                  </a:lnTo>
                  <a:lnTo>
                    <a:pt x="7146" y="3350"/>
                  </a:lnTo>
                  <a:lnTo>
                    <a:pt x="7292" y="3245"/>
                  </a:lnTo>
                  <a:lnTo>
                    <a:pt x="7432" y="3138"/>
                  </a:lnTo>
                  <a:lnTo>
                    <a:pt x="7568" y="3028"/>
                  </a:lnTo>
                  <a:lnTo>
                    <a:pt x="7699" y="2917"/>
                  </a:lnTo>
                  <a:lnTo>
                    <a:pt x="7825" y="2804"/>
                  </a:lnTo>
                  <a:lnTo>
                    <a:pt x="7946" y="2689"/>
                  </a:lnTo>
                  <a:lnTo>
                    <a:pt x="8062" y="2573"/>
                  </a:lnTo>
                  <a:lnTo>
                    <a:pt x="8173" y="2454"/>
                  </a:lnTo>
                  <a:lnTo>
                    <a:pt x="8279" y="2335"/>
                  </a:lnTo>
                  <a:lnTo>
                    <a:pt x="8379" y="2213"/>
                  </a:lnTo>
                  <a:lnTo>
                    <a:pt x="8474" y="2090"/>
                  </a:lnTo>
                  <a:lnTo>
                    <a:pt x="8563" y="1966"/>
                  </a:lnTo>
                  <a:lnTo>
                    <a:pt x="8647" y="1841"/>
                  </a:lnTo>
                  <a:lnTo>
                    <a:pt x="8725" y="1715"/>
                  </a:lnTo>
                  <a:lnTo>
                    <a:pt x="8798" y="1587"/>
                  </a:lnTo>
                  <a:lnTo>
                    <a:pt x="8865" y="1458"/>
                  </a:lnTo>
                  <a:lnTo>
                    <a:pt x="8927" y="1329"/>
                  </a:lnTo>
                  <a:lnTo>
                    <a:pt x="8982" y="1198"/>
                  </a:lnTo>
                  <a:lnTo>
                    <a:pt x="9032" y="1067"/>
                  </a:lnTo>
                  <a:lnTo>
                    <a:pt x="9076" y="935"/>
                  </a:lnTo>
                  <a:lnTo>
                    <a:pt x="9115" y="803"/>
                  </a:lnTo>
                  <a:lnTo>
                    <a:pt x="9147" y="670"/>
                  </a:lnTo>
                  <a:lnTo>
                    <a:pt x="9174" y="536"/>
                  </a:lnTo>
                  <a:lnTo>
                    <a:pt x="9194" y="403"/>
                  </a:lnTo>
                  <a:lnTo>
                    <a:pt x="9209" y="268"/>
                  </a:lnTo>
                  <a:lnTo>
                    <a:pt x="9218" y="134"/>
                  </a:lnTo>
                  <a:lnTo>
                    <a:pt x="9221" y="0"/>
                  </a:lnTo>
                </a:path>
              </a:pathLst>
            </a:custGeom>
            <a:noFill/>
            <a:ln w="76320">
              <a:solidFill>
                <a:srgbClr val="FF8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649" name="AutoShape 38"/>
          <p:cNvSpPr>
            <a:spLocks noChangeArrowheads="1"/>
          </p:cNvSpPr>
          <p:nvPr/>
        </p:nvSpPr>
        <p:spPr bwMode="auto">
          <a:xfrm>
            <a:off x="2798763"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sp>
        <p:nvSpPr>
          <p:cNvPr id="26650" name="AutoShape 39"/>
          <p:cNvSpPr>
            <a:spLocks noChangeArrowheads="1"/>
          </p:cNvSpPr>
          <p:nvPr/>
        </p:nvSpPr>
        <p:spPr bwMode="auto">
          <a:xfrm>
            <a:off x="3683000"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spTree>
    <p:extLst>
      <p:ext uri="{BB962C8B-B14F-4D97-AF65-F5344CB8AC3E}">
        <p14:creationId xmlns:p14="http://schemas.microsoft.com/office/powerpoint/2010/main" val="761365181"/>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Implementing a Heap</a:t>
            </a:r>
          </a:p>
        </p:txBody>
      </p:sp>
      <p:sp>
        <p:nvSpPr>
          <p:cNvPr id="28674" name="Rectangle 2"/>
          <p:cNvSpPr>
            <a:spLocks noGrp="1" noChangeArrowheads="1"/>
          </p:cNvSpPr>
          <p:nvPr>
            <p:ph sz="quarter" idx="1"/>
          </p:nvPr>
        </p:nvSpPr>
        <p:spPr>
          <a:xfrm>
            <a:off x="685800" y="1981200"/>
            <a:ext cx="33988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mtClean="0"/>
              <a:t>Data from the next row goes</a:t>
            </a:r>
            <a:r>
              <a:rPr lang="en-GB" smtClean="0">
                <a:effectLst/>
              </a:rPr>
              <a:t> </a:t>
            </a:r>
            <a:r>
              <a:rPr lang="en-GB" smtClean="0"/>
              <a:t>in the </a:t>
            </a:r>
            <a:r>
              <a:rPr lang="en-GB" smtClean="0">
                <a:effectLst/>
              </a:rPr>
              <a:t>next two array locations.                  </a:t>
            </a:r>
          </a:p>
        </p:txBody>
      </p:sp>
      <p:sp>
        <p:nvSpPr>
          <p:cNvPr id="27652" name="AutoShape 3"/>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7653" name="Line 4"/>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4" name="Line 5"/>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Line 6"/>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6" name="Line 7"/>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8"/>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Line 9"/>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9" name="AutoShape 10"/>
          <p:cNvSpPr>
            <a:spLocks noChangeArrowheads="1"/>
          </p:cNvSpPr>
          <p:nvPr/>
        </p:nvSpPr>
        <p:spPr bwMode="auto">
          <a:xfrm>
            <a:off x="1096963" y="5565775"/>
            <a:ext cx="218916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An array of data</a:t>
            </a:r>
          </a:p>
        </p:txBody>
      </p:sp>
      <p:sp>
        <p:nvSpPr>
          <p:cNvPr id="27660" name="Freeform 11"/>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1" name="Line 12"/>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62" name="Group 13"/>
          <p:cNvGrpSpPr>
            <a:grpSpLocks/>
          </p:cNvGrpSpPr>
          <p:nvPr/>
        </p:nvGrpSpPr>
        <p:grpSpPr bwMode="auto">
          <a:xfrm>
            <a:off x="5880100" y="3313113"/>
            <a:ext cx="793750" cy="731837"/>
            <a:chOff x="3704" y="2087"/>
            <a:chExt cx="500" cy="461"/>
          </a:xfrm>
        </p:grpSpPr>
        <p:sp>
          <p:nvSpPr>
            <p:cNvPr id="27685" name="AutoShape 14"/>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7686" name="AutoShape 15"/>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7663" name="Line 16"/>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64" name="Group 17"/>
          <p:cNvGrpSpPr>
            <a:grpSpLocks/>
          </p:cNvGrpSpPr>
          <p:nvPr/>
        </p:nvGrpSpPr>
        <p:grpSpPr bwMode="auto">
          <a:xfrm>
            <a:off x="4679950" y="3313113"/>
            <a:ext cx="793750" cy="731837"/>
            <a:chOff x="2948" y="2087"/>
            <a:chExt cx="500" cy="461"/>
          </a:xfrm>
        </p:grpSpPr>
        <p:sp>
          <p:nvSpPr>
            <p:cNvPr id="27683" name="AutoShape 18"/>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7684" name="AutoShape 19"/>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7665" name="Line 20"/>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66" name="Group 21"/>
          <p:cNvGrpSpPr>
            <a:grpSpLocks/>
          </p:cNvGrpSpPr>
          <p:nvPr/>
        </p:nvGrpSpPr>
        <p:grpSpPr bwMode="auto">
          <a:xfrm>
            <a:off x="7437438" y="2398713"/>
            <a:ext cx="793750" cy="731837"/>
            <a:chOff x="4685" y="1511"/>
            <a:chExt cx="500" cy="461"/>
          </a:xfrm>
        </p:grpSpPr>
        <p:sp>
          <p:nvSpPr>
            <p:cNvPr id="27681" name="AutoShape 22"/>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7682" name="AutoShape 23"/>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7667" name="Line 24"/>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68" name="Group 25"/>
          <p:cNvGrpSpPr>
            <a:grpSpLocks/>
          </p:cNvGrpSpPr>
          <p:nvPr/>
        </p:nvGrpSpPr>
        <p:grpSpPr bwMode="auto">
          <a:xfrm>
            <a:off x="6376988" y="1331913"/>
            <a:ext cx="793750" cy="731837"/>
            <a:chOff x="4017" y="839"/>
            <a:chExt cx="500" cy="461"/>
          </a:xfrm>
        </p:grpSpPr>
        <p:sp>
          <p:nvSpPr>
            <p:cNvPr id="27679" name="AutoShape 26"/>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7680" name="AutoShape 27"/>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7669" name="Group 28"/>
          <p:cNvGrpSpPr>
            <a:grpSpLocks/>
          </p:cNvGrpSpPr>
          <p:nvPr/>
        </p:nvGrpSpPr>
        <p:grpSpPr bwMode="auto">
          <a:xfrm>
            <a:off x="5273675" y="2398713"/>
            <a:ext cx="793750" cy="731837"/>
            <a:chOff x="3322" y="1511"/>
            <a:chExt cx="500" cy="461"/>
          </a:xfrm>
        </p:grpSpPr>
        <p:sp>
          <p:nvSpPr>
            <p:cNvPr id="27677" name="AutoShape 29"/>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7678" name="AutoShape 30"/>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7670" name="AutoShape 31"/>
          <p:cNvSpPr>
            <a:spLocks noChangeArrowheads="1"/>
          </p:cNvSpPr>
          <p:nvPr/>
        </p:nvSpPr>
        <p:spPr bwMode="auto">
          <a:xfrm>
            <a:off x="1914525"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sp>
        <p:nvSpPr>
          <p:cNvPr id="27671" name="AutoShape 32"/>
          <p:cNvSpPr>
            <a:spLocks noChangeArrowheads="1"/>
          </p:cNvSpPr>
          <p:nvPr/>
        </p:nvSpPr>
        <p:spPr bwMode="auto">
          <a:xfrm>
            <a:off x="2798763"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sp>
        <p:nvSpPr>
          <p:cNvPr id="27672" name="AutoShape 33"/>
          <p:cNvSpPr>
            <a:spLocks noChangeArrowheads="1"/>
          </p:cNvSpPr>
          <p:nvPr/>
        </p:nvSpPr>
        <p:spPr bwMode="auto">
          <a:xfrm>
            <a:off x="3683000"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sp>
        <p:nvSpPr>
          <p:cNvPr id="27673" name="Line 34"/>
          <p:cNvSpPr>
            <a:spLocks noChangeShapeType="1"/>
          </p:cNvSpPr>
          <p:nvPr/>
        </p:nvSpPr>
        <p:spPr bwMode="auto">
          <a:xfrm flipH="1">
            <a:off x="4891088" y="3856038"/>
            <a:ext cx="155575" cy="838200"/>
          </a:xfrm>
          <a:prstGeom prst="line">
            <a:avLst/>
          </a:prstGeom>
          <a:noFill/>
          <a:ln w="76320">
            <a:solidFill>
              <a:srgbClr val="FF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74" name="Line 35"/>
          <p:cNvSpPr>
            <a:spLocks noChangeShapeType="1"/>
          </p:cNvSpPr>
          <p:nvPr/>
        </p:nvSpPr>
        <p:spPr bwMode="auto">
          <a:xfrm flipH="1">
            <a:off x="5759450" y="3916363"/>
            <a:ext cx="612775" cy="914400"/>
          </a:xfrm>
          <a:prstGeom prst="line">
            <a:avLst/>
          </a:prstGeom>
          <a:noFill/>
          <a:ln w="76320">
            <a:solidFill>
              <a:srgbClr val="FF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75" name="AutoShape 36"/>
          <p:cNvSpPr>
            <a:spLocks noChangeArrowheads="1"/>
          </p:cNvSpPr>
          <p:nvPr/>
        </p:nvSpPr>
        <p:spPr bwMode="auto">
          <a:xfrm>
            <a:off x="4611688"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sp>
        <p:nvSpPr>
          <p:cNvPr id="27676" name="AutoShape 37"/>
          <p:cNvSpPr>
            <a:spLocks noChangeArrowheads="1"/>
          </p:cNvSpPr>
          <p:nvPr/>
        </p:nvSpPr>
        <p:spPr bwMode="auto">
          <a:xfrm>
            <a:off x="5495925"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spTree>
    <p:extLst>
      <p:ext uri="{BB962C8B-B14F-4D97-AF65-F5344CB8AC3E}">
        <p14:creationId xmlns:p14="http://schemas.microsoft.com/office/powerpoint/2010/main" val="414190724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Implementing a Heap</a:t>
            </a:r>
          </a:p>
        </p:txBody>
      </p:sp>
      <p:sp>
        <p:nvSpPr>
          <p:cNvPr id="29698" name="Rectangle 2"/>
          <p:cNvSpPr>
            <a:spLocks noGrp="1" noChangeArrowheads="1"/>
          </p:cNvSpPr>
          <p:nvPr>
            <p:ph sz="quarter" idx="1"/>
          </p:nvPr>
        </p:nvSpPr>
        <p:spPr>
          <a:xfrm>
            <a:off x="685800" y="1981200"/>
            <a:ext cx="33988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mtClean="0"/>
              <a:t>Data from the next row goes</a:t>
            </a:r>
            <a:r>
              <a:rPr lang="en-GB" smtClean="0">
                <a:effectLst/>
              </a:rPr>
              <a:t> </a:t>
            </a:r>
            <a:r>
              <a:rPr lang="en-GB" smtClean="0"/>
              <a:t>in the </a:t>
            </a:r>
            <a:r>
              <a:rPr lang="en-GB" smtClean="0">
                <a:effectLst/>
              </a:rPr>
              <a:t>next two array locations.                  </a:t>
            </a:r>
          </a:p>
        </p:txBody>
      </p:sp>
      <p:sp>
        <p:nvSpPr>
          <p:cNvPr id="28676" name="AutoShape 3"/>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8677" name="Line 4"/>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8" name="Line 5"/>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9" name="Line 6"/>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7"/>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8"/>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9"/>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AutoShape 10"/>
          <p:cNvSpPr>
            <a:spLocks noChangeArrowheads="1"/>
          </p:cNvSpPr>
          <p:nvPr/>
        </p:nvSpPr>
        <p:spPr bwMode="auto">
          <a:xfrm>
            <a:off x="1096963" y="5565775"/>
            <a:ext cx="218916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An array of data</a:t>
            </a:r>
          </a:p>
        </p:txBody>
      </p:sp>
      <p:sp>
        <p:nvSpPr>
          <p:cNvPr id="28684" name="Freeform 11"/>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85" name="Line 12"/>
          <p:cNvSpPr>
            <a:spLocks noChangeShapeType="1"/>
          </p:cNvSpPr>
          <p:nvPr/>
        </p:nvSpPr>
        <p:spPr bwMode="auto">
          <a:xfrm>
            <a:off x="5516563"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686" name="Group 13"/>
          <p:cNvGrpSpPr>
            <a:grpSpLocks/>
          </p:cNvGrpSpPr>
          <p:nvPr/>
        </p:nvGrpSpPr>
        <p:grpSpPr bwMode="auto">
          <a:xfrm>
            <a:off x="5880100" y="3313113"/>
            <a:ext cx="793750" cy="731837"/>
            <a:chOff x="3704" y="2087"/>
            <a:chExt cx="500" cy="461"/>
          </a:xfrm>
        </p:grpSpPr>
        <p:sp>
          <p:nvSpPr>
            <p:cNvPr id="28709" name="AutoShape 14"/>
            <p:cNvSpPr>
              <a:spLocks noChangeArrowheads="1"/>
            </p:cNvSpPr>
            <p:nvPr/>
          </p:nvSpPr>
          <p:spPr bwMode="auto">
            <a:xfrm>
              <a:off x="370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8710" name="AutoShape 15"/>
            <p:cNvSpPr>
              <a:spLocks noChangeArrowheads="1"/>
            </p:cNvSpPr>
            <p:nvPr/>
          </p:nvSpPr>
          <p:spPr bwMode="auto">
            <a:xfrm>
              <a:off x="372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8687" name="Line 16"/>
          <p:cNvSpPr>
            <a:spLocks noChangeShapeType="1"/>
          </p:cNvSpPr>
          <p:nvPr/>
        </p:nvSpPr>
        <p:spPr bwMode="auto">
          <a:xfrm flipH="1">
            <a:off x="5273675"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688" name="Group 17"/>
          <p:cNvGrpSpPr>
            <a:grpSpLocks/>
          </p:cNvGrpSpPr>
          <p:nvPr/>
        </p:nvGrpSpPr>
        <p:grpSpPr bwMode="auto">
          <a:xfrm>
            <a:off x="4679950" y="3313113"/>
            <a:ext cx="793750" cy="731837"/>
            <a:chOff x="2948" y="2087"/>
            <a:chExt cx="500" cy="461"/>
          </a:xfrm>
        </p:grpSpPr>
        <p:sp>
          <p:nvSpPr>
            <p:cNvPr id="28707" name="AutoShape 18"/>
            <p:cNvSpPr>
              <a:spLocks noChangeArrowheads="1"/>
            </p:cNvSpPr>
            <p:nvPr/>
          </p:nvSpPr>
          <p:spPr bwMode="auto">
            <a:xfrm>
              <a:off x="294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8708" name="AutoShape 19"/>
            <p:cNvSpPr>
              <a:spLocks noChangeArrowheads="1"/>
            </p:cNvSpPr>
            <p:nvPr/>
          </p:nvSpPr>
          <p:spPr bwMode="auto">
            <a:xfrm>
              <a:off x="296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8689" name="Line 20"/>
          <p:cNvSpPr>
            <a:spLocks noChangeShapeType="1"/>
          </p:cNvSpPr>
          <p:nvPr/>
        </p:nvSpPr>
        <p:spPr bwMode="auto">
          <a:xfrm>
            <a:off x="7102475"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690" name="Group 21"/>
          <p:cNvGrpSpPr>
            <a:grpSpLocks/>
          </p:cNvGrpSpPr>
          <p:nvPr/>
        </p:nvGrpSpPr>
        <p:grpSpPr bwMode="auto">
          <a:xfrm>
            <a:off x="7437438" y="2398713"/>
            <a:ext cx="793750" cy="731837"/>
            <a:chOff x="4685" y="1511"/>
            <a:chExt cx="500" cy="461"/>
          </a:xfrm>
        </p:grpSpPr>
        <p:sp>
          <p:nvSpPr>
            <p:cNvPr id="28705" name="AutoShape 22"/>
            <p:cNvSpPr>
              <a:spLocks noChangeArrowheads="1"/>
            </p:cNvSpPr>
            <p:nvPr/>
          </p:nvSpPr>
          <p:spPr bwMode="auto">
            <a:xfrm>
              <a:off x="468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8706" name="AutoShape 23"/>
            <p:cNvSpPr>
              <a:spLocks noChangeArrowheads="1"/>
            </p:cNvSpPr>
            <p:nvPr/>
          </p:nvSpPr>
          <p:spPr bwMode="auto">
            <a:xfrm>
              <a:off x="470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8691" name="Line 24"/>
          <p:cNvSpPr>
            <a:spLocks noChangeShapeType="1"/>
          </p:cNvSpPr>
          <p:nvPr/>
        </p:nvSpPr>
        <p:spPr bwMode="auto">
          <a:xfrm flipH="1">
            <a:off x="5867400"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692" name="Group 25"/>
          <p:cNvGrpSpPr>
            <a:grpSpLocks/>
          </p:cNvGrpSpPr>
          <p:nvPr/>
        </p:nvGrpSpPr>
        <p:grpSpPr bwMode="auto">
          <a:xfrm>
            <a:off x="6376988" y="1331913"/>
            <a:ext cx="793750" cy="731837"/>
            <a:chOff x="4017" y="839"/>
            <a:chExt cx="500" cy="461"/>
          </a:xfrm>
        </p:grpSpPr>
        <p:sp>
          <p:nvSpPr>
            <p:cNvPr id="28703" name="AutoShape 26"/>
            <p:cNvSpPr>
              <a:spLocks noChangeArrowheads="1"/>
            </p:cNvSpPr>
            <p:nvPr/>
          </p:nvSpPr>
          <p:spPr bwMode="auto">
            <a:xfrm>
              <a:off x="401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8704" name="AutoShape 27"/>
            <p:cNvSpPr>
              <a:spLocks noChangeArrowheads="1"/>
            </p:cNvSpPr>
            <p:nvPr/>
          </p:nvSpPr>
          <p:spPr bwMode="auto">
            <a:xfrm>
              <a:off x="403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8693" name="Group 28"/>
          <p:cNvGrpSpPr>
            <a:grpSpLocks/>
          </p:cNvGrpSpPr>
          <p:nvPr/>
        </p:nvGrpSpPr>
        <p:grpSpPr bwMode="auto">
          <a:xfrm>
            <a:off x="5273675" y="2398713"/>
            <a:ext cx="793750" cy="731837"/>
            <a:chOff x="3322" y="1511"/>
            <a:chExt cx="500" cy="461"/>
          </a:xfrm>
        </p:grpSpPr>
        <p:sp>
          <p:nvSpPr>
            <p:cNvPr id="28701" name="AutoShape 29"/>
            <p:cNvSpPr>
              <a:spLocks noChangeArrowheads="1"/>
            </p:cNvSpPr>
            <p:nvPr/>
          </p:nvSpPr>
          <p:spPr bwMode="auto">
            <a:xfrm>
              <a:off x="332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8702" name="AutoShape 30"/>
            <p:cNvSpPr>
              <a:spLocks noChangeArrowheads="1"/>
            </p:cNvSpPr>
            <p:nvPr/>
          </p:nvSpPr>
          <p:spPr bwMode="auto">
            <a:xfrm>
              <a:off x="334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8694" name="AutoShape 31"/>
          <p:cNvSpPr>
            <a:spLocks noChangeArrowheads="1"/>
          </p:cNvSpPr>
          <p:nvPr/>
        </p:nvSpPr>
        <p:spPr bwMode="auto">
          <a:xfrm>
            <a:off x="1914525"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sp>
        <p:nvSpPr>
          <p:cNvPr id="28695" name="AutoShape 32"/>
          <p:cNvSpPr>
            <a:spLocks noChangeArrowheads="1"/>
          </p:cNvSpPr>
          <p:nvPr/>
        </p:nvSpPr>
        <p:spPr bwMode="auto">
          <a:xfrm>
            <a:off x="2798763"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sp>
        <p:nvSpPr>
          <p:cNvPr id="28696" name="AutoShape 33"/>
          <p:cNvSpPr>
            <a:spLocks noChangeArrowheads="1"/>
          </p:cNvSpPr>
          <p:nvPr/>
        </p:nvSpPr>
        <p:spPr bwMode="auto">
          <a:xfrm>
            <a:off x="3683000"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sp>
        <p:nvSpPr>
          <p:cNvPr id="28697" name="AutoShape 34"/>
          <p:cNvSpPr>
            <a:spLocks noChangeArrowheads="1"/>
          </p:cNvSpPr>
          <p:nvPr/>
        </p:nvSpPr>
        <p:spPr bwMode="auto">
          <a:xfrm>
            <a:off x="4611688"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sp>
        <p:nvSpPr>
          <p:cNvPr id="28698" name="AutoShape 35"/>
          <p:cNvSpPr>
            <a:spLocks noChangeArrowheads="1"/>
          </p:cNvSpPr>
          <p:nvPr/>
        </p:nvSpPr>
        <p:spPr bwMode="auto">
          <a:xfrm>
            <a:off x="5495925"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sp>
        <p:nvSpPr>
          <p:cNvPr id="28699" name="Freeform 36"/>
          <p:cNvSpPr>
            <a:spLocks noChangeArrowheads="1"/>
          </p:cNvSpPr>
          <p:nvPr/>
        </p:nvSpPr>
        <p:spPr bwMode="auto">
          <a:xfrm>
            <a:off x="6232525" y="5573713"/>
            <a:ext cx="2898775" cy="422275"/>
          </a:xfrm>
          <a:custGeom>
            <a:avLst/>
            <a:gdLst>
              <a:gd name="T0" fmla="*/ 1492043 w 8053"/>
              <a:gd name="T1" fmla="*/ 239553 h 1174"/>
              <a:gd name="T2" fmla="*/ 2674519 w 8053"/>
              <a:gd name="T3" fmla="*/ 239553 h 1174"/>
              <a:gd name="T4" fmla="*/ 2725273 w 8053"/>
              <a:gd name="T5" fmla="*/ 228403 h 1174"/>
              <a:gd name="T6" fmla="*/ 2774588 w 8053"/>
              <a:gd name="T7" fmla="*/ 210778 h 1174"/>
              <a:gd name="T8" fmla="*/ 2817424 w 8053"/>
              <a:gd name="T9" fmla="*/ 179125 h 1174"/>
              <a:gd name="T10" fmla="*/ 2849100 w 8053"/>
              <a:gd name="T11" fmla="*/ 142797 h 1174"/>
              <a:gd name="T12" fmla="*/ 2876097 w 8053"/>
              <a:gd name="T13" fmla="*/ 98195 h 1174"/>
              <a:gd name="T14" fmla="*/ 2893736 w 8053"/>
              <a:gd name="T15" fmla="*/ 48918 h 1174"/>
              <a:gd name="T16" fmla="*/ 2898415 w 8053"/>
              <a:gd name="T17" fmla="*/ 0 h 1174"/>
              <a:gd name="T18" fmla="*/ 2885816 w 8053"/>
              <a:gd name="T19" fmla="*/ 42803 h 1174"/>
              <a:gd name="T20" fmla="*/ 2863499 w 8053"/>
              <a:gd name="T21" fmla="*/ 88843 h 1174"/>
              <a:gd name="T22" fmla="*/ 2831822 w 8053"/>
              <a:gd name="T23" fmla="*/ 128409 h 1174"/>
              <a:gd name="T24" fmla="*/ 2792226 w 8053"/>
              <a:gd name="T25" fmla="*/ 156824 h 1174"/>
              <a:gd name="T26" fmla="*/ 2746151 w 8053"/>
              <a:gd name="T27" fmla="*/ 180564 h 1174"/>
              <a:gd name="T28" fmla="*/ 2696836 w 8053"/>
              <a:gd name="T29" fmla="*/ 193513 h 1174"/>
              <a:gd name="T30" fmla="*/ 2647521 w 8053"/>
              <a:gd name="T31" fmla="*/ 194951 h 1174"/>
              <a:gd name="T32" fmla="*/ 1447408 w 8053"/>
              <a:gd name="T33" fmla="*/ 239553 h 1174"/>
              <a:gd name="T34" fmla="*/ 250534 w 8053"/>
              <a:gd name="T35" fmla="*/ 194951 h 1174"/>
              <a:gd name="T36" fmla="*/ 201579 w 8053"/>
              <a:gd name="T37" fmla="*/ 193513 h 1174"/>
              <a:gd name="T38" fmla="*/ 152264 w 8053"/>
              <a:gd name="T39" fmla="*/ 180564 h 1174"/>
              <a:gd name="T40" fmla="*/ 106189 w 8053"/>
              <a:gd name="T41" fmla="*/ 156824 h 1174"/>
              <a:gd name="T42" fmla="*/ 66593 w 8053"/>
              <a:gd name="T43" fmla="*/ 128409 h 1174"/>
              <a:gd name="T44" fmla="*/ 34916 w 8053"/>
              <a:gd name="T45" fmla="*/ 88843 h 1174"/>
              <a:gd name="T46" fmla="*/ 12599 w 8053"/>
              <a:gd name="T47" fmla="*/ 42803 h 1174"/>
              <a:gd name="T48" fmla="*/ 0 w 8053"/>
              <a:gd name="T49" fmla="*/ 0 h 1174"/>
              <a:gd name="T50" fmla="*/ 4680 w 8053"/>
              <a:gd name="T51" fmla="*/ 48918 h 1174"/>
              <a:gd name="T52" fmla="*/ 21958 w 8053"/>
              <a:gd name="T53" fmla="*/ 98195 h 1174"/>
              <a:gd name="T54" fmla="*/ 45715 w 8053"/>
              <a:gd name="T55" fmla="*/ 142797 h 1174"/>
              <a:gd name="T56" fmla="*/ 83871 w 8053"/>
              <a:gd name="T57" fmla="*/ 179125 h 1174"/>
              <a:gd name="T58" fmla="*/ 123467 w 8053"/>
              <a:gd name="T59" fmla="*/ 210778 h 1174"/>
              <a:gd name="T60" fmla="*/ 171342 w 8053"/>
              <a:gd name="T61" fmla="*/ 228403 h 1174"/>
              <a:gd name="T62" fmla="*/ 223536 w 8053"/>
              <a:gd name="T63" fmla="*/ 239553 h 1174"/>
              <a:gd name="T64" fmla="*/ 1406372 w 8053"/>
              <a:gd name="T65" fmla="*/ 239553 h 11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053"/>
              <a:gd name="T100" fmla="*/ 0 h 1174"/>
              <a:gd name="T101" fmla="*/ 8053 w 8053"/>
              <a:gd name="T102" fmla="*/ 1174 h 11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053" h="1174">
                <a:moveTo>
                  <a:pt x="4021" y="1173"/>
                </a:moveTo>
                <a:lnTo>
                  <a:pt x="4145" y="666"/>
                </a:lnTo>
                <a:lnTo>
                  <a:pt x="7360" y="666"/>
                </a:lnTo>
                <a:lnTo>
                  <a:pt x="7430" y="666"/>
                </a:lnTo>
                <a:lnTo>
                  <a:pt x="7496" y="652"/>
                </a:lnTo>
                <a:lnTo>
                  <a:pt x="7571" y="635"/>
                </a:lnTo>
                <a:lnTo>
                  <a:pt x="7638" y="608"/>
                </a:lnTo>
                <a:lnTo>
                  <a:pt x="7708" y="586"/>
                </a:lnTo>
                <a:lnTo>
                  <a:pt x="7765" y="542"/>
                </a:lnTo>
                <a:lnTo>
                  <a:pt x="7827" y="498"/>
                </a:lnTo>
                <a:lnTo>
                  <a:pt x="7880" y="450"/>
                </a:lnTo>
                <a:lnTo>
                  <a:pt x="7915" y="397"/>
                </a:lnTo>
                <a:lnTo>
                  <a:pt x="7955" y="335"/>
                </a:lnTo>
                <a:lnTo>
                  <a:pt x="7990" y="273"/>
                </a:lnTo>
                <a:lnTo>
                  <a:pt x="8017" y="207"/>
                </a:lnTo>
                <a:lnTo>
                  <a:pt x="8039" y="136"/>
                </a:lnTo>
                <a:lnTo>
                  <a:pt x="8052" y="75"/>
                </a:lnTo>
                <a:lnTo>
                  <a:pt x="8052" y="0"/>
                </a:lnTo>
                <a:lnTo>
                  <a:pt x="8039" y="52"/>
                </a:lnTo>
                <a:lnTo>
                  <a:pt x="8017" y="119"/>
                </a:lnTo>
                <a:lnTo>
                  <a:pt x="7990" y="185"/>
                </a:lnTo>
                <a:lnTo>
                  <a:pt x="7955" y="247"/>
                </a:lnTo>
                <a:lnTo>
                  <a:pt x="7907" y="304"/>
                </a:lnTo>
                <a:lnTo>
                  <a:pt x="7867" y="357"/>
                </a:lnTo>
                <a:lnTo>
                  <a:pt x="7814" y="410"/>
                </a:lnTo>
                <a:lnTo>
                  <a:pt x="7757" y="436"/>
                </a:lnTo>
                <a:lnTo>
                  <a:pt x="7695" y="476"/>
                </a:lnTo>
                <a:lnTo>
                  <a:pt x="7629" y="502"/>
                </a:lnTo>
                <a:lnTo>
                  <a:pt x="7558" y="525"/>
                </a:lnTo>
                <a:lnTo>
                  <a:pt x="7492" y="538"/>
                </a:lnTo>
                <a:lnTo>
                  <a:pt x="7417" y="542"/>
                </a:lnTo>
                <a:lnTo>
                  <a:pt x="7355" y="542"/>
                </a:lnTo>
                <a:lnTo>
                  <a:pt x="4145" y="370"/>
                </a:lnTo>
                <a:lnTo>
                  <a:pt x="4021" y="666"/>
                </a:lnTo>
                <a:lnTo>
                  <a:pt x="3907" y="370"/>
                </a:lnTo>
                <a:lnTo>
                  <a:pt x="696" y="542"/>
                </a:lnTo>
                <a:lnTo>
                  <a:pt x="621" y="542"/>
                </a:lnTo>
                <a:lnTo>
                  <a:pt x="560" y="538"/>
                </a:lnTo>
                <a:lnTo>
                  <a:pt x="485" y="525"/>
                </a:lnTo>
                <a:lnTo>
                  <a:pt x="423" y="502"/>
                </a:lnTo>
                <a:lnTo>
                  <a:pt x="357" y="476"/>
                </a:lnTo>
                <a:lnTo>
                  <a:pt x="295" y="436"/>
                </a:lnTo>
                <a:lnTo>
                  <a:pt x="238" y="410"/>
                </a:lnTo>
                <a:lnTo>
                  <a:pt x="185" y="357"/>
                </a:lnTo>
                <a:lnTo>
                  <a:pt x="136" y="304"/>
                </a:lnTo>
                <a:lnTo>
                  <a:pt x="97" y="247"/>
                </a:lnTo>
                <a:lnTo>
                  <a:pt x="61" y="185"/>
                </a:lnTo>
                <a:lnTo>
                  <a:pt x="35" y="119"/>
                </a:lnTo>
                <a:lnTo>
                  <a:pt x="13" y="52"/>
                </a:lnTo>
                <a:lnTo>
                  <a:pt x="0" y="0"/>
                </a:lnTo>
                <a:lnTo>
                  <a:pt x="4" y="75"/>
                </a:lnTo>
                <a:lnTo>
                  <a:pt x="13" y="136"/>
                </a:lnTo>
                <a:lnTo>
                  <a:pt x="35" y="207"/>
                </a:lnTo>
                <a:lnTo>
                  <a:pt x="61" y="273"/>
                </a:lnTo>
                <a:lnTo>
                  <a:pt x="88" y="335"/>
                </a:lnTo>
                <a:lnTo>
                  <a:pt x="127" y="397"/>
                </a:lnTo>
                <a:lnTo>
                  <a:pt x="176" y="450"/>
                </a:lnTo>
                <a:lnTo>
                  <a:pt x="233" y="498"/>
                </a:lnTo>
                <a:lnTo>
                  <a:pt x="282" y="542"/>
                </a:lnTo>
                <a:lnTo>
                  <a:pt x="343" y="586"/>
                </a:lnTo>
                <a:lnTo>
                  <a:pt x="410" y="608"/>
                </a:lnTo>
                <a:lnTo>
                  <a:pt x="476" y="635"/>
                </a:lnTo>
                <a:lnTo>
                  <a:pt x="546" y="652"/>
                </a:lnTo>
                <a:lnTo>
                  <a:pt x="621" y="666"/>
                </a:lnTo>
                <a:lnTo>
                  <a:pt x="687" y="666"/>
                </a:lnTo>
                <a:lnTo>
                  <a:pt x="3907" y="666"/>
                </a:lnTo>
                <a:lnTo>
                  <a:pt x="4021" y="1173"/>
                </a:lnTo>
              </a:path>
            </a:pathLst>
          </a:custGeom>
          <a:solidFill>
            <a:srgbClr val="000000"/>
          </a:solidFill>
          <a:ln w="12600">
            <a:solidFill>
              <a:srgbClr val="000000"/>
            </a:solidFill>
            <a:round/>
            <a:headEnd/>
            <a:tailEnd/>
          </a:ln>
        </p:spPr>
        <p:txBody>
          <a:bodyPr wrap="none" anchor="ctr"/>
          <a:lstStyle/>
          <a:p>
            <a:endParaRPr lang="en-US"/>
          </a:p>
        </p:txBody>
      </p:sp>
      <p:sp>
        <p:nvSpPr>
          <p:cNvPr id="29733" name="Text Box 37"/>
          <p:cNvSpPr txBox="1">
            <a:spLocks noChangeArrowheads="1"/>
          </p:cNvSpPr>
          <p:nvPr/>
        </p:nvSpPr>
        <p:spPr bwMode="auto">
          <a:xfrm>
            <a:off x="5116513" y="5927725"/>
            <a:ext cx="3849687" cy="822325"/>
          </a:xfrm>
          <a:prstGeom prst="rect">
            <a:avLst/>
          </a:prstGeom>
          <a:noFill/>
          <a:ln w="9525">
            <a:noFill/>
            <a:miter lim="800000"/>
            <a:headEnd/>
            <a:tailEnd/>
          </a:ln>
        </p:spPr>
        <p:txBody>
          <a:bodyPr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400">
                <a:solidFill>
                  <a:schemeClr val="tx1"/>
                </a:solidFill>
                <a:effectLst>
                  <a:outerShdw blurRad="38100" dist="38100" dir="2700000" algn="tl">
                    <a:srgbClr val="FFFFFF"/>
                  </a:outerShdw>
                </a:effectLst>
                <a:latin typeface="Times New Roman" pitchFamily="16" charset="0"/>
                <a:cs typeface="+mn-cs"/>
              </a:rPr>
              <a:t>We don't care what's in</a:t>
            </a:r>
          </a:p>
          <a:p>
            <a:pPr algn="ctr">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400">
                <a:solidFill>
                  <a:schemeClr val="tx1"/>
                </a:solidFill>
                <a:effectLst>
                  <a:outerShdw blurRad="38100" dist="38100" dir="2700000" algn="tl">
                    <a:srgbClr val="FFFFFF"/>
                  </a:outerShdw>
                </a:effectLst>
                <a:latin typeface="Times New Roman" pitchFamily="16" charset="0"/>
                <a:cs typeface="+mn-cs"/>
              </a:rPr>
              <a:t>this part of the array.</a:t>
            </a:r>
          </a:p>
        </p:txBody>
      </p:sp>
    </p:spTree>
    <p:extLst>
      <p:ext uri="{BB962C8B-B14F-4D97-AF65-F5344CB8AC3E}">
        <p14:creationId xmlns:p14="http://schemas.microsoft.com/office/powerpoint/2010/main" val="2736490569"/>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a:xfrm>
            <a:off x="304800" y="236538"/>
            <a:ext cx="7772400" cy="1357312"/>
          </a:xfrm>
        </p:spPr>
        <p:txBody>
          <a:bodyPr>
            <a:normAutofit/>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Important Points about the Implementation</a:t>
            </a:r>
          </a:p>
        </p:txBody>
      </p:sp>
      <p:sp>
        <p:nvSpPr>
          <p:cNvPr id="30722" name="Rectangle 2"/>
          <p:cNvSpPr>
            <a:spLocks noGrp="1" noChangeArrowheads="1"/>
          </p:cNvSpPr>
          <p:nvPr>
            <p:ph sz="quarter" idx="1"/>
          </p:nvPr>
        </p:nvSpPr>
        <p:spPr>
          <a:xfrm>
            <a:off x="685800" y="1981200"/>
            <a:ext cx="4449763" cy="2689225"/>
          </a:xfrm>
        </p:spPr>
        <p:txBody>
          <a:bodyPr>
            <a:normAutofit fontScale="92500" lnSpcReduction="10000"/>
          </a:bodyPr>
          <a:lstStyle/>
          <a:p>
            <a:pPr>
              <a:lnSpc>
                <a:spcPct val="95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400" dirty="0" smtClean="0"/>
              <a:t>The links between the tree's nodes are not actually stored as pointers, or in any other way.</a:t>
            </a:r>
          </a:p>
          <a:p>
            <a:pPr>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400" dirty="0" smtClean="0"/>
              <a:t>The only way we "know" that "the array is a tree" is from the way we manipulate the data.</a:t>
            </a:r>
          </a:p>
        </p:txBody>
      </p:sp>
      <p:sp>
        <p:nvSpPr>
          <p:cNvPr id="29700" name="AutoShape 3"/>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9701" name="Line 4"/>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2" name="Line 5"/>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3" name="Line 6"/>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7"/>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8"/>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6" name="Line 9"/>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7" name="AutoShape 10"/>
          <p:cNvSpPr>
            <a:spLocks noChangeArrowheads="1"/>
          </p:cNvSpPr>
          <p:nvPr/>
        </p:nvSpPr>
        <p:spPr bwMode="auto">
          <a:xfrm>
            <a:off x="1096963" y="5565775"/>
            <a:ext cx="218916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An array of data</a:t>
            </a:r>
          </a:p>
        </p:txBody>
      </p:sp>
      <p:sp>
        <p:nvSpPr>
          <p:cNvPr id="29708" name="Freeform 11"/>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09" name="Line 12"/>
          <p:cNvSpPr>
            <a:spLocks noChangeShapeType="1"/>
          </p:cNvSpPr>
          <p:nvPr/>
        </p:nvSpPr>
        <p:spPr bwMode="auto">
          <a:xfrm>
            <a:off x="58181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10" name="Group 13"/>
          <p:cNvGrpSpPr>
            <a:grpSpLocks/>
          </p:cNvGrpSpPr>
          <p:nvPr/>
        </p:nvGrpSpPr>
        <p:grpSpPr bwMode="auto">
          <a:xfrm>
            <a:off x="6181725" y="3313113"/>
            <a:ext cx="793750" cy="731837"/>
            <a:chOff x="3894" y="2087"/>
            <a:chExt cx="500" cy="461"/>
          </a:xfrm>
        </p:grpSpPr>
        <p:sp>
          <p:nvSpPr>
            <p:cNvPr id="29731" name="AutoShape 14"/>
            <p:cNvSpPr>
              <a:spLocks noChangeArrowheads="1"/>
            </p:cNvSpPr>
            <p:nvPr/>
          </p:nvSpPr>
          <p:spPr bwMode="auto">
            <a:xfrm>
              <a:off x="389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9732" name="AutoShape 15"/>
            <p:cNvSpPr>
              <a:spLocks noChangeArrowheads="1"/>
            </p:cNvSpPr>
            <p:nvPr/>
          </p:nvSpPr>
          <p:spPr bwMode="auto">
            <a:xfrm>
              <a:off x="391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29711" name="Line 16"/>
          <p:cNvSpPr>
            <a:spLocks noChangeShapeType="1"/>
          </p:cNvSpPr>
          <p:nvPr/>
        </p:nvSpPr>
        <p:spPr bwMode="auto">
          <a:xfrm flipH="1">
            <a:off x="557530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12" name="Group 17"/>
          <p:cNvGrpSpPr>
            <a:grpSpLocks/>
          </p:cNvGrpSpPr>
          <p:nvPr/>
        </p:nvGrpSpPr>
        <p:grpSpPr bwMode="auto">
          <a:xfrm>
            <a:off x="4981575" y="3313113"/>
            <a:ext cx="793750" cy="731837"/>
            <a:chOff x="3138" y="2087"/>
            <a:chExt cx="500" cy="461"/>
          </a:xfrm>
        </p:grpSpPr>
        <p:sp>
          <p:nvSpPr>
            <p:cNvPr id="29729" name="AutoShape 18"/>
            <p:cNvSpPr>
              <a:spLocks noChangeArrowheads="1"/>
            </p:cNvSpPr>
            <p:nvPr/>
          </p:nvSpPr>
          <p:spPr bwMode="auto">
            <a:xfrm>
              <a:off x="313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9730" name="AutoShape 19"/>
            <p:cNvSpPr>
              <a:spLocks noChangeArrowheads="1"/>
            </p:cNvSpPr>
            <p:nvPr/>
          </p:nvSpPr>
          <p:spPr bwMode="auto">
            <a:xfrm>
              <a:off x="315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29713" name="Line 20"/>
          <p:cNvSpPr>
            <a:spLocks noChangeShapeType="1"/>
          </p:cNvSpPr>
          <p:nvPr/>
        </p:nvSpPr>
        <p:spPr bwMode="auto">
          <a:xfrm>
            <a:off x="7404100"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14" name="Group 21"/>
          <p:cNvGrpSpPr>
            <a:grpSpLocks/>
          </p:cNvGrpSpPr>
          <p:nvPr/>
        </p:nvGrpSpPr>
        <p:grpSpPr bwMode="auto">
          <a:xfrm>
            <a:off x="7739063" y="2398713"/>
            <a:ext cx="793750" cy="731837"/>
            <a:chOff x="4875" y="1511"/>
            <a:chExt cx="500" cy="461"/>
          </a:xfrm>
        </p:grpSpPr>
        <p:sp>
          <p:nvSpPr>
            <p:cNvPr id="29727" name="AutoShape 22"/>
            <p:cNvSpPr>
              <a:spLocks noChangeArrowheads="1"/>
            </p:cNvSpPr>
            <p:nvPr/>
          </p:nvSpPr>
          <p:spPr bwMode="auto">
            <a:xfrm>
              <a:off x="487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9728" name="AutoShape 23"/>
            <p:cNvSpPr>
              <a:spLocks noChangeArrowheads="1"/>
            </p:cNvSpPr>
            <p:nvPr/>
          </p:nvSpPr>
          <p:spPr bwMode="auto">
            <a:xfrm>
              <a:off x="489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29715" name="Line 24"/>
          <p:cNvSpPr>
            <a:spLocks noChangeShapeType="1"/>
          </p:cNvSpPr>
          <p:nvPr/>
        </p:nvSpPr>
        <p:spPr bwMode="auto">
          <a:xfrm flipH="1">
            <a:off x="6169025"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16" name="Group 25"/>
          <p:cNvGrpSpPr>
            <a:grpSpLocks/>
          </p:cNvGrpSpPr>
          <p:nvPr/>
        </p:nvGrpSpPr>
        <p:grpSpPr bwMode="auto">
          <a:xfrm>
            <a:off x="6678613" y="1331913"/>
            <a:ext cx="793750" cy="731837"/>
            <a:chOff x="4207" y="839"/>
            <a:chExt cx="500" cy="461"/>
          </a:xfrm>
        </p:grpSpPr>
        <p:sp>
          <p:nvSpPr>
            <p:cNvPr id="29725" name="AutoShape 26"/>
            <p:cNvSpPr>
              <a:spLocks noChangeArrowheads="1"/>
            </p:cNvSpPr>
            <p:nvPr/>
          </p:nvSpPr>
          <p:spPr bwMode="auto">
            <a:xfrm>
              <a:off x="420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9726" name="AutoShape 27"/>
            <p:cNvSpPr>
              <a:spLocks noChangeArrowheads="1"/>
            </p:cNvSpPr>
            <p:nvPr/>
          </p:nvSpPr>
          <p:spPr bwMode="auto">
            <a:xfrm>
              <a:off x="422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29717" name="Group 28"/>
          <p:cNvGrpSpPr>
            <a:grpSpLocks/>
          </p:cNvGrpSpPr>
          <p:nvPr/>
        </p:nvGrpSpPr>
        <p:grpSpPr bwMode="auto">
          <a:xfrm>
            <a:off x="5575300" y="2398713"/>
            <a:ext cx="793750" cy="731837"/>
            <a:chOff x="3512" y="1511"/>
            <a:chExt cx="500" cy="461"/>
          </a:xfrm>
        </p:grpSpPr>
        <p:sp>
          <p:nvSpPr>
            <p:cNvPr id="29723" name="AutoShape 29"/>
            <p:cNvSpPr>
              <a:spLocks noChangeArrowheads="1"/>
            </p:cNvSpPr>
            <p:nvPr/>
          </p:nvSpPr>
          <p:spPr bwMode="auto">
            <a:xfrm>
              <a:off x="351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29724" name="AutoShape 30"/>
            <p:cNvSpPr>
              <a:spLocks noChangeArrowheads="1"/>
            </p:cNvSpPr>
            <p:nvPr/>
          </p:nvSpPr>
          <p:spPr bwMode="auto">
            <a:xfrm>
              <a:off x="353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29718" name="AutoShape 31"/>
          <p:cNvSpPr>
            <a:spLocks noChangeArrowheads="1"/>
          </p:cNvSpPr>
          <p:nvPr/>
        </p:nvSpPr>
        <p:spPr bwMode="auto">
          <a:xfrm>
            <a:off x="1914525"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sp>
        <p:nvSpPr>
          <p:cNvPr id="29719" name="AutoShape 32"/>
          <p:cNvSpPr>
            <a:spLocks noChangeArrowheads="1"/>
          </p:cNvSpPr>
          <p:nvPr/>
        </p:nvSpPr>
        <p:spPr bwMode="auto">
          <a:xfrm>
            <a:off x="2798763"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sp>
        <p:nvSpPr>
          <p:cNvPr id="29720" name="AutoShape 33"/>
          <p:cNvSpPr>
            <a:spLocks noChangeArrowheads="1"/>
          </p:cNvSpPr>
          <p:nvPr/>
        </p:nvSpPr>
        <p:spPr bwMode="auto">
          <a:xfrm>
            <a:off x="3683000"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sp>
        <p:nvSpPr>
          <p:cNvPr id="29721" name="AutoShape 34"/>
          <p:cNvSpPr>
            <a:spLocks noChangeArrowheads="1"/>
          </p:cNvSpPr>
          <p:nvPr/>
        </p:nvSpPr>
        <p:spPr bwMode="auto">
          <a:xfrm>
            <a:off x="4611688"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sp>
        <p:nvSpPr>
          <p:cNvPr id="29722" name="AutoShape 35"/>
          <p:cNvSpPr>
            <a:spLocks noChangeArrowheads="1"/>
          </p:cNvSpPr>
          <p:nvPr/>
        </p:nvSpPr>
        <p:spPr bwMode="auto">
          <a:xfrm>
            <a:off x="5495925"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spTree>
    <p:extLst>
      <p:ext uri="{BB962C8B-B14F-4D97-AF65-F5344CB8AC3E}">
        <p14:creationId xmlns:p14="http://schemas.microsoft.com/office/powerpoint/2010/main" val="103408211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a:xfrm>
            <a:off x="304800" y="236538"/>
            <a:ext cx="7772400" cy="1357312"/>
          </a:xfrm>
        </p:spPr>
        <p:txBody>
          <a:bodyPr>
            <a:normAutofit/>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t>Important Points about the Implementation</a:t>
            </a:r>
          </a:p>
        </p:txBody>
      </p:sp>
      <p:sp>
        <p:nvSpPr>
          <p:cNvPr id="31746" name="Rectangle 2"/>
          <p:cNvSpPr>
            <a:spLocks noGrp="1" noChangeArrowheads="1"/>
          </p:cNvSpPr>
          <p:nvPr>
            <p:ph sz="quarter" idx="1"/>
          </p:nvPr>
        </p:nvSpPr>
        <p:spPr>
          <a:xfrm>
            <a:off x="685800" y="1981200"/>
            <a:ext cx="4449763" cy="4114800"/>
          </a:xfrm>
        </p:spPr>
        <p:txBody>
          <a:bodyPr/>
          <a:lstStyle/>
          <a:p>
            <a:pPr>
              <a:lnSpc>
                <a:spcPct val="95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400" dirty="0" smtClean="0"/>
              <a:t>If you know the index of a node, then it is easy to figure out the indexes of that node's parent and children. </a:t>
            </a:r>
          </a:p>
        </p:txBody>
      </p:sp>
      <p:sp>
        <p:nvSpPr>
          <p:cNvPr id="30724" name="AutoShape 3"/>
          <p:cNvSpPr>
            <a:spLocks noChangeArrowheads="1"/>
          </p:cNvSpPr>
          <p:nvPr/>
        </p:nvSpPr>
        <p:spPr bwMode="auto">
          <a:xfrm>
            <a:off x="1708150" y="4670425"/>
            <a:ext cx="6046788" cy="785813"/>
          </a:xfrm>
          <a:prstGeom prst="roundRect">
            <a:avLst>
              <a:gd name="adj" fmla="val 199"/>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30725" name="Line 4"/>
          <p:cNvSpPr>
            <a:spLocks noChangeShapeType="1"/>
          </p:cNvSpPr>
          <p:nvPr/>
        </p:nvSpPr>
        <p:spPr bwMode="auto">
          <a:xfrm>
            <a:off x="26209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6" name="Line 5"/>
          <p:cNvSpPr>
            <a:spLocks noChangeShapeType="1"/>
          </p:cNvSpPr>
          <p:nvPr/>
        </p:nvSpPr>
        <p:spPr bwMode="auto">
          <a:xfrm>
            <a:off x="3535363" y="46672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7" name="Line 6"/>
          <p:cNvSpPr>
            <a:spLocks noChangeShapeType="1"/>
          </p:cNvSpPr>
          <p:nvPr/>
        </p:nvSpPr>
        <p:spPr bwMode="auto">
          <a:xfrm>
            <a:off x="4448175" y="46672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8" name="Line 7"/>
          <p:cNvSpPr>
            <a:spLocks noChangeShapeType="1"/>
          </p:cNvSpPr>
          <p:nvPr/>
        </p:nvSpPr>
        <p:spPr bwMode="auto">
          <a:xfrm>
            <a:off x="53641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8"/>
          <p:cNvSpPr>
            <a:spLocks noChangeShapeType="1"/>
          </p:cNvSpPr>
          <p:nvPr/>
        </p:nvSpPr>
        <p:spPr bwMode="auto">
          <a:xfrm>
            <a:off x="6278563" y="4670425"/>
            <a:ext cx="1587"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0" name="Line 9"/>
          <p:cNvSpPr>
            <a:spLocks noChangeShapeType="1"/>
          </p:cNvSpPr>
          <p:nvPr/>
        </p:nvSpPr>
        <p:spPr bwMode="auto">
          <a:xfrm>
            <a:off x="7192963" y="4665663"/>
            <a:ext cx="1587"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1" name="Text Box 10"/>
          <p:cNvSpPr txBox="1">
            <a:spLocks noChangeArrowheads="1"/>
          </p:cNvSpPr>
          <p:nvPr/>
        </p:nvSpPr>
        <p:spPr bwMode="auto">
          <a:xfrm>
            <a:off x="1920875" y="5565775"/>
            <a:ext cx="58610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3000"/>
              </a:lnSpc>
              <a:spcBef>
                <a:spcPct val="0"/>
              </a:spcBef>
              <a:buClr>
                <a:srgbClr val="E0E0E0"/>
              </a:buClr>
              <a:buSzPct val="100000"/>
              <a:buFont typeface="Arial" charset="0"/>
              <a:buNone/>
            </a:pPr>
            <a:r>
              <a:rPr lang="en-GB" altLang="en-US" sz="2400">
                <a:solidFill>
                  <a:schemeClr val="bg1"/>
                </a:solidFill>
              </a:rPr>
              <a:t>[1]      [2]       [3]       [4]      [5]</a:t>
            </a:r>
          </a:p>
        </p:txBody>
      </p:sp>
      <p:sp>
        <p:nvSpPr>
          <p:cNvPr id="30732" name="Freeform 11"/>
          <p:cNvSpPr>
            <a:spLocks noChangeArrowheads="1"/>
          </p:cNvSpPr>
          <p:nvPr/>
        </p:nvSpPr>
        <p:spPr bwMode="auto">
          <a:xfrm>
            <a:off x="7464425" y="4160838"/>
            <a:ext cx="982663" cy="1725612"/>
          </a:xfrm>
          <a:custGeom>
            <a:avLst/>
            <a:gdLst>
              <a:gd name="T0" fmla="*/ 571391 w 2731"/>
              <a:gd name="T1" fmla="*/ 0 h 4795"/>
              <a:gd name="T2" fmla="*/ 0 w 2731"/>
              <a:gd name="T3" fmla="*/ 709318 h 4795"/>
              <a:gd name="T4" fmla="*/ 160119 w 2731"/>
              <a:gd name="T5" fmla="*/ 963392 h 4795"/>
              <a:gd name="T6" fmla="*/ 68006 w 2731"/>
              <a:gd name="T7" fmla="*/ 1141171 h 4795"/>
              <a:gd name="T8" fmla="*/ 318799 w 2731"/>
              <a:gd name="T9" fmla="*/ 1725252 h 4795"/>
              <a:gd name="T10" fmla="*/ 982303 w 2731"/>
              <a:gd name="T11" fmla="*/ 1522281 h 4795"/>
              <a:gd name="T12" fmla="*/ 571391 w 2731"/>
              <a:gd name="T13" fmla="*/ 0 h 4795"/>
              <a:gd name="T14" fmla="*/ 0 60000 65536"/>
              <a:gd name="T15" fmla="*/ 0 60000 65536"/>
              <a:gd name="T16" fmla="*/ 0 60000 65536"/>
              <a:gd name="T17" fmla="*/ 0 60000 65536"/>
              <a:gd name="T18" fmla="*/ 0 60000 65536"/>
              <a:gd name="T19" fmla="*/ 0 60000 65536"/>
              <a:gd name="T20" fmla="*/ 0 60000 65536"/>
              <a:gd name="T21" fmla="*/ 0 w 2731"/>
              <a:gd name="T22" fmla="*/ 0 h 4795"/>
              <a:gd name="T23" fmla="*/ 2731 w 2731"/>
              <a:gd name="T24" fmla="*/ 4795 h 4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31" h="4795">
                <a:moveTo>
                  <a:pt x="1588" y="0"/>
                </a:moveTo>
                <a:lnTo>
                  <a:pt x="0" y="1971"/>
                </a:lnTo>
                <a:lnTo>
                  <a:pt x="445" y="2677"/>
                </a:lnTo>
                <a:lnTo>
                  <a:pt x="189" y="3171"/>
                </a:lnTo>
                <a:lnTo>
                  <a:pt x="886" y="4794"/>
                </a:lnTo>
                <a:lnTo>
                  <a:pt x="2730" y="4230"/>
                </a:lnTo>
                <a:lnTo>
                  <a:pt x="1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33" name="Line 12"/>
          <p:cNvSpPr>
            <a:spLocks noChangeShapeType="1"/>
          </p:cNvSpPr>
          <p:nvPr/>
        </p:nvSpPr>
        <p:spPr bwMode="auto">
          <a:xfrm>
            <a:off x="5818188" y="2941638"/>
            <a:ext cx="563562"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34" name="Group 13"/>
          <p:cNvGrpSpPr>
            <a:grpSpLocks/>
          </p:cNvGrpSpPr>
          <p:nvPr/>
        </p:nvGrpSpPr>
        <p:grpSpPr bwMode="auto">
          <a:xfrm>
            <a:off x="6181725" y="3313113"/>
            <a:ext cx="793750" cy="731837"/>
            <a:chOff x="3894" y="2087"/>
            <a:chExt cx="500" cy="461"/>
          </a:xfrm>
        </p:grpSpPr>
        <p:sp>
          <p:nvSpPr>
            <p:cNvPr id="30755" name="AutoShape 14"/>
            <p:cNvSpPr>
              <a:spLocks noChangeArrowheads="1"/>
            </p:cNvSpPr>
            <p:nvPr/>
          </p:nvSpPr>
          <p:spPr bwMode="auto">
            <a:xfrm>
              <a:off x="3894"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30756" name="AutoShape 15"/>
            <p:cNvSpPr>
              <a:spLocks noChangeArrowheads="1"/>
            </p:cNvSpPr>
            <p:nvPr/>
          </p:nvSpPr>
          <p:spPr bwMode="auto">
            <a:xfrm>
              <a:off x="3913"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grpSp>
      <p:sp>
        <p:nvSpPr>
          <p:cNvPr id="30735" name="Line 16"/>
          <p:cNvSpPr>
            <a:spLocks noChangeShapeType="1"/>
          </p:cNvSpPr>
          <p:nvPr/>
        </p:nvSpPr>
        <p:spPr bwMode="auto">
          <a:xfrm flipH="1">
            <a:off x="5575300" y="29416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36" name="Group 17"/>
          <p:cNvGrpSpPr>
            <a:grpSpLocks/>
          </p:cNvGrpSpPr>
          <p:nvPr/>
        </p:nvGrpSpPr>
        <p:grpSpPr bwMode="auto">
          <a:xfrm>
            <a:off x="4981575" y="3313113"/>
            <a:ext cx="793750" cy="731837"/>
            <a:chOff x="3138" y="2087"/>
            <a:chExt cx="500" cy="461"/>
          </a:xfrm>
        </p:grpSpPr>
        <p:sp>
          <p:nvSpPr>
            <p:cNvPr id="30753" name="AutoShape 18"/>
            <p:cNvSpPr>
              <a:spLocks noChangeArrowheads="1"/>
            </p:cNvSpPr>
            <p:nvPr/>
          </p:nvSpPr>
          <p:spPr bwMode="auto">
            <a:xfrm>
              <a:off x="3138" y="2087"/>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30754" name="AutoShape 19"/>
            <p:cNvSpPr>
              <a:spLocks noChangeArrowheads="1"/>
            </p:cNvSpPr>
            <p:nvPr/>
          </p:nvSpPr>
          <p:spPr bwMode="auto">
            <a:xfrm>
              <a:off x="3157" y="2106"/>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grpSp>
      <p:sp>
        <p:nvSpPr>
          <p:cNvPr id="30737" name="Line 20"/>
          <p:cNvSpPr>
            <a:spLocks noChangeShapeType="1"/>
          </p:cNvSpPr>
          <p:nvPr/>
        </p:nvSpPr>
        <p:spPr bwMode="auto">
          <a:xfrm>
            <a:off x="7404100" y="1981200"/>
            <a:ext cx="563563" cy="639763"/>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38" name="Group 21"/>
          <p:cNvGrpSpPr>
            <a:grpSpLocks/>
          </p:cNvGrpSpPr>
          <p:nvPr/>
        </p:nvGrpSpPr>
        <p:grpSpPr bwMode="auto">
          <a:xfrm>
            <a:off x="7739063" y="2398713"/>
            <a:ext cx="793750" cy="731837"/>
            <a:chOff x="4875" y="1511"/>
            <a:chExt cx="500" cy="461"/>
          </a:xfrm>
        </p:grpSpPr>
        <p:sp>
          <p:nvSpPr>
            <p:cNvPr id="30751" name="AutoShape 22"/>
            <p:cNvSpPr>
              <a:spLocks noChangeArrowheads="1"/>
            </p:cNvSpPr>
            <p:nvPr/>
          </p:nvSpPr>
          <p:spPr bwMode="auto">
            <a:xfrm>
              <a:off x="4875"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30752" name="AutoShape 23"/>
            <p:cNvSpPr>
              <a:spLocks noChangeArrowheads="1"/>
            </p:cNvSpPr>
            <p:nvPr/>
          </p:nvSpPr>
          <p:spPr bwMode="auto">
            <a:xfrm>
              <a:off x="4894"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grpSp>
      <p:sp>
        <p:nvSpPr>
          <p:cNvPr id="30739" name="Line 24"/>
          <p:cNvSpPr>
            <a:spLocks noChangeShapeType="1"/>
          </p:cNvSpPr>
          <p:nvPr/>
        </p:nvSpPr>
        <p:spPr bwMode="auto">
          <a:xfrm flipH="1">
            <a:off x="6169025" y="2027238"/>
            <a:ext cx="566738" cy="639762"/>
          </a:xfrm>
          <a:prstGeom prst="line">
            <a:avLst/>
          </a:prstGeom>
          <a:noFill/>
          <a:ln w="12600">
            <a:solidFill>
              <a:srgbClr val="FF8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40" name="Group 25"/>
          <p:cNvGrpSpPr>
            <a:grpSpLocks/>
          </p:cNvGrpSpPr>
          <p:nvPr/>
        </p:nvGrpSpPr>
        <p:grpSpPr bwMode="auto">
          <a:xfrm>
            <a:off x="6678613" y="1331913"/>
            <a:ext cx="793750" cy="731837"/>
            <a:chOff x="4207" y="839"/>
            <a:chExt cx="500" cy="461"/>
          </a:xfrm>
        </p:grpSpPr>
        <p:sp>
          <p:nvSpPr>
            <p:cNvPr id="30749" name="AutoShape 26"/>
            <p:cNvSpPr>
              <a:spLocks noChangeArrowheads="1"/>
            </p:cNvSpPr>
            <p:nvPr/>
          </p:nvSpPr>
          <p:spPr bwMode="auto">
            <a:xfrm>
              <a:off x="4207" y="839"/>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30750" name="AutoShape 27"/>
            <p:cNvSpPr>
              <a:spLocks noChangeArrowheads="1"/>
            </p:cNvSpPr>
            <p:nvPr/>
          </p:nvSpPr>
          <p:spPr bwMode="auto">
            <a:xfrm>
              <a:off x="4226" y="858"/>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grpSp>
      <p:grpSp>
        <p:nvGrpSpPr>
          <p:cNvPr id="30741" name="Group 28"/>
          <p:cNvGrpSpPr>
            <a:grpSpLocks/>
          </p:cNvGrpSpPr>
          <p:nvPr/>
        </p:nvGrpSpPr>
        <p:grpSpPr bwMode="auto">
          <a:xfrm>
            <a:off x="5575300" y="2398713"/>
            <a:ext cx="793750" cy="731837"/>
            <a:chOff x="3512" y="1511"/>
            <a:chExt cx="500" cy="461"/>
          </a:xfrm>
        </p:grpSpPr>
        <p:sp>
          <p:nvSpPr>
            <p:cNvPr id="30747" name="AutoShape 29"/>
            <p:cNvSpPr>
              <a:spLocks noChangeArrowheads="1"/>
            </p:cNvSpPr>
            <p:nvPr/>
          </p:nvSpPr>
          <p:spPr bwMode="auto">
            <a:xfrm>
              <a:off x="3512" y="1511"/>
              <a:ext cx="501" cy="462"/>
            </a:xfrm>
            <a:prstGeom prst="roundRect">
              <a:avLst>
                <a:gd name="adj" fmla="val 12551"/>
              </a:avLst>
            </a:prstGeom>
            <a:solidFill>
              <a:srgbClr val="8080FF"/>
            </a:solidFill>
            <a:ln w="12600">
              <a:solidFill>
                <a:srgbClr val="E0E0E0"/>
              </a:solidFill>
              <a:round/>
              <a:headEnd/>
              <a:tailEnd/>
            </a:ln>
          </p:spPr>
          <p:txBody>
            <a:bodyPr wrap="none" anchor="ctr"/>
            <a:lstStyle>
              <a:lvl1pPr>
                <a:spcBef>
                  <a:spcPts val="800"/>
                </a:spcBef>
                <a:buClr>
                  <a:srgbClr val="00CECE"/>
                </a:buClr>
                <a:buSzPct val="75000"/>
                <a:buFont typeface="Monotype Sorts" charset="2"/>
                <a:buChar char=""/>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defRPr sz="2000">
                  <a:solidFill>
                    <a:srgbClr val="E0E0E0"/>
                  </a:solidFill>
                  <a:latin typeface="Times New Roman" pitchFamily="18" charset="0"/>
                  <a:cs typeface="Arial Unicode MS" charset="0"/>
                </a:defRPr>
              </a:lvl9pPr>
            </a:lstStyle>
            <a:p>
              <a:pPr>
                <a:spcBef>
                  <a:spcPct val="0"/>
                </a:spcBef>
                <a:buClrTx/>
                <a:buSzTx/>
                <a:buFontTx/>
                <a:buNone/>
              </a:pPr>
              <a:endParaRPr lang="en-US" altLang="en-US" sz="1800">
                <a:solidFill>
                  <a:schemeClr val="bg1"/>
                </a:solidFill>
              </a:endParaRPr>
            </a:p>
          </p:txBody>
        </p:sp>
        <p:sp>
          <p:nvSpPr>
            <p:cNvPr id="30748" name="AutoShape 30"/>
            <p:cNvSpPr>
              <a:spLocks noChangeArrowheads="1"/>
            </p:cNvSpPr>
            <p:nvPr/>
          </p:nvSpPr>
          <p:spPr bwMode="auto">
            <a:xfrm>
              <a:off x="3531" y="1530"/>
              <a:ext cx="463" cy="424"/>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gn="ct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grpSp>
      <p:sp>
        <p:nvSpPr>
          <p:cNvPr id="30742" name="AutoShape 31"/>
          <p:cNvSpPr>
            <a:spLocks noChangeArrowheads="1"/>
          </p:cNvSpPr>
          <p:nvPr/>
        </p:nvSpPr>
        <p:spPr bwMode="auto">
          <a:xfrm>
            <a:off x="1914525"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42</a:t>
            </a:r>
          </a:p>
        </p:txBody>
      </p:sp>
      <p:sp>
        <p:nvSpPr>
          <p:cNvPr id="30743" name="AutoShape 32"/>
          <p:cNvSpPr>
            <a:spLocks noChangeArrowheads="1"/>
          </p:cNvSpPr>
          <p:nvPr/>
        </p:nvSpPr>
        <p:spPr bwMode="auto">
          <a:xfrm>
            <a:off x="2798763"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35</a:t>
            </a:r>
          </a:p>
        </p:txBody>
      </p:sp>
      <p:sp>
        <p:nvSpPr>
          <p:cNvPr id="30744" name="AutoShape 33"/>
          <p:cNvSpPr>
            <a:spLocks noChangeArrowheads="1"/>
          </p:cNvSpPr>
          <p:nvPr/>
        </p:nvSpPr>
        <p:spPr bwMode="auto">
          <a:xfrm>
            <a:off x="3683000" y="4860925"/>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23</a:t>
            </a:r>
          </a:p>
        </p:txBody>
      </p:sp>
      <p:sp>
        <p:nvSpPr>
          <p:cNvPr id="30745" name="AutoShape 34"/>
          <p:cNvSpPr>
            <a:spLocks noChangeArrowheads="1"/>
          </p:cNvSpPr>
          <p:nvPr/>
        </p:nvSpPr>
        <p:spPr bwMode="auto">
          <a:xfrm>
            <a:off x="4611688"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27</a:t>
            </a:r>
          </a:p>
        </p:txBody>
      </p:sp>
      <p:sp>
        <p:nvSpPr>
          <p:cNvPr id="30746" name="AutoShape 35"/>
          <p:cNvSpPr>
            <a:spLocks noChangeArrowheads="1"/>
          </p:cNvSpPr>
          <p:nvPr/>
        </p:nvSpPr>
        <p:spPr bwMode="auto">
          <a:xfrm>
            <a:off x="5495925" y="4862513"/>
            <a:ext cx="488950"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spcBef>
                <a:spcPts val="8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E0E0E0"/>
                </a:solidFill>
                <a:latin typeface="Times New Roman" pitchFamily="18" charset="0"/>
                <a:cs typeface="Arial Unicode MS" charset="0"/>
              </a:defRPr>
            </a:lvl1pPr>
            <a:lvl2pPr marL="742950" indent="-285750">
              <a:spcBef>
                <a:spcPts val="700"/>
              </a:spcBef>
              <a:buClr>
                <a:srgbClr val="00CECE"/>
              </a:buClr>
              <a:buSzPct val="7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E0E0E0"/>
                </a:solidFill>
                <a:latin typeface="Times New Roman" pitchFamily="18" charset="0"/>
                <a:cs typeface="Arial Unicode MS" charset="0"/>
              </a:defRPr>
            </a:lvl2pPr>
            <a:lvl3pPr marL="1143000" indent="-228600">
              <a:spcBef>
                <a:spcPts val="6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E0E0E0"/>
                </a:solidFill>
                <a:latin typeface="Times New Roman" pitchFamily="18" charset="0"/>
                <a:cs typeface="Arial Unicode MS" charset="0"/>
              </a:defRPr>
            </a:lvl3pPr>
            <a:lvl4pPr marL="16002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4pPr>
            <a:lvl5pPr marL="2057400" indent="-228600">
              <a:spcBef>
                <a:spcPts val="500"/>
              </a:spcBef>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5pPr>
            <a:lvl6pPr marL="25146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6pPr>
            <a:lvl7pPr marL="29718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7pPr>
            <a:lvl8pPr marL="34290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8pPr>
            <a:lvl9pPr marL="3886200" indent="-228600" eaLnBrk="0" fontAlgn="base" hangingPunct="0">
              <a:spcBef>
                <a:spcPts val="500"/>
              </a:spcBef>
              <a:spcAft>
                <a:spcPct val="0"/>
              </a:spcAft>
              <a:buClr>
                <a:srgbClr val="00CECE"/>
              </a:buClr>
              <a:buSzPct val="65000"/>
              <a:buFont typeface="Monotype Sorts"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E0E0E0"/>
                </a:solidFill>
                <a:latin typeface="Times New Roman" pitchFamily="18" charset="0"/>
                <a:cs typeface="Arial Unicode MS" charset="0"/>
              </a:defRPr>
            </a:lvl9pPr>
          </a:lstStyle>
          <a:p>
            <a:pPr>
              <a:lnSpc>
                <a:spcPct val="95000"/>
              </a:lnSpc>
              <a:spcBef>
                <a:spcPct val="0"/>
              </a:spcBef>
              <a:buClr>
                <a:srgbClr val="E0E0E0"/>
              </a:buClr>
              <a:buSzPct val="100000"/>
              <a:buFont typeface="Times New Roman" pitchFamily="18" charset="0"/>
              <a:buNone/>
            </a:pPr>
            <a:r>
              <a:rPr lang="en-GB" altLang="en-US" sz="2400" b="1">
                <a:solidFill>
                  <a:schemeClr val="tx1"/>
                </a:solidFill>
              </a:rPr>
              <a:t>21</a:t>
            </a:r>
          </a:p>
        </p:txBody>
      </p:sp>
    </p:spTree>
    <p:extLst>
      <p:ext uri="{BB962C8B-B14F-4D97-AF65-F5344CB8AC3E}">
        <p14:creationId xmlns:p14="http://schemas.microsoft.com/office/powerpoint/2010/main" val="47814893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title"/>
          </p:nvPr>
        </p:nvSpPr>
        <p:spPr>
          <a:xfrm>
            <a:off x="304800" y="3429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indent="0">
              <a:lnSpc>
                <a:spcPct val="95000"/>
              </a:lnSpc>
              <a:spcBef>
                <a:spcPct val="0"/>
              </a:spcBef>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400" smtClean="0">
                <a:solidFill>
                  <a:srgbClr val="00CECE"/>
                </a:solidFill>
                <a:effectLst/>
              </a:rPr>
              <a:t>   Summary</a:t>
            </a:r>
          </a:p>
        </p:txBody>
      </p:sp>
      <p:sp>
        <p:nvSpPr>
          <p:cNvPr id="32769" name="Rectangle 1"/>
          <p:cNvSpPr>
            <a:spLocks noGrp="1" noChangeArrowheads="1"/>
          </p:cNvSpPr>
          <p:nvPr>
            <p:ph sz="quarter" idx="1"/>
          </p:nvPr>
        </p:nvSpPr>
        <p:spPr>
          <a:xfrm>
            <a:off x="685800" y="1981200"/>
            <a:ext cx="7772400" cy="4114800"/>
          </a:xfrm>
          <a:noFill/>
          <a:ln>
            <a:miter lim="800000"/>
            <a:headEnd/>
            <a:tailEnd/>
          </a:ln>
          <a:extLst/>
        </p:spPr>
        <p:txBody>
          <a:bodyPr anchor="t">
            <a:normAutofit/>
          </a:bodyPr>
          <a:lstStyle/>
          <a:p>
            <a:pPr marL="341313" indent="-341313">
              <a:lnSpc>
                <a:spcPct val="95000"/>
              </a:lnSpc>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dirty="0" smtClean="0"/>
              <a:t>A heap is a complete binary tree, where the entry at each node is greater than or equal to the entries in its children.</a:t>
            </a:r>
          </a:p>
          <a:p>
            <a:pPr marL="341313" indent="-341313">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dirty="0" smtClean="0"/>
              <a:t>To add an entry to a heap, place the new entry at the next available spot, and perform a </a:t>
            </a:r>
            <a:r>
              <a:rPr lang="en-GB" sz="2800" dirty="0" err="1" smtClean="0"/>
              <a:t>reheapification</a:t>
            </a:r>
            <a:r>
              <a:rPr lang="en-GB" sz="2800" dirty="0" smtClean="0"/>
              <a:t> upward.</a:t>
            </a:r>
          </a:p>
          <a:p>
            <a:pPr marL="341313" indent="-341313">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dirty="0" smtClean="0"/>
              <a:t>To remove the biggest entry, move the last node onto the root, and perform a </a:t>
            </a:r>
            <a:r>
              <a:rPr lang="en-GB" sz="2800" dirty="0" err="1" smtClean="0"/>
              <a:t>reheapification</a:t>
            </a:r>
            <a:r>
              <a:rPr lang="en-GB" sz="2800" dirty="0" smtClean="0"/>
              <a:t> downward.</a:t>
            </a:r>
          </a:p>
        </p:txBody>
      </p:sp>
      <p:pic>
        <p:nvPicPr>
          <p:cNvPr id="3174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21889"/>
          <a:stretch>
            <a:fillRect/>
          </a:stretch>
        </p:blipFill>
        <p:spPr bwMode="auto">
          <a:xfrm>
            <a:off x="41275" y="0"/>
            <a:ext cx="16256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2543371"/>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a:t>
            </a:r>
            <a:endParaRPr lang="en-US"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28800" y="1752600"/>
            <a:ext cx="5638800" cy="4419600"/>
          </a:xfrm>
        </p:spPr>
      </p:pic>
    </p:spTree>
    <p:extLst>
      <p:ext uri="{BB962C8B-B14F-4D97-AF65-F5344CB8AC3E}">
        <p14:creationId xmlns:p14="http://schemas.microsoft.com/office/powerpoint/2010/main" val="34953059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Representation of Binary Tree</a:t>
            </a:r>
            <a:endParaRPr lang="en-US"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219200" y="1828800"/>
            <a:ext cx="6324599" cy="18288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1" y="3810000"/>
            <a:ext cx="5105400" cy="1981200"/>
          </a:xfrm>
          <a:prstGeom prst="rect">
            <a:avLst/>
          </a:prstGeom>
        </p:spPr>
      </p:pic>
    </p:spTree>
    <p:extLst>
      <p:ext uri="{BB962C8B-B14F-4D97-AF65-F5344CB8AC3E}">
        <p14:creationId xmlns:p14="http://schemas.microsoft.com/office/powerpoint/2010/main" val="24429867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Full Binary Tree Vs Complete Binary Tree</a:t>
            </a:r>
            <a:endParaRPr lang="en-US" dirty="0"/>
          </a:p>
        </p:txBody>
      </p:sp>
      <p:sp>
        <p:nvSpPr>
          <p:cNvPr id="3" name="Content Placeholder 2"/>
          <p:cNvSpPr>
            <a:spLocks noGrp="1"/>
          </p:cNvSpPr>
          <p:nvPr>
            <p:ph sz="quarter" idx="1"/>
          </p:nvPr>
        </p:nvSpPr>
        <p:spPr/>
        <p:txBody>
          <a:bodyPr/>
          <a:lstStyle/>
          <a:p>
            <a:r>
              <a:rPr lang="en-US" dirty="0"/>
              <a:t>https://www.geeksforgeeks.org/difference-between-full-and-complete-binary-tree/</a:t>
            </a:r>
            <a:endParaRPr lang="en-US" dirty="0" smtClean="0"/>
          </a:p>
          <a:p>
            <a:endParaRPr lang="en-US" dirty="0" smtClean="0"/>
          </a:p>
          <a:p>
            <a:r>
              <a:rPr lang="en-US" dirty="0" smtClean="0"/>
              <a:t>Height of complete binary tree is log n</a:t>
            </a:r>
          </a:p>
          <a:p>
            <a:endParaRPr lang="en-US" dirty="0" smtClean="0"/>
          </a:p>
          <a:p>
            <a:endParaRPr lang="en-US" dirty="0"/>
          </a:p>
        </p:txBody>
      </p:sp>
    </p:spTree>
    <p:extLst>
      <p:ext uri="{BB962C8B-B14F-4D97-AF65-F5344CB8AC3E}">
        <p14:creationId xmlns:p14="http://schemas.microsoft.com/office/powerpoint/2010/main" val="14856700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a:t>
            </a:r>
            <a:endParaRPr lang="en-US" dirty="0"/>
          </a:p>
        </p:txBody>
      </p:sp>
      <p:sp>
        <p:nvSpPr>
          <p:cNvPr id="3" name="Content Placeholder 2"/>
          <p:cNvSpPr>
            <a:spLocks noGrp="1"/>
          </p:cNvSpPr>
          <p:nvPr>
            <p:ph sz="quarter" idx="1"/>
          </p:nvPr>
        </p:nvSpPr>
        <p:spPr/>
        <p:txBody>
          <a:bodyPr/>
          <a:lstStyle/>
          <a:p>
            <a:r>
              <a:rPr lang="en-US" dirty="0" smtClean="0"/>
              <a:t>Heap is a complete binary tree.</a:t>
            </a:r>
          </a:p>
          <a:p>
            <a:r>
              <a:rPr lang="en-US" dirty="0" smtClean="0"/>
              <a:t>Parent will be greater than their child.</a:t>
            </a:r>
          </a:p>
          <a:p>
            <a:r>
              <a:rPr lang="en-US" dirty="0" smtClean="0"/>
              <a:t>In max heap, maximum element is at the root</a:t>
            </a:r>
          </a:p>
          <a:p>
            <a:r>
              <a:rPr lang="en-US" dirty="0"/>
              <a:t>In </a:t>
            </a:r>
            <a:r>
              <a:rPr lang="en-US" dirty="0" smtClean="0"/>
              <a:t>min </a:t>
            </a:r>
            <a:r>
              <a:rPr lang="en-US" dirty="0"/>
              <a:t>heap, </a:t>
            </a:r>
            <a:r>
              <a:rPr lang="en-US" dirty="0" smtClean="0"/>
              <a:t>minimum </a:t>
            </a:r>
            <a:r>
              <a:rPr lang="en-US" dirty="0"/>
              <a:t>element is at the root</a:t>
            </a:r>
          </a:p>
          <a:p>
            <a:endParaRPr lang="en-US" dirty="0" smtClean="0"/>
          </a:p>
          <a:p>
            <a:endParaRPr lang="en-US" dirty="0"/>
          </a:p>
        </p:txBody>
      </p:sp>
    </p:spTree>
    <p:extLst>
      <p:ext uri="{BB962C8B-B14F-4D97-AF65-F5344CB8AC3E}">
        <p14:creationId xmlns:p14="http://schemas.microsoft.com/office/powerpoint/2010/main" val="37090305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Gate 2009</a:t>
            </a:r>
            <a:endParaRPr lang="en-US" dirty="0"/>
          </a:p>
        </p:txBody>
      </p:sp>
      <p:pic>
        <p:nvPicPr>
          <p:cNvPr id="4" name="Content Placeholder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990600" y="1371600"/>
            <a:ext cx="7238999" cy="5029200"/>
          </a:xfrm>
        </p:spPr>
      </p:pic>
    </p:spTree>
    <p:extLst>
      <p:ext uri="{BB962C8B-B14F-4D97-AF65-F5344CB8AC3E}">
        <p14:creationId xmlns:p14="http://schemas.microsoft.com/office/powerpoint/2010/main" val="40028362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points about Heap Sort:</a:t>
            </a:r>
          </a:p>
        </p:txBody>
      </p:sp>
      <p:sp>
        <p:nvSpPr>
          <p:cNvPr id="3" name="Content Placeholder 2"/>
          <p:cNvSpPr>
            <a:spLocks noGrp="1"/>
          </p:cNvSpPr>
          <p:nvPr>
            <p:ph sz="quarter" idx="1"/>
          </p:nvPr>
        </p:nvSpPr>
        <p:spPr/>
        <p:txBody>
          <a:bodyPr/>
          <a:lstStyle/>
          <a:p>
            <a:r>
              <a:rPr lang="en-US" dirty="0" smtClean="0"/>
              <a:t>Heap </a:t>
            </a:r>
            <a:r>
              <a:rPr lang="en-US" dirty="0"/>
              <a:t>sort is an in-place algorithm. </a:t>
            </a:r>
          </a:p>
          <a:p>
            <a:r>
              <a:rPr lang="en-US" dirty="0"/>
              <a:t>Its typical implementation is not stable but can be made stable </a:t>
            </a:r>
            <a:r>
              <a:rPr lang="en-US" dirty="0" smtClean="0"/>
              <a:t>.</a:t>
            </a:r>
          </a:p>
          <a:p>
            <a:r>
              <a:rPr lang="en-US" dirty="0" smtClean="0"/>
              <a:t>Typically </a:t>
            </a:r>
            <a:r>
              <a:rPr lang="en-US" dirty="0"/>
              <a:t>2-3 times slower than well-implemented </a:t>
            </a:r>
            <a:r>
              <a:rPr lang="en-US" dirty="0" err="1"/>
              <a:t>QuickSort</a:t>
            </a:r>
            <a:r>
              <a:rPr lang="en-US" dirty="0"/>
              <a:t>.  The reason for slowness is a lack of locality of reference.</a:t>
            </a:r>
          </a:p>
        </p:txBody>
      </p:sp>
    </p:spTree>
    <p:extLst>
      <p:ext uri="{BB962C8B-B14F-4D97-AF65-F5344CB8AC3E}">
        <p14:creationId xmlns:p14="http://schemas.microsoft.com/office/powerpoint/2010/main" val="30749953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Locality </a:t>
            </a:r>
            <a:r>
              <a:rPr lang="en-US" dirty="0"/>
              <a:t>of </a:t>
            </a:r>
            <a:r>
              <a:rPr lang="en-US" dirty="0" smtClean="0"/>
              <a:t>Reference</a:t>
            </a:r>
            <a:r>
              <a:rPr lang="en-US" dirty="0"/>
              <a:t>.</a:t>
            </a:r>
          </a:p>
        </p:txBody>
      </p:sp>
      <p:sp>
        <p:nvSpPr>
          <p:cNvPr id="3" name="Content Placeholder 2"/>
          <p:cNvSpPr>
            <a:spLocks noGrp="1"/>
          </p:cNvSpPr>
          <p:nvPr>
            <p:ph sz="quarter" idx="1"/>
          </p:nvPr>
        </p:nvSpPr>
        <p:spPr/>
        <p:txBody>
          <a:bodyPr>
            <a:normAutofit fontScale="77500" lnSpcReduction="20000"/>
          </a:bodyPr>
          <a:lstStyle/>
          <a:p>
            <a:pPr algn="just"/>
            <a:r>
              <a:rPr lang="en-US" dirty="0"/>
              <a:t>The slowness of heap sort, in terms of its runtime performance, is indeed attributed to a lack of locality of reference. To understand this, we need to delve into the concept of locality of reference and how it impacts the efficiency of sorting algorithms.</a:t>
            </a:r>
          </a:p>
          <a:p>
            <a:pPr algn="just"/>
            <a:r>
              <a:rPr lang="en-US" dirty="0"/>
              <a:t>Locality of reference refers to the tendency of a computer program to access memory locations that are close to each other in a sequential or clustered manner. There are two primary types of locality of reference:</a:t>
            </a:r>
          </a:p>
          <a:p>
            <a:pPr algn="just"/>
            <a:r>
              <a:rPr lang="en-US" b="1" dirty="0"/>
              <a:t>Temporal Locality</a:t>
            </a:r>
            <a:r>
              <a:rPr lang="en-US" dirty="0"/>
              <a:t>: This occurs when a program frequently accesses the same memory locations over a short period of time. In other words, if you access a memory location once, you're likely to access it again in the near future.</a:t>
            </a:r>
          </a:p>
          <a:p>
            <a:pPr algn="just"/>
            <a:r>
              <a:rPr lang="en-US" b="1" dirty="0"/>
              <a:t>Spatial Locality</a:t>
            </a:r>
            <a:r>
              <a:rPr lang="en-US" dirty="0"/>
              <a:t>: This happens when a program accesses memory locations that are physically close to each other in a short time frame. In other words, if you access one memory location, you're likely to access nearby locations soon after.</a:t>
            </a:r>
          </a:p>
          <a:p>
            <a:endParaRPr lang="en-US" dirty="0"/>
          </a:p>
        </p:txBody>
      </p:sp>
    </p:spTree>
    <p:extLst>
      <p:ext uri="{BB962C8B-B14F-4D97-AF65-F5344CB8AC3E}">
        <p14:creationId xmlns:p14="http://schemas.microsoft.com/office/powerpoint/2010/main" val="2390075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47500" lnSpcReduction="20000"/>
          </a:bodyPr>
          <a:lstStyle/>
          <a:p>
            <a:pPr algn="just"/>
            <a:r>
              <a:rPr lang="en-US" dirty="0"/>
              <a:t>Now, let's relate this concept to heap sort:</a:t>
            </a:r>
          </a:p>
          <a:p>
            <a:pPr algn="just"/>
            <a:r>
              <a:rPr lang="en-US" dirty="0"/>
              <a:t>Heap sort relies on a binary heap data structure to maintain the elements being sorted. A binary heap is typically implemented as an array, where each element in the array represents a node in a binary tree. When elements are inserted, removed, or manipulated in a heap, they often jump around in memory, as the heap structure enforces specific relationships (e.g., parent-child relationships).</a:t>
            </a:r>
          </a:p>
          <a:p>
            <a:pPr algn="just"/>
            <a:r>
              <a:rPr lang="en-US" dirty="0"/>
              <a:t>The lack of locality of reference in heap sort becomes evident when you consider the following:</a:t>
            </a:r>
          </a:p>
          <a:p>
            <a:pPr algn="just"/>
            <a:r>
              <a:rPr lang="en-US" b="1" dirty="0"/>
              <a:t>Memory Access Patterns</a:t>
            </a:r>
            <a:r>
              <a:rPr lang="en-US" dirty="0"/>
              <a:t>: Heap sort frequently accesses memory locations that are not contiguous. Elements in the heap are rearranged as the algorithm progresses, which can result in memory jumps between different parts of the array. This leads to inefficient memory access patterns.</a:t>
            </a:r>
          </a:p>
          <a:p>
            <a:pPr algn="just"/>
            <a:r>
              <a:rPr lang="en-US" b="1" dirty="0"/>
              <a:t>Cache Performance</a:t>
            </a:r>
            <a:r>
              <a:rPr lang="en-US" dirty="0"/>
              <a:t>: Modern computer architectures, including CPUs, have various levels of cache memory to speed up memory access. Cache performance is significantly improved when there is good spatial locality, meaning nearby memory locations are accessed in quick succession. Heap sort's scattered memory access patterns can lead to cache misses, which are expensive in terms of time.</a:t>
            </a:r>
          </a:p>
          <a:p>
            <a:pPr algn="just"/>
            <a:r>
              <a:rPr lang="en-US" b="1" dirty="0"/>
              <a:t>Inefficient Memory Access</a:t>
            </a:r>
            <a:r>
              <a:rPr lang="en-US" dirty="0"/>
              <a:t>: Retrieving data from different parts of memory is slower compared to accessing data stored close together. Heap sort's memory access patterns make it less efficient in utilizing memory subsystems, leading to slower execution.</a:t>
            </a:r>
          </a:p>
          <a:p>
            <a:pPr algn="just"/>
            <a:r>
              <a:rPr lang="en-US" dirty="0"/>
              <a:t>In contrast, other sorting algorithms like quicksort and </a:t>
            </a:r>
            <a:r>
              <a:rPr lang="en-US" dirty="0" err="1"/>
              <a:t>mergesort</a:t>
            </a:r>
            <a:r>
              <a:rPr lang="en-US" dirty="0"/>
              <a:t> often exhibit better locality of reference. They operate on contiguous portions of the input data or have better memory access patterns, which can result in faster sorting times due to improved cache usage and more efficient memory access.</a:t>
            </a:r>
          </a:p>
          <a:p>
            <a:pPr algn="just"/>
            <a:r>
              <a:rPr lang="en-US" dirty="0"/>
              <a:t>In summary, the slowness of heap sort is primarily due to its inefficient memory access patterns and the lack of locality of reference, which can lead to less favorable cache performance and overall slower execution compared to some other sorting algorithms.</a:t>
            </a:r>
          </a:p>
          <a:p>
            <a:pPr algn="just"/>
            <a:endParaRPr lang="en-US" dirty="0"/>
          </a:p>
        </p:txBody>
      </p:sp>
    </p:spTree>
    <p:extLst>
      <p:ext uri="{BB962C8B-B14F-4D97-AF65-F5344CB8AC3E}">
        <p14:creationId xmlns:p14="http://schemas.microsoft.com/office/powerpoint/2010/main" val="2053870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905000"/>
            <a:ext cx="7014519" cy="3740342"/>
          </a:xfrm>
        </p:spPr>
      </p:pic>
    </p:spTree>
    <p:extLst>
      <p:ext uri="{BB962C8B-B14F-4D97-AF65-F5344CB8AC3E}">
        <p14:creationId xmlns:p14="http://schemas.microsoft.com/office/powerpoint/2010/main" val="33059678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28800" y="2133600"/>
            <a:ext cx="5893103" cy="3041700"/>
          </a:xfrm>
        </p:spPr>
      </p:pic>
    </p:spTree>
    <p:extLst>
      <p:ext uri="{BB962C8B-B14F-4D97-AF65-F5344CB8AC3E}">
        <p14:creationId xmlns:p14="http://schemas.microsoft.com/office/powerpoint/2010/main" val="41388261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a:t>
            </a:r>
            <a:endParaRPr lang="en-US" dirty="0"/>
          </a:p>
        </p:txBody>
      </p:sp>
      <p:sp>
        <p:nvSpPr>
          <p:cNvPr id="3" name="Content Placeholder 2"/>
          <p:cNvSpPr>
            <a:spLocks noGrp="1"/>
          </p:cNvSpPr>
          <p:nvPr>
            <p:ph sz="quarter" idx="1"/>
          </p:nvPr>
        </p:nvSpPr>
        <p:spPr/>
        <p:txBody>
          <a:bodyPr/>
          <a:lstStyle/>
          <a:p>
            <a:r>
              <a:rPr lang="en-US" dirty="0"/>
              <a:t>Heap sort is a comparison based sorting technique based on Binary Heap data </a:t>
            </a:r>
            <a:r>
              <a:rPr lang="en-US" dirty="0" smtClean="0"/>
              <a:t>structure. It is similar to selection sort where we first find the maximum element and place the maximum element at the end. </a:t>
            </a:r>
          </a:p>
          <a:p>
            <a:r>
              <a:rPr lang="en-US" dirty="0" smtClean="0"/>
              <a:t>We repeat the same process for remaining element.</a:t>
            </a:r>
            <a:endParaRPr lang="en-US" dirty="0"/>
          </a:p>
        </p:txBody>
      </p:sp>
    </p:spTree>
    <p:extLst>
      <p:ext uri="{BB962C8B-B14F-4D97-AF65-F5344CB8AC3E}">
        <p14:creationId xmlns:p14="http://schemas.microsoft.com/office/powerpoint/2010/main" val="31885335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a:t>
            </a:r>
            <a:endParaRPr lang="en-US" dirty="0"/>
          </a:p>
        </p:txBody>
      </p:sp>
      <p:sp>
        <p:nvSpPr>
          <p:cNvPr id="3" name="Content Placeholder 2"/>
          <p:cNvSpPr>
            <a:spLocks noGrp="1"/>
          </p:cNvSpPr>
          <p:nvPr>
            <p:ph sz="quarter" idx="1"/>
          </p:nvPr>
        </p:nvSpPr>
        <p:spPr/>
        <p:txBody>
          <a:bodyPr/>
          <a:lstStyle/>
          <a:p>
            <a:r>
              <a:rPr lang="en-US" dirty="0">
                <a:hlinkClick r:id="rId2"/>
              </a:rPr>
              <a:t>https://www.geeksforgeeks.org/heap-sort</a:t>
            </a:r>
            <a:r>
              <a:rPr lang="en-US" dirty="0" smtClean="0">
                <a:hlinkClick r:id="rId2"/>
              </a:rPr>
              <a:t>/</a:t>
            </a:r>
            <a:endParaRPr lang="en-US" dirty="0" smtClean="0"/>
          </a:p>
          <a:p>
            <a:endParaRPr lang="en-US" dirty="0"/>
          </a:p>
          <a:p>
            <a:endParaRPr lang="en-US" dirty="0" smtClean="0"/>
          </a:p>
          <a:p>
            <a:pPr marL="0" indent="0">
              <a:buNone/>
            </a:pPr>
            <a:endParaRPr lang="en-US" dirty="0"/>
          </a:p>
        </p:txBody>
      </p:sp>
    </p:spTree>
    <p:extLst>
      <p:ext uri="{BB962C8B-B14F-4D97-AF65-F5344CB8AC3E}">
        <p14:creationId xmlns:p14="http://schemas.microsoft.com/office/powerpoint/2010/main" val="19756625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descr="C:\Users\sanwarul\Desktop\heap1.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76200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6108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noChangeAspect="1"/>
          </p:cNvGraphicFramePr>
          <p:nvPr>
            <p:ph sz="quarter" idx="1"/>
            <p:extLst>
              <p:ext uri="{D42A27DB-BD31-4B8C-83A1-F6EECF244321}">
                <p14:modId xmlns:p14="http://schemas.microsoft.com/office/powerpoint/2010/main" val="660725008"/>
              </p:ext>
            </p:extLst>
          </p:nvPr>
        </p:nvGraphicFramePr>
        <p:xfrm>
          <a:off x="385763" y="1362075"/>
          <a:ext cx="7610475" cy="5349875"/>
        </p:xfrm>
        <a:graphic>
          <a:graphicData uri="http://schemas.openxmlformats.org/presentationml/2006/ole">
            <mc:AlternateContent xmlns:mc="http://schemas.openxmlformats.org/markup-compatibility/2006">
              <mc:Choice xmlns:v="urn:schemas-microsoft-com:vml" Requires="v">
                <p:oleObj spid="_x0000_s1055" name="Packager Shell Object" showAsIcon="1" r:id="rId3" imgW="683640" imgH="481320" progId="Package">
                  <p:embed/>
                </p:oleObj>
              </mc:Choice>
              <mc:Fallback>
                <p:oleObj name="Packager Shell Object" showAsIcon="1" r:id="rId3" imgW="683640" imgH="481320" progId="Package">
                  <p:embed/>
                  <p:pic>
                    <p:nvPicPr>
                      <p:cNvPr id="4" name="Content Placeholder 3"/>
                      <p:cNvPicPr/>
                      <p:nvPr/>
                    </p:nvPicPr>
                    <p:blipFill>
                      <a:blip r:embed="rId4"/>
                      <a:stretch>
                        <a:fillRect/>
                      </a:stretch>
                    </p:blipFill>
                    <p:spPr>
                      <a:xfrm>
                        <a:off x="385763" y="1362075"/>
                        <a:ext cx="7610475" cy="5349875"/>
                      </a:xfrm>
                      <a:prstGeom prst="rect">
                        <a:avLst/>
                      </a:prstGeom>
                    </p:spPr>
                  </p:pic>
                </p:oleObj>
              </mc:Fallback>
            </mc:AlternateContent>
          </a:graphicData>
        </a:graphic>
      </p:graphicFrame>
    </p:spTree>
    <p:extLst>
      <p:ext uri="{BB962C8B-B14F-4D97-AF65-F5344CB8AC3E}">
        <p14:creationId xmlns:p14="http://schemas.microsoft.com/office/powerpoint/2010/main" val="10454563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a:t>Worst, Average and Best Case Time Complexity: </a:t>
            </a:r>
            <a:r>
              <a:rPr lang="en-US" dirty="0" smtClean="0"/>
              <a:t>O(n</a:t>
            </a:r>
            <a:r>
              <a:rPr lang="en-US" dirty="0"/>
              <a:t> </a:t>
            </a:r>
            <a:r>
              <a:rPr lang="en-US" dirty="0" smtClean="0"/>
              <a:t>log n). </a:t>
            </a:r>
            <a:r>
              <a:rPr lang="en-US" dirty="0"/>
              <a:t>Worst case occurs when array is reverse sorted</a:t>
            </a:r>
            <a:r>
              <a:rPr lang="en-US" dirty="0" smtClean="0"/>
              <a:t>.</a:t>
            </a:r>
          </a:p>
          <a:p>
            <a:r>
              <a:rPr lang="en-US" dirty="0"/>
              <a:t>Auxiliary space: O(1)</a:t>
            </a:r>
          </a:p>
          <a:p>
            <a:r>
              <a:rPr lang="en-US" dirty="0"/>
              <a:t>Stable: No</a:t>
            </a:r>
          </a:p>
          <a:p>
            <a:r>
              <a:rPr lang="en-US" dirty="0"/>
              <a:t>Sorting In place: Yes</a:t>
            </a:r>
          </a:p>
          <a:p>
            <a:endParaRPr lang="en-US" dirty="0"/>
          </a:p>
          <a:p>
            <a:endParaRPr lang="en-US" dirty="0"/>
          </a:p>
        </p:txBody>
      </p:sp>
    </p:spTree>
    <p:extLst>
      <p:ext uri="{BB962C8B-B14F-4D97-AF65-F5344CB8AC3E}">
        <p14:creationId xmlns:p14="http://schemas.microsoft.com/office/powerpoint/2010/main" val="406214529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9889</TotalTime>
  <Words>2555</Words>
  <Application>Microsoft Office PowerPoint</Application>
  <PresentationFormat>On-screen Show (4:3)</PresentationFormat>
  <Paragraphs>371</Paragraphs>
  <Slides>45</Slides>
  <Notes>30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5" baseType="lpstr">
      <vt:lpstr>Arial</vt:lpstr>
      <vt:lpstr>Arial Unicode MS</vt:lpstr>
      <vt:lpstr>Calibri</vt:lpstr>
      <vt:lpstr>Century Schoolbook</vt:lpstr>
      <vt:lpstr>Monotype Sorts</vt:lpstr>
      <vt:lpstr>Times New Roman</vt:lpstr>
      <vt:lpstr>Wingdings</vt:lpstr>
      <vt:lpstr>Wingdings 2</vt:lpstr>
      <vt:lpstr>Oriel</vt:lpstr>
      <vt:lpstr>Package</vt:lpstr>
      <vt:lpstr>Heaps</vt:lpstr>
      <vt:lpstr>Heaps</vt:lpstr>
      <vt:lpstr>Heaps</vt:lpstr>
      <vt:lpstr>Heaps</vt:lpstr>
      <vt:lpstr>Heaps</vt:lpstr>
      <vt:lpstr>Heaps</vt:lpstr>
      <vt:lpstr>Heaps</vt:lpstr>
      <vt:lpstr>Heaps</vt:lpstr>
      <vt:lpstr>Heaps</vt:lpstr>
      <vt:lpstr>Heaps</vt:lpstr>
      <vt:lpstr>Heaps</vt:lpstr>
      <vt:lpstr>Heaps</vt:lpstr>
      <vt:lpstr>Adding a Node to a Heap</vt:lpstr>
      <vt:lpstr>Adding a Node to a Heap</vt:lpstr>
      <vt:lpstr>Adding a Node to a Heap</vt:lpstr>
      <vt:lpstr>Adding a Node to a Heap</vt:lpstr>
      <vt:lpstr>Removing the Top of a Heap</vt:lpstr>
      <vt:lpstr>Removing the Top of a Heap</vt:lpstr>
      <vt:lpstr>Removing the Top of a Heap</vt:lpstr>
      <vt:lpstr>Removing the Top of a Heap</vt:lpstr>
      <vt:lpstr>Removing the Top of a Heap</vt:lpstr>
      <vt:lpstr>Removing the Top of a Heap</vt:lpstr>
      <vt:lpstr>Implementing a Heap</vt:lpstr>
      <vt:lpstr>Implementing a Heap</vt:lpstr>
      <vt:lpstr>Implementing a Heap</vt:lpstr>
      <vt:lpstr>Implementing a Heap</vt:lpstr>
      <vt:lpstr>Implementing a Heap</vt:lpstr>
      <vt:lpstr>Important Points about the Implementation</vt:lpstr>
      <vt:lpstr>Important Points about the Implementation</vt:lpstr>
      <vt:lpstr>   Summary</vt:lpstr>
      <vt:lpstr>Heap Sort</vt:lpstr>
      <vt:lpstr>Array Representation of Binary Tree</vt:lpstr>
      <vt:lpstr>Full Binary Tree Vs Complete Binary Tree</vt:lpstr>
      <vt:lpstr>Heap</vt:lpstr>
      <vt:lpstr>Gate 2009</vt:lpstr>
      <vt:lpstr>Important points about Heap Sort:</vt:lpstr>
      <vt:lpstr>Locality of Reference.</vt:lpstr>
      <vt:lpstr>PowerPoint Presentation</vt:lpstr>
      <vt:lpstr>PowerPoint Presentation</vt:lpstr>
      <vt:lpstr>PowerPoint Presentation</vt:lpstr>
      <vt:lpstr>Heap Sort</vt:lpstr>
      <vt:lpstr>Heap Sort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AVL TREE</dc:title>
  <dc:creator>Shahina Anwarul</dc:creator>
  <cp:lastModifiedBy>Shahina Anwarul</cp:lastModifiedBy>
  <cp:revision>54</cp:revision>
  <dcterms:created xsi:type="dcterms:W3CDTF">2018-04-08T10:17:27Z</dcterms:created>
  <dcterms:modified xsi:type="dcterms:W3CDTF">2025-04-14T08:28:47Z</dcterms:modified>
</cp:coreProperties>
</file>