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1"/>
  </p:notesMasterIdLst>
  <p:sldIdLst>
    <p:sldId id="330" r:id="rId2"/>
    <p:sldId id="291" r:id="rId3"/>
    <p:sldId id="332" r:id="rId4"/>
    <p:sldId id="333" r:id="rId5"/>
    <p:sldId id="292" r:id="rId6"/>
    <p:sldId id="293" r:id="rId7"/>
    <p:sldId id="337" r:id="rId8"/>
    <p:sldId id="334" r:id="rId9"/>
    <p:sldId id="307" r:id="rId10"/>
    <p:sldId id="306" r:id="rId11"/>
    <p:sldId id="305" r:id="rId12"/>
    <p:sldId id="304" r:id="rId13"/>
    <p:sldId id="335" r:id="rId14"/>
    <p:sldId id="303" r:id="rId15"/>
    <p:sldId id="316" r:id="rId16"/>
    <p:sldId id="323" r:id="rId17"/>
    <p:sldId id="322" r:id="rId18"/>
    <p:sldId id="321" r:id="rId19"/>
    <p:sldId id="320" r:id="rId20"/>
    <p:sldId id="319" r:id="rId21"/>
    <p:sldId id="361" r:id="rId22"/>
    <p:sldId id="302" r:id="rId23"/>
    <p:sldId id="301" r:id="rId24"/>
    <p:sldId id="300" r:id="rId25"/>
    <p:sldId id="299" r:id="rId26"/>
    <p:sldId id="298" r:id="rId27"/>
    <p:sldId id="296" r:id="rId28"/>
    <p:sldId id="294" r:id="rId29"/>
    <p:sldId id="328" r:id="rId30"/>
    <p:sldId id="326" r:id="rId31"/>
    <p:sldId id="329" r:id="rId32"/>
    <p:sldId id="336" r:id="rId33"/>
    <p:sldId id="351" r:id="rId34"/>
    <p:sldId id="338" r:id="rId35"/>
    <p:sldId id="352" r:id="rId36"/>
    <p:sldId id="354" r:id="rId37"/>
    <p:sldId id="355" r:id="rId38"/>
    <p:sldId id="356" r:id="rId39"/>
    <p:sldId id="357" r:id="rId40"/>
    <p:sldId id="359" r:id="rId41"/>
    <p:sldId id="360" r:id="rId42"/>
    <p:sldId id="362" r:id="rId43"/>
    <p:sldId id="363" r:id="rId44"/>
    <p:sldId id="364" r:id="rId45"/>
    <p:sldId id="342" r:id="rId46"/>
    <p:sldId id="365" r:id="rId47"/>
    <p:sldId id="345" r:id="rId48"/>
    <p:sldId id="347" r:id="rId49"/>
    <p:sldId id="346"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221" autoAdjust="0"/>
    <p:restoredTop sz="93800" autoAdjust="0"/>
  </p:normalViewPr>
  <p:slideViewPr>
    <p:cSldViewPr snapToGrid="0">
      <p:cViewPr varScale="1">
        <p:scale>
          <a:sx n="67" d="100"/>
          <a:sy n="67" d="100"/>
        </p:scale>
        <p:origin x="60" y="8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A91EB-9D04-4B2B-A8EC-C26057F35368}"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EAF083-6659-4761-8DBD-F9B281D98BC7}" type="slidenum">
              <a:rPr lang="en-US" smtClean="0"/>
              <a:t>‹#›</a:t>
            </a:fld>
            <a:endParaRPr lang="en-US"/>
          </a:p>
        </p:txBody>
      </p:sp>
    </p:spTree>
    <p:extLst>
      <p:ext uri="{BB962C8B-B14F-4D97-AF65-F5344CB8AC3E}">
        <p14:creationId xmlns:p14="http://schemas.microsoft.com/office/powerpoint/2010/main" val="250341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https://www.w3resource.com/c-programming-exercises/linked_list/index.php</a:t>
            </a:r>
          </a:p>
          <a:p>
            <a:r>
              <a:rPr lang="en-US" smtClean="0"/>
              <a:t>http://www.ggu.ac.in/download/IT/Inf%20Tech%20Pankaj%20Chandra%20B%20Tech%20%20IV%20Data%20Structure%20-%20Model%20Answer.pdf</a:t>
            </a:r>
          </a:p>
          <a:p>
            <a:endParaRPr lang="en-US" dirty="0"/>
          </a:p>
        </p:txBody>
      </p:sp>
      <p:sp>
        <p:nvSpPr>
          <p:cNvPr id="4" name="Slide Number Placeholder 3"/>
          <p:cNvSpPr>
            <a:spLocks noGrp="1"/>
          </p:cNvSpPr>
          <p:nvPr>
            <p:ph type="sldNum" sz="quarter" idx="10"/>
          </p:nvPr>
        </p:nvSpPr>
        <p:spPr/>
        <p:txBody>
          <a:bodyPr/>
          <a:lstStyle/>
          <a:p>
            <a:fld id="{B0EAF083-6659-4761-8DBD-F9B281D98BC7}" type="slidenum">
              <a:rPr lang="en-US" smtClean="0"/>
              <a:t>1</a:t>
            </a:fld>
            <a:endParaRPr lang="en-US"/>
          </a:p>
        </p:txBody>
      </p:sp>
    </p:spTree>
    <p:extLst>
      <p:ext uri="{BB962C8B-B14F-4D97-AF65-F5344CB8AC3E}">
        <p14:creationId xmlns:p14="http://schemas.microsoft.com/office/powerpoint/2010/main" val="217558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Ans</a:t>
            </a:r>
            <a:r>
              <a:rPr lang="en-US" dirty="0" smtClean="0"/>
              <a:t> C</a:t>
            </a:r>
          </a:p>
          <a:p>
            <a:r>
              <a:rPr lang="en-US" dirty="0" err="1" smtClean="0"/>
              <a:t>Ans</a:t>
            </a:r>
            <a:r>
              <a:rPr lang="en-US" dirty="0" smtClean="0"/>
              <a:t> 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5ED033D8-1DB7-4E34-8C6A-A80AF3BD44F7}" type="slidenum">
              <a:rPr lang="en-US" smtClean="0"/>
              <a:t>41</a:t>
            </a:fld>
            <a:endParaRPr lang="en-US"/>
          </a:p>
        </p:txBody>
      </p:sp>
    </p:spTree>
    <p:extLst>
      <p:ext uri="{BB962C8B-B14F-4D97-AF65-F5344CB8AC3E}">
        <p14:creationId xmlns:p14="http://schemas.microsoft.com/office/powerpoint/2010/main" val="3758313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smtClean="0"/>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3/16/2026</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31260"/>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1251678" y="1506829"/>
            <a:ext cx="10178322" cy="5214646"/>
          </a:xfrm>
        </p:spPr>
        <p:txBody>
          <a:bodyPr>
            <a:normAutofit/>
          </a:bodyPr>
          <a:lstStyle>
            <a:lvl1pPr>
              <a:defRPr sz="1800">
                <a:latin typeface="Georgia" panose="02040502050405020303" pitchFamily="18" charset="0"/>
              </a:defRPr>
            </a:lvl1pPr>
            <a:lvl2pPr>
              <a:defRPr sz="1800">
                <a:latin typeface="Georgia" panose="02040502050405020303" pitchFamily="18" charset="0"/>
              </a:defRPr>
            </a:lvl2pPr>
            <a:lvl3pPr>
              <a:defRPr sz="1800">
                <a:latin typeface="Georgia" panose="02040502050405020303" pitchFamily="18" charset="0"/>
              </a:defRPr>
            </a:lvl3pPr>
            <a:lvl4pPr>
              <a:defRPr sz="1800">
                <a:latin typeface="Georgia" panose="02040502050405020303" pitchFamily="18" charset="0"/>
              </a:defRPr>
            </a:lvl4pPr>
            <a:lvl5pPr>
              <a:defRPr sz="1800">
                <a:latin typeface="Georgia" panose="02040502050405020303" pitchFamily="18" charset="0"/>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3/16/2026</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3/16/2026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3/16/2026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3/16/2026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smtClean="0"/>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3/16/2026</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3/16/2026</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2024</a:t>
            </a:r>
          </a:p>
        </p:txBody>
      </p:sp>
      <p:sp>
        <p:nvSpPr>
          <p:cNvPr id="3" name="Footer Placeholder 2"/>
          <p:cNvSpPr>
            <a:spLocks noGrp="1"/>
          </p:cNvSpPr>
          <p:nvPr>
            <p:ph type="ftr" sz="quarter" idx="11"/>
          </p:nvPr>
        </p:nvSpPr>
        <p:spPr/>
        <p:txBody>
          <a:bodyPr/>
          <a:lstStyle/>
          <a:p>
            <a:r>
              <a:rPr lang="en-US"/>
              <a:t>Data Structures and Algorithms</a:t>
            </a:r>
          </a:p>
        </p:txBody>
      </p:sp>
      <p:sp>
        <p:nvSpPr>
          <p:cNvPr id="4" name="Slide Number Placeholder 3"/>
          <p:cNvSpPr>
            <a:spLocks noGrp="1"/>
          </p:cNvSpPr>
          <p:nvPr>
            <p:ph type="sldNum" sz="quarter" idx="12"/>
          </p:nvPr>
        </p:nvSpPr>
        <p:spPr/>
        <p:txBody>
          <a:bodyPr/>
          <a:lstStyle/>
          <a:p>
            <a:fld id="{EB1023CF-B329-E444-9BAC-9F50F1C2498A}" type="slidenum">
              <a:rPr lang="en-US" smtClean="0"/>
              <a:pPr/>
              <a:t>‹#›</a:t>
            </a:fld>
            <a:endParaRPr lang="en-US"/>
          </a:p>
        </p:txBody>
      </p:sp>
      <p:sp>
        <p:nvSpPr>
          <p:cNvPr id="5" name="Title Placeholder 1">
            <a:extLst>
              <a:ext uri="{FF2B5EF4-FFF2-40B4-BE49-F238E27FC236}">
                <a16:creationId xmlns:a16="http://schemas.microsoft.com/office/drawing/2014/main" id="{7E9BCB5A-9765-46B3-8024-522FDFBD4395}"/>
              </a:ext>
            </a:extLst>
          </p:cNvPr>
          <p:cNvSpPr>
            <a:spLocks noGrp="1"/>
          </p:cNvSpPr>
          <p:nvPr>
            <p:ph type="title"/>
          </p:nvPr>
        </p:nvSpPr>
        <p:spPr>
          <a:xfrm>
            <a:off x="762000" y="427039"/>
            <a:ext cx="10972800" cy="1143000"/>
          </a:xfrm>
          <a:prstGeom prst="rect">
            <a:avLst/>
          </a:prstGeom>
        </p:spPr>
        <p:txBody>
          <a:bodyPr vert="horz" lIns="91438" tIns="45719" rIns="91438" bIns="45719" rtlCol="0" anchor="ctr">
            <a:normAutofit/>
          </a:bodyPr>
          <a:lstStyle/>
          <a:p>
            <a:r>
              <a:rPr lang="en-US" dirty="0"/>
              <a:t>Click to edit Master title style</a:t>
            </a:r>
          </a:p>
        </p:txBody>
      </p:sp>
      <p:sp>
        <p:nvSpPr>
          <p:cNvPr id="6" name="Text Placeholder 2">
            <a:extLst>
              <a:ext uri="{FF2B5EF4-FFF2-40B4-BE49-F238E27FC236}">
                <a16:creationId xmlns:a16="http://schemas.microsoft.com/office/drawing/2014/main" id="{ABC7395B-BA29-4C79-BEEB-EE53CCFC2685}"/>
              </a:ext>
            </a:extLst>
          </p:cNvPr>
          <p:cNvSpPr>
            <a:spLocks noGrp="1"/>
          </p:cNvSpPr>
          <p:nvPr>
            <p:ph idx="1" hasCustomPrompt="1"/>
          </p:nvPr>
        </p:nvSpPr>
        <p:spPr>
          <a:xfrm>
            <a:off x="762000" y="1752601"/>
            <a:ext cx="10972800" cy="4525963"/>
          </a:xfrm>
          <a:prstGeom prst="rect">
            <a:avLst/>
          </a:prstGeom>
        </p:spPr>
        <p:txBody>
          <a:bodyPr vert="horz" lIns="91438" tIns="45719" rIns="91438" bIns="45719" rtlCol="0">
            <a:normAutofit/>
          </a:bodyPr>
          <a:lstStyle>
            <a:lvl1pPr>
              <a:defRPr/>
            </a:lvl1pPr>
          </a:lstStyle>
          <a:p>
            <a:pPr lvl="0"/>
            <a:r>
              <a:rPr lang="en-US" dirty="0"/>
              <a:t>Text</a:t>
            </a:r>
          </a:p>
        </p:txBody>
      </p:sp>
      <p:sp>
        <p:nvSpPr>
          <p:cNvPr id="8" name="Slide Number Placeholder 5">
            <a:extLst>
              <a:ext uri="{FF2B5EF4-FFF2-40B4-BE49-F238E27FC236}">
                <a16:creationId xmlns:a16="http://schemas.microsoft.com/office/drawing/2014/main" id="{6A950C3E-4668-4901-9878-0DF46FD8E602}"/>
              </a:ext>
            </a:extLst>
          </p:cNvPr>
          <p:cNvSpPr txBox="1">
            <a:spLocks/>
          </p:cNvSpPr>
          <p:nvPr userDrawn="1"/>
        </p:nvSpPr>
        <p:spPr>
          <a:xfrm>
            <a:off x="8890000" y="6508752"/>
            <a:ext cx="2844800" cy="365125"/>
          </a:xfrm>
          <a:prstGeom prst="rect">
            <a:avLst/>
          </a:prstGeom>
        </p:spPr>
        <p:txBody>
          <a:bodyPr vert="horz" lIns="91438" tIns="45719" rIns="91438" bIns="45719" rtlCol="0" anchor="ctr"/>
          <a:lstStyle>
            <a:defPPr>
              <a:defRPr lang="en-US"/>
            </a:defPPr>
            <a:lvl1pPr marL="0" algn="r" defTabSz="457189" rtl="0" eaLnBrk="1" latinLnBrk="0" hangingPunct="1">
              <a:defRPr sz="1200" kern="1200">
                <a:solidFill>
                  <a:schemeClr val="tx1">
                    <a:tint val="75000"/>
                  </a:schemeClr>
                </a:solidFill>
                <a:latin typeface="+mn-lt"/>
                <a:ea typeface="+mn-ea"/>
                <a:cs typeface="+mn-cs"/>
              </a:defRPr>
            </a:lvl1pPr>
            <a:lvl2pPr marL="457189" algn="l" defTabSz="457189" rtl="0" eaLnBrk="1" latinLnBrk="0" hangingPunct="1">
              <a:defRPr sz="1900" kern="1200">
                <a:solidFill>
                  <a:schemeClr val="tx1"/>
                </a:solidFill>
                <a:latin typeface="+mn-lt"/>
                <a:ea typeface="+mn-ea"/>
                <a:cs typeface="+mn-cs"/>
              </a:defRPr>
            </a:lvl2pPr>
            <a:lvl3pPr marL="914377" algn="l" defTabSz="457189" rtl="0" eaLnBrk="1" latinLnBrk="0" hangingPunct="1">
              <a:defRPr sz="1900" kern="1200">
                <a:solidFill>
                  <a:schemeClr val="tx1"/>
                </a:solidFill>
                <a:latin typeface="+mn-lt"/>
                <a:ea typeface="+mn-ea"/>
                <a:cs typeface="+mn-cs"/>
              </a:defRPr>
            </a:lvl3pPr>
            <a:lvl4pPr marL="1371566" algn="l" defTabSz="457189" rtl="0" eaLnBrk="1" latinLnBrk="0" hangingPunct="1">
              <a:defRPr sz="1900" kern="1200">
                <a:solidFill>
                  <a:schemeClr val="tx1"/>
                </a:solidFill>
                <a:latin typeface="+mn-lt"/>
                <a:ea typeface="+mn-ea"/>
                <a:cs typeface="+mn-cs"/>
              </a:defRPr>
            </a:lvl4pPr>
            <a:lvl5pPr marL="1828754" algn="l" defTabSz="457189" rtl="0" eaLnBrk="1" latinLnBrk="0" hangingPunct="1">
              <a:defRPr sz="1900" kern="1200">
                <a:solidFill>
                  <a:schemeClr val="tx1"/>
                </a:solidFill>
                <a:latin typeface="+mn-lt"/>
                <a:ea typeface="+mn-ea"/>
                <a:cs typeface="+mn-cs"/>
              </a:defRPr>
            </a:lvl5pPr>
            <a:lvl6pPr marL="2285943" algn="l" defTabSz="457189" rtl="0" eaLnBrk="1" latinLnBrk="0" hangingPunct="1">
              <a:defRPr sz="1900" kern="1200">
                <a:solidFill>
                  <a:schemeClr val="tx1"/>
                </a:solidFill>
                <a:latin typeface="+mn-lt"/>
                <a:ea typeface="+mn-ea"/>
                <a:cs typeface="+mn-cs"/>
              </a:defRPr>
            </a:lvl6pPr>
            <a:lvl7pPr marL="2743131" algn="l" defTabSz="457189" rtl="0" eaLnBrk="1" latinLnBrk="0" hangingPunct="1">
              <a:defRPr sz="1900" kern="1200">
                <a:solidFill>
                  <a:schemeClr val="tx1"/>
                </a:solidFill>
                <a:latin typeface="+mn-lt"/>
                <a:ea typeface="+mn-ea"/>
                <a:cs typeface="+mn-cs"/>
              </a:defRPr>
            </a:lvl7pPr>
            <a:lvl8pPr marL="3200320" algn="l" defTabSz="457189" rtl="0" eaLnBrk="1" latinLnBrk="0" hangingPunct="1">
              <a:defRPr sz="1900" kern="1200">
                <a:solidFill>
                  <a:schemeClr val="tx1"/>
                </a:solidFill>
                <a:latin typeface="+mn-lt"/>
                <a:ea typeface="+mn-ea"/>
                <a:cs typeface="+mn-cs"/>
              </a:defRPr>
            </a:lvl8pPr>
            <a:lvl9pPr marL="3657509" algn="l" defTabSz="457189" rtl="0" eaLnBrk="1" latinLnBrk="0" hangingPunct="1">
              <a:defRPr sz="1900" kern="1200">
                <a:solidFill>
                  <a:schemeClr val="tx1"/>
                </a:solidFill>
                <a:latin typeface="+mn-lt"/>
                <a:ea typeface="+mn-ea"/>
                <a:cs typeface="+mn-cs"/>
              </a:defRPr>
            </a:lvl9pPr>
          </a:lstStyle>
          <a:p>
            <a:fld id="{EB1023CF-B329-E444-9BAC-9F50F1C2498A}" type="slidenum">
              <a:rPr lang="en-US" smtClean="0"/>
              <a:pPr/>
              <a:t>‹#›</a:t>
            </a:fld>
            <a:endParaRPr lang="en-US"/>
          </a:p>
        </p:txBody>
      </p:sp>
    </p:spTree>
    <p:extLst>
      <p:ext uri="{BB962C8B-B14F-4D97-AF65-F5344CB8AC3E}">
        <p14:creationId xmlns:p14="http://schemas.microsoft.com/office/powerpoint/2010/main" val="2025291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3/16/2026</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emf"/></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0.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23.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geeksforgeeks.org/implement-a-stack-using-single-queue/"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hyperlink" Target="https://www.geeksforgeeks.org/quizzes/top-mcqs-on-queue-data-structure-with-answers/" TargetMode="Externa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hyperlink" Target="https://www.geeksforgeeks.org/top-50-problems-on-queue-data-structure-asked-in-sde-interviews/"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Stack &amp; Queue</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Tree>
    <p:extLst>
      <p:ext uri="{BB962C8B-B14F-4D97-AF65-F5344CB8AC3E}">
        <p14:creationId xmlns:p14="http://schemas.microsoft.com/office/powerpoint/2010/main" val="16199970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queue data structure</a:t>
            </a:r>
            <a:endParaRPr lang="en-US" sz="3200" dirty="0"/>
          </a:p>
        </p:txBody>
      </p:sp>
      <p:sp>
        <p:nvSpPr>
          <p:cNvPr id="3" name="Content Placeholder 2"/>
          <p:cNvSpPr>
            <a:spLocks noGrp="1"/>
          </p:cNvSpPr>
          <p:nvPr>
            <p:ph idx="1"/>
          </p:nvPr>
        </p:nvSpPr>
        <p:spPr/>
        <p:txBody>
          <a:bodyPr/>
          <a:lstStyle/>
          <a:p>
            <a:pPr marL="0" indent="0">
              <a:buNone/>
            </a:pPr>
            <a:r>
              <a:rPr lang="en-US" dirty="0">
                <a:solidFill>
                  <a:schemeClr val="tx1"/>
                </a:solidFill>
              </a:rPr>
              <a:t>Like </a:t>
            </a:r>
            <a:r>
              <a:rPr lang="en-US" dirty="0" smtClean="0">
                <a:solidFill>
                  <a:schemeClr val="tx1"/>
                </a:solidFill>
              </a:rPr>
              <a:t>Stack</a:t>
            </a:r>
            <a:r>
              <a:rPr lang="en-US" dirty="0">
                <a:solidFill>
                  <a:schemeClr val="tx1"/>
                </a:solidFill>
              </a:rPr>
              <a:t>, Queue is a linear structure which follows a particular order in which the operations are performed. The order is </a:t>
            </a:r>
            <a:r>
              <a:rPr lang="en-US" b="1" dirty="0">
                <a:solidFill>
                  <a:schemeClr val="tx1"/>
                </a:solidFill>
              </a:rPr>
              <a:t>F</a:t>
            </a:r>
            <a:r>
              <a:rPr lang="en-US" dirty="0">
                <a:solidFill>
                  <a:schemeClr val="tx1"/>
                </a:solidFill>
              </a:rPr>
              <a:t>irst </a:t>
            </a:r>
            <a:r>
              <a:rPr lang="en-US" b="1" dirty="0">
                <a:solidFill>
                  <a:schemeClr val="tx1"/>
                </a:solidFill>
              </a:rPr>
              <a:t>I</a:t>
            </a:r>
            <a:r>
              <a:rPr lang="en-US" dirty="0">
                <a:solidFill>
                  <a:schemeClr val="tx1"/>
                </a:solidFill>
              </a:rPr>
              <a:t>n </a:t>
            </a:r>
            <a:r>
              <a:rPr lang="en-US" b="1" dirty="0">
                <a:solidFill>
                  <a:schemeClr val="tx1"/>
                </a:solidFill>
              </a:rPr>
              <a:t>F</a:t>
            </a:r>
            <a:r>
              <a:rPr lang="en-US" dirty="0">
                <a:solidFill>
                  <a:schemeClr val="tx1"/>
                </a:solidFill>
              </a:rPr>
              <a:t>irst </a:t>
            </a:r>
            <a:r>
              <a:rPr lang="en-US" b="1" dirty="0">
                <a:solidFill>
                  <a:schemeClr val="tx1"/>
                </a:solidFill>
              </a:rPr>
              <a:t>O</a:t>
            </a:r>
            <a:r>
              <a:rPr lang="en-US" dirty="0">
                <a:solidFill>
                  <a:schemeClr val="tx1"/>
                </a:solidFill>
              </a:rPr>
              <a:t>ut (FIFO).  </a:t>
            </a:r>
            <a:endParaRPr lang="en-US" dirty="0" smtClean="0">
              <a:solidFill>
                <a:schemeClr val="tx1"/>
              </a:solidFill>
            </a:endParaRPr>
          </a:p>
          <a:p>
            <a:pPr marL="0" indent="0">
              <a:buNone/>
            </a:pPr>
            <a:r>
              <a:rPr lang="en-US" dirty="0" smtClean="0">
                <a:solidFill>
                  <a:schemeClr val="tx1"/>
                </a:solidFill>
              </a:rPr>
              <a:t>A </a:t>
            </a:r>
            <a:r>
              <a:rPr lang="en-US" dirty="0">
                <a:solidFill>
                  <a:schemeClr val="tx1"/>
                </a:solidFill>
              </a:rPr>
              <a:t>good example of queue is any queue of consumers for a resource where the consumer that came first is served </a:t>
            </a:r>
            <a:r>
              <a:rPr lang="en-US" dirty="0" smtClean="0">
                <a:solidFill>
                  <a:schemeClr val="tx1"/>
                </a:solidFill>
              </a:rPr>
              <a:t>first.</a:t>
            </a:r>
          </a:p>
          <a:p>
            <a:pPr marL="0" indent="0">
              <a:buNone/>
            </a:pPr>
            <a:r>
              <a:rPr lang="en-US" dirty="0" smtClean="0">
                <a:solidFill>
                  <a:schemeClr val="tx1"/>
                </a:solidFill>
              </a:rPr>
              <a:t>The </a:t>
            </a:r>
            <a:r>
              <a:rPr lang="en-US" dirty="0">
                <a:solidFill>
                  <a:schemeClr val="tx1"/>
                </a:solidFill>
              </a:rPr>
              <a:t>difference between stacks and queues is in removing. In a stack we remove the item the most recently added; in a queue, we remove the item the least recently added</a:t>
            </a:r>
            <a:r>
              <a:rPr lang="en-US" dirty="0" smtClean="0">
                <a:solidFill>
                  <a:schemeClr val="tx1"/>
                </a:solidFill>
              </a:rPr>
              <a:t>.</a:t>
            </a:r>
          </a:p>
          <a:p>
            <a:pPr marL="0" indent="0" fontAlgn="base">
              <a:buNone/>
            </a:pPr>
            <a:r>
              <a:rPr lang="en-US" b="1" dirty="0">
                <a:solidFill>
                  <a:srgbClr val="002060"/>
                </a:solidFill>
              </a:rPr>
              <a:t>Operations on Queue:</a:t>
            </a:r>
            <a:r>
              <a:rPr lang="en-US" dirty="0">
                <a:solidFill>
                  <a:schemeClr val="tx1"/>
                </a:solidFill>
              </a:rPr>
              <a:t/>
            </a:r>
            <a:br>
              <a:rPr lang="en-US" dirty="0">
                <a:solidFill>
                  <a:schemeClr val="tx1"/>
                </a:solidFill>
              </a:rPr>
            </a:br>
            <a:r>
              <a:rPr lang="en-US" dirty="0">
                <a:solidFill>
                  <a:schemeClr val="tx1"/>
                </a:solidFill>
              </a:rPr>
              <a:t>Mainly the following four basic operations are performed on queue:</a:t>
            </a:r>
          </a:p>
          <a:p>
            <a:pPr marL="0" indent="0" fontAlgn="base">
              <a:buNone/>
            </a:pPr>
            <a:r>
              <a:rPr lang="en-US" b="1" dirty="0" err="1">
                <a:solidFill>
                  <a:srgbClr val="C00000"/>
                </a:solidFill>
              </a:rPr>
              <a:t>Enqueue</a:t>
            </a:r>
            <a:r>
              <a:rPr lang="en-US" b="1" dirty="0">
                <a:solidFill>
                  <a:schemeClr val="tx1"/>
                </a:solidFill>
              </a:rPr>
              <a:t>: </a:t>
            </a:r>
            <a:r>
              <a:rPr lang="en-US" dirty="0">
                <a:solidFill>
                  <a:schemeClr val="tx1"/>
                </a:solidFill>
              </a:rPr>
              <a:t>Adds an item to the queue. If the queue is full, then it is said to be an Overflow condition.</a:t>
            </a:r>
            <a:br>
              <a:rPr lang="en-US" dirty="0">
                <a:solidFill>
                  <a:schemeClr val="tx1"/>
                </a:solidFill>
              </a:rPr>
            </a:br>
            <a:r>
              <a:rPr lang="en-US" b="1" dirty="0" err="1">
                <a:solidFill>
                  <a:srgbClr val="C00000"/>
                </a:solidFill>
              </a:rPr>
              <a:t>Dequeue</a:t>
            </a:r>
            <a:r>
              <a:rPr lang="en-US" b="1" dirty="0">
                <a:solidFill>
                  <a:schemeClr val="tx1"/>
                </a:solidFill>
              </a:rPr>
              <a:t>:</a:t>
            </a:r>
            <a:r>
              <a:rPr lang="en-US" dirty="0">
                <a:solidFill>
                  <a:schemeClr val="tx1"/>
                </a:solidFill>
              </a:rPr>
              <a:t> Removes an item from the queue. The items are popped in the same order in which they are pushed. If the queue is empty, then it is said to be an Underflow condition.</a:t>
            </a:r>
            <a:br>
              <a:rPr lang="en-US" dirty="0">
                <a:solidFill>
                  <a:schemeClr val="tx1"/>
                </a:solidFill>
              </a:rPr>
            </a:br>
            <a:r>
              <a:rPr lang="en-US" b="1" dirty="0">
                <a:solidFill>
                  <a:srgbClr val="C00000"/>
                </a:solidFill>
              </a:rPr>
              <a:t>Front</a:t>
            </a:r>
            <a:r>
              <a:rPr lang="en-US" b="1" dirty="0">
                <a:solidFill>
                  <a:schemeClr val="tx1"/>
                </a:solidFill>
              </a:rPr>
              <a:t>: </a:t>
            </a:r>
            <a:r>
              <a:rPr lang="en-US" dirty="0">
                <a:solidFill>
                  <a:schemeClr val="tx1"/>
                </a:solidFill>
              </a:rPr>
              <a:t>Get the front item from queue.</a:t>
            </a:r>
            <a:br>
              <a:rPr lang="en-US" dirty="0">
                <a:solidFill>
                  <a:schemeClr val="tx1"/>
                </a:solidFill>
              </a:rPr>
            </a:br>
            <a:r>
              <a:rPr lang="en-US" b="1" dirty="0">
                <a:solidFill>
                  <a:srgbClr val="C00000"/>
                </a:solidFill>
              </a:rPr>
              <a:t>Rear</a:t>
            </a:r>
            <a:r>
              <a:rPr lang="en-US" b="1" dirty="0">
                <a:solidFill>
                  <a:schemeClr val="tx1"/>
                </a:solidFill>
              </a:rPr>
              <a:t>:</a:t>
            </a:r>
            <a:r>
              <a:rPr lang="en-US" dirty="0">
                <a:solidFill>
                  <a:schemeClr val="tx1"/>
                </a:solidFill>
              </a:rPr>
              <a:t> Get the last item from queue.</a:t>
            </a:r>
          </a:p>
          <a:p>
            <a:endParaRPr lang="en-US" dirty="0">
              <a:solidFill>
                <a:schemeClr val="tx1"/>
              </a:solidFill>
            </a:endParaRPr>
          </a:p>
        </p:txBody>
      </p:sp>
    </p:spTree>
    <p:extLst>
      <p:ext uri="{BB962C8B-B14F-4D97-AF65-F5344CB8AC3E}">
        <p14:creationId xmlns:p14="http://schemas.microsoft.com/office/powerpoint/2010/main" val="26884962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AC9C2-520B-203A-8E51-05B57F98EA49}"/>
              </a:ext>
            </a:extLst>
          </p:cNvPr>
          <p:cNvSpPr>
            <a:spLocks noGrp="1"/>
          </p:cNvSpPr>
          <p:nvPr>
            <p:ph type="title"/>
          </p:nvPr>
        </p:nvSpPr>
        <p:spPr/>
        <p:txBody>
          <a:bodyPr/>
          <a:lstStyle/>
          <a:p>
            <a:pPr algn="ctr"/>
            <a:r>
              <a:rPr lang="en-US" dirty="0"/>
              <a:t>Queue Operations</a:t>
            </a:r>
          </a:p>
        </p:txBody>
      </p:sp>
      <p:sp>
        <p:nvSpPr>
          <p:cNvPr id="4" name="Oval 2">
            <a:extLst>
              <a:ext uri="{FF2B5EF4-FFF2-40B4-BE49-F238E27FC236}">
                <a16:creationId xmlns:a16="http://schemas.microsoft.com/office/drawing/2014/main" id="{242ADD7E-7F7E-A0CD-A084-D44073FAD019}"/>
              </a:ext>
            </a:extLst>
          </p:cNvPr>
          <p:cNvSpPr>
            <a:spLocks noChangeArrowheads="1"/>
          </p:cNvSpPr>
          <p:nvPr/>
        </p:nvSpPr>
        <p:spPr bwMode="auto">
          <a:xfrm>
            <a:off x="6699974" y="2032285"/>
            <a:ext cx="2514600" cy="457200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800" b="1" dirty="0">
                <a:solidFill>
                  <a:schemeClr val="bg2">
                    <a:lumMod val="50000"/>
                  </a:schemeClr>
                </a:solidFill>
                <a:latin typeface="Courier New" panose="02070309020205020404" pitchFamily="49" charset="0"/>
                <a:cs typeface="Courier New" panose="02070309020205020404" pitchFamily="49" charset="0"/>
              </a:rPr>
              <a:t>QUEUE</a:t>
            </a:r>
          </a:p>
        </p:txBody>
      </p:sp>
      <p:sp>
        <p:nvSpPr>
          <p:cNvPr id="5" name="Line 3">
            <a:extLst>
              <a:ext uri="{FF2B5EF4-FFF2-40B4-BE49-F238E27FC236}">
                <a16:creationId xmlns:a16="http://schemas.microsoft.com/office/drawing/2014/main" id="{F5F7A1D2-AA9F-7AEB-362C-C86F4CD1505F}"/>
              </a:ext>
            </a:extLst>
          </p:cNvPr>
          <p:cNvSpPr>
            <a:spLocks noChangeShapeType="1"/>
          </p:cNvSpPr>
          <p:nvPr/>
        </p:nvSpPr>
        <p:spPr bwMode="auto">
          <a:xfrm>
            <a:off x="4675910" y="2251365"/>
            <a:ext cx="2362200" cy="53340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IN" b="1">
              <a:solidFill>
                <a:schemeClr val="bg2">
                  <a:lumMod val="50000"/>
                </a:schemeClr>
              </a:solidFill>
              <a:latin typeface="Courier New" panose="02070309020205020404" pitchFamily="49" charset="0"/>
              <a:cs typeface="Courier New" panose="02070309020205020404" pitchFamily="49" charset="0"/>
            </a:endParaRPr>
          </a:p>
        </p:txBody>
      </p:sp>
      <p:sp>
        <p:nvSpPr>
          <p:cNvPr id="6" name="Line 4">
            <a:extLst>
              <a:ext uri="{FF2B5EF4-FFF2-40B4-BE49-F238E27FC236}">
                <a16:creationId xmlns:a16="http://schemas.microsoft.com/office/drawing/2014/main" id="{030392A6-4B5D-891D-EA67-52302B7EDA92}"/>
              </a:ext>
            </a:extLst>
          </p:cNvPr>
          <p:cNvSpPr>
            <a:spLocks noChangeShapeType="1"/>
          </p:cNvSpPr>
          <p:nvPr/>
        </p:nvSpPr>
        <p:spPr bwMode="auto">
          <a:xfrm>
            <a:off x="4752110" y="3318165"/>
            <a:ext cx="2057400" cy="7620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IN" b="1">
              <a:solidFill>
                <a:schemeClr val="bg2">
                  <a:lumMod val="50000"/>
                </a:schemeClr>
              </a:solidFill>
              <a:latin typeface="Courier New" panose="02070309020205020404" pitchFamily="49" charset="0"/>
              <a:cs typeface="Courier New" panose="02070309020205020404" pitchFamily="49" charset="0"/>
            </a:endParaRPr>
          </a:p>
        </p:txBody>
      </p:sp>
      <p:sp>
        <p:nvSpPr>
          <p:cNvPr id="7" name="Line 5">
            <a:extLst>
              <a:ext uri="{FF2B5EF4-FFF2-40B4-BE49-F238E27FC236}">
                <a16:creationId xmlns:a16="http://schemas.microsoft.com/office/drawing/2014/main" id="{E01BFAAB-7187-EE35-7CB3-273BD8AF1D71}"/>
              </a:ext>
            </a:extLst>
          </p:cNvPr>
          <p:cNvSpPr>
            <a:spLocks noChangeShapeType="1"/>
          </p:cNvSpPr>
          <p:nvPr/>
        </p:nvSpPr>
        <p:spPr bwMode="auto">
          <a:xfrm>
            <a:off x="4828310" y="4308765"/>
            <a:ext cx="1828800" cy="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IN" b="1">
              <a:solidFill>
                <a:schemeClr val="bg2">
                  <a:lumMod val="50000"/>
                </a:schemeClr>
              </a:solidFill>
              <a:latin typeface="Courier New" panose="02070309020205020404" pitchFamily="49" charset="0"/>
              <a:cs typeface="Courier New" panose="02070309020205020404" pitchFamily="49" charset="0"/>
            </a:endParaRPr>
          </a:p>
        </p:txBody>
      </p:sp>
      <p:sp>
        <p:nvSpPr>
          <p:cNvPr id="8" name="Line 6">
            <a:extLst>
              <a:ext uri="{FF2B5EF4-FFF2-40B4-BE49-F238E27FC236}">
                <a16:creationId xmlns:a16="http://schemas.microsoft.com/office/drawing/2014/main" id="{2CB2CD96-00F6-29C5-9C1C-847919F18834}"/>
              </a:ext>
            </a:extLst>
          </p:cNvPr>
          <p:cNvSpPr>
            <a:spLocks noChangeShapeType="1"/>
          </p:cNvSpPr>
          <p:nvPr/>
        </p:nvSpPr>
        <p:spPr bwMode="auto">
          <a:xfrm flipV="1">
            <a:off x="4752110" y="4918365"/>
            <a:ext cx="1905000" cy="22860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IN" b="1">
              <a:solidFill>
                <a:schemeClr val="bg2">
                  <a:lumMod val="50000"/>
                </a:schemeClr>
              </a:solidFill>
              <a:latin typeface="Courier New" panose="02070309020205020404" pitchFamily="49" charset="0"/>
              <a:cs typeface="Courier New" panose="02070309020205020404" pitchFamily="49" charset="0"/>
            </a:endParaRPr>
          </a:p>
        </p:txBody>
      </p:sp>
      <p:sp>
        <p:nvSpPr>
          <p:cNvPr id="9" name="Line 7">
            <a:extLst>
              <a:ext uri="{FF2B5EF4-FFF2-40B4-BE49-F238E27FC236}">
                <a16:creationId xmlns:a16="http://schemas.microsoft.com/office/drawing/2014/main" id="{6ADB8DC5-F8AB-BD59-3218-373EBFA2B88E}"/>
              </a:ext>
            </a:extLst>
          </p:cNvPr>
          <p:cNvSpPr>
            <a:spLocks noChangeShapeType="1"/>
          </p:cNvSpPr>
          <p:nvPr/>
        </p:nvSpPr>
        <p:spPr bwMode="auto">
          <a:xfrm flipV="1">
            <a:off x="4752110" y="5375565"/>
            <a:ext cx="2057400" cy="68580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IN" b="1">
              <a:solidFill>
                <a:schemeClr val="bg2">
                  <a:lumMod val="50000"/>
                </a:schemeClr>
              </a:solidFill>
              <a:latin typeface="Courier New" panose="02070309020205020404" pitchFamily="49" charset="0"/>
              <a:cs typeface="Courier New" panose="02070309020205020404" pitchFamily="49" charset="0"/>
            </a:endParaRPr>
          </a:p>
        </p:txBody>
      </p:sp>
      <p:sp>
        <p:nvSpPr>
          <p:cNvPr id="10" name="Text Box 8">
            <a:extLst>
              <a:ext uri="{FF2B5EF4-FFF2-40B4-BE49-F238E27FC236}">
                <a16:creationId xmlns:a16="http://schemas.microsoft.com/office/drawing/2014/main" id="{3F8F3C53-3E0D-67D1-8AC6-5EC8F35BA430}"/>
              </a:ext>
            </a:extLst>
          </p:cNvPr>
          <p:cNvSpPr txBox="1">
            <a:spLocks noChangeArrowheads="1"/>
          </p:cNvSpPr>
          <p:nvPr/>
        </p:nvSpPr>
        <p:spPr bwMode="auto">
          <a:xfrm>
            <a:off x="3132910" y="1946565"/>
            <a:ext cx="154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400" b="1" dirty="0" err="1">
                <a:solidFill>
                  <a:schemeClr val="bg2">
                    <a:lumMod val="50000"/>
                  </a:schemeClr>
                </a:solidFill>
                <a:latin typeface="Courier New" panose="02070309020205020404" pitchFamily="49" charset="0"/>
                <a:cs typeface="Courier New" panose="02070309020205020404" pitchFamily="49" charset="0"/>
              </a:rPr>
              <a:t>enqueue</a:t>
            </a:r>
            <a:endParaRPr lang="en-US" altLang="en-US" sz="2400" b="1" dirty="0">
              <a:solidFill>
                <a:schemeClr val="bg2">
                  <a:lumMod val="50000"/>
                </a:schemeClr>
              </a:solidFill>
              <a:latin typeface="Courier New" panose="02070309020205020404" pitchFamily="49" charset="0"/>
              <a:cs typeface="Courier New" panose="02070309020205020404" pitchFamily="49" charset="0"/>
            </a:endParaRPr>
          </a:p>
        </p:txBody>
      </p:sp>
      <p:sp>
        <p:nvSpPr>
          <p:cNvPr id="11" name="Text Box 9">
            <a:extLst>
              <a:ext uri="{FF2B5EF4-FFF2-40B4-BE49-F238E27FC236}">
                <a16:creationId xmlns:a16="http://schemas.microsoft.com/office/drawing/2014/main" id="{79B7416A-A1DA-623D-AE39-2843C6C9436B}"/>
              </a:ext>
            </a:extLst>
          </p:cNvPr>
          <p:cNvSpPr txBox="1">
            <a:spLocks noChangeArrowheads="1"/>
          </p:cNvSpPr>
          <p:nvPr/>
        </p:nvSpPr>
        <p:spPr bwMode="auto">
          <a:xfrm>
            <a:off x="3492950" y="4003965"/>
            <a:ext cx="13353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400" b="1" dirty="0">
                <a:solidFill>
                  <a:schemeClr val="bg2">
                    <a:lumMod val="50000"/>
                  </a:schemeClr>
                </a:solidFill>
                <a:latin typeface="Courier New" panose="02070309020205020404" pitchFamily="49" charset="0"/>
                <a:cs typeface="Courier New" panose="02070309020205020404" pitchFamily="49" charset="0"/>
              </a:rPr>
              <a:t>create</a:t>
            </a:r>
          </a:p>
        </p:txBody>
      </p:sp>
      <p:sp>
        <p:nvSpPr>
          <p:cNvPr id="12" name="Text Box 10">
            <a:extLst>
              <a:ext uri="{FF2B5EF4-FFF2-40B4-BE49-F238E27FC236}">
                <a16:creationId xmlns:a16="http://schemas.microsoft.com/office/drawing/2014/main" id="{61331EC2-F539-38E6-C774-AEA8E58AF57E}"/>
              </a:ext>
            </a:extLst>
          </p:cNvPr>
          <p:cNvSpPr txBox="1">
            <a:spLocks noChangeArrowheads="1"/>
          </p:cNvSpPr>
          <p:nvPr/>
        </p:nvSpPr>
        <p:spPr bwMode="auto">
          <a:xfrm>
            <a:off x="3132910" y="3089565"/>
            <a:ext cx="161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400" b="1" dirty="0" err="1">
                <a:solidFill>
                  <a:schemeClr val="bg2">
                    <a:lumMod val="50000"/>
                  </a:schemeClr>
                </a:solidFill>
                <a:latin typeface="Courier New" panose="02070309020205020404" pitchFamily="49" charset="0"/>
                <a:cs typeface="Courier New" panose="02070309020205020404" pitchFamily="49" charset="0"/>
              </a:rPr>
              <a:t>dequeue</a:t>
            </a:r>
            <a:endParaRPr lang="en-US" altLang="en-US" sz="2400" b="1" dirty="0">
              <a:solidFill>
                <a:schemeClr val="bg2">
                  <a:lumMod val="50000"/>
                </a:schemeClr>
              </a:solidFill>
              <a:latin typeface="Courier New" panose="02070309020205020404" pitchFamily="49" charset="0"/>
              <a:cs typeface="Courier New" panose="02070309020205020404" pitchFamily="49" charset="0"/>
            </a:endParaRPr>
          </a:p>
        </p:txBody>
      </p:sp>
      <p:sp>
        <p:nvSpPr>
          <p:cNvPr id="13" name="Text Box 11">
            <a:extLst>
              <a:ext uri="{FF2B5EF4-FFF2-40B4-BE49-F238E27FC236}">
                <a16:creationId xmlns:a16="http://schemas.microsoft.com/office/drawing/2014/main" id="{12F81FC8-591D-2284-F75E-3ADEF7899A1E}"/>
              </a:ext>
            </a:extLst>
          </p:cNvPr>
          <p:cNvSpPr txBox="1">
            <a:spLocks noChangeArrowheads="1"/>
          </p:cNvSpPr>
          <p:nvPr/>
        </p:nvSpPr>
        <p:spPr bwMode="auto">
          <a:xfrm>
            <a:off x="3685310" y="5832765"/>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400" b="1">
                <a:solidFill>
                  <a:schemeClr val="bg2">
                    <a:lumMod val="50000"/>
                  </a:schemeClr>
                </a:solidFill>
                <a:latin typeface="Courier New" panose="02070309020205020404" pitchFamily="49" charset="0"/>
                <a:cs typeface="Courier New" panose="02070309020205020404" pitchFamily="49" charset="0"/>
              </a:rPr>
              <a:t>size</a:t>
            </a:r>
          </a:p>
        </p:txBody>
      </p:sp>
      <p:sp>
        <p:nvSpPr>
          <p:cNvPr id="14" name="Text Box 12">
            <a:extLst>
              <a:ext uri="{FF2B5EF4-FFF2-40B4-BE49-F238E27FC236}">
                <a16:creationId xmlns:a16="http://schemas.microsoft.com/office/drawing/2014/main" id="{9CF9BACD-C003-DA16-6A65-6DC012F9E6C8}"/>
              </a:ext>
            </a:extLst>
          </p:cNvPr>
          <p:cNvSpPr txBox="1">
            <a:spLocks noChangeArrowheads="1"/>
          </p:cNvSpPr>
          <p:nvPr/>
        </p:nvSpPr>
        <p:spPr bwMode="auto">
          <a:xfrm>
            <a:off x="3304310" y="4842165"/>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400" b="1" dirty="0" err="1">
                <a:solidFill>
                  <a:schemeClr val="bg2">
                    <a:lumMod val="50000"/>
                  </a:schemeClr>
                </a:solidFill>
                <a:latin typeface="Courier New" panose="02070309020205020404" pitchFamily="49" charset="0"/>
                <a:cs typeface="Courier New" panose="02070309020205020404" pitchFamily="49" charset="0"/>
              </a:rPr>
              <a:t>isempty</a:t>
            </a:r>
            <a:endParaRPr lang="en-US" altLang="en-US" sz="2400" b="1" dirty="0">
              <a:solidFill>
                <a:schemeClr val="bg2">
                  <a:lumMod val="50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004915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EFCC1-A4EB-AB23-5129-37C32834F513}"/>
              </a:ext>
            </a:extLst>
          </p:cNvPr>
          <p:cNvSpPr>
            <a:spLocks noGrp="1"/>
          </p:cNvSpPr>
          <p:nvPr>
            <p:ph type="title"/>
          </p:nvPr>
        </p:nvSpPr>
        <p:spPr/>
        <p:txBody>
          <a:bodyPr>
            <a:normAutofit/>
          </a:bodyPr>
          <a:lstStyle/>
          <a:p>
            <a:pPr algn="ctr"/>
            <a:r>
              <a:rPr lang="en-US" sz="4000" dirty="0"/>
              <a:t>QUEUE</a:t>
            </a:r>
            <a:r>
              <a:rPr lang="en-IN" sz="4000" dirty="0"/>
              <a:t>: </a:t>
            </a:r>
            <a:r>
              <a:rPr lang="en-US" sz="4000" dirty="0"/>
              <a:t>First-In-First-Out (LIFO)</a:t>
            </a:r>
          </a:p>
        </p:txBody>
      </p:sp>
      <p:sp>
        <p:nvSpPr>
          <p:cNvPr id="3" name="Content Placeholder 2">
            <a:extLst>
              <a:ext uri="{FF2B5EF4-FFF2-40B4-BE49-F238E27FC236}">
                <a16:creationId xmlns:a16="http://schemas.microsoft.com/office/drawing/2014/main" id="{9083E02A-4971-5DE1-D3A2-4928A49EC764}"/>
              </a:ext>
            </a:extLst>
          </p:cNvPr>
          <p:cNvSpPr>
            <a:spLocks noGrp="1"/>
          </p:cNvSpPr>
          <p:nvPr>
            <p:ph idx="1"/>
          </p:nvPr>
        </p:nvSpPr>
        <p:spPr/>
        <p:txBody>
          <a:bodyPr>
            <a:normAutofit/>
          </a:bodyPr>
          <a:lstStyle/>
          <a:p>
            <a:pPr eaLnBrk="1" hangingPunct="1">
              <a:spcBef>
                <a:spcPct val="50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solidFill>
                  <a:srgbClr val="0070C0"/>
                </a:solidFill>
                <a:latin typeface="Times New Roman" panose="02020603050405020304" pitchFamily="18" charset="0"/>
                <a:cs typeface="Times New Roman" panose="02020603050405020304" pitchFamily="18" charset="0"/>
              </a:rPr>
              <a:t>void enqueue (queue *q, int element);</a:t>
            </a:r>
          </a:p>
          <a:p>
            <a:pPr eaLnBrk="1" hangingPunct="1">
              <a:spcBef>
                <a:spcPct val="50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dirty="0">
                <a:solidFill>
                  <a:srgbClr val="CC0099"/>
                </a:solidFill>
                <a:latin typeface="Times New Roman" panose="02020603050405020304" pitchFamily="18" charset="0"/>
                <a:cs typeface="Times New Roman" panose="02020603050405020304" pitchFamily="18" charset="0"/>
              </a:rPr>
              <a:t>/* Insert an element in the queue */</a:t>
            </a:r>
          </a:p>
          <a:p>
            <a:pPr eaLnBrk="1" hangingPunct="1">
              <a:spcBef>
                <a:spcPct val="50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solidFill>
                  <a:schemeClr val="bg2">
                    <a:lumMod val="50000"/>
                  </a:schemeClr>
                </a:solidFill>
                <a:latin typeface="Times New Roman" panose="02020603050405020304" pitchFamily="18" charset="0"/>
                <a:cs typeface="Times New Roman" panose="02020603050405020304" pitchFamily="18" charset="0"/>
              </a:rPr>
              <a:t>int dequeue (queue *q);</a:t>
            </a:r>
          </a:p>
          <a:p>
            <a:pPr eaLnBrk="1" hangingPunct="1">
              <a:spcBef>
                <a:spcPct val="50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dirty="0">
                <a:solidFill>
                  <a:srgbClr val="CC0099"/>
                </a:solidFill>
                <a:latin typeface="Times New Roman" panose="02020603050405020304" pitchFamily="18" charset="0"/>
                <a:cs typeface="Times New Roman" panose="02020603050405020304" pitchFamily="18" charset="0"/>
              </a:rPr>
              <a:t>/* Remove an element from the queue */</a:t>
            </a:r>
          </a:p>
          <a:p>
            <a:pPr eaLnBrk="1" hangingPunct="1">
              <a:spcBef>
                <a:spcPct val="50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solidFill>
                  <a:schemeClr val="bg2">
                    <a:lumMod val="50000"/>
                  </a:schemeClr>
                </a:solidFill>
                <a:latin typeface="Times New Roman" panose="02020603050405020304" pitchFamily="18" charset="0"/>
                <a:cs typeface="Times New Roman" panose="02020603050405020304" pitchFamily="18" charset="0"/>
              </a:rPr>
              <a:t>queue *create();</a:t>
            </a:r>
          </a:p>
          <a:p>
            <a:pPr eaLnBrk="1" hangingPunct="1">
              <a:spcBef>
                <a:spcPct val="50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dirty="0">
                <a:solidFill>
                  <a:srgbClr val="CC0099"/>
                </a:solidFill>
                <a:latin typeface="Times New Roman" panose="02020603050405020304" pitchFamily="18" charset="0"/>
                <a:cs typeface="Times New Roman" panose="02020603050405020304" pitchFamily="18" charset="0"/>
              </a:rPr>
              <a:t>/* Create a new queue */</a:t>
            </a:r>
          </a:p>
          <a:p>
            <a:pPr eaLnBrk="1" hangingPunct="1">
              <a:spcBef>
                <a:spcPct val="5000"/>
              </a:spcBef>
              <a:buFontTx/>
              <a:buNone/>
            </a:pPr>
            <a:r>
              <a:rPr lang="en-US" altLang="en-US" sz="2400" b="1" dirty="0">
                <a:latin typeface="Times New Roman" panose="02020603050405020304" pitchFamily="18" charset="0"/>
                <a:cs typeface="Times New Roman" panose="02020603050405020304" pitchFamily="18" charset="0"/>
              </a:rPr>
              <a:t> </a:t>
            </a:r>
            <a:r>
              <a:rPr lang="en-US" altLang="en-US" sz="2400" b="1" dirty="0">
                <a:solidFill>
                  <a:schemeClr val="bg2">
                    <a:lumMod val="50000"/>
                  </a:schemeClr>
                </a:solidFill>
                <a:latin typeface="Times New Roman" panose="02020603050405020304" pitchFamily="18" charset="0"/>
                <a:cs typeface="Times New Roman" panose="02020603050405020304" pitchFamily="18" charset="0"/>
              </a:rPr>
              <a:t>int </a:t>
            </a:r>
            <a:r>
              <a:rPr lang="en-US" altLang="en-US" sz="2400" b="1" dirty="0" err="1">
                <a:solidFill>
                  <a:schemeClr val="bg2">
                    <a:lumMod val="50000"/>
                  </a:schemeClr>
                </a:solidFill>
                <a:latin typeface="Times New Roman" panose="02020603050405020304" pitchFamily="18" charset="0"/>
                <a:cs typeface="Times New Roman" panose="02020603050405020304" pitchFamily="18" charset="0"/>
              </a:rPr>
              <a:t>isempty</a:t>
            </a:r>
            <a:r>
              <a:rPr lang="en-US" altLang="en-US" sz="2400" b="1" dirty="0">
                <a:solidFill>
                  <a:schemeClr val="bg2">
                    <a:lumMod val="50000"/>
                  </a:schemeClr>
                </a:solidFill>
                <a:latin typeface="Times New Roman" panose="02020603050405020304" pitchFamily="18" charset="0"/>
                <a:cs typeface="Times New Roman" panose="02020603050405020304" pitchFamily="18" charset="0"/>
              </a:rPr>
              <a:t> (queue *q);</a:t>
            </a:r>
          </a:p>
          <a:p>
            <a:pPr eaLnBrk="1" hangingPunct="1">
              <a:spcBef>
                <a:spcPct val="50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dirty="0">
                <a:solidFill>
                  <a:srgbClr val="CC0099"/>
                </a:solidFill>
                <a:latin typeface="Times New Roman" panose="02020603050405020304" pitchFamily="18" charset="0"/>
                <a:cs typeface="Times New Roman" panose="02020603050405020304" pitchFamily="18" charset="0"/>
              </a:rPr>
              <a:t>/* Check if queue is empty */</a:t>
            </a:r>
          </a:p>
          <a:p>
            <a:pPr eaLnBrk="1" hangingPunct="1">
              <a:spcBef>
                <a:spcPct val="50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solidFill>
                  <a:schemeClr val="bg2">
                    <a:lumMod val="50000"/>
                  </a:schemeClr>
                </a:solidFill>
                <a:latin typeface="Times New Roman" panose="02020603050405020304" pitchFamily="18" charset="0"/>
                <a:cs typeface="Times New Roman" panose="02020603050405020304" pitchFamily="18" charset="0"/>
              </a:rPr>
              <a:t>int size (queue *q);</a:t>
            </a:r>
          </a:p>
          <a:p>
            <a:pPr eaLnBrk="1" hangingPunct="1">
              <a:spcBef>
                <a:spcPct val="50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dirty="0">
                <a:solidFill>
                  <a:srgbClr val="CC0099"/>
                </a:solidFill>
                <a:latin typeface="Times New Roman" panose="02020603050405020304" pitchFamily="18" charset="0"/>
                <a:cs typeface="Times New Roman" panose="02020603050405020304" pitchFamily="18" charset="0"/>
              </a:rPr>
              <a:t>/* Return the no. of elements in queue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66438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queue data structure</a:t>
            </a:r>
          </a:p>
        </p:txBody>
      </p:sp>
      <p:sp>
        <p:nvSpPr>
          <p:cNvPr id="3" name="Content Placeholder 2"/>
          <p:cNvSpPr>
            <a:spLocks noGrp="1"/>
          </p:cNvSpPr>
          <p:nvPr>
            <p:ph idx="1"/>
          </p:nvPr>
        </p:nvSpPr>
        <p:spPr/>
        <p:txBody>
          <a:bodyPr/>
          <a:lstStyle/>
          <a:p>
            <a:pPr marL="0" indent="0" fontAlgn="base">
              <a:buNone/>
            </a:pPr>
            <a:r>
              <a:rPr lang="en-US" b="1" dirty="0">
                <a:solidFill>
                  <a:srgbClr val="002060"/>
                </a:solidFill>
              </a:rPr>
              <a:t>Applications of Queue:</a:t>
            </a:r>
            <a:r>
              <a:rPr lang="en-US" dirty="0">
                <a:solidFill>
                  <a:schemeClr val="tx1"/>
                </a:solidFill>
              </a:rPr>
              <a:t/>
            </a:r>
            <a:br>
              <a:rPr lang="en-US" dirty="0">
                <a:solidFill>
                  <a:schemeClr val="tx1"/>
                </a:solidFill>
              </a:rPr>
            </a:br>
            <a:r>
              <a:rPr lang="en-US" dirty="0">
                <a:solidFill>
                  <a:schemeClr val="tx1"/>
                </a:solidFill>
              </a:rPr>
              <a:t>Queue is used when things don’t have to be processed </a:t>
            </a:r>
            <a:r>
              <a:rPr lang="en-US" dirty="0" smtClean="0">
                <a:solidFill>
                  <a:schemeClr val="tx1"/>
                </a:solidFill>
              </a:rPr>
              <a:t>immediately, </a:t>
            </a:r>
            <a:r>
              <a:rPr lang="en-US" dirty="0">
                <a:solidFill>
                  <a:schemeClr val="tx1"/>
                </a:solidFill>
              </a:rPr>
              <a:t>but have to be processed in </a:t>
            </a:r>
            <a:r>
              <a:rPr lang="en-US" b="1" dirty="0">
                <a:solidFill>
                  <a:schemeClr val="tx1"/>
                </a:solidFill>
              </a:rPr>
              <a:t>F</a:t>
            </a:r>
            <a:r>
              <a:rPr lang="en-US" dirty="0">
                <a:solidFill>
                  <a:schemeClr val="tx1"/>
                </a:solidFill>
              </a:rPr>
              <a:t>irst </a:t>
            </a:r>
            <a:r>
              <a:rPr lang="en-US" b="1" dirty="0" smtClean="0">
                <a:solidFill>
                  <a:schemeClr val="tx1"/>
                </a:solidFill>
              </a:rPr>
              <a:t>I</a:t>
            </a:r>
            <a:r>
              <a:rPr lang="en-US" dirty="0" smtClean="0">
                <a:solidFill>
                  <a:schemeClr val="tx1"/>
                </a:solidFill>
              </a:rPr>
              <a:t>n </a:t>
            </a:r>
            <a:r>
              <a:rPr lang="en-US" b="1" dirty="0" smtClean="0">
                <a:solidFill>
                  <a:schemeClr val="tx1"/>
                </a:solidFill>
              </a:rPr>
              <a:t>F</a:t>
            </a:r>
            <a:r>
              <a:rPr lang="en-US" dirty="0" smtClean="0">
                <a:solidFill>
                  <a:schemeClr val="tx1"/>
                </a:solidFill>
              </a:rPr>
              <a:t>irst</a:t>
            </a:r>
            <a:r>
              <a:rPr lang="en-US" dirty="0">
                <a:solidFill>
                  <a:schemeClr val="tx1"/>
                </a:solidFill>
              </a:rPr>
              <a:t> </a:t>
            </a:r>
            <a:r>
              <a:rPr lang="en-US" b="1" dirty="0">
                <a:solidFill>
                  <a:schemeClr val="tx1"/>
                </a:solidFill>
              </a:rPr>
              <a:t>O</a:t>
            </a:r>
            <a:r>
              <a:rPr lang="en-US" dirty="0">
                <a:solidFill>
                  <a:schemeClr val="tx1"/>
                </a:solidFill>
              </a:rPr>
              <a:t>ut order like </a:t>
            </a:r>
            <a:r>
              <a:rPr lang="en-US" dirty="0">
                <a:solidFill>
                  <a:srgbClr val="C00000"/>
                </a:solidFill>
              </a:rPr>
              <a:t>Breadth First Search</a:t>
            </a:r>
            <a:r>
              <a:rPr lang="en-US" dirty="0">
                <a:solidFill>
                  <a:schemeClr val="tx1"/>
                </a:solidFill>
              </a:rPr>
              <a:t>. This property of Queue makes it also useful in following kind of scenarios.</a:t>
            </a:r>
          </a:p>
          <a:p>
            <a:pPr marL="0" indent="0" fontAlgn="base">
              <a:buNone/>
            </a:pPr>
            <a:r>
              <a:rPr lang="en-US" b="1" dirty="0">
                <a:solidFill>
                  <a:schemeClr val="tx1"/>
                </a:solidFill>
              </a:rPr>
              <a:t>1)</a:t>
            </a:r>
            <a:r>
              <a:rPr lang="en-US" dirty="0">
                <a:solidFill>
                  <a:schemeClr val="tx1"/>
                </a:solidFill>
              </a:rPr>
              <a:t> When a resource is shared among multiple consumers. Examples include CPU scheduling, Disk Scheduling.</a:t>
            </a:r>
            <a:br>
              <a:rPr lang="en-US" dirty="0">
                <a:solidFill>
                  <a:schemeClr val="tx1"/>
                </a:solidFill>
              </a:rPr>
            </a:br>
            <a:r>
              <a:rPr lang="en-US" b="1" dirty="0">
                <a:solidFill>
                  <a:schemeClr val="tx1"/>
                </a:solidFill>
              </a:rPr>
              <a:t>2) </a:t>
            </a:r>
            <a:r>
              <a:rPr lang="en-US" dirty="0">
                <a:solidFill>
                  <a:schemeClr val="tx1"/>
                </a:solidFill>
              </a:rPr>
              <a:t>When data is transferred asynchronously (data not necessarily received at same rate as sent) between two processes. Examples include IO Buffers, pipes, file IO, etc.</a:t>
            </a:r>
          </a:p>
        </p:txBody>
      </p:sp>
      <p:pic>
        <p:nvPicPr>
          <p:cNvPr id="4" name="Picture 3"/>
          <p:cNvPicPr>
            <a:picLocks noChangeAspect="1"/>
          </p:cNvPicPr>
          <p:nvPr/>
        </p:nvPicPr>
        <p:blipFill>
          <a:blip r:embed="rId2"/>
          <a:stretch>
            <a:fillRect/>
          </a:stretch>
        </p:blipFill>
        <p:spPr>
          <a:xfrm>
            <a:off x="3040698" y="4220441"/>
            <a:ext cx="5895975" cy="2445402"/>
          </a:xfrm>
          <a:prstGeom prst="rect">
            <a:avLst/>
          </a:prstGeom>
        </p:spPr>
      </p:pic>
    </p:spTree>
    <p:extLst>
      <p:ext uri="{BB962C8B-B14F-4D97-AF65-F5344CB8AC3E}">
        <p14:creationId xmlns:p14="http://schemas.microsoft.com/office/powerpoint/2010/main" val="2211744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queue implementation using </a:t>
            </a:r>
            <a:r>
              <a:rPr lang="en-US" sz="3600" dirty="0" smtClean="0"/>
              <a:t>array and linked list</a:t>
            </a:r>
            <a:endParaRPr lang="en-US" sz="3600" dirty="0"/>
          </a:p>
        </p:txBody>
      </p:sp>
      <p:sp>
        <p:nvSpPr>
          <p:cNvPr id="4" name="Content Placeholder 3"/>
          <p:cNvSpPr txBox="1">
            <a:spLocks noGrp="1"/>
          </p:cNvSpPr>
          <p:nvPr>
            <p:ph idx="1"/>
          </p:nvPr>
        </p:nvSpPr>
        <p:spPr>
          <a:xfrm>
            <a:off x="1251678" y="1506829"/>
            <a:ext cx="2627595" cy="87615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vert="horz" lIns="91440" tIns="45720" rIns="91440" bIns="45720" rtlCol="0" anchor="ctr">
            <a:normAutofit fontScale="92500"/>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lt1"/>
                </a:solidFill>
                <a:latin typeface="Georgia" panose="02040502050405020303" pitchFamily="18" charset="0"/>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lt1"/>
                </a:solidFill>
                <a:latin typeface="Georgia" panose="02040502050405020303" pitchFamily="18" charset="0"/>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lt1"/>
                </a:solidFill>
                <a:latin typeface="Georgia" panose="02040502050405020303" pitchFamily="18" charset="0"/>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lt1"/>
                </a:solidFill>
                <a:latin typeface="Georgia" panose="02040502050405020303" pitchFamily="18" charset="0"/>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800" kern="1200">
                <a:solidFill>
                  <a:schemeClr val="lt1"/>
                </a:solidFill>
                <a:latin typeface="Georgia" panose="02040502050405020303" pitchFamily="18" charset="0"/>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lt1"/>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lt1"/>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lt1"/>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lt1"/>
                </a:solidFill>
                <a:latin typeface="+mn-lt"/>
                <a:ea typeface="+mn-ea"/>
                <a:cs typeface="+mn-cs"/>
              </a:defRPr>
            </a:lvl9pPr>
          </a:lstStyle>
          <a:p>
            <a:pPr algn="ctr"/>
            <a:r>
              <a:rPr lang="en-US" dirty="0" smtClean="0"/>
              <a:t>Refer Programs here</a:t>
            </a:r>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4168310644"/>
              </p:ext>
            </p:extLst>
          </p:nvPr>
        </p:nvGraphicFramePr>
        <p:xfrm>
          <a:off x="4764088" y="1682750"/>
          <a:ext cx="584200" cy="527050"/>
        </p:xfrm>
        <a:graphic>
          <a:graphicData uri="http://schemas.openxmlformats.org/presentationml/2006/ole">
            <mc:AlternateContent xmlns:mc="http://schemas.openxmlformats.org/markup-compatibility/2006">
              <mc:Choice xmlns:v="urn:schemas-microsoft-com:vml" Requires="v">
                <p:oleObj spid="_x0000_s8514" name="Packager Shell Object" showAsIcon="1" r:id="rId3" imgW="584348" imgH="526962" progId="Package">
                  <p:embed/>
                </p:oleObj>
              </mc:Choice>
              <mc:Fallback>
                <p:oleObj name="Packager Shell Object" showAsIcon="1" r:id="rId3" imgW="584348" imgH="526962" progId="Package">
                  <p:embed/>
                  <p:pic>
                    <p:nvPicPr>
                      <p:cNvPr id="0" name=""/>
                      <p:cNvPicPr/>
                      <p:nvPr/>
                    </p:nvPicPr>
                    <p:blipFill>
                      <a:blip r:embed="rId4"/>
                      <a:stretch>
                        <a:fillRect/>
                      </a:stretch>
                    </p:blipFill>
                    <p:spPr>
                      <a:xfrm>
                        <a:off x="4764088" y="1682750"/>
                        <a:ext cx="584200" cy="527050"/>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4152893909"/>
              </p:ext>
            </p:extLst>
          </p:nvPr>
        </p:nvGraphicFramePr>
        <p:xfrm>
          <a:off x="6969125" y="1682750"/>
          <a:ext cx="552450" cy="527050"/>
        </p:xfrm>
        <a:graphic>
          <a:graphicData uri="http://schemas.openxmlformats.org/presentationml/2006/ole">
            <mc:AlternateContent xmlns:mc="http://schemas.openxmlformats.org/markup-compatibility/2006">
              <mc:Choice xmlns:v="urn:schemas-microsoft-com:vml" Requires="v">
                <p:oleObj spid="_x0000_s8515" name="Packager Shell Object" showAsIcon="1" r:id="rId5" imgW="552388" imgH="526962" progId="Package">
                  <p:embed/>
                </p:oleObj>
              </mc:Choice>
              <mc:Fallback>
                <p:oleObj name="Packager Shell Object" showAsIcon="1" r:id="rId5" imgW="552388" imgH="526962" progId="Package">
                  <p:embed/>
                  <p:pic>
                    <p:nvPicPr>
                      <p:cNvPr id="0" name=""/>
                      <p:cNvPicPr/>
                      <p:nvPr/>
                    </p:nvPicPr>
                    <p:blipFill>
                      <a:blip r:embed="rId6"/>
                      <a:stretch>
                        <a:fillRect/>
                      </a:stretch>
                    </p:blipFill>
                    <p:spPr>
                      <a:xfrm>
                        <a:off x="6969125" y="1682750"/>
                        <a:ext cx="552450" cy="527050"/>
                      </a:xfrm>
                      <a:prstGeom prst="rect">
                        <a:avLst/>
                      </a:prstGeom>
                    </p:spPr>
                  </p:pic>
                </p:oleObj>
              </mc:Fallback>
            </mc:AlternateContent>
          </a:graphicData>
        </a:graphic>
      </p:graphicFrame>
    </p:spTree>
    <p:extLst>
      <p:ext uri="{BB962C8B-B14F-4D97-AF65-F5344CB8AC3E}">
        <p14:creationId xmlns:p14="http://schemas.microsoft.com/office/powerpoint/2010/main" val="15341187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Queue</a:t>
            </a:r>
            <a:endParaRPr lang="en-US" dirty="0"/>
          </a:p>
        </p:txBody>
      </p:sp>
      <p:sp>
        <p:nvSpPr>
          <p:cNvPr id="3" name="Content Placeholder 2"/>
          <p:cNvSpPr>
            <a:spLocks noGrp="1"/>
          </p:cNvSpPr>
          <p:nvPr>
            <p:ph idx="1"/>
          </p:nvPr>
        </p:nvSpPr>
        <p:spPr/>
        <p:txBody>
          <a:bodyPr/>
          <a:lstStyle/>
          <a:p>
            <a:pPr algn="just"/>
            <a:r>
              <a:rPr lang="en-US" dirty="0"/>
              <a:t>Real-world uses of queue data structures include call centers, printer management, traffic systems, task scheduling, and breadth-first search algorithms, enabling organized data handling and resource allocation.</a:t>
            </a:r>
          </a:p>
        </p:txBody>
      </p:sp>
    </p:spTree>
    <p:extLst>
      <p:ext uri="{BB962C8B-B14F-4D97-AF65-F5344CB8AC3E}">
        <p14:creationId xmlns:p14="http://schemas.microsoft.com/office/powerpoint/2010/main" val="8205980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C65DB-3C3D-DCA7-F210-69F16636EC67}"/>
              </a:ext>
            </a:extLst>
          </p:cNvPr>
          <p:cNvSpPr>
            <a:spLocks noGrp="1"/>
          </p:cNvSpPr>
          <p:nvPr>
            <p:ph type="title"/>
          </p:nvPr>
        </p:nvSpPr>
        <p:spPr/>
        <p:txBody>
          <a:bodyPr>
            <a:normAutofit/>
          </a:bodyPr>
          <a:lstStyle/>
          <a:p>
            <a:pPr algn="ctr"/>
            <a:r>
              <a:rPr lang="en-US" sz="3600" dirty="0">
                <a:latin typeface="Times New Roman" pitchFamily="18" charset="0"/>
                <a:cs typeface="Times New Roman" pitchFamily="18" charset="0"/>
              </a:rPr>
              <a:t>Problem With Array Implementation</a:t>
            </a:r>
            <a:endParaRPr lang="en-US" sz="3600" dirty="0"/>
          </a:p>
        </p:txBody>
      </p:sp>
      <p:sp>
        <p:nvSpPr>
          <p:cNvPr id="3" name="Content Placeholder 2">
            <a:extLst>
              <a:ext uri="{FF2B5EF4-FFF2-40B4-BE49-F238E27FC236}">
                <a16:creationId xmlns:a16="http://schemas.microsoft.com/office/drawing/2014/main" id="{C5CE8B9D-98BB-6AA0-05AD-53CCAA88D2A8}"/>
              </a:ext>
            </a:extLst>
          </p:cNvPr>
          <p:cNvSpPr>
            <a:spLocks noGrp="1"/>
          </p:cNvSpPr>
          <p:nvPr>
            <p:ph idx="1"/>
          </p:nvPr>
        </p:nvSpPr>
        <p:spPr/>
        <p:txBody>
          <a:bodyPr>
            <a:normAutofit/>
          </a:bodyPr>
          <a:lstStyle/>
          <a:p>
            <a:pPr>
              <a:buFont typeface="Arial" panose="020B0604020202020204" pitchFamily="34" charset="0"/>
              <a:buChar char="•"/>
            </a:pPr>
            <a:r>
              <a:rPr lang="en-IN" altLang="en-US" sz="2400" dirty="0">
                <a:solidFill>
                  <a:srgbClr val="002060"/>
                </a:solidFill>
                <a:latin typeface="Times New Roman" pitchFamily="18" charset="0"/>
                <a:cs typeface="Times New Roman" pitchFamily="18" charset="0"/>
              </a:rPr>
              <a:t>The size of the queue depends on the number and order of enqueue and dequeue.</a:t>
            </a:r>
          </a:p>
          <a:p>
            <a:pPr>
              <a:buFont typeface="Arial" panose="020B0604020202020204" pitchFamily="34" charset="0"/>
              <a:buChar char="•"/>
            </a:pPr>
            <a:r>
              <a:rPr lang="en-IN" altLang="en-US" sz="2400" dirty="0">
                <a:solidFill>
                  <a:srgbClr val="002060"/>
                </a:solidFill>
                <a:latin typeface="Times New Roman" pitchFamily="18" charset="0"/>
                <a:cs typeface="Times New Roman" pitchFamily="18" charset="0"/>
              </a:rPr>
              <a:t>It may be situation where memory is available but enqueue is not possible.</a:t>
            </a:r>
            <a:endParaRPr lang="en-US" altLang="en-US" sz="2400" dirty="0">
              <a:solidFill>
                <a:srgbClr val="002060"/>
              </a:solidFill>
              <a:latin typeface="Times New Roman" pitchFamily="18" charset="0"/>
              <a:cs typeface="Times New Roman" pitchFamily="18" charset="0"/>
            </a:endParaRPr>
          </a:p>
          <a:p>
            <a:endParaRPr lang="en-US" sz="2400" dirty="0"/>
          </a:p>
        </p:txBody>
      </p:sp>
      <p:sp>
        <p:nvSpPr>
          <p:cNvPr id="4" name="Rectangle 11">
            <a:extLst>
              <a:ext uri="{FF2B5EF4-FFF2-40B4-BE49-F238E27FC236}">
                <a16:creationId xmlns:a16="http://schemas.microsoft.com/office/drawing/2014/main" id="{8E4C0BD5-948A-9122-C86D-2E08BF38C04E}"/>
              </a:ext>
            </a:extLst>
          </p:cNvPr>
          <p:cNvSpPr>
            <a:spLocks noChangeArrowheads="1"/>
          </p:cNvSpPr>
          <p:nvPr/>
        </p:nvSpPr>
        <p:spPr bwMode="auto">
          <a:xfrm>
            <a:off x="3622961" y="4121730"/>
            <a:ext cx="4572000" cy="609600"/>
          </a:xfrm>
          <a:prstGeom prst="rect">
            <a:avLst/>
          </a:prstGeom>
          <a:solidFill>
            <a:schemeClr val="hlink"/>
          </a:solidFill>
          <a:ln w="31750">
            <a:solidFill>
              <a:srgbClr val="8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solidFill>
                <a:srgbClr val="FF0000"/>
              </a:solidFill>
              <a:latin typeface="Times New Roman" panose="02020603050405020304" pitchFamily="18" charset="0"/>
            </a:endParaRPr>
          </a:p>
        </p:txBody>
      </p:sp>
      <p:sp>
        <p:nvSpPr>
          <p:cNvPr id="5" name="Rectangle 4">
            <a:extLst>
              <a:ext uri="{FF2B5EF4-FFF2-40B4-BE49-F238E27FC236}">
                <a16:creationId xmlns:a16="http://schemas.microsoft.com/office/drawing/2014/main" id="{4048D4AC-2291-2E63-1B8D-E4B12FC8EF3B}"/>
              </a:ext>
            </a:extLst>
          </p:cNvPr>
          <p:cNvSpPr>
            <a:spLocks noChangeArrowheads="1"/>
          </p:cNvSpPr>
          <p:nvPr/>
        </p:nvSpPr>
        <p:spPr bwMode="auto">
          <a:xfrm>
            <a:off x="3622961" y="4121730"/>
            <a:ext cx="533400" cy="609600"/>
          </a:xfrm>
          <a:prstGeom prst="rect">
            <a:avLst/>
          </a:prstGeom>
          <a:solidFill>
            <a:srgbClr val="CCFFFF"/>
          </a:solidFill>
          <a:ln w="31750">
            <a:solidFill>
              <a:srgbClr val="8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solidFill>
                <a:srgbClr val="FF0000"/>
              </a:solidFill>
              <a:latin typeface="Times New Roman" panose="02020603050405020304" pitchFamily="18" charset="0"/>
            </a:endParaRPr>
          </a:p>
        </p:txBody>
      </p:sp>
      <p:sp>
        <p:nvSpPr>
          <p:cNvPr id="6" name="Rectangle 5">
            <a:extLst>
              <a:ext uri="{FF2B5EF4-FFF2-40B4-BE49-F238E27FC236}">
                <a16:creationId xmlns:a16="http://schemas.microsoft.com/office/drawing/2014/main" id="{49E963AB-25C9-9EFA-97AE-B5A2DC1EF056}"/>
              </a:ext>
            </a:extLst>
          </p:cNvPr>
          <p:cNvSpPr>
            <a:spLocks noChangeArrowheads="1"/>
          </p:cNvSpPr>
          <p:nvPr/>
        </p:nvSpPr>
        <p:spPr bwMode="auto">
          <a:xfrm>
            <a:off x="4156361" y="4121730"/>
            <a:ext cx="533400" cy="609600"/>
          </a:xfrm>
          <a:prstGeom prst="rect">
            <a:avLst/>
          </a:prstGeom>
          <a:solidFill>
            <a:srgbClr val="CCFFFF"/>
          </a:solidFill>
          <a:ln w="31750">
            <a:solidFill>
              <a:srgbClr val="8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solidFill>
                <a:srgbClr val="FF0000"/>
              </a:solidFill>
              <a:latin typeface="Times New Roman" panose="02020603050405020304" pitchFamily="18" charset="0"/>
            </a:endParaRPr>
          </a:p>
        </p:txBody>
      </p:sp>
      <p:sp>
        <p:nvSpPr>
          <p:cNvPr id="7" name="Rectangle 6">
            <a:extLst>
              <a:ext uri="{FF2B5EF4-FFF2-40B4-BE49-F238E27FC236}">
                <a16:creationId xmlns:a16="http://schemas.microsoft.com/office/drawing/2014/main" id="{C902ED67-0603-9AD8-E6A1-FF2D8305B1FF}"/>
              </a:ext>
            </a:extLst>
          </p:cNvPr>
          <p:cNvSpPr>
            <a:spLocks noChangeArrowheads="1"/>
          </p:cNvSpPr>
          <p:nvPr/>
        </p:nvSpPr>
        <p:spPr bwMode="auto">
          <a:xfrm>
            <a:off x="4689761" y="4121730"/>
            <a:ext cx="533400" cy="609600"/>
          </a:xfrm>
          <a:prstGeom prst="rect">
            <a:avLst/>
          </a:prstGeom>
          <a:solidFill>
            <a:srgbClr val="CCFFFF"/>
          </a:solidFill>
          <a:ln w="31750">
            <a:solidFill>
              <a:srgbClr val="8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solidFill>
                <a:srgbClr val="FF0000"/>
              </a:solidFill>
              <a:latin typeface="Times New Roman" panose="02020603050405020304" pitchFamily="18" charset="0"/>
            </a:endParaRPr>
          </a:p>
        </p:txBody>
      </p:sp>
      <p:sp>
        <p:nvSpPr>
          <p:cNvPr id="8" name="Rectangle 7">
            <a:extLst>
              <a:ext uri="{FF2B5EF4-FFF2-40B4-BE49-F238E27FC236}">
                <a16:creationId xmlns:a16="http://schemas.microsoft.com/office/drawing/2014/main" id="{F744F229-0B55-4DE6-BDB6-63DBF7FF5C51}"/>
              </a:ext>
            </a:extLst>
          </p:cNvPr>
          <p:cNvSpPr>
            <a:spLocks noChangeArrowheads="1"/>
          </p:cNvSpPr>
          <p:nvPr/>
        </p:nvSpPr>
        <p:spPr bwMode="auto">
          <a:xfrm>
            <a:off x="5223161" y="4121730"/>
            <a:ext cx="533400" cy="609600"/>
          </a:xfrm>
          <a:prstGeom prst="rect">
            <a:avLst/>
          </a:prstGeom>
          <a:solidFill>
            <a:srgbClr val="CCFFFF"/>
          </a:solidFill>
          <a:ln w="31750">
            <a:solidFill>
              <a:srgbClr val="800000"/>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solidFill>
                <a:srgbClr val="FF0000"/>
              </a:solidFill>
              <a:latin typeface="Times New Roman" panose="02020603050405020304" pitchFamily="18" charset="0"/>
            </a:endParaRPr>
          </a:p>
        </p:txBody>
      </p:sp>
      <p:grpSp>
        <p:nvGrpSpPr>
          <p:cNvPr id="9" name="Group 14">
            <a:extLst>
              <a:ext uri="{FF2B5EF4-FFF2-40B4-BE49-F238E27FC236}">
                <a16:creationId xmlns:a16="http://schemas.microsoft.com/office/drawing/2014/main" id="{CACB3905-A7FC-D84F-05F1-3EF0667140C3}"/>
              </a:ext>
            </a:extLst>
          </p:cNvPr>
          <p:cNvGrpSpPr>
            <a:grpSpLocks/>
          </p:cNvGrpSpPr>
          <p:nvPr/>
        </p:nvGrpSpPr>
        <p:grpSpPr bwMode="auto">
          <a:xfrm>
            <a:off x="3530886" y="4655130"/>
            <a:ext cx="876300" cy="987425"/>
            <a:chOff x="1142" y="2880"/>
            <a:chExt cx="552" cy="622"/>
          </a:xfrm>
        </p:grpSpPr>
        <p:sp>
          <p:nvSpPr>
            <p:cNvPr id="10" name="Text Box 12">
              <a:extLst>
                <a:ext uri="{FF2B5EF4-FFF2-40B4-BE49-F238E27FC236}">
                  <a16:creationId xmlns:a16="http://schemas.microsoft.com/office/drawing/2014/main" id="{201897A0-263F-3AF5-8FA8-F9809491727C}"/>
                </a:ext>
              </a:extLst>
            </p:cNvPr>
            <p:cNvSpPr txBox="1">
              <a:spLocks noChangeArrowheads="1"/>
            </p:cNvSpPr>
            <p:nvPr/>
          </p:nvSpPr>
          <p:spPr bwMode="auto">
            <a:xfrm>
              <a:off x="1142" y="3194"/>
              <a:ext cx="552" cy="308"/>
            </a:xfrm>
            <a:prstGeom prst="rect">
              <a:avLst/>
            </a:prstGeom>
            <a:noFill/>
            <a:ln w="3175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solidFill>
                    <a:srgbClr val="FF0000"/>
                  </a:solidFill>
                  <a:latin typeface="Times New Roman" panose="02020603050405020304" pitchFamily="18" charset="0"/>
                </a:rPr>
                <a:t>front</a:t>
              </a:r>
            </a:p>
          </p:txBody>
        </p:sp>
        <p:sp>
          <p:nvSpPr>
            <p:cNvPr id="11" name="Line 13">
              <a:extLst>
                <a:ext uri="{FF2B5EF4-FFF2-40B4-BE49-F238E27FC236}">
                  <a16:creationId xmlns:a16="http://schemas.microsoft.com/office/drawing/2014/main" id="{EDD796E0-1A45-EEE1-59C9-7E4CAF8E8FDA}"/>
                </a:ext>
              </a:extLst>
            </p:cNvPr>
            <p:cNvSpPr>
              <a:spLocks noChangeShapeType="1"/>
            </p:cNvSpPr>
            <p:nvPr/>
          </p:nvSpPr>
          <p:spPr bwMode="auto">
            <a:xfrm flipV="1">
              <a:off x="1392" y="2880"/>
              <a:ext cx="0" cy="288"/>
            </a:xfrm>
            <a:prstGeom prst="line">
              <a:avLst/>
            </a:prstGeom>
            <a:noFill/>
            <a:ln w="3175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grpSp>
        <p:nvGrpSpPr>
          <p:cNvPr id="12" name="Group 19">
            <a:extLst>
              <a:ext uri="{FF2B5EF4-FFF2-40B4-BE49-F238E27FC236}">
                <a16:creationId xmlns:a16="http://schemas.microsoft.com/office/drawing/2014/main" id="{FE8FD7FC-BEC2-96B9-4756-B9EBE33E2F44}"/>
              </a:ext>
            </a:extLst>
          </p:cNvPr>
          <p:cNvGrpSpPr>
            <a:grpSpLocks/>
          </p:cNvGrpSpPr>
          <p:nvPr/>
        </p:nvGrpSpPr>
        <p:grpSpPr bwMode="auto">
          <a:xfrm>
            <a:off x="5516849" y="4655130"/>
            <a:ext cx="773112" cy="987425"/>
            <a:chOff x="1142" y="2880"/>
            <a:chExt cx="487" cy="622"/>
          </a:xfrm>
        </p:grpSpPr>
        <p:sp>
          <p:nvSpPr>
            <p:cNvPr id="13" name="Text Box 20">
              <a:extLst>
                <a:ext uri="{FF2B5EF4-FFF2-40B4-BE49-F238E27FC236}">
                  <a16:creationId xmlns:a16="http://schemas.microsoft.com/office/drawing/2014/main" id="{CBB005F0-43E8-19B3-8153-E04BB7DC6DAE}"/>
                </a:ext>
              </a:extLst>
            </p:cNvPr>
            <p:cNvSpPr txBox="1">
              <a:spLocks noChangeArrowheads="1"/>
            </p:cNvSpPr>
            <p:nvPr/>
          </p:nvSpPr>
          <p:spPr bwMode="auto">
            <a:xfrm>
              <a:off x="1142" y="3194"/>
              <a:ext cx="487" cy="308"/>
            </a:xfrm>
            <a:prstGeom prst="rect">
              <a:avLst/>
            </a:prstGeom>
            <a:noFill/>
            <a:ln w="3175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solidFill>
                    <a:srgbClr val="FF0000"/>
                  </a:solidFill>
                  <a:latin typeface="Times New Roman" panose="02020603050405020304" pitchFamily="18" charset="0"/>
                </a:rPr>
                <a:t>rear</a:t>
              </a:r>
            </a:p>
          </p:txBody>
        </p:sp>
        <p:sp>
          <p:nvSpPr>
            <p:cNvPr id="14" name="Line 21">
              <a:extLst>
                <a:ext uri="{FF2B5EF4-FFF2-40B4-BE49-F238E27FC236}">
                  <a16:creationId xmlns:a16="http://schemas.microsoft.com/office/drawing/2014/main" id="{A2F197F7-00D5-C9C6-CEEF-68166CDB0C76}"/>
                </a:ext>
              </a:extLst>
            </p:cNvPr>
            <p:cNvSpPr>
              <a:spLocks noChangeShapeType="1"/>
            </p:cNvSpPr>
            <p:nvPr/>
          </p:nvSpPr>
          <p:spPr bwMode="auto">
            <a:xfrm flipV="1">
              <a:off x="1392" y="2880"/>
              <a:ext cx="0" cy="288"/>
            </a:xfrm>
            <a:prstGeom prst="line">
              <a:avLst/>
            </a:prstGeom>
            <a:noFill/>
            <a:ln w="3175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sp>
        <p:nvSpPr>
          <p:cNvPr id="15" name="Text Box 22">
            <a:extLst>
              <a:ext uri="{FF2B5EF4-FFF2-40B4-BE49-F238E27FC236}">
                <a16:creationId xmlns:a16="http://schemas.microsoft.com/office/drawing/2014/main" id="{8A165F01-9529-3749-0C11-09AC3F5CE73B}"/>
              </a:ext>
            </a:extLst>
          </p:cNvPr>
          <p:cNvSpPr txBox="1">
            <a:spLocks noChangeArrowheads="1"/>
          </p:cNvSpPr>
          <p:nvPr/>
        </p:nvSpPr>
        <p:spPr bwMode="auto">
          <a:xfrm>
            <a:off x="4010311" y="2676684"/>
            <a:ext cx="1692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dirty="0">
                <a:solidFill>
                  <a:schemeClr val="bg2">
                    <a:lumMod val="50000"/>
                  </a:schemeClr>
                </a:solidFill>
                <a:latin typeface="Times New Roman" panose="02020603050405020304" pitchFamily="18" charset="0"/>
              </a:rPr>
              <a:t>ENQUEUE</a:t>
            </a:r>
          </a:p>
        </p:txBody>
      </p:sp>
      <p:sp>
        <p:nvSpPr>
          <p:cNvPr id="19" name="Text Box 26">
            <a:extLst>
              <a:ext uri="{FF2B5EF4-FFF2-40B4-BE49-F238E27FC236}">
                <a16:creationId xmlns:a16="http://schemas.microsoft.com/office/drawing/2014/main" id="{3216B632-CFE8-B7C0-77E6-397E06FAF59B}"/>
              </a:ext>
            </a:extLst>
          </p:cNvPr>
          <p:cNvSpPr txBox="1">
            <a:spLocks noChangeArrowheads="1"/>
          </p:cNvSpPr>
          <p:nvPr/>
        </p:nvSpPr>
        <p:spPr bwMode="auto">
          <a:xfrm>
            <a:off x="6324092" y="2663959"/>
            <a:ext cx="1692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dirty="0">
                <a:solidFill>
                  <a:schemeClr val="bg2">
                    <a:lumMod val="50000"/>
                  </a:schemeClr>
                </a:solidFill>
                <a:latin typeface="Times New Roman" panose="02020603050405020304" pitchFamily="18" charset="0"/>
              </a:rPr>
              <a:t>DEQUEUE</a:t>
            </a:r>
          </a:p>
        </p:txBody>
      </p:sp>
      <p:sp>
        <p:nvSpPr>
          <p:cNvPr id="20" name="Text Box 27">
            <a:extLst>
              <a:ext uri="{FF2B5EF4-FFF2-40B4-BE49-F238E27FC236}">
                <a16:creationId xmlns:a16="http://schemas.microsoft.com/office/drawing/2014/main" id="{F5CD3BED-475B-88C8-AC47-37221EE896AB}"/>
              </a:ext>
            </a:extLst>
          </p:cNvPr>
          <p:cNvSpPr txBox="1">
            <a:spLocks noChangeArrowheads="1"/>
          </p:cNvSpPr>
          <p:nvPr/>
        </p:nvSpPr>
        <p:spPr bwMode="auto">
          <a:xfrm>
            <a:off x="2921286" y="3198946"/>
            <a:ext cx="66664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dirty="0">
                <a:solidFill>
                  <a:schemeClr val="bg2">
                    <a:lumMod val="50000"/>
                  </a:schemeClr>
                </a:solidFill>
                <a:latin typeface="Times New Roman" panose="02020603050405020304" pitchFamily="18" charset="0"/>
              </a:rPr>
              <a:t>Effective queuing storage area of array gets reduced.</a:t>
            </a:r>
          </a:p>
        </p:txBody>
      </p:sp>
      <p:sp>
        <p:nvSpPr>
          <p:cNvPr id="21" name="Text Box 30">
            <a:extLst>
              <a:ext uri="{FF2B5EF4-FFF2-40B4-BE49-F238E27FC236}">
                <a16:creationId xmlns:a16="http://schemas.microsoft.com/office/drawing/2014/main" id="{20DA1431-ACEB-53C6-5916-15FCF87C4EB5}"/>
              </a:ext>
            </a:extLst>
          </p:cNvPr>
          <p:cNvSpPr txBox="1">
            <a:spLocks noChangeArrowheads="1"/>
          </p:cNvSpPr>
          <p:nvPr/>
        </p:nvSpPr>
        <p:spPr bwMode="auto">
          <a:xfrm>
            <a:off x="7813961" y="366453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Times New Roman" panose="02020603050405020304" pitchFamily="18" charset="0"/>
              </a:rPr>
              <a:t>N</a:t>
            </a:r>
          </a:p>
        </p:txBody>
      </p:sp>
      <p:sp>
        <p:nvSpPr>
          <p:cNvPr id="23" name="TextBox 22">
            <a:extLst>
              <a:ext uri="{FF2B5EF4-FFF2-40B4-BE49-F238E27FC236}">
                <a16:creationId xmlns:a16="http://schemas.microsoft.com/office/drawing/2014/main" id="{D49D8C86-0CE2-3EE3-9665-E3FE743527F2}"/>
              </a:ext>
            </a:extLst>
          </p:cNvPr>
          <p:cNvSpPr txBox="1"/>
          <p:nvPr/>
        </p:nvSpPr>
        <p:spPr>
          <a:xfrm>
            <a:off x="6968836" y="5398080"/>
            <a:ext cx="6096000" cy="369332"/>
          </a:xfrm>
          <a:prstGeom prst="rect">
            <a:avLst/>
          </a:prstGeom>
          <a:noFill/>
        </p:spPr>
        <p:txBody>
          <a:bodyPr wrap="square">
            <a:spAutoFit/>
          </a:bodyPr>
          <a:lstStyle/>
          <a:p>
            <a:pPr eaLnBrk="1" hangingPunct="1">
              <a:spcBef>
                <a:spcPct val="0"/>
              </a:spcBef>
              <a:buFontTx/>
              <a:buNone/>
            </a:pPr>
            <a:r>
              <a:rPr lang="en-US" altLang="en-US" sz="1800" dirty="0">
                <a:solidFill>
                  <a:schemeClr val="bg2">
                    <a:lumMod val="50000"/>
                  </a:schemeClr>
                </a:solidFill>
                <a:latin typeface="Times New Roman" panose="02020603050405020304" pitchFamily="18" charset="0"/>
              </a:rPr>
              <a:t>Use of circular array indexing</a:t>
            </a:r>
          </a:p>
        </p:txBody>
      </p:sp>
    </p:spTree>
    <p:extLst>
      <p:ext uri="{BB962C8B-B14F-4D97-AF65-F5344CB8AC3E}">
        <p14:creationId xmlns:p14="http://schemas.microsoft.com/office/powerpoint/2010/main" val="1598611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checkerboard(across)">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xit" presetSubtype="10" fill="hold" grpId="1" nodeType="clickEffect">
                                  <p:stCondLst>
                                    <p:cond delay="0"/>
                                  </p:stCondLst>
                                  <p:childTnLst>
                                    <p:animEffect transition="out" filter="checkerboard(across)">
                                      <p:cBhvr>
                                        <p:cTn id="16" dur="500"/>
                                        <p:tgtEl>
                                          <p:spTgt spid="15"/>
                                        </p:tgtEl>
                                      </p:cBhvr>
                                    </p:animEffect>
                                    <p:set>
                                      <p:cBhvr>
                                        <p:cTn id="17" dur="1" fill="hold">
                                          <p:stCondLst>
                                            <p:cond delay="499"/>
                                          </p:stCondLst>
                                        </p:cTn>
                                        <p:tgtEl>
                                          <p:spTgt spid="1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5" presetClass="exit" presetSubtype="10" fill="hold" grpId="0" nodeType="clickEffect">
                                  <p:stCondLst>
                                    <p:cond delay="0"/>
                                  </p:stCondLst>
                                  <p:childTnLst>
                                    <p:animEffect transition="out" filter="checkerboard(across)">
                                      <p:cBhvr>
                                        <p:cTn id="21" dur="500"/>
                                        <p:tgtEl>
                                          <p:spTgt spid="5"/>
                                        </p:tgtEl>
                                      </p:cBhvr>
                                    </p:animEffect>
                                    <p:set>
                                      <p:cBhvr>
                                        <p:cTn id="22" dur="1" fill="hold">
                                          <p:stCondLst>
                                            <p:cond delay="499"/>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5" presetClass="exit" presetSubtype="10" fill="hold" nodeType="clickEffect">
                                  <p:stCondLst>
                                    <p:cond delay="0"/>
                                  </p:stCondLst>
                                  <p:childTnLst>
                                    <p:animEffect transition="out" filter="checkerboard(across)">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checkerboard(across)">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xit" presetSubtype="10" fill="hold" grpId="1" nodeType="clickEffect">
                                  <p:stCondLst>
                                    <p:cond delay="0"/>
                                  </p:stCondLst>
                                  <p:childTnLst>
                                    <p:animEffect transition="out" filter="checkerboard(across)">
                                      <p:cBhvr>
                                        <p:cTn id="36" dur="500"/>
                                        <p:tgtEl>
                                          <p:spTgt spid="19"/>
                                        </p:tgtEl>
                                      </p:cBhvr>
                                    </p:animEffect>
                                    <p:set>
                                      <p:cBhvr>
                                        <p:cTn id="37" dur="1" fill="hold">
                                          <p:stCondLst>
                                            <p:cond delay="499"/>
                                          </p:stCondLst>
                                        </p:cTn>
                                        <p:tgtEl>
                                          <p:spTgt spid="1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checkerboard(across)">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p:bldP spid="15" grpId="1"/>
      <p:bldP spid="19" grpId="0"/>
      <p:bldP spid="19" grpId="1"/>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Circular Queue</a:t>
            </a:r>
            <a:endParaRPr lang="en-US" dirty="0"/>
          </a:p>
        </p:txBody>
      </p:sp>
      <p:sp>
        <p:nvSpPr>
          <p:cNvPr id="3" name="Content Placeholder 2"/>
          <p:cNvSpPr>
            <a:spLocks noGrp="1"/>
          </p:cNvSpPr>
          <p:nvPr>
            <p:ph idx="1"/>
          </p:nvPr>
        </p:nvSpPr>
        <p:spPr/>
        <p:txBody>
          <a:bodyPr/>
          <a:lstStyle/>
          <a:p>
            <a:r>
              <a:rPr lang="en-US" sz="2400" dirty="0">
                <a:solidFill>
                  <a:schemeClr val="bg2">
                    <a:lumMod val="25000"/>
                  </a:schemeClr>
                </a:solidFill>
                <a:latin typeface="Times New Roman" panose="02020603050405020304" pitchFamily="18" charset="0"/>
                <a:cs typeface="Times New Roman" panose="02020603050405020304" pitchFamily="18" charset="0"/>
              </a:rPr>
              <a:t>In circular queue, the elements are physically arranged in sequential manner but </a:t>
            </a:r>
            <a:r>
              <a:rPr lang="en-US" sz="2400" dirty="0" smtClean="0">
                <a:solidFill>
                  <a:schemeClr val="bg2">
                    <a:lumMod val="25000"/>
                  </a:schemeClr>
                </a:solidFill>
                <a:latin typeface="Times New Roman" panose="02020603050405020304" pitchFamily="18" charset="0"/>
                <a:cs typeface="Times New Roman" panose="02020603050405020304" pitchFamily="18" charset="0"/>
              </a:rPr>
              <a:t>logically they </a:t>
            </a:r>
            <a:r>
              <a:rPr lang="en-US" sz="2400" dirty="0">
                <a:solidFill>
                  <a:schemeClr val="bg2">
                    <a:lumMod val="25000"/>
                  </a:schemeClr>
                </a:solidFill>
                <a:latin typeface="Times New Roman" panose="02020603050405020304" pitchFamily="18" charset="0"/>
                <a:cs typeface="Times New Roman" panose="02020603050405020304" pitchFamily="18" charset="0"/>
              </a:rPr>
              <a:t>are treated as they are circularly arranged.</a:t>
            </a:r>
          </a:p>
          <a:p>
            <a:endParaRPr lang="en-US" dirty="0"/>
          </a:p>
          <a:p>
            <a:endParaRPr lang="en-US" dirty="0"/>
          </a:p>
          <a:p>
            <a:endParaRPr lang="en-US" dirty="0"/>
          </a:p>
          <a:p>
            <a:endParaRPr lang="en-US"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8510" y="2618515"/>
            <a:ext cx="4800601" cy="2248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62461" y="3077817"/>
            <a:ext cx="32766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82970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a:solidFill>
                  <a:schemeClr val="tx2"/>
                </a:solidFill>
                <a:latin typeface="Times New Roman" panose="02020603050405020304" pitchFamily="18" charset="0"/>
                <a:cs typeface="Times New Roman" panose="02020603050405020304" pitchFamily="18" charset="0"/>
              </a:rPr>
              <a:t>The rear and front move about in clockwise direction.</a:t>
            </a:r>
          </a:p>
          <a:p>
            <a:r>
              <a:rPr lang="en-US" sz="2400" dirty="0">
                <a:solidFill>
                  <a:schemeClr val="tx2"/>
                </a:solidFill>
                <a:latin typeface="Times New Roman" panose="02020603050405020304" pitchFamily="18" charset="0"/>
                <a:cs typeface="Times New Roman" panose="02020603050405020304" pitchFamily="18" charset="0"/>
              </a:rPr>
              <a:t>Circular queue is another form of a linear queue in which last position is connected to the first position of the list.</a:t>
            </a:r>
          </a:p>
          <a:p>
            <a:r>
              <a:rPr lang="en-US" sz="2400" dirty="0">
                <a:solidFill>
                  <a:schemeClr val="tx2"/>
                </a:solidFill>
                <a:latin typeface="Times New Roman" panose="02020603050405020304" pitchFamily="18" charset="0"/>
                <a:cs typeface="Times New Roman" panose="02020603050405020304" pitchFamily="18" charset="0"/>
              </a:rPr>
              <a:t>It can be viewed as a mesh or loop of wire , in which the two ends of the wire are connected together.</a:t>
            </a:r>
          </a:p>
          <a:p>
            <a:r>
              <a:rPr lang="en-US" sz="2400" dirty="0">
                <a:solidFill>
                  <a:schemeClr val="tx2"/>
                </a:solidFill>
                <a:latin typeface="Times New Roman" panose="02020603050405020304" pitchFamily="18" charset="0"/>
                <a:cs typeface="Times New Roman" panose="02020603050405020304" pitchFamily="18" charset="0"/>
              </a:rPr>
              <a:t>A circular queue is one in which the first element comes just after the last element.</a:t>
            </a:r>
          </a:p>
          <a:p>
            <a:endParaRPr lang="en-US" dirty="0"/>
          </a:p>
        </p:txBody>
      </p:sp>
    </p:spTree>
    <p:extLst>
      <p:ext uri="{BB962C8B-B14F-4D97-AF65-F5344CB8AC3E}">
        <p14:creationId xmlns:p14="http://schemas.microsoft.com/office/powerpoint/2010/main" val="19782970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a:solidFill>
                  <a:schemeClr val="bg2">
                    <a:lumMod val="25000"/>
                  </a:schemeClr>
                </a:solidFill>
                <a:latin typeface="Times New Roman" panose="02020603050405020304" pitchFamily="18" charset="0"/>
                <a:cs typeface="Times New Roman" panose="02020603050405020304" pitchFamily="18" charset="0"/>
              </a:rPr>
              <a:t>The front will always be pointing to the first element.</a:t>
            </a:r>
          </a:p>
          <a:p>
            <a:r>
              <a:rPr lang="en-US" sz="2400" dirty="0">
                <a:solidFill>
                  <a:schemeClr val="bg2">
                    <a:lumMod val="25000"/>
                  </a:schemeClr>
                </a:solidFill>
                <a:latin typeface="Times New Roman" panose="02020603050405020304" pitchFamily="18" charset="0"/>
                <a:cs typeface="Times New Roman" panose="02020603050405020304" pitchFamily="18" charset="0"/>
              </a:rPr>
              <a:t>If front=rear , the queue </a:t>
            </a:r>
            <a:r>
              <a:rPr lang="en-US" sz="2400" dirty="0" smtClean="0">
                <a:solidFill>
                  <a:schemeClr val="bg2">
                    <a:lumMod val="25000"/>
                  </a:schemeClr>
                </a:solidFill>
                <a:latin typeface="Times New Roman" panose="02020603050405020304" pitchFamily="18" charset="0"/>
                <a:cs typeface="Times New Roman" panose="02020603050405020304" pitchFamily="18" charset="0"/>
              </a:rPr>
              <a:t>will have a single element.</a:t>
            </a:r>
            <a:endParaRPr lang="en-US" sz="2400" dirty="0">
              <a:solidFill>
                <a:schemeClr val="bg2">
                  <a:lumMod val="25000"/>
                </a:schemeClr>
              </a:solidFill>
              <a:latin typeface="Times New Roman" panose="02020603050405020304" pitchFamily="18" charset="0"/>
              <a:cs typeface="Times New Roman" panose="02020603050405020304" pitchFamily="18" charset="0"/>
            </a:endParaRPr>
          </a:p>
          <a:p>
            <a:r>
              <a:rPr lang="en-US" sz="2400" dirty="0">
                <a:solidFill>
                  <a:schemeClr val="bg2">
                    <a:lumMod val="25000"/>
                  </a:schemeClr>
                </a:solidFill>
                <a:latin typeface="Times New Roman" panose="02020603050405020304" pitchFamily="18" charset="0"/>
                <a:cs typeface="Times New Roman" panose="02020603050405020304" pitchFamily="18" charset="0"/>
              </a:rPr>
              <a:t>Each time a new element is inserted into the queue the rear is incremented by one  (rear=rear+1)</a:t>
            </a:r>
          </a:p>
          <a:p>
            <a:r>
              <a:rPr lang="en-US" sz="2400" dirty="0">
                <a:solidFill>
                  <a:schemeClr val="bg2">
                    <a:lumMod val="25000"/>
                  </a:schemeClr>
                </a:solidFill>
                <a:latin typeface="Times New Roman" panose="02020603050405020304" pitchFamily="18" charset="0"/>
                <a:cs typeface="Times New Roman" panose="02020603050405020304" pitchFamily="18" charset="0"/>
              </a:rPr>
              <a:t>Each time an element is deleted from the queue the value of front is incremented by one (front=front+1)</a:t>
            </a:r>
          </a:p>
          <a:p>
            <a:endParaRPr lang="en-US" dirty="0"/>
          </a:p>
        </p:txBody>
      </p:sp>
    </p:spTree>
    <p:extLst>
      <p:ext uri="{BB962C8B-B14F-4D97-AF65-F5344CB8AC3E}">
        <p14:creationId xmlns:p14="http://schemas.microsoft.com/office/powerpoint/2010/main" val="19782970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2060"/>
                </a:solidFill>
              </a:rPr>
              <a:t>Circular queue v/s Linear queue</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Q</a:t>
            </a:r>
            <a:r>
              <a:rPr lang="en-US" sz="2000" dirty="0" smtClean="0">
                <a:solidFill>
                  <a:schemeClr val="tx2"/>
                </a:solidFill>
                <a:latin typeface="Times New Roman" panose="02020603050405020304" pitchFamily="18" charset="0"/>
                <a:cs typeface="Times New Roman" panose="02020603050405020304" pitchFamily="18" charset="0"/>
              </a:rPr>
              <a:t>ueues </a:t>
            </a:r>
            <a:r>
              <a:rPr lang="en-US" sz="2000" dirty="0">
                <a:solidFill>
                  <a:schemeClr val="tx2"/>
                </a:solidFill>
                <a:latin typeface="Times New Roman" panose="02020603050405020304" pitchFamily="18" charset="0"/>
                <a:cs typeface="Times New Roman" panose="02020603050405020304" pitchFamily="18" charset="0"/>
              </a:rPr>
              <a:t>that have a fixed capacity are called bounded queues. In practical usage queues are bounded.</a:t>
            </a:r>
          </a:p>
          <a:p>
            <a:pPr>
              <a:buFont typeface="Wingdings" pitchFamily="2" charset="2"/>
              <a:buChar char="Ø"/>
            </a:pPr>
            <a:r>
              <a:rPr lang="en-US" sz="2000" dirty="0" smtClean="0">
                <a:solidFill>
                  <a:schemeClr val="tx2"/>
                </a:solidFill>
                <a:latin typeface="Times New Roman" panose="02020603050405020304" pitchFamily="18" charset="0"/>
                <a:cs typeface="Times New Roman" panose="02020603050405020304" pitchFamily="18" charset="0"/>
              </a:rPr>
              <a:t>Circular </a:t>
            </a:r>
            <a:r>
              <a:rPr lang="en-US" sz="2000" dirty="0">
                <a:solidFill>
                  <a:schemeClr val="tx2"/>
                </a:solidFill>
                <a:latin typeface="Times New Roman" panose="02020603050405020304" pitchFamily="18" charset="0"/>
                <a:cs typeface="Times New Roman" panose="02020603050405020304" pitchFamily="18" charset="0"/>
              </a:rPr>
              <a:t>queues have a fixed size, like bounded queues.</a:t>
            </a:r>
          </a:p>
          <a:p>
            <a:pPr>
              <a:buFont typeface="Wingdings" pitchFamily="2" charset="2"/>
              <a:buChar char="Ø"/>
            </a:pPr>
            <a:r>
              <a:rPr lang="en-US" sz="2000" dirty="0" smtClean="0">
                <a:solidFill>
                  <a:schemeClr val="tx2"/>
                </a:solidFill>
                <a:latin typeface="Times New Roman" panose="02020603050405020304" pitchFamily="18" charset="0"/>
                <a:cs typeface="Times New Roman" panose="02020603050405020304" pitchFamily="18" charset="0"/>
              </a:rPr>
              <a:t>The </a:t>
            </a:r>
            <a:r>
              <a:rPr lang="en-US" sz="2000" dirty="0">
                <a:solidFill>
                  <a:schemeClr val="tx2"/>
                </a:solidFill>
                <a:latin typeface="Times New Roman" panose="02020603050405020304" pitchFamily="18" charset="0"/>
                <a:cs typeface="Times New Roman" panose="02020603050405020304" pitchFamily="18" charset="0"/>
              </a:rPr>
              <a:t>end of a linear queue points to NULL indicating the end of the queue, while the end of a circular queue points to the beginning of the queue, thus completing the circle.</a:t>
            </a:r>
          </a:p>
          <a:p>
            <a:pPr>
              <a:buFont typeface="Wingdings" pitchFamily="2" charset="2"/>
              <a:buChar char="Ø"/>
            </a:pPr>
            <a:r>
              <a:rPr lang="en-US" sz="2000" dirty="0" smtClean="0">
                <a:solidFill>
                  <a:schemeClr val="tx2"/>
                </a:solidFill>
                <a:latin typeface="Times New Roman" panose="02020603050405020304" pitchFamily="18" charset="0"/>
                <a:cs typeface="Times New Roman" panose="02020603050405020304" pitchFamily="18" charset="0"/>
              </a:rPr>
              <a:t>Linear </a:t>
            </a:r>
            <a:r>
              <a:rPr lang="en-US" sz="2000" dirty="0">
                <a:solidFill>
                  <a:schemeClr val="tx2"/>
                </a:solidFill>
                <a:latin typeface="Times New Roman" panose="02020603050405020304" pitchFamily="18" charset="0"/>
                <a:cs typeface="Times New Roman" panose="02020603050405020304" pitchFamily="18" charset="0"/>
              </a:rPr>
              <a:t>queues do not allow overwriting of existing data. When the queue is full, new data cannot be inserted until old data is freed. Linear queues must pass both “Queue Empty” test before </a:t>
            </a:r>
            <a:r>
              <a:rPr lang="en-US" sz="2000" dirty="0" err="1">
                <a:solidFill>
                  <a:schemeClr val="tx2"/>
                </a:solidFill>
                <a:latin typeface="Times New Roman" panose="02020603050405020304" pitchFamily="18" charset="0"/>
                <a:cs typeface="Times New Roman" panose="02020603050405020304" pitchFamily="18" charset="0"/>
              </a:rPr>
              <a:t>dequeue</a:t>
            </a:r>
            <a:r>
              <a:rPr lang="en-US" sz="2000" dirty="0">
                <a:solidFill>
                  <a:schemeClr val="tx2"/>
                </a:solidFill>
                <a:latin typeface="Times New Roman" panose="02020603050405020304" pitchFamily="18" charset="0"/>
                <a:cs typeface="Times New Roman" panose="02020603050405020304" pitchFamily="18" charset="0"/>
              </a:rPr>
              <a:t> operation and “Queue Full” test before </a:t>
            </a:r>
            <a:r>
              <a:rPr lang="en-US" sz="2000" dirty="0" err="1">
                <a:solidFill>
                  <a:schemeClr val="tx2"/>
                </a:solidFill>
                <a:latin typeface="Times New Roman" panose="02020603050405020304" pitchFamily="18" charset="0"/>
                <a:cs typeface="Times New Roman" panose="02020603050405020304" pitchFamily="18" charset="0"/>
              </a:rPr>
              <a:t>enqueue</a:t>
            </a:r>
            <a:r>
              <a:rPr lang="en-US" sz="2000" dirty="0">
                <a:solidFill>
                  <a:schemeClr val="tx2"/>
                </a:solidFill>
                <a:latin typeface="Times New Roman" panose="02020603050405020304" pitchFamily="18" charset="0"/>
                <a:cs typeface="Times New Roman" panose="02020603050405020304" pitchFamily="18" charset="0"/>
              </a:rPr>
              <a:t> operation. </a:t>
            </a:r>
          </a:p>
          <a:p>
            <a:pPr>
              <a:buFont typeface="Wingdings" pitchFamily="2" charset="2"/>
              <a:buChar char="Ø"/>
            </a:pPr>
            <a:r>
              <a:rPr lang="en-US" sz="2000" dirty="0" smtClean="0">
                <a:solidFill>
                  <a:schemeClr val="tx2"/>
                </a:solidFill>
                <a:latin typeface="Times New Roman" panose="02020603050405020304" pitchFamily="18" charset="0"/>
                <a:cs typeface="Times New Roman" panose="02020603050405020304" pitchFamily="18" charset="0"/>
              </a:rPr>
              <a:t>Circular </a:t>
            </a:r>
            <a:r>
              <a:rPr lang="en-US" sz="2000" dirty="0">
                <a:solidFill>
                  <a:schemeClr val="tx2"/>
                </a:solidFill>
                <a:latin typeface="Times New Roman" panose="02020603050405020304" pitchFamily="18" charset="0"/>
                <a:cs typeface="Times New Roman" panose="02020603050405020304" pitchFamily="18" charset="0"/>
              </a:rPr>
              <a:t>queues are only required to pass “Queue Empty” test, and depending on the application the “Queue Full” test is optional. When new data is </a:t>
            </a:r>
            <a:r>
              <a:rPr lang="en-US" sz="2000" dirty="0" err="1">
                <a:solidFill>
                  <a:schemeClr val="tx2"/>
                </a:solidFill>
                <a:latin typeface="Times New Roman" panose="02020603050405020304" pitchFamily="18" charset="0"/>
                <a:cs typeface="Times New Roman" panose="02020603050405020304" pitchFamily="18" charset="0"/>
              </a:rPr>
              <a:t>enqueued</a:t>
            </a:r>
            <a:r>
              <a:rPr lang="en-US" sz="2000" dirty="0">
                <a:solidFill>
                  <a:schemeClr val="tx2"/>
                </a:solidFill>
                <a:latin typeface="Times New Roman" panose="02020603050405020304" pitchFamily="18" charset="0"/>
                <a:cs typeface="Times New Roman" panose="02020603050405020304" pitchFamily="18" charset="0"/>
              </a:rPr>
              <a:t> into a circular queue, the oldest data of the queue is overwritten.</a:t>
            </a:r>
          </a:p>
          <a:p>
            <a:endParaRPr lang="en-US" dirty="0"/>
          </a:p>
        </p:txBody>
      </p:sp>
    </p:spTree>
    <p:extLst>
      <p:ext uri="{BB962C8B-B14F-4D97-AF65-F5344CB8AC3E}">
        <p14:creationId xmlns:p14="http://schemas.microsoft.com/office/powerpoint/2010/main" val="19782970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27842-5EBA-4644-539E-1F190ADC90DD}"/>
              </a:ext>
            </a:extLst>
          </p:cNvPr>
          <p:cNvSpPr>
            <a:spLocks noGrp="1"/>
          </p:cNvSpPr>
          <p:nvPr>
            <p:ph type="title"/>
          </p:nvPr>
        </p:nvSpPr>
        <p:spPr/>
        <p:txBody>
          <a:bodyPr/>
          <a:lstStyle/>
          <a:p>
            <a:pPr algn="ctr"/>
            <a:r>
              <a:rPr lang="en-US" dirty="0"/>
              <a:t>Circular Queue Operations</a:t>
            </a:r>
          </a:p>
        </p:txBody>
      </p:sp>
      <p:pic>
        <p:nvPicPr>
          <p:cNvPr id="5" name="Content Placeholder 4" descr="A screenshot of a computer&#10;&#10;Description automatically generated">
            <a:extLst>
              <a:ext uri="{FF2B5EF4-FFF2-40B4-BE49-F238E27FC236}">
                <a16:creationId xmlns:a16="http://schemas.microsoft.com/office/drawing/2014/main" id="{4424A152-7D8B-5D30-9AF4-4032CF0B1D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6839" y="1752600"/>
            <a:ext cx="9683122" cy="4525963"/>
          </a:xfrm>
        </p:spPr>
      </p:pic>
    </p:spTree>
    <p:extLst>
      <p:ext uri="{BB962C8B-B14F-4D97-AF65-F5344CB8AC3E}">
        <p14:creationId xmlns:p14="http://schemas.microsoft.com/office/powerpoint/2010/main" val="26416807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Algorithm to insert an element in a circular queue</a:t>
            </a:r>
            <a:br>
              <a:rPr lang="en-US" dirty="0" smtClean="0"/>
            </a:b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solidFill>
                  <a:schemeClr val="tx2"/>
                </a:solidFill>
                <a:latin typeface="Times New Roman" panose="02020603050405020304" pitchFamily="18" charset="0"/>
                <a:cs typeface="Times New Roman" panose="02020603050405020304" pitchFamily="18" charset="0"/>
              </a:rPr>
              <a:t>Insert-Circular-Q(</a:t>
            </a:r>
            <a:r>
              <a:rPr lang="en-US" dirty="0" err="1" smtClean="0">
                <a:solidFill>
                  <a:schemeClr val="tx2"/>
                </a:solidFill>
                <a:latin typeface="Times New Roman" panose="02020603050405020304" pitchFamily="18" charset="0"/>
                <a:cs typeface="Times New Roman" panose="02020603050405020304" pitchFamily="18" charset="0"/>
              </a:rPr>
              <a:t>CQueue</a:t>
            </a:r>
            <a:r>
              <a:rPr lang="en-US" dirty="0" smtClean="0">
                <a:solidFill>
                  <a:schemeClr val="tx2"/>
                </a:solidFill>
                <a:latin typeface="Times New Roman" panose="02020603050405020304" pitchFamily="18" charset="0"/>
                <a:cs typeface="Times New Roman" panose="02020603050405020304" pitchFamily="18" charset="0"/>
              </a:rPr>
              <a:t>, Rear, Front, N, Item) </a:t>
            </a:r>
          </a:p>
          <a:p>
            <a:r>
              <a:rPr lang="en-US" dirty="0" err="1" smtClean="0">
                <a:solidFill>
                  <a:schemeClr val="tx2"/>
                </a:solidFill>
                <a:latin typeface="Times New Roman" panose="02020603050405020304" pitchFamily="18" charset="0"/>
                <a:cs typeface="Times New Roman" panose="02020603050405020304" pitchFamily="18" charset="0"/>
              </a:rPr>
              <a:t>CQueue</a:t>
            </a:r>
            <a:r>
              <a:rPr lang="en-US" dirty="0" smtClean="0">
                <a:solidFill>
                  <a:schemeClr val="tx2"/>
                </a:solidFill>
                <a:latin typeface="Times New Roman" panose="02020603050405020304" pitchFamily="18" charset="0"/>
                <a:cs typeface="Times New Roman" panose="02020603050405020304" pitchFamily="18" charset="0"/>
              </a:rPr>
              <a:t> is a circular queue where to store data. </a:t>
            </a:r>
          </a:p>
          <a:p>
            <a:r>
              <a:rPr lang="en-US" dirty="0" smtClean="0">
                <a:solidFill>
                  <a:schemeClr val="tx2"/>
                </a:solidFill>
                <a:latin typeface="Times New Roman" panose="02020603050405020304" pitchFamily="18" charset="0"/>
                <a:cs typeface="Times New Roman" panose="02020603050405020304" pitchFamily="18" charset="0"/>
              </a:rPr>
              <a:t>Rear represents the location in which the data element is to be inserted and Front represents the location from which the data element is to be removed.</a:t>
            </a:r>
          </a:p>
          <a:p>
            <a:r>
              <a:rPr lang="en-US" dirty="0" smtClean="0">
                <a:solidFill>
                  <a:schemeClr val="tx2"/>
                </a:solidFill>
                <a:latin typeface="Times New Roman" panose="02020603050405020304" pitchFamily="18" charset="0"/>
                <a:cs typeface="Times New Roman" panose="02020603050405020304" pitchFamily="18" charset="0"/>
              </a:rPr>
              <a:t>Here N is the maximum size of </a:t>
            </a:r>
            <a:r>
              <a:rPr lang="en-US" dirty="0" err="1" smtClean="0">
                <a:solidFill>
                  <a:schemeClr val="tx2"/>
                </a:solidFill>
                <a:latin typeface="Times New Roman" panose="02020603050405020304" pitchFamily="18" charset="0"/>
                <a:cs typeface="Times New Roman" panose="02020603050405020304" pitchFamily="18" charset="0"/>
              </a:rPr>
              <a:t>CQueue</a:t>
            </a:r>
            <a:r>
              <a:rPr lang="en-US" dirty="0" smtClean="0">
                <a:solidFill>
                  <a:schemeClr val="tx2"/>
                </a:solidFill>
                <a:latin typeface="Times New Roman" panose="02020603050405020304" pitchFamily="18" charset="0"/>
                <a:cs typeface="Times New Roman" panose="02020603050405020304" pitchFamily="18" charset="0"/>
              </a:rPr>
              <a:t> and finally, Item is the new item to be added.</a:t>
            </a:r>
          </a:p>
          <a:p>
            <a:r>
              <a:rPr lang="en-US" dirty="0" err="1" smtClean="0">
                <a:solidFill>
                  <a:schemeClr val="tx2"/>
                </a:solidFill>
                <a:latin typeface="Times New Roman" panose="02020603050405020304" pitchFamily="18" charset="0"/>
                <a:cs typeface="Times New Roman" panose="02020603050405020304" pitchFamily="18" charset="0"/>
              </a:rPr>
              <a:t>Initailly</a:t>
            </a:r>
            <a:r>
              <a:rPr lang="en-US" dirty="0" smtClean="0">
                <a:solidFill>
                  <a:schemeClr val="tx2"/>
                </a:solidFill>
                <a:latin typeface="Times New Roman" panose="02020603050405020304" pitchFamily="18" charset="0"/>
                <a:cs typeface="Times New Roman" panose="02020603050405020304" pitchFamily="18" charset="0"/>
              </a:rPr>
              <a:t> Rear = -1 and Front = -1.</a:t>
            </a:r>
          </a:p>
          <a:p>
            <a:pPr marL="0" indent="0">
              <a:buNone/>
            </a:pPr>
            <a:r>
              <a:rPr lang="en-US" dirty="0" smtClean="0">
                <a:solidFill>
                  <a:schemeClr val="tx2"/>
                </a:solidFill>
                <a:latin typeface="Times New Roman" panose="02020603050405020304" pitchFamily="18" charset="0"/>
                <a:cs typeface="Times New Roman" panose="02020603050405020304" pitchFamily="18" charset="0"/>
              </a:rPr>
              <a:t>            </a:t>
            </a:r>
            <a:r>
              <a:rPr lang="en-US" dirty="0">
                <a:solidFill>
                  <a:schemeClr val="tx2"/>
                </a:solidFill>
                <a:latin typeface="Times New Roman" panose="02020603050405020304" pitchFamily="18" charset="0"/>
                <a:cs typeface="Times New Roman" panose="02020603050405020304" pitchFamily="18" charset="0"/>
              </a:rPr>
              <a:t>1.  If Front = </a:t>
            </a:r>
            <a:r>
              <a:rPr lang="en-US" dirty="0" smtClean="0">
                <a:solidFill>
                  <a:schemeClr val="tx2"/>
                </a:solidFill>
                <a:latin typeface="Times New Roman" panose="02020603050405020304" pitchFamily="18" charset="0"/>
                <a:cs typeface="Times New Roman" panose="02020603050405020304" pitchFamily="18" charset="0"/>
              </a:rPr>
              <a:t>-1 </a:t>
            </a:r>
            <a:r>
              <a:rPr lang="en-US" dirty="0">
                <a:solidFill>
                  <a:schemeClr val="tx2"/>
                </a:solidFill>
                <a:latin typeface="Times New Roman" panose="02020603050405020304" pitchFamily="18" charset="0"/>
                <a:cs typeface="Times New Roman" panose="02020603050405020304" pitchFamily="18" charset="0"/>
              </a:rPr>
              <a:t>and Rear = </a:t>
            </a:r>
            <a:r>
              <a:rPr lang="en-US" dirty="0" smtClean="0">
                <a:solidFill>
                  <a:schemeClr val="tx2"/>
                </a:solidFill>
                <a:latin typeface="Times New Roman" panose="02020603050405020304" pitchFamily="18" charset="0"/>
                <a:cs typeface="Times New Roman" panose="02020603050405020304" pitchFamily="18" charset="0"/>
              </a:rPr>
              <a:t>-1 </a:t>
            </a:r>
            <a:r>
              <a:rPr lang="en-US" dirty="0">
                <a:solidFill>
                  <a:schemeClr val="tx2"/>
                </a:solidFill>
                <a:latin typeface="Times New Roman" panose="02020603050405020304" pitchFamily="18" charset="0"/>
                <a:cs typeface="Times New Roman" panose="02020603050405020304" pitchFamily="18" charset="0"/>
              </a:rPr>
              <a:t>then Set Front := </a:t>
            </a:r>
            <a:r>
              <a:rPr lang="en-US" dirty="0" smtClean="0">
                <a:solidFill>
                  <a:schemeClr val="tx2"/>
                </a:solidFill>
                <a:latin typeface="Times New Roman" panose="02020603050405020304" pitchFamily="18" charset="0"/>
                <a:cs typeface="Times New Roman" panose="02020603050405020304" pitchFamily="18" charset="0"/>
              </a:rPr>
              <a:t>0 </a:t>
            </a:r>
            <a:r>
              <a:rPr lang="en-US" dirty="0">
                <a:solidFill>
                  <a:schemeClr val="tx2"/>
                </a:solidFill>
                <a:latin typeface="Times New Roman" panose="02020603050405020304" pitchFamily="18" charset="0"/>
                <a:cs typeface="Times New Roman" panose="02020603050405020304" pitchFamily="18" charset="0"/>
              </a:rPr>
              <a:t>and go to step </a:t>
            </a:r>
            <a:r>
              <a:rPr lang="en-US" dirty="0" smtClean="0">
                <a:solidFill>
                  <a:schemeClr val="tx2"/>
                </a:solidFill>
                <a:latin typeface="Times New Roman" panose="02020603050405020304" pitchFamily="18" charset="0"/>
                <a:cs typeface="Times New Roman" panose="02020603050405020304" pitchFamily="18" charset="0"/>
              </a:rPr>
              <a:t>3. </a:t>
            </a:r>
          </a:p>
          <a:p>
            <a:pPr marL="0" indent="0">
              <a:buNone/>
            </a:pPr>
            <a:r>
              <a:rPr lang="en-US" dirty="0">
                <a:solidFill>
                  <a:schemeClr val="tx2"/>
                </a:solidFill>
                <a:latin typeface="Times New Roman" panose="02020603050405020304" pitchFamily="18" charset="0"/>
                <a:cs typeface="Times New Roman" panose="02020603050405020304" pitchFamily="18" charset="0"/>
              </a:rPr>
              <a:t> </a:t>
            </a:r>
            <a:r>
              <a:rPr lang="en-US" dirty="0" smtClean="0">
                <a:solidFill>
                  <a:schemeClr val="tx2"/>
                </a:solidFill>
                <a:latin typeface="Times New Roman" panose="02020603050405020304" pitchFamily="18" charset="0"/>
                <a:cs typeface="Times New Roman" panose="02020603050405020304" pitchFamily="18" charset="0"/>
              </a:rPr>
              <a:t>           2</a:t>
            </a:r>
            <a:r>
              <a:rPr lang="en-US" dirty="0">
                <a:solidFill>
                  <a:schemeClr val="tx2"/>
                </a:solidFill>
                <a:latin typeface="Times New Roman" panose="02020603050405020304" pitchFamily="18" charset="0"/>
                <a:cs typeface="Times New Roman" panose="02020603050405020304" pitchFamily="18" charset="0"/>
              </a:rPr>
              <a:t>.  If  </a:t>
            </a:r>
            <a:r>
              <a:rPr lang="en-US" dirty="0" smtClean="0">
                <a:solidFill>
                  <a:schemeClr val="tx2"/>
                </a:solidFill>
                <a:latin typeface="Times New Roman" panose="02020603050405020304" pitchFamily="18" charset="0"/>
                <a:cs typeface="Times New Roman" panose="02020603050405020304" pitchFamily="18" charset="0"/>
              </a:rPr>
              <a:t>Front </a:t>
            </a:r>
            <a:r>
              <a:rPr lang="en-US" dirty="0">
                <a:solidFill>
                  <a:schemeClr val="tx2"/>
                </a:solidFill>
                <a:latin typeface="Times New Roman" panose="02020603050405020304" pitchFamily="18" charset="0"/>
                <a:cs typeface="Times New Roman" panose="02020603050405020304" pitchFamily="18" charset="0"/>
              </a:rPr>
              <a:t>= </a:t>
            </a:r>
            <a:r>
              <a:rPr lang="en-US" dirty="0" smtClean="0">
                <a:solidFill>
                  <a:schemeClr val="tx2"/>
                </a:solidFill>
                <a:latin typeface="Times New Roman" panose="02020603050405020304" pitchFamily="18" charset="0"/>
                <a:cs typeface="Times New Roman" panose="02020603050405020304" pitchFamily="18" charset="0"/>
              </a:rPr>
              <a:t>(Rear </a:t>
            </a:r>
            <a:r>
              <a:rPr lang="en-US" dirty="0">
                <a:solidFill>
                  <a:schemeClr val="tx2"/>
                </a:solidFill>
                <a:latin typeface="Times New Roman" panose="02020603050405020304" pitchFamily="18" charset="0"/>
                <a:cs typeface="Times New Roman" panose="02020603050405020304" pitchFamily="18" charset="0"/>
              </a:rPr>
              <a:t>+ </a:t>
            </a:r>
            <a:r>
              <a:rPr lang="en-US" dirty="0" smtClean="0">
                <a:solidFill>
                  <a:schemeClr val="tx2"/>
                </a:solidFill>
                <a:latin typeface="Times New Roman" panose="02020603050405020304" pitchFamily="18" charset="0"/>
                <a:cs typeface="Times New Roman" panose="02020603050405020304" pitchFamily="18" charset="0"/>
              </a:rPr>
              <a:t>1)%size </a:t>
            </a:r>
            <a:r>
              <a:rPr lang="en-US" dirty="0">
                <a:solidFill>
                  <a:schemeClr val="tx2"/>
                </a:solidFill>
                <a:latin typeface="Times New Roman" panose="02020603050405020304" pitchFamily="18" charset="0"/>
                <a:cs typeface="Times New Roman" panose="02020603050405020304" pitchFamily="18" charset="0"/>
              </a:rPr>
              <a:t>then Print: “Circular Queue Overflow” and Return. </a:t>
            </a:r>
            <a:endParaRPr lang="en-US" dirty="0" smtClean="0">
              <a:solidFill>
                <a:schemeClr val="tx2"/>
              </a:solidFill>
              <a:latin typeface="Times New Roman" panose="02020603050405020304" pitchFamily="18" charset="0"/>
              <a:cs typeface="Times New Roman" panose="02020603050405020304" pitchFamily="18" charset="0"/>
            </a:endParaRPr>
          </a:p>
          <a:p>
            <a:pPr marL="0" indent="0">
              <a:buNone/>
            </a:pPr>
            <a:r>
              <a:rPr lang="en-US" dirty="0">
                <a:solidFill>
                  <a:schemeClr val="tx2"/>
                </a:solidFill>
                <a:latin typeface="Times New Roman" panose="02020603050405020304" pitchFamily="18" charset="0"/>
                <a:cs typeface="Times New Roman" panose="02020603050405020304" pitchFamily="18" charset="0"/>
              </a:rPr>
              <a:t> </a:t>
            </a:r>
            <a:r>
              <a:rPr lang="en-US" dirty="0" smtClean="0">
                <a:solidFill>
                  <a:schemeClr val="tx2"/>
                </a:solidFill>
                <a:latin typeface="Times New Roman" panose="02020603050405020304" pitchFamily="18" charset="0"/>
                <a:cs typeface="Times New Roman" panose="02020603050405020304" pitchFamily="18" charset="0"/>
              </a:rPr>
              <a:t>           </a:t>
            </a:r>
            <a:r>
              <a:rPr lang="en-US" dirty="0">
                <a:solidFill>
                  <a:schemeClr val="tx2"/>
                </a:solidFill>
                <a:latin typeface="Times New Roman" panose="02020603050405020304" pitchFamily="18" charset="0"/>
                <a:cs typeface="Times New Roman" panose="02020603050405020304" pitchFamily="18" charset="0"/>
              </a:rPr>
              <a:t>3</a:t>
            </a:r>
            <a:r>
              <a:rPr lang="en-US" dirty="0" smtClean="0">
                <a:solidFill>
                  <a:schemeClr val="tx2"/>
                </a:solidFill>
                <a:latin typeface="Times New Roman" panose="02020603050405020304" pitchFamily="18" charset="0"/>
                <a:cs typeface="Times New Roman" panose="02020603050405020304" pitchFamily="18" charset="0"/>
              </a:rPr>
              <a:t>.  </a:t>
            </a:r>
            <a:r>
              <a:rPr lang="en-US" dirty="0">
                <a:solidFill>
                  <a:schemeClr val="tx2"/>
                </a:solidFill>
                <a:latin typeface="Times New Roman" panose="02020603050405020304" pitchFamily="18" charset="0"/>
                <a:cs typeface="Times New Roman" panose="02020603050405020304" pitchFamily="18" charset="0"/>
              </a:rPr>
              <a:t>Set Rear := Rear + 1 </a:t>
            </a:r>
            <a:endParaRPr lang="en-US" dirty="0" smtClean="0">
              <a:solidFill>
                <a:schemeClr val="tx2"/>
              </a:solidFill>
              <a:latin typeface="Times New Roman" panose="02020603050405020304" pitchFamily="18" charset="0"/>
              <a:cs typeface="Times New Roman" panose="02020603050405020304" pitchFamily="18" charset="0"/>
            </a:endParaRPr>
          </a:p>
          <a:p>
            <a:pPr marL="0" indent="0">
              <a:buNone/>
            </a:pPr>
            <a:r>
              <a:rPr lang="en-US" dirty="0">
                <a:solidFill>
                  <a:schemeClr val="tx2"/>
                </a:solidFill>
                <a:latin typeface="Times New Roman" panose="02020603050405020304" pitchFamily="18" charset="0"/>
                <a:cs typeface="Times New Roman" panose="02020603050405020304" pitchFamily="18" charset="0"/>
              </a:rPr>
              <a:t> </a:t>
            </a:r>
            <a:r>
              <a:rPr lang="en-US" dirty="0" smtClean="0">
                <a:solidFill>
                  <a:schemeClr val="tx2"/>
                </a:solidFill>
                <a:latin typeface="Times New Roman" panose="02020603050405020304" pitchFamily="18" charset="0"/>
                <a:cs typeface="Times New Roman" panose="02020603050405020304" pitchFamily="18" charset="0"/>
              </a:rPr>
              <a:t>           4.  </a:t>
            </a:r>
            <a:r>
              <a:rPr lang="en-US" dirty="0">
                <a:solidFill>
                  <a:schemeClr val="tx2"/>
                </a:solidFill>
                <a:latin typeface="Times New Roman" panose="02020603050405020304" pitchFamily="18" charset="0"/>
                <a:cs typeface="Times New Roman" panose="02020603050405020304" pitchFamily="18" charset="0"/>
              </a:rPr>
              <a:t>Set </a:t>
            </a:r>
            <a:r>
              <a:rPr lang="en-US" dirty="0" err="1">
                <a:solidFill>
                  <a:schemeClr val="tx2"/>
                </a:solidFill>
                <a:latin typeface="Times New Roman" panose="02020603050405020304" pitchFamily="18" charset="0"/>
                <a:cs typeface="Times New Roman" panose="02020603050405020304" pitchFamily="18" charset="0"/>
              </a:rPr>
              <a:t>CQueue</a:t>
            </a:r>
            <a:r>
              <a:rPr lang="en-US" dirty="0">
                <a:solidFill>
                  <a:schemeClr val="tx2"/>
                </a:solidFill>
                <a:latin typeface="Times New Roman" panose="02020603050405020304" pitchFamily="18" charset="0"/>
                <a:cs typeface="Times New Roman" panose="02020603050405020304" pitchFamily="18" charset="0"/>
              </a:rPr>
              <a:t> [Rear] := Item. </a:t>
            </a:r>
            <a:endParaRPr lang="en-US" dirty="0" smtClean="0">
              <a:solidFill>
                <a:schemeClr val="tx2"/>
              </a:solidFill>
              <a:latin typeface="Times New Roman" panose="02020603050405020304" pitchFamily="18" charset="0"/>
              <a:cs typeface="Times New Roman" panose="02020603050405020304" pitchFamily="18" charset="0"/>
            </a:endParaRPr>
          </a:p>
          <a:p>
            <a:pPr marL="0" indent="0">
              <a:buNone/>
            </a:pPr>
            <a:r>
              <a:rPr lang="en-US" dirty="0">
                <a:solidFill>
                  <a:schemeClr val="tx2"/>
                </a:solidFill>
                <a:latin typeface="Times New Roman" panose="02020603050405020304" pitchFamily="18" charset="0"/>
                <a:cs typeface="Times New Roman" panose="02020603050405020304" pitchFamily="18" charset="0"/>
              </a:rPr>
              <a:t> </a:t>
            </a:r>
            <a:r>
              <a:rPr lang="en-US" dirty="0" smtClean="0">
                <a:solidFill>
                  <a:schemeClr val="tx2"/>
                </a:solidFill>
                <a:latin typeface="Times New Roman" panose="02020603050405020304" pitchFamily="18" charset="0"/>
                <a:cs typeface="Times New Roman" panose="02020603050405020304" pitchFamily="18" charset="0"/>
              </a:rPr>
              <a:t>           5.  </a:t>
            </a:r>
            <a:r>
              <a:rPr lang="en-US" dirty="0">
                <a:solidFill>
                  <a:schemeClr val="tx2"/>
                </a:solidFill>
                <a:latin typeface="Times New Roman" panose="02020603050405020304" pitchFamily="18" charset="0"/>
                <a:cs typeface="Times New Roman" panose="02020603050405020304" pitchFamily="18" charset="0"/>
              </a:rPr>
              <a:t>Return</a:t>
            </a:r>
          </a:p>
        </p:txBody>
      </p:sp>
    </p:spTree>
    <p:extLst>
      <p:ext uri="{BB962C8B-B14F-4D97-AF65-F5344CB8AC3E}">
        <p14:creationId xmlns:p14="http://schemas.microsoft.com/office/powerpoint/2010/main" val="19782970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Algorithm to </a:t>
            </a:r>
            <a:r>
              <a:rPr lang="en-US" dirty="0" smtClean="0"/>
              <a:t>Delete an </a:t>
            </a:r>
            <a:r>
              <a:rPr lang="en-US" dirty="0"/>
              <a:t>element in a circular queue</a:t>
            </a:r>
          </a:p>
        </p:txBody>
      </p:sp>
      <p:sp>
        <p:nvSpPr>
          <p:cNvPr id="3" name="Content Placeholder 2"/>
          <p:cNvSpPr>
            <a:spLocks noGrp="1"/>
          </p:cNvSpPr>
          <p:nvPr>
            <p:ph idx="1"/>
          </p:nvPr>
        </p:nvSpPr>
        <p:spPr/>
        <p:txBody>
          <a:bodyPr/>
          <a:lstStyle/>
          <a:p>
            <a:endParaRPr lang="en-US" dirty="0" smtClean="0"/>
          </a:p>
          <a:p>
            <a:r>
              <a:rPr lang="en-US" sz="2000" dirty="0">
                <a:solidFill>
                  <a:schemeClr val="tx2"/>
                </a:solidFill>
                <a:latin typeface="Times New Roman" panose="02020603050405020304" pitchFamily="18" charset="0"/>
                <a:cs typeface="Times New Roman" panose="02020603050405020304" pitchFamily="18" charset="0"/>
              </a:rPr>
              <a:t>Delete-Circular-Q(</a:t>
            </a:r>
            <a:r>
              <a:rPr lang="en-US" sz="2000" dirty="0" err="1">
                <a:solidFill>
                  <a:schemeClr val="tx2"/>
                </a:solidFill>
                <a:latin typeface="Times New Roman" panose="02020603050405020304" pitchFamily="18" charset="0"/>
                <a:cs typeface="Times New Roman" panose="02020603050405020304" pitchFamily="18" charset="0"/>
              </a:rPr>
              <a:t>CQueue</a:t>
            </a:r>
            <a:r>
              <a:rPr lang="en-US" sz="2000" dirty="0">
                <a:solidFill>
                  <a:schemeClr val="tx2"/>
                </a:solidFill>
                <a:latin typeface="Times New Roman" panose="02020603050405020304" pitchFamily="18" charset="0"/>
                <a:cs typeface="Times New Roman" panose="02020603050405020304" pitchFamily="18" charset="0"/>
              </a:rPr>
              <a:t>, Front, Rear, Item</a:t>
            </a:r>
            <a:r>
              <a:rPr lang="en-US" sz="2000" dirty="0" smtClean="0">
                <a:solidFill>
                  <a:schemeClr val="tx2"/>
                </a:solidFill>
                <a:latin typeface="Times New Roman" panose="02020603050405020304" pitchFamily="18" charset="0"/>
                <a:cs typeface="Times New Roman" panose="02020603050405020304" pitchFamily="18" charset="0"/>
              </a:rPr>
              <a:t>)</a:t>
            </a:r>
          </a:p>
          <a:p>
            <a:r>
              <a:rPr lang="en-US" sz="2000" dirty="0" smtClean="0">
                <a:solidFill>
                  <a:schemeClr val="tx2"/>
                </a:solidFill>
                <a:latin typeface="Times New Roman" panose="02020603050405020304" pitchFamily="18" charset="0"/>
                <a:cs typeface="Times New Roman" panose="02020603050405020304" pitchFamily="18" charset="0"/>
              </a:rPr>
              <a:t>Here</a:t>
            </a:r>
            <a:r>
              <a:rPr lang="en-US" sz="2000" dirty="0">
                <a:solidFill>
                  <a:schemeClr val="tx2"/>
                </a:solidFill>
                <a:latin typeface="Times New Roman" panose="02020603050405020304" pitchFamily="18" charset="0"/>
                <a:cs typeface="Times New Roman" panose="02020603050405020304" pitchFamily="18" charset="0"/>
              </a:rPr>
              <a:t>, </a:t>
            </a:r>
            <a:r>
              <a:rPr lang="en-US" sz="2000" dirty="0" err="1">
                <a:solidFill>
                  <a:schemeClr val="tx2"/>
                </a:solidFill>
                <a:latin typeface="Times New Roman" panose="02020603050405020304" pitchFamily="18" charset="0"/>
                <a:cs typeface="Times New Roman" panose="02020603050405020304" pitchFamily="18" charset="0"/>
              </a:rPr>
              <a:t>CQueue</a:t>
            </a:r>
            <a:r>
              <a:rPr lang="en-US" sz="2000" dirty="0">
                <a:solidFill>
                  <a:schemeClr val="tx2"/>
                </a:solidFill>
                <a:latin typeface="Times New Roman" panose="02020603050405020304" pitchFamily="18" charset="0"/>
                <a:cs typeface="Times New Roman" panose="02020603050405020304" pitchFamily="18" charset="0"/>
              </a:rPr>
              <a:t> is the place where data are stored. Rear represents the location in which the data element is to be inserted and Front represents the location from which the data element is to be removed. Front element is assigned to Item. Initially, Front = </a:t>
            </a:r>
            <a:r>
              <a:rPr lang="en-US" sz="2000" dirty="0" smtClean="0">
                <a:solidFill>
                  <a:schemeClr val="tx2"/>
                </a:solidFill>
                <a:latin typeface="Times New Roman" panose="02020603050405020304" pitchFamily="18" charset="0"/>
                <a:cs typeface="Times New Roman" panose="02020603050405020304" pitchFamily="18" charset="0"/>
              </a:rPr>
              <a:t>-1</a:t>
            </a:r>
            <a:r>
              <a:rPr lang="en-US" sz="2000" dirty="0">
                <a:solidFill>
                  <a:schemeClr val="tx2"/>
                </a:solidFill>
                <a:latin typeface="Times New Roman" panose="02020603050405020304" pitchFamily="18" charset="0"/>
                <a:cs typeface="Times New Roman" panose="02020603050405020304" pitchFamily="18" charset="0"/>
              </a:rPr>
              <a:t>.</a:t>
            </a:r>
          </a:p>
          <a:p>
            <a:pPr marL="0" indent="0">
              <a:buNone/>
            </a:pPr>
            <a:r>
              <a:rPr lang="en-US" sz="2000" dirty="0" smtClean="0">
                <a:solidFill>
                  <a:schemeClr val="tx2"/>
                </a:solidFill>
                <a:latin typeface="Times New Roman" panose="02020603050405020304" pitchFamily="18" charset="0"/>
                <a:cs typeface="Times New Roman" panose="02020603050405020304" pitchFamily="18" charset="0"/>
              </a:rPr>
              <a:t>            1</a:t>
            </a:r>
            <a:r>
              <a:rPr lang="en-US" sz="2000" dirty="0">
                <a:solidFill>
                  <a:schemeClr val="tx2"/>
                </a:solidFill>
                <a:latin typeface="Times New Roman" panose="02020603050405020304" pitchFamily="18" charset="0"/>
                <a:cs typeface="Times New Roman" panose="02020603050405020304" pitchFamily="18" charset="0"/>
              </a:rPr>
              <a:t>. If Front = </a:t>
            </a:r>
            <a:r>
              <a:rPr lang="en-US" sz="2000" dirty="0" smtClean="0">
                <a:solidFill>
                  <a:schemeClr val="tx2"/>
                </a:solidFill>
                <a:latin typeface="Times New Roman" panose="02020603050405020304" pitchFamily="18" charset="0"/>
                <a:cs typeface="Times New Roman" panose="02020603050405020304" pitchFamily="18" charset="0"/>
              </a:rPr>
              <a:t>-1 </a:t>
            </a:r>
            <a:r>
              <a:rPr lang="en-US" sz="2000" dirty="0">
                <a:solidFill>
                  <a:schemeClr val="tx2"/>
                </a:solidFill>
                <a:latin typeface="Times New Roman" panose="02020603050405020304" pitchFamily="18" charset="0"/>
                <a:cs typeface="Times New Roman" panose="02020603050405020304" pitchFamily="18" charset="0"/>
              </a:rPr>
              <a:t>then Print: “Circular Queue Underflow” and Return.         /*..Delete without Insertion </a:t>
            </a:r>
            <a:endParaRPr lang="en-US" sz="2000" dirty="0" smtClean="0">
              <a:solidFill>
                <a:schemeClr val="tx2"/>
              </a:solidFill>
              <a:latin typeface="Times New Roman" panose="02020603050405020304" pitchFamily="18" charset="0"/>
              <a:cs typeface="Times New Roman" panose="02020603050405020304" pitchFamily="18" charset="0"/>
            </a:endParaRPr>
          </a:p>
          <a:p>
            <a:pPr marL="0" indent="0">
              <a:buNone/>
            </a:pPr>
            <a:r>
              <a:rPr lang="en-US" sz="2000" dirty="0">
                <a:solidFill>
                  <a:schemeClr val="tx2"/>
                </a:solidFill>
                <a:latin typeface="Times New Roman" panose="02020603050405020304" pitchFamily="18" charset="0"/>
                <a:cs typeface="Times New Roman" panose="02020603050405020304" pitchFamily="18" charset="0"/>
              </a:rPr>
              <a:t> </a:t>
            </a:r>
            <a:r>
              <a:rPr lang="en-US" sz="2000" dirty="0" smtClean="0">
                <a:solidFill>
                  <a:schemeClr val="tx2"/>
                </a:solidFill>
                <a:latin typeface="Times New Roman" panose="02020603050405020304" pitchFamily="18" charset="0"/>
                <a:cs typeface="Times New Roman" panose="02020603050405020304" pitchFamily="18" charset="0"/>
              </a:rPr>
              <a:t>           2</a:t>
            </a:r>
            <a:r>
              <a:rPr lang="en-US" sz="2000" dirty="0">
                <a:solidFill>
                  <a:schemeClr val="tx2"/>
                </a:solidFill>
                <a:latin typeface="Times New Roman" panose="02020603050405020304" pitchFamily="18" charset="0"/>
                <a:cs typeface="Times New Roman" panose="02020603050405020304" pitchFamily="18" charset="0"/>
              </a:rPr>
              <a:t>. Set Item := </a:t>
            </a:r>
            <a:r>
              <a:rPr lang="en-US" sz="2000" dirty="0" err="1">
                <a:solidFill>
                  <a:schemeClr val="tx2"/>
                </a:solidFill>
                <a:latin typeface="Times New Roman" panose="02020603050405020304" pitchFamily="18" charset="0"/>
                <a:cs typeface="Times New Roman" panose="02020603050405020304" pitchFamily="18" charset="0"/>
              </a:rPr>
              <a:t>CQueue</a:t>
            </a:r>
            <a:r>
              <a:rPr lang="en-US" sz="2000" dirty="0">
                <a:solidFill>
                  <a:schemeClr val="tx2"/>
                </a:solidFill>
                <a:latin typeface="Times New Roman" panose="02020603050405020304" pitchFamily="18" charset="0"/>
                <a:cs typeface="Times New Roman" panose="02020603050405020304" pitchFamily="18" charset="0"/>
              </a:rPr>
              <a:t> [Front] </a:t>
            </a:r>
            <a:endParaRPr lang="en-US" sz="2000" dirty="0" smtClean="0">
              <a:solidFill>
                <a:schemeClr val="tx2"/>
              </a:solidFill>
              <a:latin typeface="Times New Roman" panose="02020603050405020304" pitchFamily="18" charset="0"/>
              <a:cs typeface="Times New Roman" panose="02020603050405020304" pitchFamily="18" charset="0"/>
            </a:endParaRPr>
          </a:p>
          <a:p>
            <a:pPr marL="0" indent="0">
              <a:buNone/>
            </a:pPr>
            <a:r>
              <a:rPr lang="en-US" sz="2000" dirty="0">
                <a:solidFill>
                  <a:schemeClr val="tx2"/>
                </a:solidFill>
                <a:latin typeface="Times New Roman" panose="02020603050405020304" pitchFamily="18" charset="0"/>
                <a:cs typeface="Times New Roman" panose="02020603050405020304" pitchFamily="18" charset="0"/>
              </a:rPr>
              <a:t> </a:t>
            </a:r>
            <a:r>
              <a:rPr lang="en-US" sz="2000" dirty="0" smtClean="0">
                <a:solidFill>
                  <a:schemeClr val="tx2"/>
                </a:solidFill>
                <a:latin typeface="Times New Roman" panose="02020603050405020304" pitchFamily="18" charset="0"/>
                <a:cs typeface="Times New Roman" panose="02020603050405020304" pitchFamily="18" charset="0"/>
              </a:rPr>
              <a:t>           3</a:t>
            </a:r>
            <a:r>
              <a:rPr lang="en-US" sz="2000" dirty="0">
                <a:solidFill>
                  <a:schemeClr val="tx2"/>
                </a:solidFill>
                <a:latin typeface="Times New Roman" panose="02020603050405020304" pitchFamily="18" charset="0"/>
                <a:cs typeface="Times New Roman" panose="02020603050405020304" pitchFamily="18" charset="0"/>
              </a:rPr>
              <a:t>. If Front = </a:t>
            </a:r>
            <a:r>
              <a:rPr lang="en-US" sz="2000" dirty="0" smtClean="0">
                <a:solidFill>
                  <a:schemeClr val="tx2"/>
                </a:solidFill>
                <a:latin typeface="Times New Roman" panose="02020603050405020304" pitchFamily="18" charset="0"/>
                <a:cs typeface="Times New Roman" panose="02020603050405020304" pitchFamily="18" charset="0"/>
              </a:rPr>
              <a:t>N-1 </a:t>
            </a:r>
            <a:r>
              <a:rPr lang="en-US" sz="2000" dirty="0">
                <a:solidFill>
                  <a:schemeClr val="tx2"/>
                </a:solidFill>
                <a:latin typeface="Times New Roman" panose="02020603050405020304" pitchFamily="18" charset="0"/>
                <a:cs typeface="Times New Roman" panose="02020603050405020304" pitchFamily="18" charset="0"/>
              </a:rPr>
              <a:t>then Set Front = 0</a:t>
            </a:r>
            <a:r>
              <a:rPr lang="en-US" sz="2000" dirty="0" smtClean="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and Return. </a:t>
            </a:r>
            <a:endParaRPr lang="en-US" sz="2000" dirty="0" smtClean="0">
              <a:solidFill>
                <a:schemeClr val="tx2"/>
              </a:solidFill>
              <a:latin typeface="Times New Roman" panose="02020603050405020304" pitchFamily="18" charset="0"/>
              <a:cs typeface="Times New Roman" panose="02020603050405020304" pitchFamily="18" charset="0"/>
            </a:endParaRPr>
          </a:p>
          <a:p>
            <a:pPr marL="0" indent="0">
              <a:buNone/>
            </a:pPr>
            <a:r>
              <a:rPr lang="en-US" sz="2000" dirty="0">
                <a:solidFill>
                  <a:schemeClr val="tx2"/>
                </a:solidFill>
                <a:latin typeface="Times New Roman" panose="02020603050405020304" pitchFamily="18" charset="0"/>
                <a:cs typeface="Times New Roman" panose="02020603050405020304" pitchFamily="18" charset="0"/>
              </a:rPr>
              <a:t> </a:t>
            </a:r>
            <a:r>
              <a:rPr lang="en-US" sz="2000" dirty="0" smtClean="0">
                <a:solidFill>
                  <a:schemeClr val="tx2"/>
                </a:solidFill>
                <a:latin typeface="Times New Roman" panose="02020603050405020304" pitchFamily="18" charset="0"/>
                <a:cs typeface="Times New Roman" panose="02020603050405020304" pitchFamily="18" charset="0"/>
              </a:rPr>
              <a:t>           4</a:t>
            </a:r>
            <a:r>
              <a:rPr lang="en-US" sz="2000" dirty="0">
                <a:solidFill>
                  <a:schemeClr val="tx2"/>
                </a:solidFill>
                <a:latin typeface="Times New Roman" panose="02020603050405020304" pitchFamily="18" charset="0"/>
                <a:cs typeface="Times New Roman" panose="02020603050405020304" pitchFamily="18" charset="0"/>
              </a:rPr>
              <a:t>. If Front = Rear then Set Front = </a:t>
            </a:r>
            <a:r>
              <a:rPr lang="en-US" sz="2000" dirty="0" smtClean="0">
                <a:solidFill>
                  <a:schemeClr val="tx2"/>
                </a:solidFill>
                <a:latin typeface="Times New Roman" panose="02020603050405020304" pitchFamily="18" charset="0"/>
                <a:cs typeface="Times New Roman" panose="02020603050405020304" pitchFamily="18" charset="0"/>
              </a:rPr>
              <a:t>-1 </a:t>
            </a:r>
            <a:r>
              <a:rPr lang="en-US" sz="2000" dirty="0">
                <a:solidFill>
                  <a:schemeClr val="tx2"/>
                </a:solidFill>
                <a:latin typeface="Times New Roman" panose="02020603050405020304" pitchFamily="18" charset="0"/>
                <a:cs typeface="Times New Roman" panose="02020603050405020304" pitchFamily="18" charset="0"/>
              </a:rPr>
              <a:t>and Rear = </a:t>
            </a:r>
            <a:r>
              <a:rPr lang="en-US" sz="2000" dirty="0" smtClean="0">
                <a:solidFill>
                  <a:schemeClr val="tx2"/>
                </a:solidFill>
                <a:latin typeface="Times New Roman" panose="02020603050405020304" pitchFamily="18" charset="0"/>
                <a:cs typeface="Times New Roman" panose="02020603050405020304" pitchFamily="18" charset="0"/>
              </a:rPr>
              <a:t>-1 </a:t>
            </a:r>
            <a:r>
              <a:rPr lang="en-US" sz="2000" dirty="0">
                <a:solidFill>
                  <a:schemeClr val="tx2"/>
                </a:solidFill>
                <a:latin typeface="Times New Roman" panose="02020603050405020304" pitchFamily="18" charset="0"/>
                <a:cs typeface="Times New Roman" panose="02020603050405020304" pitchFamily="18" charset="0"/>
              </a:rPr>
              <a:t>and Return</a:t>
            </a:r>
            <a:r>
              <a:rPr lang="en-US" sz="2000" dirty="0" smtClean="0">
                <a:solidFill>
                  <a:schemeClr val="tx2"/>
                </a:solidFill>
                <a:latin typeface="Times New Roman" panose="02020603050405020304" pitchFamily="18" charset="0"/>
                <a:cs typeface="Times New Roman" panose="02020603050405020304" pitchFamily="18" charset="0"/>
              </a:rPr>
              <a:t>.</a:t>
            </a:r>
          </a:p>
          <a:p>
            <a:pPr marL="0" indent="0">
              <a:buNone/>
            </a:pPr>
            <a:r>
              <a:rPr lang="en-US" sz="2000" dirty="0">
                <a:solidFill>
                  <a:schemeClr val="tx2"/>
                </a:solidFill>
                <a:latin typeface="Times New Roman" panose="02020603050405020304" pitchFamily="18" charset="0"/>
                <a:cs typeface="Times New Roman" panose="02020603050405020304" pitchFamily="18" charset="0"/>
              </a:rPr>
              <a:t> </a:t>
            </a:r>
            <a:r>
              <a:rPr lang="en-US" sz="2000" dirty="0" smtClean="0">
                <a:solidFill>
                  <a:schemeClr val="tx2"/>
                </a:solidFill>
                <a:latin typeface="Times New Roman" panose="02020603050405020304" pitchFamily="18" charset="0"/>
                <a:cs typeface="Times New Roman" panose="02020603050405020304" pitchFamily="18" charset="0"/>
              </a:rPr>
              <a:t>           </a:t>
            </a:r>
            <a:r>
              <a:rPr lang="en-US" sz="2000" dirty="0">
                <a:solidFill>
                  <a:schemeClr val="tx2"/>
                </a:solidFill>
                <a:latin typeface="Times New Roman" panose="02020603050405020304" pitchFamily="18" charset="0"/>
                <a:cs typeface="Times New Roman" panose="02020603050405020304" pitchFamily="18" charset="0"/>
              </a:rPr>
              <a:t>5. Set Front := Front + 1 </a:t>
            </a:r>
            <a:endParaRPr lang="en-US" sz="2000" dirty="0" smtClean="0">
              <a:solidFill>
                <a:schemeClr val="tx2"/>
              </a:solidFill>
              <a:latin typeface="Times New Roman" panose="02020603050405020304" pitchFamily="18" charset="0"/>
              <a:cs typeface="Times New Roman" panose="02020603050405020304" pitchFamily="18" charset="0"/>
            </a:endParaRPr>
          </a:p>
          <a:p>
            <a:pPr marL="0" indent="0">
              <a:buNone/>
            </a:pPr>
            <a:r>
              <a:rPr lang="en-US" sz="2000" dirty="0">
                <a:solidFill>
                  <a:schemeClr val="tx2"/>
                </a:solidFill>
                <a:latin typeface="Times New Roman" panose="02020603050405020304" pitchFamily="18" charset="0"/>
                <a:cs typeface="Times New Roman" panose="02020603050405020304" pitchFamily="18" charset="0"/>
              </a:rPr>
              <a:t> </a:t>
            </a:r>
            <a:r>
              <a:rPr lang="en-US" sz="2000" dirty="0" smtClean="0">
                <a:solidFill>
                  <a:schemeClr val="tx2"/>
                </a:solidFill>
                <a:latin typeface="Times New Roman" panose="02020603050405020304" pitchFamily="18" charset="0"/>
                <a:cs typeface="Times New Roman" panose="02020603050405020304" pitchFamily="18" charset="0"/>
              </a:rPr>
              <a:t>           6</a:t>
            </a:r>
            <a:r>
              <a:rPr lang="en-US" sz="2000" dirty="0">
                <a:solidFill>
                  <a:schemeClr val="tx2"/>
                </a:solidFill>
                <a:latin typeface="Times New Roman" panose="02020603050405020304" pitchFamily="18" charset="0"/>
                <a:cs typeface="Times New Roman" panose="02020603050405020304" pitchFamily="18" charset="0"/>
              </a:rPr>
              <a:t>. Return.</a:t>
            </a:r>
          </a:p>
        </p:txBody>
      </p:sp>
    </p:spTree>
    <p:extLst>
      <p:ext uri="{BB962C8B-B14F-4D97-AF65-F5344CB8AC3E}">
        <p14:creationId xmlns:p14="http://schemas.microsoft.com/office/powerpoint/2010/main" val="8144654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descr="C:\Users\sanwarul\Desktop\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3914" y="357810"/>
            <a:ext cx="10455965" cy="6323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88893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42" name="Picture 2" descr="C:\Users\sanwarul\Desktop\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11965" y="556592"/>
            <a:ext cx="10151165" cy="6164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58196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Insertion</a:t>
            </a:r>
            <a:endParaRPr lang="en-US" dirty="0"/>
          </a:p>
        </p:txBody>
      </p:sp>
      <p:sp>
        <p:nvSpPr>
          <p:cNvPr id="3" name="Content Placeholder 2"/>
          <p:cNvSpPr>
            <a:spLocks noGrp="1"/>
          </p:cNvSpPr>
          <p:nvPr>
            <p:ph idx="1"/>
          </p:nvPr>
        </p:nvSpPr>
        <p:spPr/>
        <p:txBody>
          <a:bodyPr>
            <a:noAutofit/>
          </a:bodyPr>
          <a:lstStyle/>
          <a:p>
            <a:r>
              <a:rPr lang="en-US" sz="1600" dirty="0" err="1">
                <a:solidFill>
                  <a:schemeClr val="tx2"/>
                </a:solidFill>
                <a:latin typeface="Times New Roman" panose="02020603050405020304" pitchFamily="18" charset="0"/>
                <a:cs typeface="Times New Roman" panose="02020603050405020304" pitchFamily="18" charset="0"/>
              </a:rPr>
              <a:t>qfull</a:t>
            </a:r>
            <a:r>
              <a:rPr lang="en-US" sz="1600" dirty="0">
                <a:solidFill>
                  <a:schemeClr val="tx2"/>
                </a:solidFill>
                <a:latin typeface="Times New Roman" panose="02020603050405020304" pitchFamily="18" charset="0"/>
                <a:cs typeface="Times New Roman" panose="02020603050405020304" pitchFamily="18" charset="0"/>
              </a:rPr>
              <a:t>() { </a:t>
            </a:r>
          </a:p>
          <a:p>
            <a:r>
              <a:rPr lang="en-US" sz="1600" dirty="0">
                <a:solidFill>
                  <a:schemeClr val="tx2"/>
                </a:solidFill>
                <a:latin typeface="Times New Roman" panose="02020603050405020304" pitchFamily="18" charset="0"/>
                <a:cs typeface="Times New Roman" panose="02020603050405020304" pitchFamily="18" charset="0"/>
              </a:rPr>
              <a:t>        </a:t>
            </a:r>
            <a:r>
              <a:rPr lang="en-US" sz="1600" dirty="0" smtClean="0">
                <a:solidFill>
                  <a:schemeClr val="tx2"/>
                </a:solidFill>
                <a:latin typeface="Times New Roman" panose="02020603050405020304" pitchFamily="18" charset="0"/>
                <a:cs typeface="Times New Roman" panose="02020603050405020304" pitchFamily="18" charset="0"/>
              </a:rPr>
              <a:t>if(front</a:t>
            </a:r>
            <a:r>
              <a:rPr lang="en-US" sz="1600" dirty="0">
                <a:solidFill>
                  <a:schemeClr val="tx2"/>
                </a:solidFill>
                <a:latin typeface="Times New Roman" panose="02020603050405020304" pitchFamily="18" charset="0"/>
                <a:cs typeface="Times New Roman" panose="02020603050405020304" pitchFamily="18" charset="0"/>
              </a:rPr>
              <a:t>==(rear+1)%</a:t>
            </a:r>
            <a:r>
              <a:rPr lang="en-US" sz="1600" dirty="0" smtClean="0">
                <a:solidFill>
                  <a:schemeClr val="tx2"/>
                </a:solidFill>
                <a:latin typeface="Times New Roman" panose="02020603050405020304" pitchFamily="18" charset="0"/>
                <a:cs typeface="Times New Roman" panose="02020603050405020304" pitchFamily="18" charset="0"/>
              </a:rPr>
              <a:t>size)                               /* why % size is required?  */</a:t>
            </a:r>
            <a:endParaRPr lang="en-US" sz="1600" dirty="0">
              <a:solidFill>
                <a:schemeClr val="tx2"/>
              </a:solidFill>
              <a:latin typeface="Times New Roman" panose="02020603050405020304" pitchFamily="18" charset="0"/>
              <a:cs typeface="Times New Roman" panose="02020603050405020304" pitchFamily="18" charset="0"/>
            </a:endParaRPr>
          </a:p>
          <a:p>
            <a:r>
              <a:rPr lang="en-US" sz="1600" dirty="0">
                <a:solidFill>
                  <a:schemeClr val="tx2"/>
                </a:solidFill>
                <a:latin typeface="Times New Roman" panose="02020603050405020304" pitchFamily="18" charset="0"/>
                <a:cs typeface="Times New Roman" panose="02020603050405020304" pitchFamily="18" charset="0"/>
              </a:rPr>
              <a:t>              return 1;</a:t>
            </a:r>
          </a:p>
          <a:p>
            <a:r>
              <a:rPr lang="en-US" sz="1600" dirty="0">
                <a:solidFill>
                  <a:schemeClr val="tx2"/>
                </a:solidFill>
                <a:latin typeface="Times New Roman" panose="02020603050405020304" pitchFamily="18" charset="0"/>
                <a:cs typeface="Times New Roman" panose="02020603050405020304" pitchFamily="18" charset="0"/>
              </a:rPr>
              <a:t> else </a:t>
            </a:r>
          </a:p>
          <a:p>
            <a:r>
              <a:rPr lang="en-US" sz="1600" dirty="0">
                <a:solidFill>
                  <a:schemeClr val="tx2"/>
                </a:solidFill>
                <a:latin typeface="Times New Roman" panose="02020603050405020304" pitchFamily="18" charset="0"/>
                <a:cs typeface="Times New Roman" panose="02020603050405020304" pitchFamily="18" charset="0"/>
              </a:rPr>
              <a:t>        return 0; </a:t>
            </a:r>
          </a:p>
          <a:p>
            <a:r>
              <a:rPr lang="en-US" sz="1600" dirty="0">
                <a:solidFill>
                  <a:schemeClr val="tx2"/>
                </a:solidFill>
                <a:latin typeface="Times New Roman" panose="02020603050405020304" pitchFamily="18" charset="0"/>
                <a:cs typeface="Times New Roman" panose="02020603050405020304" pitchFamily="18" charset="0"/>
              </a:rPr>
              <a:t>            }</a:t>
            </a:r>
          </a:p>
          <a:p>
            <a:r>
              <a:rPr lang="en-US" sz="1600" dirty="0" err="1">
                <a:solidFill>
                  <a:schemeClr val="tx2"/>
                </a:solidFill>
                <a:latin typeface="Times New Roman" panose="02020603050405020304" pitchFamily="18" charset="0"/>
                <a:cs typeface="Times New Roman" panose="02020603050405020304" pitchFamily="18" charset="0"/>
              </a:rPr>
              <a:t>int</a:t>
            </a:r>
            <a:r>
              <a:rPr lang="en-US" sz="1600" dirty="0">
                <a:solidFill>
                  <a:schemeClr val="tx2"/>
                </a:solidFill>
                <a:latin typeface="Times New Roman" panose="02020603050405020304" pitchFamily="18" charset="0"/>
                <a:cs typeface="Times New Roman" panose="02020603050405020304" pitchFamily="18" charset="0"/>
              </a:rPr>
              <a:t> insert(</a:t>
            </a:r>
            <a:r>
              <a:rPr lang="en-US" sz="1600" dirty="0" err="1">
                <a:solidFill>
                  <a:schemeClr val="tx2"/>
                </a:solidFill>
                <a:latin typeface="Times New Roman" panose="02020603050405020304" pitchFamily="18" charset="0"/>
                <a:cs typeface="Times New Roman" panose="02020603050405020304" pitchFamily="18" charset="0"/>
              </a:rPr>
              <a:t>intitem</a:t>
            </a:r>
            <a:r>
              <a:rPr lang="en-US" sz="1600" dirty="0">
                <a:solidFill>
                  <a:schemeClr val="tx2"/>
                </a:solidFill>
                <a:latin typeface="Times New Roman" panose="02020603050405020304" pitchFamily="18" charset="0"/>
                <a:cs typeface="Times New Roman" panose="02020603050405020304" pitchFamily="18" charset="0"/>
              </a:rPr>
              <a:t>) {</a:t>
            </a:r>
          </a:p>
          <a:p>
            <a:r>
              <a:rPr lang="en-US" sz="1600" dirty="0">
                <a:solidFill>
                  <a:schemeClr val="tx2"/>
                </a:solidFill>
                <a:latin typeface="Times New Roman" panose="02020603050405020304" pitchFamily="18" charset="0"/>
                <a:cs typeface="Times New Roman" panose="02020603050405020304" pitchFamily="18" charset="0"/>
              </a:rPr>
              <a:t>         if(</a:t>
            </a:r>
            <a:r>
              <a:rPr lang="en-US" sz="1600" dirty="0" err="1">
                <a:solidFill>
                  <a:schemeClr val="tx2"/>
                </a:solidFill>
                <a:latin typeface="Times New Roman" panose="02020603050405020304" pitchFamily="18" charset="0"/>
                <a:cs typeface="Times New Roman" panose="02020603050405020304" pitchFamily="18" charset="0"/>
              </a:rPr>
              <a:t>qfull</a:t>
            </a:r>
            <a:r>
              <a:rPr lang="en-US" sz="1600" dirty="0">
                <a:solidFill>
                  <a:schemeClr val="tx2"/>
                </a:solidFill>
                <a:latin typeface="Times New Roman" panose="02020603050405020304" pitchFamily="18" charset="0"/>
                <a:cs typeface="Times New Roman" panose="02020603050405020304" pitchFamily="18" charset="0"/>
              </a:rPr>
              <a:t>()) </a:t>
            </a:r>
          </a:p>
          <a:p>
            <a:r>
              <a:rPr lang="en-US" sz="1600" dirty="0">
                <a:solidFill>
                  <a:schemeClr val="tx2"/>
                </a:solidFill>
                <a:latin typeface="Times New Roman" panose="02020603050405020304" pitchFamily="18" charset="0"/>
                <a:cs typeface="Times New Roman" panose="02020603050405020304" pitchFamily="18" charset="0"/>
              </a:rPr>
              <a:t>                  </a:t>
            </a:r>
            <a:r>
              <a:rPr lang="en-US" sz="1600" dirty="0" err="1">
                <a:solidFill>
                  <a:schemeClr val="tx2"/>
                </a:solidFill>
                <a:latin typeface="Times New Roman" panose="02020603050405020304" pitchFamily="18" charset="0"/>
                <a:cs typeface="Times New Roman" panose="02020603050405020304" pitchFamily="18" charset="0"/>
              </a:rPr>
              <a:t>printf</a:t>
            </a:r>
            <a:r>
              <a:rPr lang="en-US" sz="1600" dirty="0">
                <a:solidFill>
                  <a:schemeClr val="tx2"/>
                </a:solidFill>
                <a:latin typeface="Times New Roman" panose="02020603050405020304" pitchFamily="18" charset="0"/>
                <a:cs typeface="Times New Roman" panose="02020603050405020304" pitchFamily="18" charset="0"/>
              </a:rPr>
              <a:t>("circular q is full"); </a:t>
            </a:r>
          </a:p>
          <a:p>
            <a:r>
              <a:rPr lang="en-US" sz="1600" dirty="0">
                <a:solidFill>
                  <a:schemeClr val="tx2"/>
                </a:solidFill>
                <a:latin typeface="Times New Roman" panose="02020603050405020304" pitchFamily="18" charset="0"/>
                <a:cs typeface="Times New Roman" panose="02020603050405020304" pitchFamily="18" charset="0"/>
              </a:rPr>
              <a:t>         else { </a:t>
            </a:r>
          </a:p>
          <a:p>
            <a:r>
              <a:rPr lang="en-US" sz="1600" dirty="0">
                <a:solidFill>
                  <a:schemeClr val="tx2"/>
                </a:solidFill>
                <a:latin typeface="Times New Roman" panose="02020603050405020304" pitchFamily="18" charset="0"/>
                <a:cs typeface="Times New Roman" panose="02020603050405020304" pitchFamily="18" charset="0"/>
              </a:rPr>
              <a:t>               </a:t>
            </a:r>
            <a:r>
              <a:rPr lang="en-US" sz="1600" dirty="0" smtClean="0">
                <a:solidFill>
                  <a:schemeClr val="tx2"/>
                </a:solidFill>
                <a:latin typeface="Times New Roman" panose="02020603050405020304" pitchFamily="18" charset="0"/>
                <a:cs typeface="Times New Roman" panose="02020603050405020304" pitchFamily="18" charset="0"/>
              </a:rPr>
              <a:t>if(front = = -</a:t>
            </a:r>
            <a:r>
              <a:rPr lang="en-US" sz="1600" dirty="0">
                <a:solidFill>
                  <a:schemeClr val="tx2"/>
                </a:solidFill>
                <a:latin typeface="Times New Roman" panose="02020603050405020304" pitchFamily="18" charset="0"/>
                <a:cs typeface="Times New Roman" panose="02020603050405020304" pitchFamily="18" charset="0"/>
              </a:rPr>
              <a:t>1) </a:t>
            </a:r>
          </a:p>
          <a:p>
            <a:r>
              <a:rPr lang="en-US" sz="1600" dirty="0">
                <a:solidFill>
                  <a:schemeClr val="tx2"/>
                </a:solidFill>
                <a:latin typeface="Times New Roman" panose="02020603050405020304" pitchFamily="18" charset="0"/>
                <a:cs typeface="Times New Roman" panose="02020603050405020304" pitchFamily="18" charset="0"/>
              </a:rPr>
              <a:t>                     front=rear=0; </a:t>
            </a:r>
          </a:p>
          <a:p>
            <a:r>
              <a:rPr lang="en-US" sz="1600" dirty="0">
                <a:solidFill>
                  <a:schemeClr val="tx2"/>
                </a:solidFill>
                <a:latin typeface="Times New Roman" panose="02020603050405020304" pitchFamily="18" charset="0"/>
                <a:cs typeface="Times New Roman" panose="02020603050405020304" pitchFamily="18" charset="0"/>
              </a:rPr>
              <a:t>               else </a:t>
            </a:r>
          </a:p>
          <a:p>
            <a:r>
              <a:rPr lang="en-US" sz="1600" dirty="0">
                <a:solidFill>
                  <a:schemeClr val="tx2"/>
                </a:solidFill>
                <a:latin typeface="Times New Roman" panose="02020603050405020304" pitchFamily="18" charset="0"/>
                <a:cs typeface="Times New Roman" panose="02020603050405020304" pitchFamily="18" charset="0"/>
              </a:rPr>
              <a:t>                      rear=(rear+1)%size; </a:t>
            </a:r>
          </a:p>
          <a:p>
            <a:r>
              <a:rPr lang="en-US" sz="1600" dirty="0">
                <a:solidFill>
                  <a:schemeClr val="tx2"/>
                </a:solidFill>
                <a:latin typeface="Times New Roman" panose="02020603050405020304" pitchFamily="18" charset="0"/>
                <a:cs typeface="Times New Roman" panose="02020603050405020304" pitchFamily="18" charset="0"/>
              </a:rPr>
              <a:t>    que[rear]=item; } }</a:t>
            </a:r>
          </a:p>
        </p:txBody>
      </p:sp>
    </p:spTree>
    <p:extLst>
      <p:ext uri="{BB962C8B-B14F-4D97-AF65-F5344CB8AC3E}">
        <p14:creationId xmlns:p14="http://schemas.microsoft.com/office/powerpoint/2010/main" val="27458196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Deletion</a:t>
            </a:r>
            <a:endParaRPr lang="en-US" dirty="0"/>
          </a:p>
        </p:txBody>
      </p:sp>
      <p:sp>
        <p:nvSpPr>
          <p:cNvPr id="3" name="Content Placeholder 2"/>
          <p:cNvSpPr>
            <a:spLocks noGrp="1"/>
          </p:cNvSpPr>
          <p:nvPr>
            <p:ph idx="1"/>
          </p:nvPr>
        </p:nvSpPr>
        <p:spPr/>
        <p:txBody>
          <a:bodyPr>
            <a:normAutofit fontScale="70000" lnSpcReduction="20000"/>
          </a:bodyPr>
          <a:lstStyle/>
          <a:p>
            <a:r>
              <a:rPr lang="en-US" dirty="0" err="1"/>
              <a:t>int</a:t>
            </a:r>
            <a:r>
              <a:rPr lang="en-US" dirty="0"/>
              <a:t> </a:t>
            </a:r>
            <a:r>
              <a:rPr lang="en-US" dirty="0" err="1"/>
              <a:t>qempty</a:t>
            </a:r>
            <a:r>
              <a:rPr lang="en-US" dirty="0"/>
              <a:t>() { </a:t>
            </a:r>
            <a:endParaRPr lang="en-US" dirty="0" smtClean="0"/>
          </a:p>
          <a:p>
            <a:r>
              <a:rPr lang="en-US" dirty="0" smtClean="0"/>
              <a:t>                 if(front</a:t>
            </a:r>
            <a:r>
              <a:rPr lang="en-US" dirty="0"/>
              <a:t>==-1) </a:t>
            </a:r>
            <a:endParaRPr lang="en-US" dirty="0" smtClean="0"/>
          </a:p>
          <a:p>
            <a:r>
              <a:rPr lang="en-US" dirty="0" smtClean="0"/>
              <a:t>                               return </a:t>
            </a:r>
            <a:r>
              <a:rPr lang="en-US" dirty="0"/>
              <a:t>1; </a:t>
            </a:r>
            <a:endParaRPr lang="en-US" dirty="0" smtClean="0"/>
          </a:p>
          <a:p>
            <a:r>
              <a:rPr lang="en-US" dirty="0" smtClean="0"/>
              <a:t>                 else</a:t>
            </a:r>
          </a:p>
          <a:p>
            <a:r>
              <a:rPr lang="en-US" dirty="0"/>
              <a:t> </a:t>
            </a:r>
            <a:r>
              <a:rPr lang="en-US" dirty="0" smtClean="0"/>
              <a:t>                           </a:t>
            </a:r>
            <a:r>
              <a:rPr lang="en-US" dirty="0"/>
              <a:t>return 0</a:t>
            </a:r>
            <a:r>
              <a:rPr lang="en-US" dirty="0" smtClean="0"/>
              <a:t>;</a:t>
            </a:r>
          </a:p>
          <a:p>
            <a:r>
              <a:rPr lang="en-US" dirty="0" smtClean="0"/>
              <a:t>                         } </a:t>
            </a:r>
          </a:p>
          <a:p>
            <a:r>
              <a:rPr lang="en-US" dirty="0" err="1" smtClean="0"/>
              <a:t>int</a:t>
            </a:r>
            <a:r>
              <a:rPr lang="en-US" dirty="0" smtClean="0"/>
              <a:t> </a:t>
            </a:r>
            <a:r>
              <a:rPr lang="en-US" dirty="0"/>
              <a:t>delete() </a:t>
            </a:r>
            <a:r>
              <a:rPr lang="en-US" dirty="0" smtClean="0"/>
              <a:t>{</a:t>
            </a:r>
          </a:p>
          <a:p>
            <a:r>
              <a:rPr lang="en-US" dirty="0" smtClean="0"/>
              <a:t>            </a:t>
            </a:r>
            <a:r>
              <a:rPr lang="en-US" dirty="0" err="1"/>
              <a:t>int</a:t>
            </a:r>
            <a:r>
              <a:rPr lang="en-US" dirty="0"/>
              <a:t> item; </a:t>
            </a:r>
            <a:endParaRPr lang="en-US" dirty="0" smtClean="0"/>
          </a:p>
          <a:p>
            <a:r>
              <a:rPr lang="en-US" dirty="0" smtClean="0"/>
              <a:t>            if(</a:t>
            </a:r>
            <a:r>
              <a:rPr lang="en-US" dirty="0" err="1" smtClean="0"/>
              <a:t>qempty</a:t>
            </a:r>
            <a:r>
              <a:rPr lang="en-US" dirty="0"/>
              <a:t>()) </a:t>
            </a:r>
            <a:endParaRPr lang="en-US" dirty="0" smtClean="0"/>
          </a:p>
          <a:p>
            <a:r>
              <a:rPr lang="en-US" dirty="0" smtClean="0"/>
              <a:t>                        </a:t>
            </a:r>
            <a:r>
              <a:rPr lang="en-US" dirty="0" err="1" smtClean="0"/>
              <a:t>printf</a:t>
            </a:r>
            <a:r>
              <a:rPr lang="en-US" dirty="0"/>
              <a:t>("queue is empty"); </a:t>
            </a:r>
            <a:endParaRPr lang="en-US" dirty="0" smtClean="0"/>
          </a:p>
          <a:p>
            <a:r>
              <a:rPr lang="en-US" dirty="0" smtClean="0"/>
              <a:t>             else </a:t>
            </a:r>
            <a:r>
              <a:rPr lang="en-US" dirty="0"/>
              <a:t>{ </a:t>
            </a:r>
            <a:endParaRPr lang="en-US" dirty="0" smtClean="0"/>
          </a:p>
          <a:p>
            <a:r>
              <a:rPr lang="en-US" dirty="0" smtClean="0"/>
              <a:t>                        item=que[front];</a:t>
            </a:r>
          </a:p>
          <a:p>
            <a:r>
              <a:rPr lang="en-US" dirty="0" smtClean="0"/>
              <a:t>                   </a:t>
            </a:r>
            <a:r>
              <a:rPr lang="en-US" dirty="0"/>
              <a:t>if(front==rear)  </a:t>
            </a:r>
            <a:endParaRPr lang="en-US" dirty="0" smtClean="0"/>
          </a:p>
          <a:p>
            <a:r>
              <a:rPr lang="en-US" dirty="0" smtClean="0"/>
              <a:t>                            front=rear</a:t>
            </a:r>
            <a:r>
              <a:rPr lang="en-US" dirty="0"/>
              <a:t>=-1; </a:t>
            </a:r>
            <a:endParaRPr lang="en-US" dirty="0" smtClean="0"/>
          </a:p>
          <a:p>
            <a:r>
              <a:rPr lang="en-US" dirty="0" smtClean="0"/>
              <a:t>                   else </a:t>
            </a:r>
          </a:p>
          <a:p>
            <a:r>
              <a:rPr lang="en-US" dirty="0" smtClean="0"/>
              <a:t>                            front</a:t>
            </a:r>
            <a:r>
              <a:rPr lang="en-US" dirty="0"/>
              <a:t>=(front+1)%size; </a:t>
            </a:r>
            <a:endParaRPr lang="en-US" dirty="0" smtClean="0"/>
          </a:p>
          <a:p>
            <a:r>
              <a:rPr lang="en-US" dirty="0" smtClean="0"/>
              <a:t>             </a:t>
            </a:r>
            <a:r>
              <a:rPr lang="en-US" dirty="0" err="1" smtClean="0"/>
              <a:t>printf</a:t>
            </a:r>
            <a:r>
              <a:rPr lang="en-US" dirty="0"/>
              <a:t>("the deleted item </a:t>
            </a:r>
            <a:r>
              <a:rPr lang="en-US" dirty="0" err="1"/>
              <a:t>is%d</a:t>
            </a:r>
            <a:r>
              <a:rPr lang="en-US" dirty="0"/>
              <a:t> ",item</a:t>
            </a:r>
            <a:r>
              <a:rPr lang="en-US" dirty="0" smtClean="0"/>
              <a:t>);</a:t>
            </a:r>
          </a:p>
          <a:p>
            <a:r>
              <a:rPr lang="en-US" dirty="0"/>
              <a:t> </a:t>
            </a:r>
            <a:r>
              <a:rPr lang="en-US" dirty="0" smtClean="0"/>
              <a:t>                    </a:t>
            </a:r>
            <a:r>
              <a:rPr lang="en-US" dirty="0"/>
              <a:t>} </a:t>
            </a:r>
            <a:endParaRPr lang="en-US" dirty="0" smtClean="0"/>
          </a:p>
          <a:p>
            <a:r>
              <a:rPr lang="en-US" dirty="0"/>
              <a:t> </a:t>
            </a:r>
            <a:r>
              <a:rPr lang="en-US" dirty="0" smtClean="0"/>
              <a:t>                 }</a:t>
            </a:r>
            <a:endParaRPr lang="en-US" dirty="0"/>
          </a:p>
        </p:txBody>
      </p:sp>
    </p:spTree>
    <p:extLst>
      <p:ext uri="{BB962C8B-B14F-4D97-AF65-F5344CB8AC3E}">
        <p14:creationId xmlns:p14="http://schemas.microsoft.com/office/powerpoint/2010/main" val="27458196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Display</a:t>
            </a:r>
            <a:endParaRPr lang="en-US" dirty="0"/>
          </a:p>
        </p:txBody>
      </p:sp>
      <p:sp>
        <p:nvSpPr>
          <p:cNvPr id="3" name="Content Placeholder 2"/>
          <p:cNvSpPr>
            <a:spLocks noGrp="1"/>
          </p:cNvSpPr>
          <p:nvPr>
            <p:ph idx="1"/>
          </p:nvPr>
        </p:nvSpPr>
        <p:spPr/>
        <p:txBody>
          <a:bodyPr/>
          <a:lstStyle/>
          <a:p>
            <a:r>
              <a:rPr lang="en-US" dirty="0"/>
              <a:t>void display() { </a:t>
            </a:r>
            <a:endParaRPr lang="en-US" dirty="0" smtClean="0"/>
          </a:p>
          <a:p>
            <a:r>
              <a:rPr lang="en-US" dirty="0" smtClean="0"/>
              <a:t>if(</a:t>
            </a:r>
            <a:r>
              <a:rPr lang="en-US" dirty="0" err="1" smtClean="0"/>
              <a:t>qempty</a:t>
            </a:r>
            <a:r>
              <a:rPr lang="en-US" dirty="0"/>
              <a:t>()) { </a:t>
            </a:r>
            <a:endParaRPr lang="en-US" dirty="0" smtClean="0"/>
          </a:p>
          <a:p>
            <a:r>
              <a:rPr lang="en-US" dirty="0" err="1" smtClean="0"/>
              <a:t>printf</a:t>
            </a:r>
            <a:r>
              <a:rPr lang="en-US" dirty="0"/>
              <a:t>("queue is empty"); </a:t>
            </a:r>
            <a:endParaRPr lang="en-US" dirty="0" smtClean="0"/>
          </a:p>
          <a:p>
            <a:r>
              <a:rPr lang="en-US" dirty="0" smtClean="0"/>
              <a:t>return;</a:t>
            </a:r>
          </a:p>
          <a:p>
            <a:r>
              <a:rPr lang="en-US" dirty="0" smtClean="0"/>
              <a:t> }</a:t>
            </a:r>
          </a:p>
          <a:p>
            <a:r>
              <a:rPr lang="en-US" dirty="0" err="1" smtClean="0"/>
              <a:t>Int</a:t>
            </a:r>
            <a:r>
              <a:rPr lang="en-US" dirty="0" smtClean="0"/>
              <a:t> </a:t>
            </a:r>
            <a:r>
              <a:rPr lang="en-US" dirty="0" err="1" smtClean="0"/>
              <a:t>i</a:t>
            </a:r>
            <a:r>
              <a:rPr lang="en-US" dirty="0" smtClean="0"/>
              <a:t>=front</a:t>
            </a:r>
          </a:p>
          <a:p>
            <a:r>
              <a:rPr lang="en-US" dirty="0" smtClean="0"/>
              <a:t>while(</a:t>
            </a:r>
            <a:r>
              <a:rPr lang="en-US" dirty="0" err="1" smtClean="0"/>
              <a:t>i</a:t>
            </a:r>
            <a:r>
              <a:rPr lang="en-US" dirty="0" smtClean="0"/>
              <a:t>!=</a:t>
            </a:r>
            <a:r>
              <a:rPr lang="en-US" dirty="0"/>
              <a:t>rear) { </a:t>
            </a:r>
            <a:endParaRPr lang="en-US" dirty="0" smtClean="0"/>
          </a:p>
          <a:p>
            <a:r>
              <a:rPr lang="en-US" dirty="0" err="1" smtClean="0"/>
              <a:t>printf</a:t>
            </a:r>
            <a:r>
              <a:rPr lang="en-US" dirty="0"/>
              <a:t>(“%</a:t>
            </a:r>
            <a:r>
              <a:rPr lang="en-US" dirty="0" err="1"/>
              <a:t>d”,</a:t>
            </a:r>
            <a:r>
              <a:rPr lang="en-US" dirty="0" err="1" smtClean="0"/>
              <a:t>que</a:t>
            </a:r>
            <a:r>
              <a:rPr lang="en-US" dirty="0" smtClean="0"/>
              <a:t>[</a:t>
            </a:r>
            <a:r>
              <a:rPr lang="en-US" dirty="0" err="1" smtClean="0"/>
              <a:t>i</a:t>
            </a:r>
            <a:r>
              <a:rPr lang="en-US" dirty="0" smtClean="0"/>
              <a:t>]); </a:t>
            </a:r>
          </a:p>
          <a:p>
            <a:r>
              <a:rPr lang="en-US" dirty="0" err="1"/>
              <a:t>i</a:t>
            </a:r>
            <a:r>
              <a:rPr lang="en-US" dirty="0" smtClean="0"/>
              <a:t>=(</a:t>
            </a:r>
            <a:r>
              <a:rPr lang="en-US" dirty="0"/>
              <a:t>i</a:t>
            </a:r>
            <a:r>
              <a:rPr lang="en-US" dirty="0" smtClean="0"/>
              <a:t>+1</a:t>
            </a:r>
            <a:r>
              <a:rPr lang="en-US" dirty="0"/>
              <a:t>)%size; </a:t>
            </a:r>
            <a:endParaRPr lang="en-US" dirty="0" smtClean="0"/>
          </a:p>
          <a:p>
            <a:r>
              <a:rPr lang="en-US" dirty="0" smtClean="0"/>
              <a:t>} </a:t>
            </a:r>
          </a:p>
          <a:p>
            <a:r>
              <a:rPr lang="en-US" dirty="0" err="1" smtClean="0"/>
              <a:t>Printf</a:t>
            </a:r>
            <a:r>
              <a:rPr lang="en-US" dirty="0"/>
              <a:t>(“%</a:t>
            </a:r>
            <a:r>
              <a:rPr lang="en-US" dirty="0" err="1"/>
              <a:t>d”,</a:t>
            </a:r>
            <a:r>
              <a:rPr lang="en-US" dirty="0" err="1" smtClean="0"/>
              <a:t>que</a:t>
            </a:r>
            <a:r>
              <a:rPr lang="en-US" dirty="0" smtClean="0"/>
              <a:t>[</a:t>
            </a:r>
            <a:r>
              <a:rPr lang="en-US" dirty="0" err="1" smtClean="0"/>
              <a:t>i</a:t>
            </a:r>
            <a:r>
              <a:rPr lang="en-US" dirty="0" smtClean="0"/>
              <a:t>]); </a:t>
            </a:r>
          </a:p>
          <a:p>
            <a:r>
              <a:rPr lang="en-US" dirty="0" smtClean="0"/>
              <a:t>}</a:t>
            </a:r>
            <a:endParaRPr lang="en-US" dirty="0"/>
          </a:p>
        </p:txBody>
      </p:sp>
    </p:spTree>
    <p:extLst>
      <p:ext uri="{BB962C8B-B14F-4D97-AF65-F5344CB8AC3E}">
        <p14:creationId xmlns:p14="http://schemas.microsoft.com/office/powerpoint/2010/main" val="27458196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1122965097"/>
              </p:ext>
            </p:extLst>
          </p:nvPr>
        </p:nvGraphicFramePr>
        <p:xfrm>
          <a:off x="1793875" y="1273175"/>
          <a:ext cx="9732963" cy="5451475"/>
        </p:xfrm>
        <a:graphic>
          <a:graphicData uri="http://schemas.openxmlformats.org/presentationml/2006/ole">
            <mc:AlternateContent xmlns:mc="http://schemas.openxmlformats.org/markup-compatibility/2006">
              <mc:Choice xmlns:v="urn:schemas-microsoft-com:vml" Requires="v">
                <p:oleObj spid="_x0000_s10259" name="Packager Shell Object" showAsIcon="1" r:id="rId3" imgW="1079525" imgH="526962" progId="Package">
                  <p:embed/>
                </p:oleObj>
              </mc:Choice>
              <mc:Fallback>
                <p:oleObj name="Packager Shell Object" showAsIcon="1" r:id="rId3" imgW="1079525" imgH="526962" progId="Package">
                  <p:embed/>
                  <p:pic>
                    <p:nvPicPr>
                      <p:cNvPr id="0" name=""/>
                      <p:cNvPicPr/>
                      <p:nvPr/>
                    </p:nvPicPr>
                    <p:blipFill>
                      <a:blip r:embed="rId4"/>
                      <a:stretch>
                        <a:fillRect/>
                      </a:stretch>
                    </p:blipFill>
                    <p:spPr>
                      <a:xfrm>
                        <a:off x="1793875" y="1273175"/>
                        <a:ext cx="9732963" cy="5451475"/>
                      </a:xfrm>
                      <a:prstGeom prst="rect">
                        <a:avLst/>
                      </a:prstGeom>
                    </p:spPr>
                  </p:pic>
                </p:oleObj>
              </mc:Fallback>
            </mc:AlternateContent>
          </a:graphicData>
        </a:graphic>
      </p:graphicFrame>
    </p:spTree>
    <p:extLst>
      <p:ext uri="{BB962C8B-B14F-4D97-AF65-F5344CB8AC3E}">
        <p14:creationId xmlns:p14="http://schemas.microsoft.com/office/powerpoint/2010/main" val="9554997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Double ended queue</a:t>
            </a:r>
            <a:endParaRPr lang="en-US" dirty="0"/>
          </a:p>
        </p:txBody>
      </p:sp>
      <p:pic>
        <p:nvPicPr>
          <p:cNvPr id="11266" name="Picture 2" descr="C:\Users\sanwarul\Desktop\dq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1298714"/>
            <a:ext cx="10111409" cy="5422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2970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2290" name="Picture 2" descr="C:\Users\sanwarul\Desktop\dq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461" y="450574"/>
            <a:ext cx="10098155" cy="6124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2970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3314" name="Picture 2" descr="C:\Users\sanwarul\Desktop\dq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8957" y="357809"/>
            <a:ext cx="10151165" cy="6199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2970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4338" name="Picture 2" descr="C:\Users\sanwarul\Desktop\dq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470" y="450575"/>
            <a:ext cx="10018643" cy="5817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2970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5362" name="Picture 2" descr="C:\Users\sanwarul\Desktop\dq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5218" y="397565"/>
            <a:ext cx="10071652" cy="605624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431234" y="5539409"/>
            <a:ext cx="2663687"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If queue is empty then we can insert otherwise it will give overflow error</a:t>
            </a:r>
            <a:endParaRPr lang="en-US" dirty="0"/>
          </a:p>
        </p:txBody>
      </p:sp>
    </p:spTree>
    <p:extLst>
      <p:ext uri="{BB962C8B-B14F-4D97-AF65-F5344CB8AC3E}">
        <p14:creationId xmlns:p14="http://schemas.microsoft.com/office/powerpoint/2010/main" val="19782970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7410" name="Picture 2" descr="C:\Users\sanwarul\Desktop\dq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5704" y="437322"/>
            <a:ext cx="10124661" cy="6042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2970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9458" name="Picture 2" descr="C:\Users\sanwarul\Desktop\dq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5704" y="424071"/>
            <a:ext cx="10111409" cy="6202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1669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24125" y="3019425"/>
            <a:ext cx="7086600" cy="321237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678" y="382385"/>
            <a:ext cx="5920647" cy="931260"/>
          </a:xfrm>
          <a:prstGeom prst="rect">
            <a:avLst/>
          </a:prstGeom>
        </p:spPr>
      </p:pic>
      <p:sp>
        <p:nvSpPr>
          <p:cNvPr id="6" name="Rectangle 5"/>
          <p:cNvSpPr/>
          <p:nvPr/>
        </p:nvSpPr>
        <p:spPr>
          <a:xfrm>
            <a:off x="1466850" y="1562100"/>
            <a:ext cx="9248775" cy="1095375"/>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Remove_back</a:t>
            </a:r>
            <a:r>
              <a:rPr lang="en-US" dirty="0" smtClean="0"/>
              <a:t>() is an operation used to pop an element at back of the </a:t>
            </a:r>
            <a:r>
              <a:rPr lang="en-US" dirty="0" err="1" smtClean="0"/>
              <a:t>Deque</a:t>
            </a:r>
            <a:r>
              <a:rPr lang="en-US" dirty="0" smtClean="0"/>
              <a:t>.</a:t>
            </a:r>
            <a:endParaRPr lang="en-US" dirty="0"/>
          </a:p>
        </p:txBody>
      </p:sp>
    </p:spTree>
    <p:extLst>
      <p:ext uri="{BB962C8B-B14F-4D97-AF65-F5344CB8AC3E}">
        <p14:creationId xmlns:p14="http://schemas.microsoft.com/office/powerpoint/2010/main" val="31567807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3554" name="Picture 2" descr="C:\Users\sanwarul\Desktop\dq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714" y="410818"/>
            <a:ext cx="10124660" cy="6281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678073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Program</a:t>
            </a:r>
            <a:endParaRPr lang="en-US" dirty="0"/>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3403932153"/>
              </p:ext>
            </p:extLst>
          </p:nvPr>
        </p:nvGraphicFramePr>
        <p:xfrm>
          <a:off x="2141538" y="1828800"/>
          <a:ext cx="3646487" cy="2303463"/>
        </p:xfrm>
        <a:graphic>
          <a:graphicData uri="http://schemas.openxmlformats.org/presentationml/2006/ole">
            <mc:AlternateContent xmlns:mc="http://schemas.openxmlformats.org/markup-compatibility/2006">
              <mc:Choice xmlns:v="urn:schemas-microsoft-com:vml" Requires="v">
                <p:oleObj spid="_x0000_s9316" name="Packager Shell Object" showAsIcon="1" r:id="rId3" imgW="677880" imgH="481320" progId="Package">
                  <p:embed/>
                </p:oleObj>
              </mc:Choice>
              <mc:Fallback>
                <p:oleObj name="Packager Shell Object" showAsIcon="1" r:id="rId3" imgW="677880" imgH="481320" progId="Package">
                  <p:embed/>
                  <p:pic>
                    <p:nvPicPr>
                      <p:cNvPr id="0" name=""/>
                      <p:cNvPicPr/>
                      <p:nvPr/>
                    </p:nvPicPr>
                    <p:blipFill>
                      <a:blip r:embed="rId4"/>
                      <a:stretch>
                        <a:fillRect/>
                      </a:stretch>
                    </p:blipFill>
                    <p:spPr>
                      <a:xfrm>
                        <a:off x="2141538" y="1828800"/>
                        <a:ext cx="3646487" cy="2303463"/>
                      </a:xfrm>
                      <a:prstGeom prst="rect">
                        <a:avLst/>
                      </a:prstGeom>
                    </p:spPr>
                  </p:pic>
                </p:oleObj>
              </mc:Fallback>
            </mc:AlternateContent>
          </a:graphicData>
        </a:graphic>
      </p:graphicFrame>
    </p:spTree>
    <p:extLst>
      <p:ext uri="{BB962C8B-B14F-4D97-AF65-F5344CB8AC3E}">
        <p14:creationId xmlns:p14="http://schemas.microsoft.com/office/powerpoint/2010/main" val="376571913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Priority Queue</a:t>
            </a:r>
            <a:endParaRPr lang="en-US" dirty="0"/>
          </a:p>
        </p:txBody>
      </p:sp>
      <p:sp>
        <p:nvSpPr>
          <p:cNvPr id="3" name="Content Placeholder 2"/>
          <p:cNvSpPr>
            <a:spLocks noGrp="1"/>
          </p:cNvSpPr>
          <p:nvPr>
            <p:ph idx="1"/>
          </p:nvPr>
        </p:nvSpPr>
        <p:spPr/>
        <p:txBody>
          <a:bodyPr/>
          <a:lstStyle/>
          <a:p>
            <a:pPr algn="just"/>
            <a:r>
              <a:rPr lang="en-US" dirty="0"/>
              <a:t>A priority queue is a type of queue that arranges elements based on their priority values. Elements with higher priority values are typically retrieved before elements with lower priority values</a:t>
            </a:r>
            <a:r>
              <a:rPr lang="en-US" dirty="0" smtClean="0"/>
              <a:t>.</a:t>
            </a:r>
            <a:endParaRPr lang="en-US" dirty="0"/>
          </a:p>
          <a:p>
            <a:pPr algn="just"/>
            <a:r>
              <a:rPr lang="en-US" dirty="0"/>
              <a:t>In a priority queue, each element has a priority value associated with it. When you add an element to the queue, it is inserted in a position based on its priority value. </a:t>
            </a:r>
          </a:p>
          <a:p>
            <a:pPr marL="0" indent="0" algn="just">
              <a:buNone/>
              <a:defRPr/>
            </a:pPr>
            <a:endParaRPr lang="en-US" dirty="0" smtClean="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just">
              <a:buNone/>
              <a:defRPr/>
            </a:pPr>
            <a:r>
              <a:rPr lang="en-US" dirty="0" smtClean="0">
                <a:solidFill>
                  <a:schemeClr val="tx1">
                    <a:lumMod val="85000"/>
                    <a:lumOff val="15000"/>
                  </a:schemeClr>
                </a:solidFill>
                <a:latin typeface="Times New Roman" panose="02020603050405020304" pitchFamily="18" charset="0"/>
                <a:cs typeface="Times New Roman" panose="02020603050405020304" pitchFamily="18" charset="0"/>
              </a:rPr>
              <a:t>Key </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Characteristics of a Priority Queue:</a:t>
            </a:r>
          </a:p>
          <a:p>
            <a:pPr algn="just">
              <a:defRPr/>
            </a:pPr>
            <a:endParaRPr lang="en-US" dirty="0">
              <a:solidFill>
                <a:schemeClr val="tx1">
                  <a:lumMod val="85000"/>
                  <a:lumOff val="15000"/>
                </a:schemeClr>
              </a:solidFill>
              <a:latin typeface="Times New Roman" panose="02020603050405020304" pitchFamily="18" charset="0"/>
              <a:cs typeface="Times New Roman" panose="02020603050405020304" pitchFamily="18" charset="0"/>
            </a:endParaRPr>
          </a:p>
          <a:p>
            <a:pPr algn="just">
              <a:buFont typeface="+mj-lt"/>
              <a:buAutoNum type="arabicPeriod"/>
              <a:defRPr/>
            </a:pPr>
            <a:r>
              <a:rPr lang="en-US" b="1" dirty="0">
                <a:solidFill>
                  <a:schemeClr val="tx1">
                    <a:lumMod val="85000"/>
                    <a:lumOff val="15000"/>
                  </a:schemeClr>
                </a:solidFill>
                <a:latin typeface="Times New Roman" panose="02020603050405020304" pitchFamily="18" charset="0"/>
                <a:cs typeface="Times New Roman" panose="02020603050405020304" pitchFamily="18" charset="0"/>
              </a:rPr>
              <a:t>Ordering Principle:</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 Elements are ordered based on their priority values. The element with the highest priority is served first.</a:t>
            </a:r>
          </a:p>
          <a:p>
            <a:pPr algn="just">
              <a:buFont typeface="+mj-lt"/>
              <a:buAutoNum type="arabicPeriod"/>
              <a:defRPr/>
            </a:pPr>
            <a:r>
              <a:rPr lang="en-US" b="1" dirty="0" smtClean="0">
                <a:solidFill>
                  <a:schemeClr val="tx1">
                    <a:lumMod val="85000"/>
                    <a:lumOff val="15000"/>
                  </a:schemeClr>
                </a:solidFill>
                <a:latin typeface="Times New Roman" panose="02020603050405020304" pitchFamily="18" charset="0"/>
                <a:cs typeface="Times New Roman" panose="02020603050405020304" pitchFamily="18" charset="0"/>
              </a:rPr>
              <a:t>No </a:t>
            </a:r>
            <a:r>
              <a:rPr lang="en-US" b="1" dirty="0">
                <a:solidFill>
                  <a:schemeClr val="tx1">
                    <a:lumMod val="85000"/>
                    <a:lumOff val="15000"/>
                  </a:schemeClr>
                </a:solidFill>
                <a:latin typeface="Times New Roman" panose="02020603050405020304" pitchFamily="18" charset="0"/>
                <a:cs typeface="Times New Roman" panose="02020603050405020304" pitchFamily="18" charset="0"/>
              </a:rPr>
              <a:t>Fixed Order:</a:t>
            </a:r>
            <a:r>
              <a:rPr lang="en-US" dirty="0">
                <a:solidFill>
                  <a:schemeClr val="tx1">
                    <a:lumMod val="85000"/>
                    <a:lumOff val="15000"/>
                  </a:schemeClr>
                </a:solidFill>
                <a:latin typeface="Times New Roman" panose="02020603050405020304" pitchFamily="18" charset="0"/>
                <a:cs typeface="Times New Roman" panose="02020603050405020304" pitchFamily="18" charset="0"/>
              </a:rPr>
              <a:t> Unlike a regular queue, there is no fixed order (e.g., First-In-First-Out or Last-In-First-Out) for removing elements. The removal is based on the priority of the elements.</a:t>
            </a:r>
          </a:p>
          <a:p>
            <a:pPr algn="just"/>
            <a:endParaRPr lang="en-US" dirty="0" smtClean="0"/>
          </a:p>
        </p:txBody>
      </p:sp>
    </p:spTree>
    <p:extLst>
      <p:ext uri="{BB962C8B-B14F-4D97-AF65-F5344CB8AC3E}">
        <p14:creationId xmlns:p14="http://schemas.microsoft.com/office/powerpoint/2010/main" val="29389848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Properties of Priority Queue</a:t>
            </a:r>
            <a:br>
              <a:rPr lang="en-US" dirty="0"/>
            </a:br>
            <a:endParaRPr lang="en-US" dirty="0"/>
          </a:p>
        </p:txBody>
      </p:sp>
      <p:sp>
        <p:nvSpPr>
          <p:cNvPr id="3" name="Content Placeholder 2"/>
          <p:cNvSpPr>
            <a:spLocks noGrp="1"/>
          </p:cNvSpPr>
          <p:nvPr>
            <p:ph idx="1"/>
          </p:nvPr>
        </p:nvSpPr>
        <p:spPr>
          <a:xfrm>
            <a:off x="1251678" y="1506829"/>
            <a:ext cx="10178322" cy="2184652"/>
          </a:xfrm>
        </p:spPr>
        <p:txBody>
          <a:bodyPr>
            <a:normAutofit lnSpcReduction="10000"/>
          </a:bodyPr>
          <a:lstStyle/>
          <a:p>
            <a:pPr marL="0" indent="0">
              <a:buNone/>
            </a:pPr>
            <a:r>
              <a:rPr lang="en-US" dirty="0" smtClean="0"/>
              <a:t>So</a:t>
            </a:r>
            <a:r>
              <a:rPr lang="en-US" dirty="0"/>
              <a:t>, a priority Queue is an extension of the queue with the following properties. </a:t>
            </a:r>
          </a:p>
          <a:p>
            <a:r>
              <a:rPr lang="en-US" dirty="0"/>
              <a:t>Every item has a priority associated with it.</a:t>
            </a:r>
          </a:p>
          <a:p>
            <a:r>
              <a:rPr lang="en-US" dirty="0"/>
              <a:t>An element with high priority is </a:t>
            </a:r>
            <a:r>
              <a:rPr lang="en-US" dirty="0" err="1"/>
              <a:t>dequeued</a:t>
            </a:r>
            <a:r>
              <a:rPr lang="en-US" dirty="0"/>
              <a:t> before an element with low priority.</a:t>
            </a:r>
          </a:p>
          <a:p>
            <a:r>
              <a:rPr lang="en-US" dirty="0"/>
              <a:t>If two elements have the same priority, they are served according to their order in the queue.</a:t>
            </a:r>
          </a:p>
          <a:p>
            <a:r>
              <a:rPr lang="en-US" dirty="0"/>
              <a:t>In the below priority queue, an element with a maximum ASCII value will have the highest priority. The elements with higher priority are served first. </a:t>
            </a:r>
          </a:p>
        </p:txBody>
      </p:sp>
      <p:pic>
        <p:nvPicPr>
          <p:cNvPr id="10244" name="Picture 4" descr="https://media.geeksforgeeks.org/wp-content/cdn-uploads/Priority-Queue-min-1024x5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4039" y="3552826"/>
            <a:ext cx="9753600" cy="3305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44069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17987"/>
            <a:ext cx="10972800" cy="1150374"/>
          </a:xfrm>
        </p:spPr>
        <p:txBody>
          <a:bodyPr>
            <a:noAutofit/>
          </a:bodyPr>
          <a:lstStyle/>
          <a:p>
            <a:r>
              <a:rPr lang="en-US" altLang="en-US" sz="3200" b="1" dirty="0">
                <a:latin typeface="Times New Roman" panose="02020603050405020304" pitchFamily="18" charset="0"/>
                <a:cs typeface="Times New Roman" panose="02020603050405020304" pitchFamily="18" charset="0"/>
              </a:rPr>
              <a:t>Priority Queue</a:t>
            </a:r>
            <a:endParaRPr lang="en-US" sz="3200" b="1" dirty="0"/>
          </a:p>
        </p:txBody>
      </p:sp>
      <p:sp>
        <p:nvSpPr>
          <p:cNvPr id="2" name="Rectangle 4">
            <a:extLst>
              <a:ext uri="{FF2B5EF4-FFF2-40B4-BE49-F238E27FC236}">
                <a16:creationId xmlns:a16="http://schemas.microsoft.com/office/drawing/2014/main" id="{31F2271E-822F-3479-C979-0ED97134D8D5}"/>
              </a:ext>
            </a:extLst>
          </p:cNvPr>
          <p:cNvSpPr>
            <a:spLocks noChangeArrowheads="1"/>
          </p:cNvSpPr>
          <p:nvPr/>
        </p:nvSpPr>
        <p:spPr bwMode="auto">
          <a:xfrm>
            <a:off x="933450" y="5029200"/>
            <a:ext cx="9925050" cy="1219200"/>
          </a:xfrm>
          <a:prstGeom prst="rect">
            <a:avLst/>
          </a:prstGeom>
          <a:solidFill>
            <a:srgbClr val="99CCFF"/>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defRPr/>
            </a:pPr>
            <a:r>
              <a:rPr lang="en-US" altLang="en-US" sz="2400" b="1" i="1" dirty="0">
                <a:solidFill>
                  <a:schemeClr val="accent2"/>
                </a:solidFill>
                <a:latin typeface="Times New Roman" panose="02020603050405020304" pitchFamily="18" charset="0"/>
                <a:cs typeface="Times New Roman" panose="02020603050405020304" pitchFamily="18" charset="0"/>
              </a:rPr>
              <a:t>Priority Queue</a:t>
            </a:r>
            <a:endParaRPr lang="en-US" altLang="en-US" sz="2400" i="1" dirty="0">
              <a:latin typeface="Times New Roman" panose="02020603050405020304" pitchFamily="18" charset="0"/>
              <a:cs typeface="Times New Roman" panose="02020603050405020304" pitchFamily="18" charset="0"/>
            </a:endParaRPr>
          </a:p>
          <a:p>
            <a:pPr algn="ctr" eaLnBrk="1" hangingPunct="1">
              <a:spcBef>
                <a:spcPct val="0"/>
              </a:spcBef>
              <a:buFontTx/>
              <a:buNone/>
              <a:defRPr/>
            </a:pPr>
            <a:r>
              <a:rPr lang="en-US" altLang="en-US" sz="2400" i="1" dirty="0">
                <a:solidFill>
                  <a:schemeClr val="tx1">
                    <a:lumMod val="85000"/>
                    <a:lumOff val="15000"/>
                  </a:schemeClr>
                </a:solidFill>
                <a:latin typeface="Times New Roman" panose="02020603050405020304" pitchFamily="18" charset="0"/>
                <a:cs typeface="Times New Roman" panose="02020603050405020304" pitchFamily="18" charset="0"/>
              </a:rPr>
              <a:t>An </a:t>
            </a:r>
            <a:r>
              <a:rPr lang="en-US" sz="2400" i="1" dirty="0">
                <a:solidFill>
                  <a:schemeClr val="tx1">
                    <a:lumMod val="85000"/>
                    <a:lumOff val="15000"/>
                  </a:schemeClr>
                </a:solidFill>
                <a:latin typeface="Times New Roman" panose="02020603050405020304" pitchFamily="18" charset="0"/>
                <a:cs typeface="Times New Roman" panose="02020603050405020304" pitchFamily="18" charset="0"/>
              </a:rPr>
              <a:t>abstract data type</a:t>
            </a:r>
            <a:r>
              <a:rPr lang="en-US" altLang="en-US" sz="2400" i="1" dirty="0">
                <a:solidFill>
                  <a:schemeClr val="tx1">
                    <a:lumMod val="85000"/>
                    <a:lumOff val="15000"/>
                  </a:schemeClr>
                </a:solidFill>
                <a:latin typeface="Times New Roman" panose="02020603050405020304" pitchFamily="18" charset="0"/>
                <a:cs typeface="Times New Roman" panose="02020603050405020304" pitchFamily="18" charset="0"/>
              </a:rPr>
              <a:t> in which only the item with the  highest </a:t>
            </a:r>
          </a:p>
          <a:p>
            <a:pPr algn="ctr" eaLnBrk="1" hangingPunct="1">
              <a:spcBef>
                <a:spcPct val="0"/>
              </a:spcBef>
              <a:buFontTx/>
              <a:buNone/>
              <a:defRPr/>
            </a:pPr>
            <a:r>
              <a:rPr lang="en-US" altLang="en-US" sz="2400" i="1" dirty="0">
                <a:solidFill>
                  <a:schemeClr val="tx1">
                    <a:lumMod val="85000"/>
                    <a:lumOff val="15000"/>
                  </a:schemeClr>
                </a:solidFill>
                <a:latin typeface="Times New Roman" panose="02020603050405020304" pitchFamily="18" charset="0"/>
                <a:cs typeface="Times New Roman" panose="02020603050405020304" pitchFamily="18" charset="0"/>
              </a:rPr>
              <a:t>priority can be accessed.</a:t>
            </a:r>
          </a:p>
        </p:txBody>
      </p:sp>
      <p:pic>
        <p:nvPicPr>
          <p:cNvPr id="5" name="Picture 8">
            <a:extLst>
              <a:ext uri="{FF2B5EF4-FFF2-40B4-BE49-F238E27FC236}">
                <a16:creationId xmlns:a16="http://schemas.microsoft.com/office/drawing/2014/main" id="{9C901AA2-EE17-815D-2F86-02C982A77B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 y="53924"/>
            <a:ext cx="9925050" cy="3648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3740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Operations of a Priority Queue:</a:t>
            </a:r>
            <a:br>
              <a:rPr lang="en-US" b="1" dirty="0"/>
            </a:br>
            <a:endParaRPr lang="en-US" dirty="0"/>
          </a:p>
        </p:txBody>
      </p:sp>
      <p:sp>
        <p:nvSpPr>
          <p:cNvPr id="3" name="Content Placeholder 2"/>
          <p:cNvSpPr>
            <a:spLocks noGrp="1"/>
          </p:cNvSpPr>
          <p:nvPr>
            <p:ph idx="1"/>
          </p:nvPr>
        </p:nvSpPr>
        <p:spPr/>
        <p:txBody>
          <a:bodyPr>
            <a:normAutofit/>
          </a:bodyPr>
          <a:lstStyle/>
          <a:p>
            <a:pPr marL="0" indent="0" algn="just" fontAlgn="base">
              <a:buNone/>
            </a:pPr>
            <a:r>
              <a:rPr lang="en-US" dirty="0" smtClean="0"/>
              <a:t>A </a:t>
            </a:r>
            <a:r>
              <a:rPr lang="en-US" dirty="0"/>
              <a:t>typical priority queue supports the following </a:t>
            </a:r>
            <a:r>
              <a:rPr lang="en-US" dirty="0" smtClean="0"/>
              <a:t>operations:</a:t>
            </a:r>
          </a:p>
          <a:p>
            <a:pPr marL="0" indent="0" algn="just" fontAlgn="base">
              <a:buNone/>
            </a:pPr>
            <a:r>
              <a:rPr lang="en-US" b="1" dirty="0" smtClean="0"/>
              <a:t>1) Insertion in a Priority Queue</a:t>
            </a:r>
            <a:endParaRPr lang="en-US" dirty="0"/>
          </a:p>
          <a:p>
            <a:pPr marL="0" indent="0" algn="just" fontAlgn="base">
              <a:buNone/>
            </a:pPr>
            <a:r>
              <a:rPr lang="en-US" b="1" dirty="0"/>
              <a:t>2) Deletion in a Priority Queue  </a:t>
            </a:r>
            <a:endParaRPr lang="en-US" b="1" dirty="0" smtClean="0"/>
          </a:p>
          <a:p>
            <a:pPr marL="0" indent="0" algn="just" fontAlgn="base">
              <a:buNone/>
            </a:pPr>
            <a:r>
              <a:rPr lang="en-US" b="1" dirty="0"/>
              <a:t>3) Peek in a Priority Queue</a:t>
            </a:r>
          </a:p>
          <a:p>
            <a:pPr marL="0" indent="0" algn="just" fontAlgn="base">
              <a:buNone/>
            </a:pPr>
            <a:endParaRPr lang="en-US" b="1" dirty="0"/>
          </a:p>
        </p:txBody>
      </p:sp>
    </p:spTree>
    <p:extLst>
      <p:ext uri="{BB962C8B-B14F-4D97-AF65-F5344CB8AC3E}">
        <p14:creationId xmlns:p14="http://schemas.microsoft.com/office/powerpoint/2010/main" val="86147144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Difference between Priority Queue and Normal Queue?</a:t>
            </a:r>
            <a:br>
              <a:rPr lang="en-US" b="1" dirty="0"/>
            </a:br>
            <a:endParaRPr lang="en-US" dirty="0"/>
          </a:p>
        </p:txBody>
      </p:sp>
      <p:sp>
        <p:nvSpPr>
          <p:cNvPr id="3" name="Content Placeholder 2"/>
          <p:cNvSpPr>
            <a:spLocks noGrp="1"/>
          </p:cNvSpPr>
          <p:nvPr>
            <p:ph idx="1"/>
          </p:nvPr>
        </p:nvSpPr>
        <p:spPr/>
        <p:txBody>
          <a:bodyPr/>
          <a:lstStyle/>
          <a:p>
            <a:pPr fontAlgn="base"/>
            <a:r>
              <a:rPr lang="en-US" dirty="0" smtClean="0"/>
              <a:t>There </a:t>
            </a:r>
            <a:r>
              <a:rPr lang="en-US" dirty="0"/>
              <a:t>is no priority attached to elements in a queue, the rule of first-in-first-out(FIFO) is implemented whereas, in a priority queue, the elements have a priority. The elements with higher priority are served first.</a:t>
            </a:r>
          </a:p>
          <a:p>
            <a:endParaRPr lang="en-US" dirty="0"/>
          </a:p>
        </p:txBody>
      </p:sp>
    </p:spTree>
    <p:extLst>
      <p:ext uri="{BB962C8B-B14F-4D97-AF65-F5344CB8AC3E}">
        <p14:creationId xmlns:p14="http://schemas.microsoft.com/office/powerpoint/2010/main" val="27179097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cap="none" dirty="0">
                <a:solidFill>
                  <a:srgbClr val="273239"/>
                </a:solidFill>
                <a:latin typeface="Times New Roman" panose="02020603050405020304" pitchFamily="18" charset="0"/>
                <a:cs typeface="Times New Roman" panose="02020603050405020304" pitchFamily="18" charset="0"/>
              </a:rPr>
              <a:t>Implement Priority Queue Using Array:</a:t>
            </a:r>
            <a:r>
              <a:rPr lang="en-US" altLang="en-US" b="1" i="1" cap="none" dirty="0">
                <a:solidFill>
                  <a:srgbClr val="273239"/>
                </a:solidFill>
                <a:latin typeface="Times New Roman" panose="02020603050405020304" pitchFamily="18" charset="0"/>
                <a:cs typeface="Times New Roman" panose="02020603050405020304" pitchFamily="18" charset="0"/>
              </a:rPr>
              <a:t> </a:t>
            </a:r>
            <a:r>
              <a:rPr lang="en-US" altLang="en-US" b="1" cap="none" dirty="0">
                <a:solidFill>
                  <a:srgbClr val="273239"/>
                </a:solidFill>
                <a:latin typeface="Times New Roman" panose="02020603050405020304" pitchFamily="18" charset="0"/>
                <a:cs typeface="Times New Roman" panose="02020603050405020304" pitchFamily="18" charset="0"/>
              </a:rPr>
              <a:t/>
            </a:r>
            <a:br>
              <a:rPr lang="en-US" altLang="en-US" b="1" cap="none" dirty="0">
                <a:solidFill>
                  <a:srgbClr val="273239"/>
                </a:solidFill>
                <a:latin typeface="Times New Roman" panose="02020603050405020304" pitchFamily="18" charset="0"/>
                <a:cs typeface="Times New Roman" panose="02020603050405020304" pitchFamily="18" charset="0"/>
              </a:rPr>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49821521"/>
              </p:ext>
            </p:extLst>
          </p:nvPr>
        </p:nvGraphicFramePr>
        <p:xfrm>
          <a:off x="1444009" y="4998438"/>
          <a:ext cx="10179051" cy="708660"/>
        </p:xfrm>
        <a:graphic>
          <a:graphicData uri="http://schemas.openxmlformats.org/drawingml/2006/table">
            <a:tbl>
              <a:tblPr/>
              <a:tblGrid>
                <a:gridCol w="1850736">
                  <a:extLst>
                    <a:ext uri="{9D8B030D-6E8A-4147-A177-3AD203B41FA5}">
                      <a16:colId xmlns:a16="http://schemas.microsoft.com/office/drawing/2014/main" val="78375800"/>
                    </a:ext>
                  </a:extLst>
                </a:gridCol>
                <a:gridCol w="2776105">
                  <a:extLst>
                    <a:ext uri="{9D8B030D-6E8A-4147-A177-3AD203B41FA5}">
                      <a16:colId xmlns:a16="http://schemas.microsoft.com/office/drawing/2014/main" val="3252631774"/>
                    </a:ext>
                  </a:extLst>
                </a:gridCol>
                <a:gridCol w="2776105">
                  <a:extLst>
                    <a:ext uri="{9D8B030D-6E8A-4147-A177-3AD203B41FA5}">
                      <a16:colId xmlns:a16="http://schemas.microsoft.com/office/drawing/2014/main" val="2105447396"/>
                    </a:ext>
                  </a:extLst>
                </a:gridCol>
                <a:gridCol w="2776105">
                  <a:extLst>
                    <a:ext uri="{9D8B030D-6E8A-4147-A177-3AD203B41FA5}">
                      <a16:colId xmlns:a16="http://schemas.microsoft.com/office/drawing/2014/main" val="1769863945"/>
                    </a:ext>
                  </a:extLst>
                </a:gridCol>
              </a:tblGrid>
              <a:tr h="0">
                <a:tc>
                  <a:txBody>
                    <a:bodyPr/>
                    <a:lstStyle/>
                    <a:p>
                      <a:pPr algn="ctr" fontAlgn="base"/>
                      <a:r>
                        <a:rPr lang="en-US" sz="1400" b="1">
                          <a:effectLst/>
                        </a:rPr>
                        <a:t>Arrays</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400" b="1" dirty="0" err="1">
                          <a:effectLst/>
                        </a:rPr>
                        <a:t>enqueue</a:t>
                      </a:r>
                      <a:r>
                        <a:rPr lang="en-US" sz="1400" b="1" dirty="0">
                          <a:effectLst/>
                        </a:rPr>
                        <a:t>()</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400" b="1">
                          <a:effectLst/>
                        </a:rPr>
                        <a:t>dequeue()</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400" b="1">
                          <a:effectLst/>
                        </a:rPr>
                        <a:t>peek()</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3401866881"/>
                  </a:ext>
                </a:extLst>
              </a:tr>
              <a:tr h="0">
                <a:tc>
                  <a:txBody>
                    <a:bodyPr/>
                    <a:lstStyle/>
                    <a:p>
                      <a:pPr algn="ctr" fontAlgn="base"/>
                      <a:r>
                        <a:rPr lang="en-US" b="1">
                          <a:effectLst/>
                        </a:rPr>
                        <a:t>Time Complexity</a:t>
                      </a:r>
                    </a:p>
                  </a:txBody>
                  <a:tcPr marL="38100" marR="38100" marT="28016" marB="28016"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250" b="0">
                          <a:effectLst/>
                        </a:rPr>
                        <a:t>O(1)</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250" b="0">
                          <a:effectLst/>
                        </a:rPr>
                        <a:t>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250" b="0" dirty="0">
                          <a:effectLst/>
                        </a:rPr>
                        <a:t>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4193873418"/>
                  </a:ext>
                </a:extLst>
              </a:tr>
            </a:tbl>
          </a:graphicData>
        </a:graphic>
      </p:graphicFrame>
      <p:sp>
        <p:nvSpPr>
          <p:cNvPr id="5" name="Rectangle 1"/>
          <p:cNvSpPr>
            <a:spLocks noChangeArrowheads="1"/>
          </p:cNvSpPr>
          <p:nvPr/>
        </p:nvSpPr>
        <p:spPr bwMode="auto">
          <a:xfrm>
            <a:off x="960745" y="1899243"/>
            <a:ext cx="10575310" cy="27699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A simple implementation is to use an array of the following structure. </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struct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item {</a:t>
            </a:r>
            <a:b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item;</a:t>
            </a:r>
            <a:b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priority;</a:t>
            </a:r>
            <a:b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smtClean="0">
                <a:ln>
                  <a:noFill/>
                </a:ln>
                <a:solidFill>
                  <a:srgbClr val="273239"/>
                </a:solidFill>
                <a:effectLst/>
                <a:latin typeface="Times New Roman" panose="02020603050405020304" pitchFamily="18" charset="0"/>
                <a:cs typeface="Times New Roman" panose="02020603050405020304" pitchFamily="18" charset="0"/>
              </a:rPr>
              <a:t>enqueue</a:t>
            </a:r>
            <a:r>
              <a:rPr kumimoji="0" lang="en-US" altLang="en-US"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 This function is used to insert new data into the queue.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smtClean="0">
                <a:ln>
                  <a:noFill/>
                </a:ln>
                <a:solidFill>
                  <a:srgbClr val="273239"/>
                </a:solidFill>
                <a:effectLst/>
                <a:latin typeface="Times New Roman" panose="02020603050405020304" pitchFamily="18" charset="0"/>
                <a:cs typeface="Times New Roman" panose="02020603050405020304" pitchFamily="18" charset="0"/>
              </a:rPr>
              <a:t>dequeue</a:t>
            </a:r>
            <a:r>
              <a:rPr kumimoji="0" lang="en-US" altLang="en-US"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a:t>
            </a:r>
            <a:r>
              <a:rPr kumimoji="0" lang="en-US" altLang="en-US"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 This function removes the element with the highest priority from the queue.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peek()/top():</a:t>
            </a:r>
            <a:r>
              <a:rPr kumimoji="0" lang="en-US" altLang="en-US"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 This function is used to get the highest priority element in the queue without removing it from the queue.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624457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5400" b="1" cap="none" dirty="0">
                <a:solidFill>
                  <a:srgbClr val="273239"/>
                </a:solidFill>
                <a:latin typeface="Times New Roman" panose="02020603050405020304" pitchFamily="18" charset="0"/>
                <a:cs typeface="Times New Roman" panose="02020603050405020304" pitchFamily="18" charset="0"/>
              </a:rPr>
              <a:t>Implement Priority Queue Using Linked List: </a:t>
            </a:r>
            <a:br>
              <a:rPr lang="en-US" altLang="en-US" sz="5400" b="1" cap="none" dirty="0">
                <a:solidFill>
                  <a:srgbClr val="273239"/>
                </a:solidFill>
                <a:latin typeface="Times New Roman" panose="02020603050405020304" pitchFamily="18" charset="0"/>
                <a:cs typeface="Times New Roman" panose="02020603050405020304" pitchFamily="18" charset="0"/>
              </a:rPr>
            </a:br>
            <a:endParaRPr lang="en-US" dirty="0"/>
          </a:p>
        </p:txBody>
      </p:sp>
      <p:graphicFrame>
        <p:nvGraphicFramePr>
          <p:cNvPr id="4" name="Content Placeholder 3"/>
          <p:cNvGraphicFramePr>
            <a:graphicFrameLocks noGrp="1"/>
          </p:cNvGraphicFramePr>
          <p:nvPr>
            <p:ph idx="1"/>
          </p:nvPr>
        </p:nvGraphicFramePr>
        <p:xfrm>
          <a:off x="1158874" y="3661251"/>
          <a:ext cx="10179051" cy="708660"/>
        </p:xfrm>
        <a:graphic>
          <a:graphicData uri="http://schemas.openxmlformats.org/drawingml/2006/table">
            <a:tbl>
              <a:tblPr/>
              <a:tblGrid>
                <a:gridCol w="1850736">
                  <a:extLst>
                    <a:ext uri="{9D8B030D-6E8A-4147-A177-3AD203B41FA5}">
                      <a16:colId xmlns:a16="http://schemas.microsoft.com/office/drawing/2014/main" val="1936895927"/>
                    </a:ext>
                  </a:extLst>
                </a:gridCol>
                <a:gridCol w="2776105">
                  <a:extLst>
                    <a:ext uri="{9D8B030D-6E8A-4147-A177-3AD203B41FA5}">
                      <a16:colId xmlns:a16="http://schemas.microsoft.com/office/drawing/2014/main" val="2671378937"/>
                    </a:ext>
                  </a:extLst>
                </a:gridCol>
                <a:gridCol w="2776105">
                  <a:extLst>
                    <a:ext uri="{9D8B030D-6E8A-4147-A177-3AD203B41FA5}">
                      <a16:colId xmlns:a16="http://schemas.microsoft.com/office/drawing/2014/main" val="1082656068"/>
                    </a:ext>
                  </a:extLst>
                </a:gridCol>
                <a:gridCol w="2776105">
                  <a:extLst>
                    <a:ext uri="{9D8B030D-6E8A-4147-A177-3AD203B41FA5}">
                      <a16:colId xmlns:a16="http://schemas.microsoft.com/office/drawing/2014/main" val="2037744507"/>
                    </a:ext>
                  </a:extLst>
                </a:gridCol>
              </a:tblGrid>
              <a:tr h="0">
                <a:tc>
                  <a:txBody>
                    <a:bodyPr/>
                    <a:lstStyle/>
                    <a:p>
                      <a:pPr algn="ctr" fontAlgn="base"/>
                      <a:r>
                        <a:rPr lang="en-US" sz="1400" b="1">
                          <a:effectLst/>
                        </a:rPr>
                        <a:t>Linked List</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400" b="1">
                          <a:effectLst/>
                        </a:rPr>
                        <a:t>push()</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400" b="1">
                          <a:effectLst/>
                        </a:rPr>
                        <a:t>pop()</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400" b="1">
                          <a:effectLst/>
                        </a:rPr>
                        <a:t>peek()</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2687805225"/>
                  </a:ext>
                </a:extLst>
              </a:tr>
              <a:tr h="0">
                <a:tc>
                  <a:txBody>
                    <a:bodyPr/>
                    <a:lstStyle/>
                    <a:p>
                      <a:pPr algn="ctr" fontAlgn="base"/>
                      <a:r>
                        <a:rPr lang="en-US" b="1">
                          <a:effectLst/>
                        </a:rPr>
                        <a:t>Time Complexity</a:t>
                      </a:r>
                    </a:p>
                  </a:txBody>
                  <a:tcPr marL="38100" marR="38100" marT="23330" marB="2333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250" b="0">
                          <a:effectLst/>
                        </a:rPr>
                        <a:t> O(n)   </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250" b="0">
                          <a:effectLst/>
                        </a:rPr>
                        <a:t> O(1)  </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250" b="0" dirty="0">
                          <a:effectLst/>
                        </a:rPr>
                        <a:t>O(1)</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3545791181"/>
                  </a:ext>
                </a:extLst>
              </a:tr>
            </a:tbl>
          </a:graphicData>
        </a:graphic>
      </p:graphicFrame>
      <p:sp>
        <p:nvSpPr>
          <p:cNvPr id="5" name="Rectangle 1"/>
          <p:cNvSpPr>
            <a:spLocks noChangeArrowheads="1"/>
          </p:cNvSpPr>
          <p:nvPr/>
        </p:nvSpPr>
        <p:spPr bwMode="auto">
          <a:xfrm>
            <a:off x="914094" y="1814591"/>
            <a:ext cx="10510684" cy="17235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In a Linked List implementation, the entries are sorted in descending order based on their priority. The highest priority element is always added to the front of the priority queue, which is formed using linked lists. The functions like </a:t>
            </a:r>
            <a:r>
              <a:rPr kumimoji="0" lang="en-US" altLang="en-US" sz="1600"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push()</a:t>
            </a:r>
            <a:r>
              <a:rPr kumimoji="0" lang="en-US" altLang="en-US" sz="16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pop()</a:t>
            </a:r>
            <a:r>
              <a:rPr kumimoji="0" lang="en-US" altLang="en-US" sz="16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 and</a:t>
            </a:r>
            <a:r>
              <a:rPr kumimoji="0" lang="en-US" altLang="en-US" sz="1600"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 peek()</a:t>
            </a:r>
            <a:r>
              <a:rPr kumimoji="0" lang="en-US" altLang="en-US" sz="16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 are used to implement a priority queue using a linked list and are explained as follows:</a:t>
            </a:r>
            <a:endPar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push(): </a:t>
            </a:r>
            <a:r>
              <a:rPr kumimoji="0" lang="en-US" altLang="en-US" sz="16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This function is used to insert new data into the queue.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pop(): </a:t>
            </a:r>
            <a:r>
              <a:rPr kumimoji="0" lang="en-US" altLang="en-US" sz="16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This function removes the element with the highest priority from the queue.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peek() / top(): </a:t>
            </a:r>
            <a:r>
              <a:rPr kumimoji="0" lang="en-US" altLang="en-US" sz="16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This function is used to get the highest priority element in the queue without removing it from the queue.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49053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5400" b="1" cap="none" dirty="0">
                <a:solidFill>
                  <a:srgbClr val="273239"/>
                </a:solidFill>
                <a:latin typeface="Nunito"/>
              </a:rPr>
              <a:t>Implement Priority Queue Using Heaps: </a:t>
            </a:r>
            <a:br>
              <a:rPr lang="en-US" altLang="en-US" sz="5400" b="1" cap="none" dirty="0">
                <a:solidFill>
                  <a:srgbClr val="273239"/>
                </a:solidFill>
                <a:latin typeface="Nunito"/>
              </a:rPr>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47074675"/>
              </p:ext>
            </p:extLst>
          </p:nvPr>
        </p:nvGraphicFramePr>
        <p:xfrm>
          <a:off x="1081548" y="5137626"/>
          <a:ext cx="10179051" cy="708660"/>
        </p:xfrm>
        <a:graphic>
          <a:graphicData uri="http://schemas.openxmlformats.org/drawingml/2006/table">
            <a:tbl>
              <a:tblPr/>
              <a:tblGrid>
                <a:gridCol w="1850736">
                  <a:extLst>
                    <a:ext uri="{9D8B030D-6E8A-4147-A177-3AD203B41FA5}">
                      <a16:colId xmlns:a16="http://schemas.microsoft.com/office/drawing/2014/main" val="2948258875"/>
                    </a:ext>
                  </a:extLst>
                </a:gridCol>
                <a:gridCol w="2776105">
                  <a:extLst>
                    <a:ext uri="{9D8B030D-6E8A-4147-A177-3AD203B41FA5}">
                      <a16:colId xmlns:a16="http://schemas.microsoft.com/office/drawing/2014/main" val="3794313267"/>
                    </a:ext>
                  </a:extLst>
                </a:gridCol>
                <a:gridCol w="2776105">
                  <a:extLst>
                    <a:ext uri="{9D8B030D-6E8A-4147-A177-3AD203B41FA5}">
                      <a16:colId xmlns:a16="http://schemas.microsoft.com/office/drawing/2014/main" val="3879768638"/>
                    </a:ext>
                  </a:extLst>
                </a:gridCol>
                <a:gridCol w="2776105">
                  <a:extLst>
                    <a:ext uri="{9D8B030D-6E8A-4147-A177-3AD203B41FA5}">
                      <a16:colId xmlns:a16="http://schemas.microsoft.com/office/drawing/2014/main" val="1733893540"/>
                    </a:ext>
                  </a:extLst>
                </a:gridCol>
              </a:tblGrid>
              <a:tr h="0">
                <a:tc>
                  <a:txBody>
                    <a:bodyPr/>
                    <a:lstStyle/>
                    <a:p>
                      <a:pPr algn="ctr" fontAlgn="base"/>
                      <a:r>
                        <a:rPr lang="en-US" sz="1400" b="1">
                          <a:effectLst/>
                        </a:rPr>
                        <a:t>Binary Heap</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400" b="1">
                          <a:effectLst/>
                        </a:rPr>
                        <a:t>insert()</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400" b="1">
                          <a:effectLst/>
                        </a:rPr>
                        <a:t>remove()</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400" b="1">
                          <a:effectLst/>
                        </a:rPr>
                        <a:t>peek()</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3138047300"/>
                  </a:ext>
                </a:extLst>
              </a:tr>
              <a:tr h="0">
                <a:tc>
                  <a:txBody>
                    <a:bodyPr/>
                    <a:lstStyle/>
                    <a:p>
                      <a:pPr algn="ctr" fontAlgn="base"/>
                      <a:r>
                        <a:rPr lang="en-US" b="1">
                          <a:effectLst/>
                        </a:rPr>
                        <a:t>Time Complexity</a:t>
                      </a:r>
                    </a:p>
                  </a:txBody>
                  <a:tcPr marL="38100" marR="38100" marT="25794" marB="25794"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250" b="0" dirty="0">
                          <a:effectLst/>
                        </a:rPr>
                        <a:t>O(log 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250" b="0">
                          <a:effectLst/>
                        </a:rPr>
                        <a:t>O(log 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tc>
                  <a:txBody>
                    <a:bodyPr/>
                    <a:lstStyle/>
                    <a:p>
                      <a:pPr algn="ctr" fontAlgn="base"/>
                      <a:r>
                        <a:rPr lang="en-US" sz="1250" b="0" dirty="0">
                          <a:effectLst/>
                        </a:rPr>
                        <a:t>O(1)</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1733087765"/>
                  </a:ext>
                </a:extLst>
              </a:tr>
            </a:tbl>
          </a:graphicData>
        </a:graphic>
      </p:graphicFrame>
      <p:sp>
        <p:nvSpPr>
          <p:cNvPr id="5" name="Rectangle 1"/>
          <p:cNvSpPr>
            <a:spLocks noChangeArrowheads="1"/>
          </p:cNvSpPr>
          <p:nvPr/>
        </p:nvSpPr>
        <p:spPr bwMode="auto">
          <a:xfrm>
            <a:off x="1081548" y="1840641"/>
            <a:ext cx="10500852" cy="24314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Binary Heap is generally preferred for priority queue implementation because heaps provide better performance compared to arrays or </a:t>
            </a:r>
            <a:r>
              <a:rPr kumimoji="0" lang="en-US" altLang="en-US" sz="1400" b="0" i="0" u="none" strike="noStrike" cap="none" normalizeH="0" baseline="0" dirty="0" err="1" smtClean="0">
                <a:ln>
                  <a:noFill/>
                </a:ln>
                <a:solidFill>
                  <a:srgbClr val="273239"/>
                </a:solidFill>
                <a:effectLst/>
                <a:latin typeface="Times New Roman" panose="02020603050405020304" pitchFamily="18" charset="0"/>
                <a:cs typeface="Times New Roman" panose="02020603050405020304" pitchFamily="18" charset="0"/>
              </a:rPr>
              <a:t>LinkedList</a:t>
            </a:r>
            <a:r>
              <a:rPr kumimoji="0" lang="en-US" altLang="en-US" sz="14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 Considering </a:t>
            </a:r>
            <a:r>
              <a:rPr kumimoji="0" lang="en-US" altLang="en-US" sz="1400" b="0" i="0" u="none" strike="noStrike" cap="none" normalizeH="0" dirty="0" smtClean="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the properties of a heap, The entry with the largest key is on the top and can be removed immediately. It will, however, take time O(log n) to restore the heap</a:t>
            </a:r>
            <a:r>
              <a:rPr kumimoji="0" lang="en-US" altLang="en-US" sz="1400" b="0" i="0" u="none" strike="noStrike" cap="none" normalizeH="0" dirty="0" smtClean="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property for the remaining keys. However if another entry is to be inserted immediately, then some of this time may be combined with the O(log n) time needed to insert the new entry. Thus the representation of a priority queue as a heap proves advantageous for large n, since it is represented efficiently in contiguous storage and is guaranteed to require only logarithmic time for both insertions and deletions.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273239"/>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Operations on Binary Heap are as follows: </a:t>
            </a:r>
            <a:endPar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b="1" dirty="0">
                <a:solidFill>
                  <a:srgbClr val="273239"/>
                </a:solidFill>
                <a:latin typeface="Times New Roman" panose="02020603050405020304" pitchFamily="18" charset="0"/>
                <a:cs typeface="Times New Roman" panose="02020603050405020304" pitchFamily="18" charset="0"/>
              </a:rPr>
              <a:t>I</a:t>
            </a:r>
            <a:r>
              <a:rPr kumimoji="0" lang="en-US" altLang="en-US" sz="1400"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nsert(p):</a:t>
            </a:r>
            <a:r>
              <a:rPr kumimoji="0" lang="en-US" altLang="en-US" sz="14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 Inserts a new element with priority 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rgbClr val="273239"/>
                </a:solidFill>
                <a:effectLst/>
                <a:latin typeface="Times New Roman" panose="02020603050405020304" pitchFamily="18" charset="0"/>
                <a:cs typeface="Times New Roman" panose="02020603050405020304" pitchFamily="18" charset="0"/>
              </a:rPr>
              <a:t>extractMax</a:t>
            </a:r>
            <a:r>
              <a:rPr kumimoji="0" lang="en-US" altLang="en-US" sz="1400"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 Extracts an element with maximum priority.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smtClean="0">
                <a:ln>
                  <a:noFill/>
                </a:ln>
                <a:solidFill>
                  <a:srgbClr val="273239"/>
                </a:solidFill>
                <a:effectLst/>
                <a:latin typeface="Times New Roman" panose="02020603050405020304" pitchFamily="18" charset="0"/>
                <a:cs typeface="Times New Roman" panose="02020603050405020304" pitchFamily="18" charset="0"/>
              </a:rPr>
              <a:t>getMax</a:t>
            </a:r>
            <a:r>
              <a:rPr kumimoji="0" lang="en-US" altLang="en-US" sz="1400" b="1"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smtClean="0">
                <a:ln>
                  <a:noFill/>
                </a:ln>
                <a:solidFill>
                  <a:srgbClr val="273239"/>
                </a:solidFill>
                <a:effectLst/>
                <a:latin typeface="Times New Roman" panose="02020603050405020304" pitchFamily="18" charset="0"/>
                <a:cs typeface="Times New Roman" panose="02020603050405020304" pitchFamily="18" charset="0"/>
              </a:rPr>
              <a:t> Returns an element with maximum priority.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659784081"/>
              </p:ext>
            </p:extLst>
          </p:nvPr>
        </p:nvGraphicFramePr>
        <p:xfrm>
          <a:off x="3590925" y="6097588"/>
          <a:ext cx="1085850" cy="527050"/>
        </p:xfrm>
        <a:graphic>
          <a:graphicData uri="http://schemas.openxmlformats.org/presentationml/2006/ole">
            <mc:AlternateContent xmlns:mc="http://schemas.openxmlformats.org/markup-compatibility/2006">
              <mc:Choice xmlns:v="urn:schemas-microsoft-com:vml" Requires="v">
                <p:oleObj spid="_x0000_s11267" name="Packager Shell Object" showAsIcon="1" r:id="rId3" imgW="1085838" imgH="526962" progId="Package">
                  <p:embed/>
                </p:oleObj>
              </mc:Choice>
              <mc:Fallback>
                <p:oleObj name="Packager Shell Object" showAsIcon="1" r:id="rId3" imgW="1085838" imgH="526962" progId="Package">
                  <p:embed/>
                  <p:pic>
                    <p:nvPicPr>
                      <p:cNvPr id="0" name=""/>
                      <p:cNvPicPr/>
                      <p:nvPr/>
                    </p:nvPicPr>
                    <p:blipFill>
                      <a:blip r:embed="rId4"/>
                      <a:stretch>
                        <a:fillRect/>
                      </a:stretch>
                    </p:blipFill>
                    <p:spPr>
                      <a:xfrm>
                        <a:off x="3590925" y="6097588"/>
                        <a:ext cx="1085850" cy="527050"/>
                      </a:xfrm>
                      <a:prstGeom prst="rect">
                        <a:avLst/>
                      </a:prstGeom>
                    </p:spPr>
                  </p:pic>
                </p:oleObj>
              </mc:Fallback>
            </mc:AlternateContent>
          </a:graphicData>
        </a:graphic>
      </p:graphicFrame>
    </p:spTree>
    <p:extLst>
      <p:ext uri="{BB962C8B-B14F-4D97-AF65-F5344CB8AC3E}">
        <p14:creationId xmlns:p14="http://schemas.microsoft.com/office/powerpoint/2010/main" val="229289865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a:t>
            </a:r>
            <a:endParaRPr lang="en-US" dirty="0"/>
          </a:p>
        </p:txBody>
      </p:sp>
      <p:sp>
        <p:nvSpPr>
          <p:cNvPr id="3" name="Content Placeholder 2"/>
          <p:cNvSpPr>
            <a:spLocks noGrp="1"/>
          </p:cNvSpPr>
          <p:nvPr>
            <p:ph sz="quarter" idx="1"/>
          </p:nvPr>
        </p:nvSpPr>
        <p:spPr/>
        <p:txBody>
          <a:bodyPr/>
          <a:lstStyle/>
          <a:p>
            <a:r>
              <a:rPr lang="en-US" dirty="0" smtClean="0"/>
              <a:t>Heap is a complete binary tree.</a:t>
            </a:r>
          </a:p>
          <a:p>
            <a:r>
              <a:rPr lang="en-US" dirty="0" smtClean="0"/>
              <a:t>Parent will be greater than their child.</a:t>
            </a:r>
          </a:p>
          <a:p>
            <a:r>
              <a:rPr lang="en-US" dirty="0" smtClean="0"/>
              <a:t>In max heap, maximum element is at the root</a:t>
            </a:r>
          </a:p>
          <a:p>
            <a:r>
              <a:rPr lang="en-US" dirty="0"/>
              <a:t>In </a:t>
            </a:r>
            <a:r>
              <a:rPr lang="en-US" dirty="0" smtClean="0"/>
              <a:t>min </a:t>
            </a:r>
            <a:r>
              <a:rPr lang="en-US" dirty="0"/>
              <a:t>heap, </a:t>
            </a:r>
            <a:r>
              <a:rPr lang="en-US" dirty="0" smtClean="0"/>
              <a:t>minimum </a:t>
            </a:r>
            <a:r>
              <a:rPr lang="en-US" dirty="0"/>
              <a:t>element is at the </a:t>
            </a:r>
            <a:r>
              <a:rPr lang="en-US" dirty="0" smtClean="0"/>
              <a:t>root</a:t>
            </a:r>
          </a:p>
          <a:p>
            <a:endParaRPr lang="en-US" dirty="0"/>
          </a:p>
          <a:p>
            <a:endParaRPr lang="en-US" dirty="0" smtClean="0"/>
          </a:p>
          <a:p>
            <a:pPr marL="0" indent="0">
              <a:buNone/>
            </a:pPr>
            <a:r>
              <a:rPr lang="en-US" dirty="0" smtClean="0"/>
              <a:t>* Detailed discussion on Heaps will be </a:t>
            </a:r>
            <a:r>
              <a:rPr lang="en-US" smtClean="0"/>
              <a:t>in Unit 4</a:t>
            </a:r>
            <a:endParaRPr lang="en-US" dirty="0"/>
          </a:p>
          <a:p>
            <a:endParaRPr lang="en-US" dirty="0" smtClean="0"/>
          </a:p>
          <a:p>
            <a:endParaRPr lang="en-US" dirty="0"/>
          </a:p>
        </p:txBody>
      </p:sp>
    </p:spTree>
    <p:extLst>
      <p:ext uri="{BB962C8B-B14F-4D97-AF65-F5344CB8AC3E}">
        <p14:creationId xmlns:p14="http://schemas.microsoft.com/office/powerpoint/2010/main" val="375608073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Gate 2009</a:t>
            </a:r>
            <a:endParaRPr lang="en-US" dirty="0"/>
          </a:p>
        </p:txBody>
      </p:sp>
      <p:pic>
        <p:nvPicPr>
          <p:cNvPr id="4" name="Content Placeholder 3"/>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2514601" y="1371600"/>
            <a:ext cx="7238999" cy="5029200"/>
          </a:xfrm>
        </p:spPr>
      </p:pic>
    </p:spTree>
    <p:extLst>
      <p:ext uri="{BB962C8B-B14F-4D97-AF65-F5344CB8AC3E}">
        <p14:creationId xmlns:p14="http://schemas.microsoft.com/office/powerpoint/2010/main" val="106938715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Implement Stack Using 2 Queues</a:t>
            </a:r>
            <a:endParaRPr lang="en-US" dirty="0"/>
          </a:p>
        </p:txBody>
      </p:sp>
      <p:sp>
        <p:nvSpPr>
          <p:cNvPr id="3" name="Content Placeholder 2"/>
          <p:cNvSpPr>
            <a:spLocks noGrp="1"/>
          </p:cNvSpPr>
          <p:nvPr>
            <p:ph idx="1"/>
          </p:nvPr>
        </p:nvSpPr>
        <p:spPr/>
        <p:txBody>
          <a:bodyPr/>
          <a:lstStyle/>
          <a:p>
            <a:r>
              <a:rPr lang="en-US" dirty="0" smtClean="0"/>
              <a:t>Push (x)</a:t>
            </a:r>
          </a:p>
          <a:p>
            <a:r>
              <a:rPr lang="en-US" dirty="0" smtClean="0">
                <a:sym typeface="Wingdings" panose="05000000000000000000" pitchFamily="2" charset="2"/>
              </a:rPr>
              <a:t> </a:t>
            </a:r>
            <a:r>
              <a:rPr lang="en-US" dirty="0" err="1" smtClean="0">
                <a:sym typeface="Wingdings" panose="05000000000000000000" pitchFamily="2" charset="2"/>
              </a:rPr>
              <a:t>enqueue</a:t>
            </a:r>
            <a:r>
              <a:rPr lang="en-US" dirty="0" smtClean="0">
                <a:sym typeface="Wingdings" panose="05000000000000000000" pitchFamily="2" charset="2"/>
              </a:rPr>
              <a:t> x to Q2</a:t>
            </a:r>
          </a:p>
          <a:p>
            <a:r>
              <a:rPr lang="en-US" dirty="0" smtClean="0">
                <a:sym typeface="Wingdings" panose="05000000000000000000" pitchFamily="2" charset="2"/>
              </a:rPr>
              <a:t> Copy element by element from Q1 to Q2</a:t>
            </a:r>
          </a:p>
          <a:p>
            <a:r>
              <a:rPr lang="en-US" dirty="0" smtClean="0">
                <a:sym typeface="Wingdings" panose="05000000000000000000" pitchFamily="2" charset="2"/>
              </a:rPr>
              <a:t> </a:t>
            </a:r>
            <a:r>
              <a:rPr lang="en-US" dirty="0" err="1" smtClean="0">
                <a:sym typeface="Wingdings" panose="05000000000000000000" pitchFamily="2" charset="2"/>
              </a:rPr>
              <a:t>enqueue</a:t>
            </a:r>
            <a:r>
              <a:rPr lang="en-US" dirty="0" smtClean="0">
                <a:sym typeface="Wingdings" panose="05000000000000000000" pitchFamily="2" charset="2"/>
              </a:rPr>
              <a:t> Q2Q1</a:t>
            </a:r>
            <a:endParaRPr lang="en-US" dirty="0">
              <a:sym typeface="Wingdings" panose="05000000000000000000" pitchFamily="2" charset="2"/>
            </a:endParaRPr>
          </a:p>
          <a:p>
            <a:pPr marL="0" indent="0">
              <a:buNone/>
            </a:pPr>
            <a:r>
              <a:rPr lang="en-US" dirty="0" smtClean="0">
                <a:sym typeface="Wingdings" panose="05000000000000000000" pitchFamily="2" charset="2"/>
              </a:rPr>
              <a:t>Time: O(n)</a:t>
            </a:r>
          </a:p>
          <a:p>
            <a:endParaRPr lang="en-US" dirty="0">
              <a:sym typeface="Wingdings" panose="05000000000000000000" pitchFamily="2" charset="2"/>
            </a:endParaRPr>
          </a:p>
          <a:p>
            <a:r>
              <a:rPr lang="en-US" dirty="0" smtClean="0">
                <a:sym typeface="Wingdings" panose="05000000000000000000" pitchFamily="2" charset="2"/>
              </a:rPr>
              <a:t>Pop</a:t>
            </a:r>
          </a:p>
          <a:p>
            <a:r>
              <a:rPr lang="en-US" dirty="0" smtClean="0">
                <a:sym typeface="Wingdings" panose="05000000000000000000" pitchFamily="2" charset="2"/>
              </a:rPr>
              <a:t> Remove the top from Q1</a:t>
            </a:r>
          </a:p>
          <a:p>
            <a:endParaRPr lang="en-US" dirty="0">
              <a:sym typeface="Wingdings" panose="05000000000000000000" pitchFamily="2" charset="2"/>
            </a:endParaRPr>
          </a:p>
          <a:p>
            <a:pPr marL="0" indent="0">
              <a:buNone/>
            </a:pPr>
            <a:r>
              <a:rPr lang="en-US" dirty="0" smtClean="0">
                <a:sym typeface="Wingdings" panose="05000000000000000000" pitchFamily="2" charset="2"/>
              </a:rPr>
              <a:t>Time: O(1)</a:t>
            </a:r>
          </a:p>
          <a:p>
            <a:pPr marL="0" indent="0">
              <a:buNone/>
            </a:pPr>
            <a:endParaRPr lang="en-US" dirty="0">
              <a:sym typeface="Wingdings" panose="05000000000000000000" pitchFamily="2" charset="2"/>
            </a:endParaRPr>
          </a:p>
          <a:p>
            <a:pPr marL="0" indent="0">
              <a:buNone/>
            </a:pPr>
            <a:endParaRPr lang="en-US" dirty="0" smtClean="0">
              <a:sym typeface="Wingdings" panose="05000000000000000000" pitchFamily="2" charset="2"/>
            </a:endParaRPr>
          </a:p>
          <a:p>
            <a:pPr marL="0" indent="0">
              <a:buNone/>
            </a:pPr>
            <a:r>
              <a:rPr lang="en-US" dirty="0" smtClean="0">
                <a:sym typeface="Wingdings" panose="05000000000000000000" pitchFamily="2" charset="2"/>
              </a:rPr>
              <a:t>Space complexity overall: O(n)</a:t>
            </a:r>
          </a:p>
        </p:txBody>
      </p:sp>
    </p:spTree>
    <p:extLst>
      <p:ext uri="{BB962C8B-B14F-4D97-AF65-F5344CB8AC3E}">
        <p14:creationId xmlns:p14="http://schemas.microsoft.com/office/powerpoint/2010/main" val="295148924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Implement Stack using single queue</a:t>
            </a:r>
            <a:endParaRPr lang="en-US" dirty="0"/>
          </a:p>
        </p:txBody>
      </p:sp>
      <p:sp>
        <p:nvSpPr>
          <p:cNvPr id="3" name="Content Placeholder 2"/>
          <p:cNvSpPr>
            <a:spLocks noGrp="1"/>
          </p:cNvSpPr>
          <p:nvPr>
            <p:ph idx="1"/>
          </p:nvPr>
        </p:nvSpPr>
        <p:spPr/>
        <p:txBody>
          <a:bodyPr/>
          <a:lstStyle/>
          <a:p>
            <a:endParaRPr lang="en-US" dirty="0" smtClean="0"/>
          </a:p>
          <a:p>
            <a:endParaRPr lang="en-US" dirty="0"/>
          </a:p>
          <a:p>
            <a:r>
              <a:rPr lang="en-US" dirty="0">
                <a:hlinkClick r:id="rId2"/>
              </a:rPr>
              <a:t>https://www.geeksforgeeks.org/implement-a-stack-using-single-queue</a:t>
            </a:r>
            <a:r>
              <a:rPr lang="en-US" dirty="0" smtClean="0">
                <a:hlinkClick r:id="rId2"/>
              </a:rPr>
              <a:t>/</a:t>
            </a:r>
            <a:endParaRPr lang="en-US" dirty="0" smtClean="0"/>
          </a:p>
          <a:p>
            <a:endParaRPr lang="en-US" dirty="0"/>
          </a:p>
          <a:p>
            <a:endParaRPr lang="en-US" dirty="0" smtClean="0"/>
          </a:p>
          <a:p>
            <a:pPr marL="0" indent="0">
              <a:buNone/>
            </a:pPr>
            <a:r>
              <a:rPr lang="en-US" b="1" dirty="0" smtClean="0"/>
              <a:t>Drawbacks</a:t>
            </a:r>
          </a:p>
          <a:p>
            <a:r>
              <a:rPr lang="en-US" dirty="0" smtClean="0"/>
              <a:t>Memory wastage</a:t>
            </a:r>
          </a:p>
          <a:p>
            <a:r>
              <a:rPr lang="en-US" dirty="0" smtClean="0"/>
              <a:t>Time complexity will be O(n</a:t>
            </a:r>
            <a:r>
              <a:rPr lang="en-US" baseline="30000" dirty="0" smtClean="0"/>
              <a:t>2</a:t>
            </a:r>
            <a:r>
              <a:rPr lang="en-US" dirty="0" smtClean="0"/>
              <a:t>)</a:t>
            </a:r>
          </a:p>
        </p:txBody>
      </p:sp>
    </p:spTree>
    <p:extLst>
      <p:ext uri="{BB962C8B-B14F-4D97-AF65-F5344CB8AC3E}">
        <p14:creationId xmlns:p14="http://schemas.microsoft.com/office/powerpoint/2010/main" val="237011198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 Queue using Stacks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Push (X)</a:t>
            </a:r>
          </a:p>
          <a:p>
            <a:r>
              <a:rPr lang="en-US" dirty="0" smtClean="0"/>
              <a:t>Transfer S1</a:t>
            </a:r>
            <a:r>
              <a:rPr lang="en-US" dirty="0" smtClean="0">
                <a:sym typeface="Wingdings" panose="05000000000000000000" pitchFamily="2" charset="2"/>
              </a:rPr>
              <a:t>S2</a:t>
            </a:r>
          </a:p>
          <a:p>
            <a:r>
              <a:rPr lang="en-US" dirty="0" smtClean="0">
                <a:sym typeface="Wingdings" panose="05000000000000000000" pitchFamily="2" charset="2"/>
              </a:rPr>
              <a:t>XS1</a:t>
            </a:r>
          </a:p>
          <a:p>
            <a:r>
              <a:rPr lang="en-US" dirty="0" smtClean="0">
                <a:sym typeface="Wingdings" panose="05000000000000000000" pitchFamily="2" charset="2"/>
              </a:rPr>
              <a:t>Transfer S2S1</a:t>
            </a:r>
          </a:p>
          <a:p>
            <a:endParaRPr lang="en-US" dirty="0">
              <a:sym typeface="Wingdings" panose="05000000000000000000" pitchFamily="2" charset="2"/>
            </a:endParaRPr>
          </a:p>
          <a:p>
            <a:pPr marL="0" indent="0">
              <a:buNone/>
            </a:pPr>
            <a:r>
              <a:rPr lang="en-US" dirty="0">
                <a:sym typeface="Wingdings" panose="05000000000000000000" pitchFamily="2" charset="2"/>
              </a:rPr>
              <a:t>Time: O(n)</a:t>
            </a:r>
          </a:p>
          <a:p>
            <a:pPr marL="0" indent="0">
              <a:buNone/>
            </a:pPr>
            <a:endParaRPr lang="en-US" dirty="0" smtClean="0">
              <a:sym typeface="Wingdings" panose="05000000000000000000" pitchFamily="2" charset="2"/>
            </a:endParaRPr>
          </a:p>
          <a:p>
            <a:endParaRPr lang="en-US" dirty="0">
              <a:sym typeface="Wingdings" panose="05000000000000000000" pitchFamily="2" charset="2"/>
            </a:endParaRPr>
          </a:p>
          <a:p>
            <a:pPr marL="0" indent="0">
              <a:buNone/>
            </a:pPr>
            <a:r>
              <a:rPr lang="en-US" dirty="0" smtClean="0">
                <a:sym typeface="Wingdings" panose="05000000000000000000" pitchFamily="2" charset="2"/>
              </a:rPr>
              <a:t>Pop (X)</a:t>
            </a:r>
          </a:p>
          <a:p>
            <a:r>
              <a:rPr lang="en-US" dirty="0" smtClean="0">
                <a:sym typeface="Wingdings" panose="05000000000000000000" pitchFamily="2" charset="2"/>
              </a:rPr>
              <a:t>Remove the top from S1</a:t>
            </a:r>
          </a:p>
          <a:p>
            <a:pPr marL="0" indent="0">
              <a:buNone/>
            </a:pPr>
            <a:endParaRPr lang="en-US" dirty="0" smtClean="0">
              <a:sym typeface="Wingdings" panose="05000000000000000000" pitchFamily="2" charset="2"/>
            </a:endParaRPr>
          </a:p>
          <a:p>
            <a:pPr marL="0" indent="0">
              <a:buNone/>
            </a:pPr>
            <a:r>
              <a:rPr lang="en-US" dirty="0" smtClean="0">
                <a:sym typeface="Wingdings" panose="05000000000000000000" pitchFamily="2" charset="2"/>
              </a:rPr>
              <a:t>Time</a:t>
            </a:r>
            <a:r>
              <a:rPr lang="en-US" dirty="0">
                <a:sym typeface="Wingdings" panose="05000000000000000000" pitchFamily="2" charset="2"/>
              </a:rPr>
              <a:t>: </a:t>
            </a:r>
            <a:r>
              <a:rPr lang="en-US" dirty="0" smtClean="0">
                <a:sym typeface="Wingdings" panose="05000000000000000000" pitchFamily="2" charset="2"/>
              </a:rPr>
              <a:t>O(1)</a:t>
            </a:r>
          </a:p>
          <a:p>
            <a:endParaRPr lang="en-US" dirty="0">
              <a:sym typeface="Wingdings" panose="05000000000000000000" pitchFamily="2" charset="2"/>
            </a:endParaRPr>
          </a:p>
          <a:p>
            <a:endParaRPr lang="en-US" dirty="0" smtClean="0">
              <a:sym typeface="Wingdings" panose="05000000000000000000" pitchFamily="2" charset="2"/>
            </a:endParaRPr>
          </a:p>
          <a:p>
            <a:pPr marL="0" indent="0">
              <a:buNone/>
            </a:pPr>
            <a:r>
              <a:rPr lang="en-US" dirty="0">
                <a:sym typeface="Wingdings" panose="05000000000000000000" pitchFamily="2" charset="2"/>
              </a:rPr>
              <a:t>Space complexity overall: O(n)</a:t>
            </a:r>
          </a:p>
          <a:p>
            <a:pPr marL="0" indent="0">
              <a:buNone/>
            </a:pPr>
            <a:endParaRPr lang="en-US" dirty="0" smtClean="0">
              <a:sym typeface="Wingdings" panose="05000000000000000000" pitchFamily="2" charset="2"/>
            </a:endParaRPr>
          </a:p>
          <a:p>
            <a:endParaRPr lang="en-US" dirty="0"/>
          </a:p>
        </p:txBody>
      </p:sp>
    </p:spTree>
    <p:extLst>
      <p:ext uri="{BB962C8B-B14F-4D97-AF65-F5344CB8AC3E}">
        <p14:creationId xmlns:p14="http://schemas.microsoft.com/office/powerpoint/2010/main" val="401753299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 Experiments</a:t>
            </a:r>
            <a:endParaRPr lang="en-US" dirty="0"/>
          </a:p>
        </p:txBody>
      </p:sp>
      <p:sp>
        <p:nvSpPr>
          <p:cNvPr id="3" name="Content Placeholder 2"/>
          <p:cNvSpPr>
            <a:spLocks noGrp="1"/>
          </p:cNvSpPr>
          <p:nvPr>
            <p:ph idx="1"/>
          </p:nvPr>
        </p:nvSpPr>
        <p:spPr/>
        <p:txBody>
          <a:bodyPr/>
          <a:lstStyle/>
          <a:p>
            <a:pPr lvl="0" algn="just"/>
            <a:r>
              <a:rPr lang="en-US" dirty="0"/>
              <a:t>Using array and </a:t>
            </a:r>
            <a:r>
              <a:rPr lang="en-US" dirty="0" err="1" smtClean="0"/>
              <a:t>linkedlist</a:t>
            </a:r>
            <a:r>
              <a:rPr lang="en-US" dirty="0" smtClean="0"/>
              <a:t> </a:t>
            </a:r>
            <a:r>
              <a:rPr lang="en-US" dirty="0"/>
              <a:t>implement Queue data structure and its operations like insert, delete, and display.</a:t>
            </a:r>
          </a:p>
          <a:p>
            <a:pPr lvl="0" algn="just"/>
            <a:r>
              <a:rPr lang="en-US" dirty="0"/>
              <a:t>Check whether the string is palindrome or not using array and Queue</a:t>
            </a:r>
            <a:r>
              <a:rPr lang="en-US" dirty="0" smtClean="0"/>
              <a:t>.</a:t>
            </a:r>
          </a:p>
          <a:p>
            <a:pPr lvl="0"/>
            <a:r>
              <a:rPr lang="en-US" dirty="0"/>
              <a:t>Using array and functions implement Circular Queue data structure and its operations like insert, delete, and display.</a:t>
            </a:r>
          </a:p>
          <a:p>
            <a:pPr lvl="0"/>
            <a:r>
              <a:rPr lang="en-US" dirty="0"/>
              <a:t>Using array and functions implement a Stack using Queues</a:t>
            </a:r>
            <a:r>
              <a:rPr lang="en-US" dirty="0" smtClean="0"/>
              <a:t>.</a:t>
            </a:r>
            <a:endParaRPr lang="en-US" dirty="0"/>
          </a:p>
          <a:p>
            <a:pPr marL="0" indent="0" algn="just">
              <a:buNone/>
            </a:pPr>
            <a:endParaRPr lang="en-US" dirty="0"/>
          </a:p>
          <a:p>
            <a:endParaRPr lang="en-US" dirty="0"/>
          </a:p>
        </p:txBody>
      </p:sp>
    </p:spTree>
    <p:extLst>
      <p:ext uri="{BB962C8B-B14F-4D97-AF65-F5344CB8AC3E}">
        <p14:creationId xmlns:p14="http://schemas.microsoft.com/office/powerpoint/2010/main" val="410433400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 Questions</a:t>
            </a:r>
            <a:endParaRPr lang="en-US" dirty="0"/>
          </a:p>
        </p:txBody>
      </p:sp>
      <p:sp>
        <p:nvSpPr>
          <p:cNvPr id="3" name="Content Placeholder 2"/>
          <p:cNvSpPr>
            <a:spLocks noGrp="1"/>
          </p:cNvSpPr>
          <p:nvPr>
            <p:ph idx="1"/>
          </p:nvPr>
        </p:nvSpPr>
        <p:spPr/>
        <p:txBody>
          <a:bodyPr/>
          <a:lstStyle/>
          <a:p>
            <a:r>
              <a:rPr lang="en-US" dirty="0">
                <a:hlinkClick r:id="rId2"/>
              </a:rPr>
              <a:t>https://www.geeksforgeeks.org/quizzes/top-mcqs-on-queue-data-structure-with-answers</a:t>
            </a:r>
            <a:r>
              <a:rPr lang="en-US" dirty="0" smtClean="0">
                <a:hlinkClick r:id="rId2"/>
              </a:rPr>
              <a:t>/</a:t>
            </a:r>
            <a:endParaRPr lang="en-US" dirty="0" smtClean="0"/>
          </a:p>
          <a:p>
            <a:endParaRPr lang="en-US" dirty="0"/>
          </a:p>
        </p:txBody>
      </p:sp>
    </p:spTree>
    <p:extLst>
      <p:ext uri="{BB962C8B-B14F-4D97-AF65-F5344CB8AC3E}">
        <p14:creationId xmlns:p14="http://schemas.microsoft.com/office/powerpoint/2010/main" val="361524046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GeeksforGeeks</a:t>
            </a:r>
            <a:r>
              <a:rPr lang="en-US" b="1" dirty="0"/>
              <a:t> Interview Questions on Stack and Queue</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Stack </a:t>
            </a:r>
            <a:r>
              <a:rPr lang="en-US" dirty="0"/>
              <a:t>and queue are two different elements in computer programming. Static is usually a container of objects that are supposed to be inserted or removed according to the LIFO principle. While queue is a container of objects in a linear collection that is supposed to be inserted and removed according to the FIFO principle. Here are some commonly asked data structure </a:t>
            </a:r>
            <a:r>
              <a:rPr lang="en-US" dirty="0" err="1"/>
              <a:t>GeeksforGeeks</a:t>
            </a:r>
            <a:r>
              <a:rPr lang="en-US" dirty="0"/>
              <a:t> questions in a coding interview :-</a:t>
            </a:r>
          </a:p>
          <a:p>
            <a:r>
              <a:rPr lang="en-US" dirty="0"/>
              <a:t>Application of parenthesis checker</a:t>
            </a:r>
          </a:p>
          <a:p>
            <a:r>
              <a:rPr lang="en-US" b="1" dirty="0" smtClean="0"/>
              <a:t>Creation </a:t>
            </a:r>
            <a:r>
              <a:rPr lang="en-US" b="1" dirty="0"/>
              <a:t>of a queue using two stacks</a:t>
            </a:r>
          </a:p>
          <a:p>
            <a:r>
              <a:rPr lang="en-US" b="1" dirty="0"/>
              <a:t>Creation of a stack using two queues</a:t>
            </a:r>
            <a:r>
              <a:rPr lang="en-US" dirty="0"/>
              <a:t> </a:t>
            </a:r>
          </a:p>
          <a:p>
            <a:r>
              <a:rPr lang="en-US" dirty="0" smtClean="0"/>
              <a:t>Deletion of middle element of stack</a:t>
            </a:r>
            <a:endParaRPr lang="en-US" dirty="0"/>
          </a:p>
        </p:txBody>
      </p:sp>
    </p:spTree>
    <p:extLst>
      <p:ext uri="{BB962C8B-B14F-4D97-AF65-F5344CB8AC3E}">
        <p14:creationId xmlns:p14="http://schemas.microsoft.com/office/powerpoint/2010/main" val="133411833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Top 50 Problems on Stack Data Structure asked in SDE Interviews</a:t>
            </a:r>
            <a:br>
              <a:rPr lang="en-US" b="1" dirty="0"/>
            </a:br>
            <a:endParaRPr lang="en-US" dirty="0"/>
          </a:p>
        </p:txBody>
      </p:sp>
      <p:sp>
        <p:nvSpPr>
          <p:cNvPr id="3" name="Content Placeholder 2"/>
          <p:cNvSpPr>
            <a:spLocks noGrp="1"/>
          </p:cNvSpPr>
          <p:nvPr>
            <p:ph idx="1"/>
          </p:nvPr>
        </p:nvSpPr>
        <p:spPr/>
        <p:txBody>
          <a:bodyPr/>
          <a:lstStyle/>
          <a:p>
            <a:r>
              <a:rPr lang="en-US" dirty="0"/>
              <a:t>https://www.geeksforgeeks.org/top-50-problems-on-stack-data-structure-asked-in-interviews/</a:t>
            </a:r>
          </a:p>
        </p:txBody>
      </p:sp>
    </p:spTree>
    <p:extLst>
      <p:ext uri="{BB962C8B-B14F-4D97-AF65-F5344CB8AC3E}">
        <p14:creationId xmlns:p14="http://schemas.microsoft.com/office/powerpoint/2010/main" val="76423269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300" y="712789"/>
            <a:ext cx="10972800" cy="1143000"/>
          </a:xfrm>
        </p:spPr>
        <p:txBody>
          <a:bodyPr>
            <a:normAutofit fontScale="90000"/>
          </a:bodyPr>
          <a:lstStyle/>
          <a:p>
            <a:r>
              <a:rPr lang="en-US" b="1" dirty="0"/>
              <a:t>Top 50 Problems on Queue Data Structure asked in SDE Interviews</a:t>
            </a:r>
            <a:br>
              <a:rPr lang="en-US" b="1" dirty="0"/>
            </a:br>
            <a:endParaRPr lang="en-US" dirty="0"/>
          </a:p>
        </p:txBody>
      </p:sp>
      <p:sp>
        <p:nvSpPr>
          <p:cNvPr id="3" name="Content Placeholder 2"/>
          <p:cNvSpPr>
            <a:spLocks noGrp="1"/>
          </p:cNvSpPr>
          <p:nvPr>
            <p:ph idx="1"/>
          </p:nvPr>
        </p:nvSpPr>
        <p:spPr/>
        <p:txBody>
          <a:bodyPr/>
          <a:lstStyle/>
          <a:p>
            <a:r>
              <a:rPr lang="en-US" dirty="0">
                <a:hlinkClick r:id="rId2"/>
              </a:rPr>
              <a:t>https://www.geeksforgeeks.org/top-50-problems-on-queue-data-structure-asked-in-sde-interviews</a:t>
            </a:r>
            <a:r>
              <a:rPr lang="en-US" dirty="0" smtClean="0">
                <a:hlinkClick r:id="rId2"/>
              </a:rPr>
              <a:t>/</a:t>
            </a:r>
            <a:endParaRPr lang="en-US" dirty="0" smtClean="0"/>
          </a:p>
          <a:p>
            <a:endParaRPr lang="en-US" dirty="0"/>
          </a:p>
        </p:txBody>
      </p:sp>
    </p:spTree>
    <p:extLst>
      <p:ext uri="{BB962C8B-B14F-4D97-AF65-F5344CB8AC3E}">
        <p14:creationId xmlns:p14="http://schemas.microsoft.com/office/powerpoint/2010/main" val="1489703552"/>
      </p:ext>
    </p:extLst>
  </p:cSld>
  <p:clrMapOvr>
    <a:masterClrMapping/>
  </p:clrMapOvr>
  <p:timing>
    <p:tnLst>
      <p:par>
        <p:cTn id="1" dur="indefinite" restart="never" nodeType="tmRoot"/>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TM10001106[[fn=Badge]]</Template>
  <TotalTime>27122</TotalTime>
  <Words>2583</Words>
  <Application>Microsoft Office PowerPoint</Application>
  <PresentationFormat>Widescreen</PresentationFormat>
  <Paragraphs>275</Paragraphs>
  <Slides>49</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49</vt:i4>
      </vt:variant>
    </vt:vector>
  </HeadingPairs>
  <TitlesOfParts>
    <vt:vector size="60" baseType="lpstr">
      <vt:lpstr>Arial</vt:lpstr>
      <vt:lpstr>Calibri</vt:lpstr>
      <vt:lpstr>Courier New</vt:lpstr>
      <vt:lpstr>Georgia</vt:lpstr>
      <vt:lpstr>Gill Sans MT</vt:lpstr>
      <vt:lpstr>Nunito</vt:lpstr>
      <vt:lpstr>Times New Roman</vt:lpstr>
      <vt:lpstr>Wingdings</vt:lpstr>
      <vt:lpstr>Badge</vt:lpstr>
      <vt:lpstr>Package</vt:lpstr>
      <vt:lpstr>Packager Shell Object</vt:lpstr>
      <vt:lpstr>Stack &amp; Queue</vt:lpstr>
      <vt:lpstr>queue data structure</vt:lpstr>
      <vt:lpstr>Queue Operations</vt:lpstr>
      <vt:lpstr>QUEUE: First-In-First-Out (LIFO)</vt:lpstr>
      <vt:lpstr>queue data structure</vt:lpstr>
      <vt:lpstr>queue implementation using array and linked list</vt:lpstr>
      <vt:lpstr>Applications of Queue</vt:lpstr>
      <vt:lpstr>Problem With Array Implementation</vt:lpstr>
      <vt:lpstr>Circular Queue</vt:lpstr>
      <vt:lpstr>PowerPoint Presentation</vt:lpstr>
      <vt:lpstr>PowerPoint Presentation</vt:lpstr>
      <vt:lpstr>Circular queue v/s Linear queue</vt:lpstr>
      <vt:lpstr>Circular Queue Operations</vt:lpstr>
      <vt:lpstr>Algorithm to insert an element in a circular queue </vt:lpstr>
      <vt:lpstr>Algorithm to Delete an element in a circular queue</vt:lpstr>
      <vt:lpstr>PowerPoint Presentation</vt:lpstr>
      <vt:lpstr>PowerPoint Presentation</vt:lpstr>
      <vt:lpstr>Insertion</vt:lpstr>
      <vt:lpstr>Deletion</vt:lpstr>
      <vt:lpstr>Display</vt:lpstr>
      <vt:lpstr>PowerPoint Presentation</vt:lpstr>
      <vt:lpstr>Double ended queue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 Program</vt:lpstr>
      <vt:lpstr>Priority Queue</vt:lpstr>
      <vt:lpstr>Properties of Priority Queue </vt:lpstr>
      <vt:lpstr>Priority Queue</vt:lpstr>
      <vt:lpstr>Operations of a Priority Queue: </vt:lpstr>
      <vt:lpstr>Difference between Priority Queue and Normal Queue? </vt:lpstr>
      <vt:lpstr>Implement Priority Queue Using Array:  </vt:lpstr>
      <vt:lpstr>Implement Priority Queue Using Linked List:  </vt:lpstr>
      <vt:lpstr>Implement Priority Queue Using Heaps:  </vt:lpstr>
      <vt:lpstr>Heap</vt:lpstr>
      <vt:lpstr>Gate 2009</vt:lpstr>
      <vt:lpstr>Implement Stack Using 2 Queues</vt:lpstr>
      <vt:lpstr>Implement Stack using single queue</vt:lpstr>
      <vt:lpstr>Implement Queue using Stacks</vt:lpstr>
      <vt:lpstr>Lab Experiments</vt:lpstr>
      <vt:lpstr>Practice Questions</vt:lpstr>
      <vt:lpstr>GeeksforGeeks Interview Questions on Stack and Queue </vt:lpstr>
      <vt:lpstr>Top 50 Problems on Stack Data Structure asked in SDE Interviews </vt:lpstr>
      <vt:lpstr>Top 50 Problems on Queue Data Structure asked in SDE Interviews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 Joshi</dc:creator>
  <cp:lastModifiedBy>Shahina Anwarul</cp:lastModifiedBy>
  <cp:revision>436</cp:revision>
  <dcterms:created xsi:type="dcterms:W3CDTF">2017-11-09T22:54:09Z</dcterms:created>
  <dcterms:modified xsi:type="dcterms:W3CDTF">2026-03-16T06:25:59Z</dcterms:modified>
</cp:coreProperties>
</file>