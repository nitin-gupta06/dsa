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0"/>
  </p:notesMasterIdLst>
  <p:sldIdLst>
    <p:sldId id="256" r:id="rId2"/>
    <p:sldId id="258" r:id="rId3"/>
    <p:sldId id="263" r:id="rId4"/>
    <p:sldId id="259" r:id="rId5"/>
    <p:sldId id="260" r:id="rId6"/>
    <p:sldId id="264" r:id="rId7"/>
    <p:sldId id="261" r:id="rId8"/>
    <p:sldId id="265" r:id="rId9"/>
    <p:sldId id="262" r:id="rId10"/>
    <p:sldId id="266" r:id="rId11"/>
    <p:sldId id="272" r:id="rId12"/>
    <p:sldId id="273" r:id="rId13"/>
    <p:sldId id="274" r:id="rId14"/>
    <p:sldId id="275" r:id="rId15"/>
    <p:sldId id="267" r:id="rId16"/>
    <p:sldId id="276" r:id="rId17"/>
    <p:sldId id="268" r:id="rId18"/>
    <p:sldId id="269" r:id="rId19"/>
    <p:sldId id="277" r:id="rId20"/>
    <p:sldId id="270" r:id="rId21"/>
    <p:sldId id="291" r:id="rId22"/>
    <p:sldId id="280" r:id="rId23"/>
    <p:sldId id="287" r:id="rId24"/>
    <p:sldId id="289" r:id="rId25"/>
    <p:sldId id="290" r:id="rId26"/>
    <p:sldId id="288" r:id="rId27"/>
    <p:sldId id="257" r:id="rId28"/>
    <p:sldId id="292" r:id="rId29"/>
    <p:sldId id="293" r:id="rId30"/>
    <p:sldId id="294" r:id="rId31"/>
    <p:sldId id="295" r:id="rId32"/>
    <p:sldId id="281" r:id="rId33"/>
    <p:sldId id="286" r:id="rId34"/>
    <p:sldId id="296" r:id="rId35"/>
    <p:sldId id="284" r:id="rId36"/>
    <p:sldId id="297" r:id="rId37"/>
    <p:sldId id="298" r:id="rId38"/>
    <p:sldId id="285"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978" autoAdjust="0"/>
  </p:normalViewPr>
  <p:slideViewPr>
    <p:cSldViewPr>
      <p:cViewPr varScale="1">
        <p:scale>
          <a:sx n="69" d="100"/>
          <a:sy n="69" d="100"/>
        </p:scale>
        <p:origin x="-1404" y="-10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8716C36-4A74-42D1-A621-609C3302D725}" type="datetimeFigureOut">
              <a:rPr lang="en-US" smtClean="0"/>
              <a:t>4/23/2018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26608A-E4F7-415D-81B1-B5CD315CAE41}" type="slidenum">
              <a:rPr lang="en-US" smtClean="0"/>
              <a:t>‹#›</a:t>
            </a:fld>
            <a:endParaRPr lang="en-US"/>
          </a:p>
        </p:txBody>
      </p:sp>
    </p:spTree>
    <p:extLst>
      <p:ext uri="{BB962C8B-B14F-4D97-AF65-F5344CB8AC3E}">
        <p14:creationId xmlns:p14="http://schemas.microsoft.com/office/powerpoint/2010/main" val="31892761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0EAF083-6659-4761-8DBD-F9B281D98BC7}" type="slidenum">
              <a:rPr lang="en-US" smtClean="0"/>
              <a:t>5</a:t>
            </a:fld>
            <a:endParaRPr lang="en-US"/>
          </a:p>
        </p:txBody>
      </p:sp>
    </p:spTree>
    <p:extLst>
      <p:ext uri="{BB962C8B-B14F-4D97-AF65-F5344CB8AC3E}">
        <p14:creationId xmlns:p14="http://schemas.microsoft.com/office/powerpoint/2010/main" val="28368633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smtClean="0">
                <a:ln>
                  <a:noFill/>
                </a:ln>
                <a:solidFill>
                  <a:srgbClr val="242729"/>
                </a:solidFill>
                <a:effectLst/>
                <a:latin typeface="Arial" panose="020B0604020202020204" pitchFamily="34" charset="0"/>
                <a:cs typeface="Arial" panose="020B0604020202020204" pitchFamily="34" charset="0"/>
              </a:rPr>
              <a:t>how many times can you divide N by 2 until you have 1? This is essentially saying, do a binary search (half the elements) until you found it. In a formula this would be this:</a:t>
            </a:r>
            <a:endParaRPr kumimoji="0" lang="en-US" altLang="en-US" sz="12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chemeClr val="tx1"/>
                </a:solidFill>
                <a:effectLst/>
                <a:latin typeface="inherit"/>
              </a:rPr>
              <a:t>1 = N / 2</a:t>
            </a:r>
            <a:r>
              <a:rPr kumimoji="0" lang="en-US" altLang="en-US" sz="1600" b="0" i="0" u="none" strike="noStrike" cap="none" normalizeH="0" baseline="30000" dirty="0" smtClean="0">
                <a:ln>
                  <a:noFill/>
                </a:ln>
                <a:solidFill>
                  <a:schemeClr val="tx1"/>
                </a:solidFill>
                <a:effectLst/>
                <a:latin typeface="inherit"/>
              </a:rPr>
              <a:t>x</a:t>
            </a:r>
            <a:endParaRPr kumimoji="0" lang="en-US" altLang="en-US" sz="12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smtClean="0">
                <a:ln>
                  <a:noFill/>
                </a:ln>
                <a:solidFill>
                  <a:srgbClr val="242729"/>
                </a:solidFill>
                <a:effectLst/>
                <a:latin typeface="Arial" panose="020B0604020202020204" pitchFamily="34" charset="0"/>
                <a:cs typeface="Arial" panose="020B0604020202020204" pitchFamily="34" charset="0"/>
              </a:rPr>
              <a:t>multiply by 2</a:t>
            </a:r>
            <a:r>
              <a:rPr kumimoji="0" lang="en-US" altLang="en-US" sz="1600" b="0" i="0" u="none" strike="noStrike" cap="none" normalizeH="0" baseline="30000" dirty="0" smtClean="0">
                <a:ln>
                  <a:noFill/>
                </a:ln>
                <a:solidFill>
                  <a:srgbClr val="242729"/>
                </a:solidFill>
                <a:effectLst/>
                <a:latin typeface="inherit"/>
                <a:cs typeface="Arial" panose="020B0604020202020204" pitchFamily="34" charset="0"/>
              </a:rPr>
              <a:t>x</a:t>
            </a:r>
            <a:r>
              <a:rPr kumimoji="0" lang="en-US" altLang="en-US" sz="1200" b="0" i="0" u="none" strike="noStrike" cap="none" normalizeH="0" baseline="0" dirty="0" smtClean="0">
                <a:ln>
                  <a:noFill/>
                </a:ln>
                <a:solidFill>
                  <a:srgbClr val="242729"/>
                </a:solidFill>
                <a:effectLst/>
                <a:latin typeface="Arial" panose="020B0604020202020204" pitchFamily="34" charset="0"/>
                <a:cs typeface="Arial" panose="020B0604020202020204" pitchFamily="34" charset="0"/>
              </a:rPr>
              <a:t>:</a:t>
            </a:r>
            <a:endParaRPr kumimoji="0" lang="en-US" altLang="en-US" sz="12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chemeClr val="tx1"/>
                </a:solidFill>
                <a:effectLst/>
                <a:latin typeface="inherit"/>
              </a:rPr>
              <a:t>2</a:t>
            </a:r>
            <a:r>
              <a:rPr kumimoji="0" lang="en-US" altLang="en-US" sz="1600" b="0" i="0" u="none" strike="noStrike" cap="none" normalizeH="0" baseline="30000" dirty="0" smtClean="0">
                <a:ln>
                  <a:noFill/>
                </a:ln>
                <a:solidFill>
                  <a:schemeClr val="tx1"/>
                </a:solidFill>
                <a:effectLst/>
                <a:latin typeface="inherit"/>
              </a:rPr>
              <a:t>x</a:t>
            </a:r>
            <a:r>
              <a:rPr kumimoji="0" lang="en-US" altLang="en-US" sz="1200" b="0" i="0" u="none" strike="noStrike" cap="none" normalizeH="0" baseline="0" dirty="0" smtClean="0">
                <a:ln>
                  <a:noFill/>
                </a:ln>
                <a:solidFill>
                  <a:schemeClr val="tx1"/>
                </a:solidFill>
                <a:effectLst/>
                <a:latin typeface="inherit"/>
              </a:rPr>
              <a:t> </a:t>
            </a:r>
            <a:r>
              <a:rPr kumimoji="0" lang="en-US" altLang="en-US" sz="2000" b="0" i="0" u="none" strike="noStrike" cap="none" normalizeH="0" baseline="0" dirty="0" smtClean="0">
                <a:ln>
                  <a:noFill/>
                </a:ln>
                <a:solidFill>
                  <a:schemeClr val="tx1"/>
                </a:solidFill>
                <a:effectLst/>
                <a:latin typeface="inherit"/>
              </a:rPr>
              <a:t>= N</a:t>
            </a:r>
            <a:endParaRPr kumimoji="0" lang="en-US" altLang="en-US" sz="20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smtClean="0">
                <a:ln>
                  <a:noFill/>
                </a:ln>
                <a:solidFill>
                  <a:srgbClr val="242729"/>
                </a:solidFill>
                <a:effectLst/>
                <a:latin typeface="Arial" panose="020B0604020202020204" pitchFamily="34" charset="0"/>
                <a:cs typeface="Arial" panose="020B0604020202020204" pitchFamily="34" charset="0"/>
              </a:rPr>
              <a:t>now do the log</a:t>
            </a:r>
            <a:r>
              <a:rPr kumimoji="0" lang="en-US" altLang="en-US" sz="1600" b="0" i="0" u="none" strike="noStrike" cap="none" normalizeH="0" baseline="-30000" dirty="0" smtClean="0">
                <a:ln>
                  <a:noFill/>
                </a:ln>
                <a:solidFill>
                  <a:srgbClr val="242729"/>
                </a:solidFill>
                <a:effectLst/>
                <a:latin typeface="inherit"/>
                <a:cs typeface="Arial" panose="020B0604020202020204" pitchFamily="34" charset="0"/>
              </a:rPr>
              <a:t>2</a:t>
            </a:r>
            <a:r>
              <a:rPr kumimoji="0" lang="en-US" altLang="en-US" sz="1200" b="0" i="0" u="none" strike="noStrike" cap="none" normalizeH="0" baseline="0" dirty="0" smtClean="0">
                <a:ln>
                  <a:noFill/>
                </a:ln>
                <a:solidFill>
                  <a:srgbClr val="242729"/>
                </a:solidFill>
                <a:effectLst/>
                <a:latin typeface="Arial" panose="020B0604020202020204" pitchFamily="34" charset="0"/>
                <a:cs typeface="Arial" panose="020B0604020202020204" pitchFamily="34" charset="0"/>
              </a:rPr>
              <a:t>:</a:t>
            </a:r>
            <a:endParaRPr kumimoji="0" lang="en-US" altLang="en-US" sz="12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chemeClr val="tx1"/>
                </a:solidFill>
                <a:effectLst/>
                <a:latin typeface="inherit"/>
              </a:rPr>
              <a:t>log</a:t>
            </a:r>
            <a:r>
              <a:rPr kumimoji="0" lang="en-US" altLang="en-US" sz="1600" b="0" i="0" u="none" strike="noStrike" cap="none" normalizeH="0" baseline="-30000" dirty="0" smtClean="0">
                <a:ln>
                  <a:noFill/>
                </a:ln>
                <a:solidFill>
                  <a:schemeClr val="tx1"/>
                </a:solidFill>
                <a:effectLst/>
                <a:latin typeface="inherit"/>
              </a:rPr>
              <a:t>2</a:t>
            </a:r>
            <a:r>
              <a:rPr kumimoji="0" lang="en-US" altLang="en-US" sz="1200" b="0" i="0" u="none" strike="noStrike" cap="none" normalizeH="0" baseline="0" dirty="0" smtClean="0">
                <a:ln>
                  <a:noFill/>
                </a:ln>
                <a:solidFill>
                  <a:schemeClr val="tx1"/>
                </a:solidFill>
                <a:effectLst/>
                <a:latin typeface="inherit"/>
              </a:rPr>
              <a:t>(2</a:t>
            </a:r>
            <a:r>
              <a:rPr kumimoji="0" lang="en-US" altLang="en-US" sz="1600" b="0" i="0" u="none" strike="noStrike" cap="none" normalizeH="0" baseline="30000" dirty="0" smtClean="0">
                <a:ln>
                  <a:noFill/>
                </a:ln>
                <a:solidFill>
                  <a:schemeClr val="tx1"/>
                </a:solidFill>
                <a:effectLst/>
                <a:latin typeface="inherit"/>
              </a:rPr>
              <a:t>x</a:t>
            </a:r>
            <a:r>
              <a:rPr kumimoji="0" lang="en-US" altLang="en-US" sz="1200" b="0" i="0" u="none" strike="noStrike" cap="none" normalizeH="0" baseline="0" dirty="0" smtClean="0">
                <a:ln>
                  <a:noFill/>
                </a:ln>
                <a:solidFill>
                  <a:schemeClr val="tx1"/>
                </a:solidFill>
                <a:effectLst/>
                <a:latin typeface="inherit"/>
              </a:rPr>
              <a:t>)    = log</a:t>
            </a:r>
            <a:r>
              <a:rPr kumimoji="0" lang="en-US" altLang="en-US" sz="1600" b="0" i="0" u="none" strike="noStrike" cap="none" normalizeH="0" baseline="-30000" dirty="0" smtClean="0">
                <a:ln>
                  <a:noFill/>
                </a:ln>
                <a:solidFill>
                  <a:schemeClr val="tx1"/>
                </a:solidFill>
                <a:effectLst/>
                <a:latin typeface="inherit"/>
              </a:rPr>
              <a:t>2</a:t>
            </a:r>
            <a:r>
              <a:rPr kumimoji="0" lang="en-US" altLang="en-US" sz="1200" b="0" i="0" u="none" strike="noStrike" cap="none" normalizeH="0" baseline="0" dirty="0" smtClean="0">
                <a:ln>
                  <a:noFill/>
                </a:ln>
                <a:solidFill>
                  <a:schemeClr val="tx1"/>
                </a:solidFill>
                <a:effectLst/>
                <a:latin typeface="inherit"/>
              </a:rPr>
              <a:t> </a:t>
            </a:r>
            <a:r>
              <a:rPr kumimoji="0" lang="en-US" altLang="en-US" sz="2000" b="0" i="0" u="none" strike="noStrike" cap="none" normalizeH="0" baseline="0" dirty="0" smtClean="0">
                <a:ln>
                  <a:noFill/>
                </a:ln>
                <a:solidFill>
                  <a:schemeClr val="tx1"/>
                </a:solidFill>
                <a:effectLst/>
                <a:latin typeface="inherit"/>
              </a:rPr>
              <a:t>N</a:t>
            </a:r>
            <a:br>
              <a:rPr kumimoji="0" lang="en-US" altLang="en-US" sz="2000" b="0" i="0" u="none" strike="noStrike" cap="none" normalizeH="0" baseline="0" dirty="0" smtClean="0">
                <a:ln>
                  <a:noFill/>
                </a:ln>
                <a:solidFill>
                  <a:schemeClr val="tx1"/>
                </a:solidFill>
                <a:effectLst/>
                <a:latin typeface="inherit"/>
              </a:rPr>
            </a:br>
            <a:r>
              <a:rPr kumimoji="0" lang="en-US" altLang="en-US" sz="2000" b="0" i="0" u="none" strike="noStrike" cap="none" normalizeH="0" baseline="0" dirty="0" smtClean="0">
                <a:ln>
                  <a:noFill/>
                </a:ln>
                <a:solidFill>
                  <a:schemeClr val="tx1"/>
                </a:solidFill>
                <a:effectLst/>
                <a:latin typeface="inherit"/>
              </a:rPr>
              <a:t>x * log</a:t>
            </a:r>
            <a:r>
              <a:rPr kumimoji="0" lang="en-US" altLang="en-US" sz="1600" b="0" i="0" u="none" strike="noStrike" cap="none" normalizeH="0" baseline="-30000" dirty="0" smtClean="0">
                <a:ln>
                  <a:noFill/>
                </a:ln>
                <a:solidFill>
                  <a:schemeClr val="tx1"/>
                </a:solidFill>
                <a:effectLst/>
                <a:latin typeface="inherit"/>
              </a:rPr>
              <a:t>2</a:t>
            </a:r>
            <a:r>
              <a:rPr kumimoji="0" lang="en-US" altLang="en-US" sz="1200" b="0" i="0" u="none" strike="noStrike" cap="none" normalizeH="0" baseline="0" dirty="0" smtClean="0">
                <a:ln>
                  <a:noFill/>
                </a:ln>
                <a:solidFill>
                  <a:schemeClr val="tx1"/>
                </a:solidFill>
                <a:effectLst/>
                <a:latin typeface="inherit"/>
              </a:rPr>
              <a:t>(2) = log</a:t>
            </a:r>
            <a:r>
              <a:rPr kumimoji="0" lang="en-US" altLang="en-US" sz="1600" b="0" i="0" u="none" strike="noStrike" cap="none" normalizeH="0" baseline="-30000" dirty="0" smtClean="0">
                <a:ln>
                  <a:noFill/>
                </a:ln>
                <a:solidFill>
                  <a:schemeClr val="tx1"/>
                </a:solidFill>
                <a:effectLst/>
                <a:latin typeface="inherit"/>
              </a:rPr>
              <a:t>2</a:t>
            </a:r>
            <a:r>
              <a:rPr kumimoji="0" lang="en-US" altLang="en-US" sz="1200" b="0" i="0" u="none" strike="noStrike" cap="none" normalizeH="0" baseline="0" dirty="0" smtClean="0">
                <a:ln>
                  <a:noFill/>
                </a:ln>
                <a:solidFill>
                  <a:schemeClr val="tx1"/>
                </a:solidFill>
                <a:effectLst/>
                <a:latin typeface="inherit"/>
              </a:rPr>
              <a:t> </a:t>
            </a:r>
            <a:r>
              <a:rPr kumimoji="0" lang="en-US" altLang="en-US" sz="2000" b="0" i="0" u="none" strike="noStrike" cap="none" normalizeH="0" baseline="0" dirty="0" smtClean="0">
                <a:ln>
                  <a:noFill/>
                </a:ln>
                <a:solidFill>
                  <a:schemeClr val="tx1"/>
                </a:solidFill>
                <a:effectLst/>
                <a:latin typeface="inherit"/>
              </a:rPr>
              <a:t>N</a:t>
            </a:r>
            <a:br>
              <a:rPr kumimoji="0" lang="en-US" altLang="en-US" sz="2000" b="0" i="0" u="none" strike="noStrike" cap="none" normalizeH="0" baseline="0" dirty="0" smtClean="0">
                <a:ln>
                  <a:noFill/>
                </a:ln>
                <a:solidFill>
                  <a:schemeClr val="tx1"/>
                </a:solidFill>
                <a:effectLst/>
                <a:latin typeface="inherit"/>
              </a:rPr>
            </a:br>
            <a:r>
              <a:rPr kumimoji="0" lang="en-US" altLang="en-US" sz="2000" b="0" i="0" u="none" strike="noStrike" cap="none" normalizeH="0" baseline="0" dirty="0" smtClean="0">
                <a:ln>
                  <a:noFill/>
                </a:ln>
                <a:solidFill>
                  <a:schemeClr val="tx1"/>
                </a:solidFill>
                <a:effectLst/>
                <a:latin typeface="inherit"/>
              </a:rPr>
              <a:t>x * 1         = log</a:t>
            </a:r>
            <a:r>
              <a:rPr kumimoji="0" lang="en-US" altLang="en-US" sz="1600" b="0" i="0" u="none" strike="noStrike" cap="none" normalizeH="0" baseline="-30000" dirty="0" smtClean="0">
                <a:ln>
                  <a:noFill/>
                </a:ln>
                <a:solidFill>
                  <a:schemeClr val="tx1"/>
                </a:solidFill>
                <a:effectLst/>
                <a:latin typeface="inherit"/>
              </a:rPr>
              <a:t>2</a:t>
            </a:r>
            <a:r>
              <a:rPr kumimoji="0" lang="en-US" altLang="en-US" sz="1200" b="0" i="0" u="none" strike="noStrike" cap="none" normalizeH="0" baseline="0" dirty="0" smtClean="0">
                <a:ln>
                  <a:noFill/>
                </a:ln>
                <a:solidFill>
                  <a:schemeClr val="tx1"/>
                </a:solidFill>
                <a:effectLst/>
                <a:latin typeface="inherit"/>
              </a:rPr>
              <a:t> </a:t>
            </a:r>
            <a:r>
              <a:rPr kumimoji="0" lang="en-US" altLang="en-US" sz="2000" b="0" i="0" u="none" strike="noStrike" cap="none" normalizeH="0" baseline="0" dirty="0" smtClean="0">
                <a:ln>
                  <a:noFill/>
                </a:ln>
                <a:solidFill>
                  <a:schemeClr val="tx1"/>
                </a:solidFill>
                <a:effectLst/>
                <a:latin typeface="inherit"/>
              </a:rPr>
              <a:t>N</a:t>
            </a:r>
            <a:endParaRPr kumimoji="0" lang="en-US" altLang="en-US" sz="20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smtClean="0">
                <a:ln>
                  <a:noFill/>
                </a:ln>
                <a:solidFill>
                  <a:srgbClr val="242729"/>
                </a:solidFill>
                <a:effectLst/>
                <a:latin typeface="Arial" panose="020B0604020202020204" pitchFamily="34" charset="0"/>
                <a:cs typeface="Arial" panose="020B0604020202020204" pitchFamily="34" charset="0"/>
              </a:rPr>
              <a:t>this means you can divide log N times until you have everything divided. Which means you have to divide log N ("do the binary search step") until you found your element.</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endParaRPr lang="en-US" dirty="0"/>
          </a:p>
        </p:txBody>
      </p:sp>
      <p:sp>
        <p:nvSpPr>
          <p:cNvPr id="4" name="Slide Number Placeholder 3"/>
          <p:cNvSpPr>
            <a:spLocks noGrp="1"/>
          </p:cNvSpPr>
          <p:nvPr>
            <p:ph type="sldNum" sz="quarter" idx="10"/>
          </p:nvPr>
        </p:nvSpPr>
        <p:spPr/>
        <p:txBody>
          <a:bodyPr/>
          <a:lstStyle/>
          <a:p>
            <a:fld id="{B0EAF083-6659-4761-8DBD-F9B281D98BC7}" type="slidenum">
              <a:rPr lang="en-US" smtClean="0"/>
              <a:t>7</a:t>
            </a:fld>
            <a:endParaRPr lang="en-US"/>
          </a:p>
        </p:txBody>
      </p:sp>
    </p:spTree>
    <p:extLst>
      <p:ext uri="{BB962C8B-B14F-4D97-AF65-F5344CB8AC3E}">
        <p14:creationId xmlns:p14="http://schemas.microsoft.com/office/powerpoint/2010/main" val="26412226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0EAF083-6659-4761-8DBD-F9B281D98BC7}" type="slidenum">
              <a:rPr lang="en-US" smtClean="0"/>
              <a:t>9</a:t>
            </a:fld>
            <a:endParaRPr lang="en-US"/>
          </a:p>
        </p:txBody>
      </p:sp>
    </p:spTree>
    <p:extLst>
      <p:ext uri="{BB962C8B-B14F-4D97-AF65-F5344CB8AC3E}">
        <p14:creationId xmlns:p14="http://schemas.microsoft.com/office/powerpoint/2010/main" val="15724637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FF783093-B6CA-4C88-A327-EF2FA40A63E2}" type="datetimeFigureOut">
              <a:rPr lang="en-US" smtClean="0"/>
              <a:t>4/23/2018</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BDC3ECA1-FAA7-49C5-94BB-77A133B6D966}"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FF783093-B6CA-4C88-A327-EF2FA40A63E2}" type="datetimeFigureOut">
              <a:rPr lang="en-US" smtClean="0"/>
              <a:t>4/23/2018</a:t>
            </a:fld>
            <a:endParaRPr lang="en-US"/>
          </a:p>
        </p:txBody>
      </p:sp>
      <p:sp>
        <p:nvSpPr>
          <p:cNvPr id="9" name="Slide Number Placeholder 8"/>
          <p:cNvSpPr>
            <a:spLocks noGrp="1"/>
          </p:cNvSpPr>
          <p:nvPr>
            <p:ph type="sldNum" sz="quarter" idx="15"/>
          </p:nvPr>
        </p:nvSpPr>
        <p:spPr/>
        <p:txBody>
          <a:bodyPr rtlCol="0"/>
          <a:lstStyle/>
          <a:p>
            <a:fld id="{BDC3ECA1-FAA7-49C5-94BB-77A133B6D966}" type="slidenum">
              <a:rPr lang="en-US" smtClean="0"/>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FF783093-B6CA-4C88-A327-EF2FA40A63E2}" type="datetimeFigureOut">
              <a:rPr lang="en-US" smtClean="0"/>
              <a:t>4/23/2018</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BDC3ECA1-FAA7-49C5-94BB-77A133B6D966}"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FF783093-B6CA-4C88-A327-EF2FA40A63E2}" type="datetimeFigureOut">
              <a:rPr lang="en-US" smtClean="0"/>
              <a:t>4/23/2018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3ECA1-FAA7-49C5-94BB-77A133B6D966}" type="slidenum">
              <a:rPr lang="en-US" smtClean="0"/>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F783093-B6CA-4C88-A327-EF2FA40A63E2}" type="datetimeFigureOut">
              <a:rPr lang="en-US" smtClean="0"/>
              <a:t>4/23/2018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3ECA1-FAA7-49C5-94BB-77A133B6D966}" type="slidenum">
              <a:rPr lang="en-US" smtClean="0"/>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FF783093-B6CA-4C88-A327-EF2FA40A63E2}" type="datetimeFigureOut">
              <a:rPr lang="en-US" smtClean="0"/>
              <a:t>4/23/2018</a:t>
            </a:fld>
            <a:endParaRPr lang="en-US"/>
          </a:p>
        </p:txBody>
      </p:sp>
      <p:sp>
        <p:nvSpPr>
          <p:cNvPr id="7" name="Slide Number Placeholder 6"/>
          <p:cNvSpPr>
            <a:spLocks noGrp="1"/>
          </p:cNvSpPr>
          <p:nvPr>
            <p:ph type="sldNum" sz="quarter" idx="11"/>
          </p:nvPr>
        </p:nvSpPr>
        <p:spPr/>
        <p:txBody>
          <a:bodyPr rtlCol="0"/>
          <a:lstStyle/>
          <a:p>
            <a:fld id="{BDC3ECA1-FAA7-49C5-94BB-77A133B6D966}" type="slidenum">
              <a:rPr lang="en-US" smtClean="0"/>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783093-B6CA-4C88-A327-EF2FA40A63E2}" type="datetimeFigureOut">
              <a:rPr lang="en-US" smtClean="0"/>
              <a:t>4/23/2018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3ECA1-FAA7-49C5-94BB-77A133B6D96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FF783093-B6CA-4C88-A327-EF2FA40A63E2}" type="datetimeFigureOut">
              <a:rPr lang="en-US" smtClean="0"/>
              <a:t>4/23/2018</a:t>
            </a:fld>
            <a:endParaRPr lang="en-US"/>
          </a:p>
        </p:txBody>
      </p:sp>
      <p:sp>
        <p:nvSpPr>
          <p:cNvPr id="22" name="Slide Number Placeholder 21"/>
          <p:cNvSpPr>
            <a:spLocks noGrp="1"/>
          </p:cNvSpPr>
          <p:nvPr>
            <p:ph type="sldNum" sz="quarter" idx="15"/>
          </p:nvPr>
        </p:nvSpPr>
        <p:spPr/>
        <p:txBody>
          <a:bodyPr rtlCol="0"/>
          <a:lstStyle/>
          <a:p>
            <a:fld id="{BDC3ECA1-FAA7-49C5-94BB-77A133B6D966}" type="slidenum">
              <a:rPr lang="en-US" smtClean="0"/>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FF783093-B6CA-4C88-A327-EF2FA40A63E2}" type="datetimeFigureOut">
              <a:rPr lang="en-US" smtClean="0"/>
              <a:t>4/23/2018</a:t>
            </a:fld>
            <a:endParaRPr lang="en-US"/>
          </a:p>
        </p:txBody>
      </p:sp>
      <p:sp>
        <p:nvSpPr>
          <p:cNvPr id="18" name="Slide Number Placeholder 17"/>
          <p:cNvSpPr>
            <a:spLocks noGrp="1"/>
          </p:cNvSpPr>
          <p:nvPr>
            <p:ph type="sldNum" sz="quarter" idx="11"/>
          </p:nvPr>
        </p:nvSpPr>
        <p:spPr/>
        <p:txBody>
          <a:bodyPr rtlCol="0"/>
          <a:lstStyle/>
          <a:p>
            <a:fld id="{BDC3ECA1-FAA7-49C5-94BB-77A133B6D966}" type="slidenum">
              <a:rPr lang="en-US" smtClean="0"/>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F783093-B6CA-4C88-A327-EF2FA40A63E2}" type="datetimeFigureOut">
              <a:rPr lang="en-US" smtClean="0"/>
              <a:t>4/23/2018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3ECA1-FAA7-49C5-94BB-77A133B6D96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F783093-B6CA-4C88-A327-EF2FA40A63E2}" type="datetimeFigureOut">
              <a:rPr lang="en-US" smtClean="0"/>
              <a:t>4/23/2018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3ECA1-FAA7-49C5-94BB-77A133B6D966}"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FF783093-B6CA-4C88-A327-EF2FA40A63E2}" type="datetimeFigureOut">
              <a:rPr lang="en-US" smtClean="0"/>
              <a:t>4/23/2018</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BDC3ECA1-FAA7-49C5-94BB-77A133B6D966}"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wmf"/></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5.png"/><Relationship Id="rId5" Type="http://schemas.openxmlformats.org/officeDocument/2006/relationships/image" Target="../media/image4.wmf"/><Relationship Id="rId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9.w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0.w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1.w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12.wmf"/></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www.geeksforgeeks.org/divide-and-conquer-set-1-find-closest-pair-of-points/"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15.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quiz.geeksforgeeks.org/merge-sort/"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20.w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23.w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295400"/>
            <a:ext cx="6172200" cy="2895600"/>
          </a:xfrm>
        </p:spPr>
        <p:txBody>
          <a:bodyPr>
            <a:normAutofit/>
          </a:bodyPr>
          <a:lstStyle/>
          <a:p>
            <a:r>
              <a:rPr lang="en-US" sz="4000" dirty="0" smtClean="0"/>
              <a:t>Searching &amp; Sorting</a:t>
            </a:r>
            <a:endParaRPr lang="en-US" sz="4000"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8327332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SEARCHING: linear search</a:t>
            </a:r>
            <a:endParaRPr lang="en-US" dirty="0"/>
          </a:p>
        </p:txBody>
      </p:sp>
      <p:sp>
        <p:nvSpPr>
          <p:cNvPr id="3" name="Content Placeholder 2"/>
          <p:cNvSpPr>
            <a:spLocks noGrp="1"/>
          </p:cNvSpPr>
          <p:nvPr>
            <p:ph idx="1"/>
          </p:nvPr>
        </p:nvSpPr>
        <p:spPr>
          <a:xfrm>
            <a:off x="457200" y="1600200"/>
            <a:ext cx="7924800" cy="4873752"/>
          </a:xfrm>
        </p:spPr>
        <p:txBody>
          <a:bodyPr/>
          <a:lstStyle/>
          <a:p>
            <a:pPr marL="0" indent="0" fontAlgn="base">
              <a:buNone/>
            </a:pPr>
            <a:r>
              <a:rPr lang="en-US" dirty="0"/>
              <a:t>Given an array </a:t>
            </a:r>
            <a:r>
              <a:rPr lang="en-US" dirty="0" err="1"/>
              <a:t>arr</a:t>
            </a:r>
            <a:r>
              <a:rPr lang="en-US" dirty="0"/>
              <a:t>[] of n elements, write a function to search a given element x in </a:t>
            </a:r>
            <a:r>
              <a:rPr lang="en-US" dirty="0" err="1"/>
              <a:t>arr</a:t>
            </a:r>
            <a:r>
              <a:rPr lang="en-US" dirty="0" smtClean="0"/>
              <a:t>[].</a:t>
            </a:r>
            <a:r>
              <a:rPr lang="en-US" dirty="0"/>
              <a:t> A simple approach is to do </a:t>
            </a:r>
            <a:r>
              <a:rPr lang="en-US" b="1" dirty="0"/>
              <a:t>linear search</a:t>
            </a:r>
            <a:r>
              <a:rPr lang="en-US" dirty="0"/>
              <a:t>, </a:t>
            </a:r>
            <a:r>
              <a:rPr lang="en-US" dirty="0" err="1"/>
              <a:t>i.e</a:t>
            </a:r>
            <a:endParaRPr lang="en-US" dirty="0"/>
          </a:p>
          <a:p>
            <a:pPr fontAlgn="base"/>
            <a:r>
              <a:rPr lang="en-US" dirty="0"/>
              <a:t>Start from the leftmost element of </a:t>
            </a:r>
            <a:r>
              <a:rPr lang="en-US" dirty="0" err="1"/>
              <a:t>arr</a:t>
            </a:r>
            <a:r>
              <a:rPr lang="en-US" dirty="0"/>
              <a:t>[] and one by one compare x with each element of </a:t>
            </a:r>
            <a:r>
              <a:rPr lang="en-US" dirty="0" err="1"/>
              <a:t>arr</a:t>
            </a:r>
            <a:r>
              <a:rPr lang="en-US" dirty="0"/>
              <a:t>[]</a:t>
            </a:r>
          </a:p>
          <a:p>
            <a:pPr fontAlgn="base"/>
            <a:r>
              <a:rPr lang="en-US" dirty="0"/>
              <a:t>If x matches with an element, return the index.</a:t>
            </a:r>
          </a:p>
          <a:p>
            <a:pPr fontAlgn="base"/>
            <a:r>
              <a:rPr lang="en-US" dirty="0"/>
              <a:t>If x doesn’t match with any of elements, return </a:t>
            </a:r>
            <a:r>
              <a:rPr lang="en-US" dirty="0" smtClean="0"/>
              <a:t>-</a:t>
            </a:r>
            <a:r>
              <a:rPr lang="en-US" dirty="0"/>
              <a:t>1</a:t>
            </a:r>
            <a:r>
              <a:rPr lang="en-US" dirty="0" smtClean="0"/>
              <a:t>.</a:t>
            </a:r>
          </a:p>
          <a:p>
            <a:pPr marL="0" indent="0" fontAlgn="base">
              <a:buNone/>
            </a:pPr>
            <a:endParaRPr lang="en-US" dirty="0"/>
          </a:p>
          <a:p>
            <a:endParaRPr 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2183441014"/>
              </p:ext>
            </p:extLst>
          </p:nvPr>
        </p:nvGraphicFramePr>
        <p:xfrm>
          <a:off x="4003862" y="4808538"/>
          <a:ext cx="230492" cy="438150"/>
        </p:xfrm>
        <a:graphic>
          <a:graphicData uri="http://schemas.openxmlformats.org/presentationml/2006/ole">
            <mc:AlternateContent xmlns:mc="http://schemas.openxmlformats.org/markup-compatibility/2006">
              <mc:Choice xmlns:v="urn:schemas-microsoft-com:vml" Requires="v">
                <p:oleObj spid="_x0000_s1067" name="Packager Shell Object" showAsIcon="1" r:id="rId3" imgW="390960" imgH="437760" progId="Package">
                  <p:embed/>
                </p:oleObj>
              </mc:Choice>
              <mc:Fallback>
                <p:oleObj name="Packager Shell Object" showAsIcon="1" r:id="rId3" imgW="390960" imgH="437760" progId="Package">
                  <p:embed/>
                  <p:pic>
                    <p:nvPicPr>
                      <p:cNvPr id="0" name=""/>
                      <p:cNvPicPr/>
                      <p:nvPr/>
                    </p:nvPicPr>
                    <p:blipFill>
                      <a:blip r:embed="rId4"/>
                      <a:stretch>
                        <a:fillRect/>
                      </a:stretch>
                    </p:blipFill>
                    <p:spPr>
                      <a:xfrm>
                        <a:off x="4003862" y="4808538"/>
                        <a:ext cx="230492" cy="438150"/>
                      </a:xfrm>
                      <a:prstGeom prst="rect">
                        <a:avLst/>
                      </a:prstGeom>
                    </p:spPr>
                  </p:pic>
                </p:oleObj>
              </mc:Fallback>
            </mc:AlternateContent>
          </a:graphicData>
        </a:graphic>
      </p:graphicFrame>
      <p:sp>
        <p:nvSpPr>
          <p:cNvPr id="6" name="Right Arrow 5"/>
          <p:cNvSpPr/>
          <p:nvPr/>
        </p:nvSpPr>
        <p:spPr>
          <a:xfrm>
            <a:off x="1845609" y="4772119"/>
            <a:ext cx="1623732" cy="5109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Refer Program here</a:t>
            </a:r>
            <a:endParaRPr lang="en-US" dirty="0"/>
          </a:p>
        </p:txBody>
      </p:sp>
    </p:spTree>
    <p:extLst>
      <p:ext uri="{BB962C8B-B14F-4D97-AF65-F5344CB8AC3E}">
        <p14:creationId xmlns:p14="http://schemas.microsoft.com/office/powerpoint/2010/main" val="417896072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a:blip r:embed="rId2"/>
          <a:stretch>
            <a:fillRect/>
          </a:stretch>
        </p:blipFill>
        <p:spPr>
          <a:xfrm>
            <a:off x="838200" y="1817687"/>
            <a:ext cx="6553200" cy="4438650"/>
          </a:xfrm>
          <a:prstGeom prst="rect">
            <a:avLst/>
          </a:prstGeom>
        </p:spPr>
      </p:pic>
    </p:spTree>
    <p:extLst>
      <p:ext uri="{BB962C8B-B14F-4D97-AF65-F5344CB8AC3E}">
        <p14:creationId xmlns:p14="http://schemas.microsoft.com/office/powerpoint/2010/main" val="225177255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search</a:t>
            </a:r>
          </a:p>
        </p:txBody>
      </p:sp>
      <p:sp>
        <p:nvSpPr>
          <p:cNvPr id="3" name="Content Placeholder 2"/>
          <p:cNvSpPr>
            <a:spLocks noGrp="1"/>
          </p:cNvSpPr>
          <p:nvPr>
            <p:ph idx="1"/>
          </p:nvPr>
        </p:nvSpPr>
        <p:spPr/>
        <p:txBody>
          <a:bodyPr/>
          <a:lstStyle/>
          <a:p>
            <a:r>
              <a:rPr lang="en-US" dirty="0"/>
              <a:t>Linear search is rarely used practically because other search algorithms such as the binary search algorithm and hash tables allow significantly faster searching comparison to Linear search</a:t>
            </a:r>
            <a:r>
              <a:rPr lang="en-US" dirty="0" smtClean="0"/>
              <a:t>.</a:t>
            </a:r>
          </a:p>
          <a:p>
            <a:pPr marL="0" indent="0">
              <a:buNone/>
            </a:pPr>
            <a:r>
              <a:rPr lang="en-US" b="1" dirty="0" smtClean="0">
                <a:solidFill>
                  <a:srgbClr val="002060"/>
                </a:solidFill>
              </a:rPr>
              <a:t>Performance</a:t>
            </a:r>
          </a:p>
          <a:p>
            <a:r>
              <a:rPr lang="en-US" dirty="0" smtClean="0"/>
              <a:t>Number of comparisons made in searching a record determines the efficiency of the technique</a:t>
            </a:r>
          </a:p>
          <a:p>
            <a:r>
              <a:rPr lang="en-US" dirty="0" smtClean="0"/>
              <a:t>The worst case efficiency of this algorithm is O(n)</a:t>
            </a:r>
          </a:p>
        </p:txBody>
      </p:sp>
    </p:spTree>
    <p:extLst>
      <p:ext uri="{BB962C8B-B14F-4D97-AF65-F5344CB8AC3E}">
        <p14:creationId xmlns:p14="http://schemas.microsoft.com/office/powerpoint/2010/main" val="116320683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Binary search</a:t>
            </a:r>
            <a:endParaRPr lang="en-US" dirty="0"/>
          </a:p>
        </p:txBody>
      </p:sp>
      <p:sp>
        <p:nvSpPr>
          <p:cNvPr id="3" name="Content Placeholder 2"/>
          <p:cNvSpPr>
            <a:spLocks noGrp="1"/>
          </p:cNvSpPr>
          <p:nvPr>
            <p:ph idx="1"/>
          </p:nvPr>
        </p:nvSpPr>
        <p:spPr/>
        <p:txBody>
          <a:bodyPr/>
          <a:lstStyle/>
          <a:p>
            <a:pPr marL="0" indent="0" fontAlgn="base">
              <a:buNone/>
            </a:pPr>
            <a:r>
              <a:rPr lang="en-US" dirty="0"/>
              <a:t>Given a </a:t>
            </a:r>
            <a:r>
              <a:rPr lang="en-US" b="1" dirty="0">
                <a:solidFill>
                  <a:srgbClr val="002060"/>
                </a:solidFill>
              </a:rPr>
              <a:t>sorted array </a:t>
            </a:r>
            <a:r>
              <a:rPr lang="en-US" b="1" dirty="0" err="1">
                <a:solidFill>
                  <a:srgbClr val="002060"/>
                </a:solidFill>
              </a:rPr>
              <a:t>arr</a:t>
            </a:r>
            <a:r>
              <a:rPr lang="en-US" b="1" dirty="0">
                <a:solidFill>
                  <a:srgbClr val="002060"/>
                </a:solidFill>
              </a:rPr>
              <a:t>[] of n elements</a:t>
            </a:r>
            <a:r>
              <a:rPr lang="en-US" dirty="0"/>
              <a:t>, write a function to search a given element </a:t>
            </a:r>
            <a:r>
              <a:rPr lang="en-US" dirty="0" smtClean="0"/>
              <a:t>item </a:t>
            </a:r>
            <a:r>
              <a:rPr lang="en-US" dirty="0"/>
              <a:t>in </a:t>
            </a:r>
            <a:r>
              <a:rPr lang="en-US" dirty="0" err="1"/>
              <a:t>arr</a:t>
            </a:r>
            <a:r>
              <a:rPr lang="en-US" dirty="0"/>
              <a:t>[].</a:t>
            </a:r>
            <a:endParaRPr lang="en-US" b="1" dirty="0" smtClean="0"/>
          </a:p>
          <a:p>
            <a:pPr marL="0" indent="0" fontAlgn="base">
              <a:buNone/>
            </a:pPr>
            <a:r>
              <a:rPr lang="en-US" b="1" dirty="0" smtClean="0"/>
              <a:t>Binary Search</a:t>
            </a:r>
            <a:endParaRPr 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1622994072"/>
              </p:ext>
            </p:extLst>
          </p:nvPr>
        </p:nvGraphicFramePr>
        <p:xfrm>
          <a:off x="5638800" y="5843309"/>
          <a:ext cx="323850" cy="438150"/>
        </p:xfrm>
        <a:graphic>
          <a:graphicData uri="http://schemas.openxmlformats.org/presentationml/2006/ole">
            <mc:AlternateContent xmlns:mc="http://schemas.openxmlformats.org/markup-compatibility/2006">
              <mc:Choice xmlns:v="urn:schemas-microsoft-com:vml" Requires="v">
                <p:oleObj spid="_x0000_s2093" name="Packager Shell Object" showAsIcon="1" r:id="rId4" imgW="431640" imgH="437760" progId="Package">
                  <p:embed/>
                </p:oleObj>
              </mc:Choice>
              <mc:Fallback>
                <p:oleObj name="Packager Shell Object" showAsIcon="1" r:id="rId4" imgW="431640" imgH="437760" progId="Package">
                  <p:embed/>
                  <p:pic>
                    <p:nvPicPr>
                      <p:cNvPr id="0" name=""/>
                      <p:cNvPicPr/>
                      <p:nvPr/>
                    </p:nvPicPr>
                    <p:blipFill>
                      <a:blip r:embed="rId5"/>
                      <a:stretch>
                        <a:fillRect/>
                      </a:stretch>
                    </p:blipFill>
                    <p:spPr>
                      <a:xfrm>
                        <a:off x="5638800" y="5843309"/>
                        <a:ext cx="323850" cy="438150"/>
                      </a:xfrm>
                      <a:prstGeom prst="rect">
                        <a:avLst/>
                      </a:prstGeom>
                    </p:spPr>
                  </p:pic>
                </p:oleObj>
              </mc:Fallback>
            </mc:AlternateContent>
          </a:graphicData>
        </a:graphic>
      </p:graphicFrame>
      <p:sp>
        <p:nvSpPr>
          <p:cNvPr id="6" name="Right Arrow 5"/>
          <p:cNvSpPr/>
          <p:nvPr/>
        </p:nvSpPr>
        <p:spPr>
          <a:xfrm>
            <a:off x="2286000" y="5486401"/>
            <a:ext cx="2586318" cy="11519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ln w="0"/>
                <a:solidFill>
                  <a:schemeClr val="tx1"/>
                </a:solidFill>
                <a:effectLst>
                  <a:outerShdw blurRad="38100" dist="19050" dir="2700000" algn="tl" rotWithShape="0">
                    <a:schemeClr val="dk1">
                      <a:alpha val="40000"/>
                    </a:schemeClr>
                  </a:outerShdw>
                </a:effectLst>
              </a:rPr>
              <a:t>Refer program here</a:t>
            </a:r>
            <a:endParaRPr lang="en-US" b="1" dirty="0">
              <a:ln w="0"/>
              <a:solidFill>
                <a:schemeClr val="tx1"/>
              </a:solidFill>
              <a:effectLst>
                <a:outerShdw blurRad="38100" dist="19050" dir="2700000" algn="tl" rotWithShape="0">
                  <a:schemeClr val="dk1">
                    <a:alpha val="40000"/>
                  </a:schemeClr>
                </a:outerShdw>
              </a:effectLst>
            </a:endParaRPr>
          </a:p>
        </p:txBody>
      </p:sp>
      <p:pic>
        <p:nvPicPr>
          <p:cNvPr id="8" name="Picture 7"/>
          <p:cNvPicPr>
            <a:picLocks noChangeAspect="1"/>
          </p:cNvPicPr>
          <p:nvPr/>
        </p:nvPicPr>
        <p:blipFill>
          <a:blip r:embed="rId6"/>
          <a:stretch>
            <a:fillRect/>
          </a:stretch>
        </p:blipFill>
        <p:spPr>
          <a:xfrm>
            <a:off x="685800" y="2895601"/>
            <a:ext cx="6019800" cy="2590800"/>
          </a:xfrm>
          <a:prstGeom prst="rect">
            <a:avLst/>
          </a:prstGeom>
        </p:spPr>
      </p:pic>
    </p:spTree>
    <p:extLst>
      <p:ext uri="{BB962C8B-B14F-4D97-AF65-F5344CB8AC3E}">
        <p14:creationId xmlns:p14="http://schemas.microsoft.com/office/powerpoint/2010/main" val="76116913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a:blip r:embed="rId2"/>
          <a:stretch>
            <a:fillRect/>
          </a:stretch>
        </p:blipFill>
        <p:spPr>
          <a:xfrm>
            <a:off x="1333500" y="1905000"/>
            <a:ext cx="6438900" cy="4343400"/>
          </a:xfrm>
          <a:prstGeom prst="rect">
            <a:avLst/>
          </a:prstGeom>
        </p:spPr>
      </p:pic>
    </p:spTree>
    <p:extLst>
      <p:ext uri="{BB962C8B-B14F-4D97-AF65-F5344CB8AC3E}">
        <p14:creationId xmlns:p14="http://schemas.microsoft.com/office/powerpoint/2010/main" val="55304822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base"/>
            <a:r>
              <a:rPr lang="en-US" dirty="0"/>
              <a:t>Linear Search vs Binary Search</a:t>
            </a:r>
          </a:p>
        </p:txBody>
      </p:sp>
      <p:sp>
        <p:nvSpPr>
          <p:cNvPr id="3" name="Content Placeholder 2"/>
          <p:cNvSpPr>
            <a:spLocks noGrp="1"/>
          </p:cNvSpPr>
          <p:nvPr>
            <p:ph idx="1"/>
          </p:nvPr>
        </p:nvSpPr>
        <p:spPr/>
        <p:txBody>
          <a:bodyPr/>
          <a:lstStyle/>
          <a:p>
            <a:pPr marL="0" indent="0" fontAlgn="base">
              <a:buNone/>
            </a:pPr>
            <a:r>
              <a:rPr lang="en-US" b="1" dirty="0" smtClean="0"/>
              <a:t>Important </a:t>
            </a:r>
            <a:r>
              <a:rPr lang="en-US" b="1" dirty="0"/>
              <a:t>Differences</a:t>
            </a:r>
            <a:endParaRPr lang="en-US" dirty="0"/>
          </a:p>
          <a:p>
            <a:pPr fontAlgn="base"/>
            <a:r>
              <a:rPr lang="en-US" dirty="0"/>
              <a:t>Input data needs to be sorted in Binary Search and not in Linear Search</a:t>
            </a:r>
          </a:p>
          <a:p>
            <a:pPr fontAlgn="base"/>
            <a:r>
              <a:rPr lang="en-US" dirty="0"/>
              <a:t>Linear search does the sequential access whereas Binary search access data randomly.</a:t>
            </a:r>
          </a:p>
          <a:p>
            <a:pPr fontAlgn="base"/>
            <a:r>
              <a:rPr lang="en-US" dirty="0">
                <a:solidFill>
                  <a:srgbClr val="C00000"/>
                </a:solidFill>
              </a:rPr>
              <a:t>Time complexity of linear search </a:t>
            </a:r>
            <a:r>
              <a:rPr lang="en-US" dirty="0" smtClean="0">
                <a:solidFill>
                  <a:srgbClr val="C00000"/>
                </a:solidFill>
              </a:rPr>
              <a:t>O(n</a:t>
            </a:r>
            <a:r>
              <a:rPr lang="en-US" dirty="0">
                <a:solidFill>
                  <a:srgbClr val="C00000"/>
                </a:solidFill>
              </a:rPr>
              <a:t>) , Binary search has time complexity O(log n).</a:t>
            </a:r>
          </a:p>
          <a:p>
            <a:pPr marL="0" indent="0" fontAlgn="base">
              <a:buNone/>
            </a:pPr>
            <a:endParaRPr lang="en-US" dirty="0"/>
          </a:p>
        </p:txBody>
      </p:sp>
    </p:spTree>
    <p:extLst>
      <p:ext uri="{BB962C8B-B14F-4D97-AF65-F5344CB8AC3E}">
        <p14:creationId xmlns:p14="http://schemas.microsoft.com/office/powerpoint/2010/main" val="63729499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a:blip r:embed="rId2"/>
          <a:stretch>
            <a:fillRect/>
          </a:stretch>
        </p:blipFill>
        <p:spPr>
          <a:xfrm>
            <a:off x="1066800" y="1828800"/>
            <a:ext cx="6858000" cy="4098925"/>
          </a:xfrm>
          <a:prstGeom prst="rect">
            <a:avLst/>
          </a:prstGeom>
        </p:spPr>
      </p:pic>
    </p:spTree>
    <p:extLst>
      <p:ext uri="{BB962C8B-B14F-4D97-AF65-F5344CB8AC3E}">
        <p14:creationId xmlns:p14="http://schemas.microsoft.com/office/powerpoint/2010/main" val="50617356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base"/>
            <a:r>
              <a:rPr lang="en-US" dirty="0"/>
              <a:t>Linear Search vs Binary Search</a:t>
            </a:r>
          </a:p>
        </p:txBody>
      </p:sp>
      <p:pic>
        <p:nvPicPr>
          <p:cNvPr id="4" name="Content Placeholder 3"/>
          <p:cNvPicPr>
            <a:picLocks noGrp="1" noChangeAspect="1"/>
          </p:cNvPicPr>
          <p:nvPr>
            <p:ph idx="1"/>
          </p:nvPr>
        </p:nvPicPr>
        <p:blipFill>
          <a:blip r:embed="rId3"/>
          <a:stretch>
            <a:fillRect/>
          </a:stretch>
        </p:blipFill>
        <p:spPr>
          <a:xfrm>
            <a:off x="914401" y="1655996"/>
            <a:ext cx="6781800" cy="4440004"/>
          </a:xfrm>
          <a:prstGeom prst="rect">
            <a:avLst/>
          </a:prstGeom>
        </p:spPr>
      </p:pic>
    </p:spTree>
    <p:extLst>
      <p:ext uri="{BB962C8B-B14F-4D97-AF65-F5344CB8AC3E}">
        <p14:creationId xmlns:p14="http://schemas.microsoft.com/office/powerpoint/2010/main" val="7864296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Sorting</a:t>
            </a:r>
            <a:endParaRPr lang="en-US" dirty="0"/>
          </a:p>
        </p:txBody>
      </p:sp>
      <p:sp>
        <p:nvSpPr>
          <p:cNvPr id="3" name="Content Placeholder 2"/>
          <p:cNvSpPr>
            <a:spLocks noGrp="1"/>
          </p:cNvSpPr>
          <p:nvPr>
            <p:ph idx="1"/>
          </p:nvPr>
        </p:nvSpPr>
        <p:spPr/>
        <p:txBody>
          <a:bodyPr/>
          <a:lstStyle/>
          <a:p>
            <a:r>
              <a:rPr lang="en-US" dirty="0" smtClean="0"/>
              <a:t>Sorting is the process of arranging the data in some logical order.</a:t>
            </a:r>
          </a:p>
          <a:p>
            <a:r>
              <a:rPr lang="en-US" dirty="0" smtClean="0"/>
              <a:t>This logical order may be ascending or descending in case of numeric values or dictionary order in case of alphanumeric values.</a:t>
            </a:r>
          </a:p>
          <a:p>
            <a:endParaRPr lang="en-US" dirty="0" smtClean="0"/>
          </a:p>
          <a:p>
            <a:endParaRPr lang="en-US" dirty="0"/>
          </a:p>
        </p:txBody>
      </p:sp>
    </p:spTree>
    <p:extLst>
      <p:ext uri="{BB962C8B-B14F-4D97-AF65-F5344CB8AC3E}">
        <p14:creationId xmlns:p14="http://schemas.microsoft.com/office/powerpoint/2010/main" val="174350771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Categories of Sorting</a:t>
            </a:r>
            <a:endParaRPr lang="en-US" dirty="0"/>
          </a:p>
        </p:txBody>
      </p:sp>
      <p:sp>
        <p:nvSpPr>
          <p:cNvPr id="3" name="Content Placeholder 2"/>
          <p:cNvSpPr>
            <a:spLocks noGrp="1"/>
          </p:cNvSpPr>
          <p:nvPr>
            <p:ph sz="quarter" idx="1"/>
          </p:nvPr>
        </p:nvSpPr>
        <p:spPr/>
        <p:txBody>
          <a:bodyPr>
            <a:normAutofit/>
          </a:bodyPr>
          <a:lstStyle/>
          <a:p>
            <a:r>
              <a:rPr lang="en-US" dirty="0"/>
              <a:t>The techniques of sorting can be divided into two categories. These are:</a:t>
            </a:r>
          </a:p>
          <a:p>
            <a:r>
              <a:rPr lang="en-US" dirty="0"/>
              <a:t>Internal Sorting</a:t>
            </a:r>
          </a:p>
          <a:p>
            <a:r>
              <a:rPr lang="en-US" dirty="0"/>
              <a:t>External Sorting</a:t>
            </a:r>
          </a:p>
          <a:p>
            <a:endParaRPr lang="en-US" dirty="0"/>
          </a:p>
        </p:txBody>
      </p:sp>
    </p:spTree>
    <p:extLst>
      <p:ext uri="{BB962C8B-B14F-4D97-AF65-F5344CB8AC3E}">
        <p14:creationId xmlns:p14="http://schemas.microsoft.com/office/powerpoint/2010/main" val="6091239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lnSpcReduction="10000"/>
          </a:bodyPr>
          <a:lstStyle/>
          <a:p>
            <a:r>
              <a:rPr lang="en-US" b="1" dirty="0"/>
              <a:t>Internal Sorting: </a:t>
            </a:r>
            <a:r>
              <a:rPr lang="en-US" dirty="0"/>
              <a:t>If all the data that is to be sorted can be adjusted at a time in main memory, the internal sorting method is being performed</a:t>
            </a:r>
            <a:r>
              <a:rPr lang="en-US" dirty="0" smtClean="0"/>
              <a:t>.</a:t>
            </a:r>
          </a:p>
          <a:p>
            <a:r>
              <a:rPr lang="en-US" dirty="0" smtClean="0"/>
              <a:t>Bubble sort, Insertion sort, Selection sort, Quick sort, Heap sort are examples of internal sorting.</a:t>
            </a:r>
          </a:p>
          <a:p>
            <a:pPr marL="0" indent="0">
              <a:buNone/>
            </a:pPr>
            <a:endParaRPr lang="en-US" dirty="0"/>
          </a:p>
          <a:p>
            <a:r>
              <a:rPr lang="en-US" b="1" dirty="0"/>
              <a:t>External Sorting: </a:t>
            </a:r>
            <a:r>
              <a:rPr lang="en-US" dirty="0"/>
              <a:t>When the data that is to be sorted cannot be accommodated in the memory at the same time and some has to be kept in auxiliary memory such as hard disk, floppy disk, magnetic tapes </a:t>
            </a:r>
            <a:r>
              <a:rPr lang="en-US" dirty="0" smtClean="0"/>
              <a:t>etc., </a:t>
            </a:r>
            <a:r>
              <a:rPr lang="en-US" dirty="0"/>
              <a:t>then external sorting methods are performed</a:t>
            </a:r>
            <a:r>
              <a:rPr lang="en-US" dirty="0" smtClean="0"/>
              <a:t>.</a:t>
            </a:r>
          </a:p>
          <a:p>
            <a:r>
              <a:rPr lang="en-US" dirty="0" smtClean="0"/>
              <a:t>Merge sort is an example of external sorting.</a:t>
            </a:r>
            <a:endParaRPr lang="en-US" dirty="0"/>
          </a:p>
          <a:p>
            <a:endParaRPr lang="en-US" dirty="0"/>
          </a:p>
        </p:txBody>
      </p:sp>
    </p:spTree>
    <p:extLst>
      <p:ext uri="{BB962C8B-B14F-4D97-AF65-F5344CB8AC3E}">
        <p14:creationId xmlns:p14="http://schemas.microsoft.com/office/powerpoint/2010/main" val="250812168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Complexity of Sorting Algorithms</a:t>
            </a:r>
            <a:endParaRPr lang="en-US" dirty="0"/>
          </a:p>
        </p:txBody>
      </p:sp>
      <p:sp>
        <p:nvSpPr>
          <p:cNvPr id="3" name="Content Placeholder 2"/>
          <p:cNvSpPr>
            <a:spLocks noGrp="1"/>
          </p:cNvSpPr>
          <p:nvPr>
            <p:ph sz="quarter" idx="1"/>
          </p:nvPr>
        </p:nvSpPr>
        <p:spPr/>
        <p:txBody>
          <a:bodyPr>
            <a:normAutofit lnSpcReduction="10000"/>
          </a:bodyPr>
          <a:lstStyle/>
          <a:p>
            <a:r>
              <a:rPr lang="en-US" dirty="0"/>
              <a:t>The complexity of sorting algorithm calculates the running time of a function in which 'n' number of items are to be sorted. The choice for which sorting method is suitable for a problem depends on several dependency configurations for different problems. The most noteworthy of these considerations are:</a:t>
            </a:r>
          </a:p>
          <a:p>
            <a:r>
              <a:rPr lang="en-US" dirty="0"/>
              <a:t>The length of time spent by the programmer in programming a specific sorting program</a:t>
            </a:r>
          </a:p>
          <a:p>
            <a:r>
              <a:rPr lang="en-US" dirty="0"/>
              <a:t>Amount of machine time necessary for running the program</a:t>
            </a:r>
          </a:p>
          <a:p>
            <a:r>
              <a:rPr lang="en-US" dirty="0"/>
              <a:t>The amount of memory necessary for running the program</a:t>
            </a:r>
          </a:p>
          <a:p>
            <a:endParaRPr lang="en-US" dirty="0"/>
          </a:p>
        </p:txBody>
      </p:sp>
    </p:spTree>
    <p:extLst>
      <p:ext uri="{BB962C8B-B14F-4D97-AF65-F5344CB8AC3E}">
        <p14:creationId xmlns:p14="http://schemas.microsoft.com/office/powerpoint/2010/main" val="373860220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Sorting Techniques</a:t>
            </a:r>
            <a:endParaRPr lang="en-US" dirty="0"/>
          </a:p>
        </p:txBody>
      </p:sp>
      <p:sp>
        <p:nvSpPr>
          <p:cNvPr id="3" name="Content Placeholder 2"/>
          <p:cNvSpPr>
            <a:spLocks noGrp="1"/>
          </p:cNvSpPr>
          <p:nvPr>
            <p:ph sz="quarter" idx="1"/>
          </p:nvPr>
        </p:nvSpPr>
        <p:spPr/>
        <p:txBody>
          <a:bodyPr/>
          <a:lstStyle/>
          <a:p>
            <a:r>
              <a:rPr lang="en-US" dirty="0" smtClean="0"/>
              <a:t>Bubble Sort</a:t>
            </a:r>
          </a:p>
          <a:p>
            <a:r>
              <a:rPr lang="en-US" dirty="0" smtClean="0"/>
              <a:t>Selection Sort</a:t>
            </a:r>
          </a:p>
          <a:p>
            <a:r>
              <a:rPr lang="en-US" dirty="0" smtClean="0"/>
              <a:t>Insertion Sort</a:t>
            </a:r>
          </a:p>
          <a:p>
            <a:r>
              <a:rPr lang="en-US" dirty="0" smtClean="0"/>
              <a:t>Quick Sort</a:t>
            </a:r>
          </a:p>
          <a:p>
            <a:r>
              <a:rPr lang="en-US" dirty="0" smtClean="0"/>
              <a:t>Heap Sort</a:t>
            </a:r>
          </a:p>
          <a:p>
            <a:r>
              <a:rPr lang="en-US" dirty="0" smtClean="0"/>
              <a:t>Merge Sort</a:t>
            </a:r>
            <a:endParaRPr lang="en-US" dirty="0"/>
          </a:p>
        </p:txBody>
      </p:sp>
    </p:spTree>
    <p:extLst>
      <p:ext uri="{BB962C8B-B14F-4D97-AF65-F5344CB8AC3E}">
        <p14:creationId xmlns:p14="http://schemas.microsoft.com/office/powerpoint/2010/main" val="124070350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Bubble sort</a:t>
            </a:r>
            <a:endParaRPr lang="en-US" dirty="0"/>
          </a:p>
        </p:txBody>
      </p:sp>
      <p:sp>
        <p:nvSpPr>
          <p:cNvPr id="3" name="Content Placeholder 2"/>
          <p:cNvSpPr>
            <a:spLocks noGrp="1"/>
          </p:cNvSpPr>
          <p:nvPr>
            <p:ph idx="1"/>
          </p:nvPr>
        </p:nvSpPr>
        <p:spPr/>
        <p:txBody>
          <a:bodyPr/>
          <a:lstStyle/>
          <a:p>
            <a:pPr fontAlgn="base"/>
            <a:r>
              <a:rPr lang="en-US" dirty="0" smtClean="0"/>
              <a:t>Bubble </a:t>
            </a:r>
            <a:r>
              <a:rPr lang="en-US" dirty="0"/>
              <a:t>Sort is the simplest sorting algorithm that works by repeatedly swapping the adjacent elements if they are in wrong order</a:t>
            </a:r>
            <a:r>
              <a:rPr lang="en-US" dirty="0" smtClean="0"/>
              <a:t>.</a:t>
            </a:r>
            <a:endParaRPr lang="en-US" dirty="0"/>
          </a:p>
          <a:p>
            <a:pPr fontAlgn="base"/>
            <a:r>
              <a:rPr lang="en-US" b="1" dirty="0"/>
              <a:t>Worst and Average Case Time Complexity: </a:t>
            </a:r>
            <a:r>
              <a:rPr lang="en-US" dirty="0"/>
              <a:t>O(n*n). Worst case occurs when array is reverse sorted</a:t>
            </a:r>
            <a:r>
              <a:rPr lang="en-US" dirty="0" smtClean="0"/>
              <a:t>.</a:t>
            </a:r>
          </a:p>
          <a:p>
            <a:pPr fontAlgn="base"/>
            <a:r>
              <a:rPr lang="en-US" b="1" dirty="0" smtClean="0"/>
              <a:t>Best </a:t>
            </a:r>
            <a:r>
              <a:rPr lang="en-US" b="1" dirty="0"/>
              <a:t>Case Time Complexity:</a:t>
            </a:r>
            <a:r>
              <a:rPr lang="en-US" dirty="0"/>
              <a:t> O(n). Best case occurs when array is already sorted.</a:t>
            </a:r>
          </a:p>
          <a:p>
            <a:pPr fontAlgn="base"/>
            <a:endParaRPr 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89015722"/>
              </p:ext>
            </p:extLst>
          </p:nvPr>
        </p:nvGraphicFramePr>
        <p:xfrm>
          <a:off x="5040057" y="5534679"/>
          <a:ext cx="354806" cy="438150"/>
        </p:xfrm>
        <a:graphic>
          <a:graphicData uri="http://schemas.openxmlformats.org/presentationml/2006/ole">
            <mc:AlternateContent xmlns:mc="http://schemas.openxmlformats.org/markup-compatibility/2006">
              <mc:Choice xmlns:v="urn:schemas-microsoft-com:vml" Requires="v">
                <p:oleObj spid="_x0000_s3115" name="Packager Shell Object" showAsIcon="1" r:id="rId3" imgW="472320" imgH="437760" progId="Package">
                  <p:embed/>
                </p:oleObj>
              </mc:Choice>
              <mc:Fallback>
                <p:oleObj name="Packager Shell Object" showAsIcon="1" r:id="rId3" imgW="472320" imgH="437760" progId="Package">
                  <p:embed/>
                  <p:pic>
                    <p:nvPicPr>
                      <p:cNvPr id="0" name=""/>
                      <p:cNvPicPr/>
                      <p:nvPr/>
                    </p:nvPicPr>
                    <p:blipFill>
                      <a:blip r:embed="rId4"/>
                      <a:stretch>
                        <a:fillRect/>
                      </a:stretch>
                    </p:blipFill>
                    <p:spPr>
                      <a:xfrm>
                        <a:off x="5040057" y="5534679"/>
                        <a:ext cx="354806" cy="438150"/>
                      </a:xfrm>
                      <a:prstGeom prst="rect">
                        <a:avLst/>
                      </a:prstGeom>
                    </p:spPr>
                  </p:pic>
                </p:oleObj>
              </mc:Fallback>
            </mc:AlternateContent>
          </a:graphicData>
        </a:graphic>
      </p:graphicFrame>
      <p:sp>
        <p:nvSpPr>
          <p:cNvPr id="5" name="Right Arrow 4"/>
          <p:cNvSpPr/>
          <p:nvPr/>
        </p:nvSpPr>
        <p:spPr>
          <a:xfrm>
            <a:off x="2209800" y="5177119"/>
            <a:ext cx="2348753" cy="9598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R</a:t>
            </a:r>
            <a:r>
              <a:rPr lang="en-US" dirty="0" smtClean="0">
                <a:solidFill>
                  <a:schemeClr val="tx1"/>
                </a:solidFill>
              </a:rPr>
              <a:t>efer Program here</a:t>
            </a:r>
            <a:endParaRPr lang="en-US" dirty="0">
              <a:solidFill>
                <a:schemeClr val="tx1"/>
              </a:solidFill>
            </a:endParaRPr>
          </a:p>
        </p:txBody>
      </p:sp>
    </p:spTree>
    <p:extLst>
      <p:ext uri="{BB962C8B-B14F-4D97-AF65-F5344CB8AC3E}">
        <p14:creationId xmlns:p14="http://schemas.microsoft.com/office/powerpoint/2010/main" val="90676533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US" dirty="0" smtClean="0"/>
              <a:t>Auxiliary space: O(1)</a:t>
            </a:r>
          </a:p>
          <a:p>
            <a:r>
              <a:rPr lang="en-US" dirty="0" smtClean="0"/>
              <a:t>Stable: Yes</a:t>
            </a:r>
          </a:p>
          <a:p>
            <a:r>
              <a:rPr lang="en-US" dirty="0" smtClean="0"/>
              <a:t>Sorting In place: Yes</a:t>
            </a:r>
            <a:endParaRPr lang="en-US" dirty="0"/>
          </a:p>
        </p:txBody>
      </p:sp>
    </p:spTree>
    <p:extLst>
      <p:ext uri="{BB962C8B-B14F-4D97-AF65-F5344CB8AC3E}">
        <p14:creationId xmlns:p14="http://schemas.microsoft.com/office/powerpoint/2010/main" val="200757434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Modified bubble sort</a:t>
            </a:r>
            <a:endParaRPr lang="en-US" dirty="0"/>
          </a:p>
        </p:txBody>
      </p:sp>
      <p:sp>
        <p:nvSpPr>
          <p:cNvPr id="3" name="Content Placeholder 2"/>
          <p:cNvSpPr>
            <a:spLocks noGrp="1"/>
          </p:cNvSpPr>
          <p:nvPr>
            <p:ph idx="1"/>
          </p:nvPr>
        </p:nvSpPr>
        <p:spPr/>
        <p:txBody>
          <a:bodyPr/>
          <a:lstStyle/>
          <a:p>
            <a:r>
              <a:rPr lang="en-US" b="1" dirty="0"/>
              <a:t>Optimized Implementation:</a:t>
            </a:r>
            <a:r>
              <a:rPr lang="en-US" dirty="0"/>
              <a:t/>
            </a:r>
            <a:br>
              <a:rPr lang="en-US" dirty="0"/>
            </a:br>
            <a:r>
              <a:rPr lang="en-US" dirty="0"/>
              <a:t>The above function always runs O(n^2) time even if the array is sorted. It can be optimized by stopping the algorithm if inner loop didn’t cause any swap</a:t>
            </a:r>
            <a:r>
              <a:rPr lang="en-US" dirty="0" smtClean="0"/>
              <a:t>.</a:t>
            </a:r>
          </a:p>
          <a:p>
            <a:endParaRPr lang="en-US" dirty="0" smtClean="0"/>
          </a:p>
          <a:p>
            <a:endParaRPr lang="en-US" dirty="0" smtClean="0"/>
          </a:p>
          <a:p>
            <a:endParaRPr lang="en-US" dirty="0"/>
          </a:p>
        </p:txBody>
      </p:sp>
      <p:sp>
        <p:nvSpPr>
          <p:cNvPr id="4" name="Right Arrow 3"/>
          <p:cNvSpPr/>
          <p:nvPr/>
        </p:nvSpPr>
        <p:spPr>
          <a:xfrm>
            <a:off x="1219200" y="3962400"/>
            <a:ext cx="2395818" cy="9060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Refer Program here</a:t>
            </a:r>
            <a:endParaRPr lang="en-US" dirty="0">
              <a:solidFill>
                <a:schemeClr val="tx1"/>
              </a:solidFill>
            </a:endParaRPr>
          </a:p>
        </p:txBody>
      </p:sp>
      <p:graphicFrame>
        <p:nvGraphicFramePr>
          <p:cNvPr id="5" name="Object 4"/>
          <p:cNvGraphicFramePr>
            <a:graphicFrameLocks noChangeAspect="1"/>
          </p:cNvGraphicFramePr>
          <p:nvPr>
            <p:extLst>
              <p:ext uri="{D42A27DB-BD31-4B8C-83A1-F6EECF244321}">
                <p14:modId xmlns:p14="http://schemas.microsoft.com/office/powerpoint/2010/main" val="1009709197"/>
              </p:ext>
            </p:extLst>
          </p:nvPr>
        </p:nvGraphicFramePr>
        <p:xfrm>
          <a:off x="4648200" y="4382106"/>
          <a:ext cx="420431" cy="438150"/>
        </p:xfrm>
        <a:graphic>
          <a:graphicData uri="http://schemas.openxmlformats.org/presentationml/2006/ole">
            <mc:AlternateContent xmlns:mc="http://schemas.openxmlformats.org/markup-compatibility/2006">
              <mc:Choice xmlns:v="urn:schemas-microsoft-com:vml" Requires="v">
                <p:oleObj spid="_x0000_s4139" name="Packager Shell Object" showAsIcon="1" r:id="rId3" imgW="618840" imgH="437760" progId="Package">
                  <p:embed/>
                </p:oleObj>
              </mc:Choice>
              <mc:Fallback>
                <p:oleObj name="Packager Shell Object" showAsIcon="1" r:id="rId3" imgW="618840" imgH="437760" progId="Package">
                  <p:embed/>
                  <p:pic>
                    <p:nvPicPr>
                      <p:cNvPr id="0" name=""/>
                      <p:cNvPicPr/>
                      <p:nvPr/>
                    </p:nvPicPr>
                    <p:blipFill>
                      <a:blip r:embed="rId4"/>
                      <a:stretch>
                        <a:fillRect/>
                      </a:stretch>
                    </p:blipFill>
                    <p:spPr>
                      <a:xfrm>
                        <a:off x="4648200" y="4382106"/>
                        <a:ext cx="420431" cy="438150"/>
                      </a:xfrm>
                      <a:prstGeom prst="rect">
                        <a:avLst/>
                      </a:prstGeom>
                    </p:spPr>
                  </p:pic>
                </p:oleObj>
              </mc:Fallback>
            </mc:AlternateContent>
          </a:graphicData>
        </a:graphic>
      </p:graphicFrame>
    </p:spTree>
    <p:extLst>
      <p:ext uri="{BB962C8B-B14F-4D97-AF65-F5344CB8AC3E}">
        <p14:creationId xmlns:p14="http://schemas.microsoft.com/office/powerpoint/2010/main" val="117929758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SELECTION SORT</a:t>
            </a:r>
            <a:endParaRPr lang="en-US" dirty="0"/>
          </a:p>
        </p:txBody>
      </p:sp>
      <p:sp>
        <p:nvSpPr>
          <p:cNvPr id="3" name="Content Placeholder 2"/>
          <p:cNvSpPr>
            <a:spLocks noGrp="1"/>
          </p:cNvSpPr>
          <p:nvPr>
            <p:ph idx="1"/>
          </p:nvPr>
        </p:nvSpPr>
        <p:spPr/>
        <p:txBody>
          <a:bodyPr/>
          <a:lstStyle/>
          <a:p>
            <a:pPr fontAlgn="base"/>
            <a:r>
              <a:rPr lang="en-US" dirty="0"/>
              <a:t>The selection sort algorithm sorts an array by repeatedly finding the minimum element (considering ascending order) from unsorted part and putting it at the beginning. The algorithm maintains two subarrays in a given array.</a:t>
            </a:r>
          </a:p>
          <a:p>
            <a:pPr marL="0" indent="0" fontAlgn="base">
              <a:buNone/>
            </a:pPr>
            <a:r>
              <a:rPr lang="en-US" dirty="0"/>
              <a:t>1) The subarray which is already sorted.</a:t>
            </a:r>
            <a:br>
              <a:rPr lang="en-US" dirty="0"/>
            </a:br>
            <a:r>
              <a:rPr lang="en-US" dirty="0"/>
              <a:t>2) Remaining subarray which is unsorted.</a:t>
            </a:r>
          </a:p>
          <a:p>
            <a:pPr fontAlgn="base"/>
            <a:r>
              <a:rPr lang="en-US" dirty="0"/>
              <a:t>In every iteration of selection sort, the minimum element (considering ascending order) from the unsorted subarray is picked and moved to the sorted subarray.</a:t>
            </a:r>
          </a:p>
        </p:txBody>
      </p:sp>
      <p:sp>
        <p:nvSpPr>
          <p:cNvPr id="4" name="Right Arrow 3"/>
          <p:cNvSpPr/>
          <p:nvPr/>
        </p:nvSpPr>
        <p:spPr>
          <a:xfrm>
            <a:off x="1752600" y="5898123"/>
            <a:ext cx="2287401" cy="9598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Refer Program here</a:t>
            </a:r>
            <a:endParaRPr lang="en-US" dirty="0">
              <a:solidFill>
                <a:schemeClr val="tx1"/>
              </a:solidFill>
            </a:endParaRPr>
          </a:p>
        </p:txBody>
      </p:sp>
      <p:graphicFrame>
        <p:nvGraphicFramePr>
          <p:cNvPr id="5" name="Object 4"/>
          <p:cNvGraphicFramePr>
            <a:graphicFrameLocks noChangeAspect="1"/>
          </p:cNvGraphicFramePr>
          <p:nvPr>
            <p:extLst>
              <p:ext uri="{D42A27DB-BD31-4B8C-83A1-F6EECF244321}">
                <p14:modId xmlns:p14="http://schemas.microsoft.com/office/powerpoint/2010/main" val="1255415231"/>
              </p:ext>
            </p:extLst>
          </p:nvPr>
        </p:nvGraphicFramePr>
        <p:xfrm>
          <a:off x="4572000" y="5958961"/>
          <a:ext cx="433388" cy="438150"/>
        </p:xfrm>
        <a:graphic>
          <a:graphicData uri="http://schemas.openxmlformats.org/presentationml/2006/ole">
            <mc:AlternateContent xmlns:mc="http://schemas.openxmlformats.org/markup-compatibility/2006">
              <mc:Choice xmlns:v="urn:schemas-microsoft-com:vml" Requires="v">
                <p:oleObj spid="_x0000_s5165" name="Packager Shell Object" showAsIcon="1" r:id="rId3" imgW="578160" imgH="437760" progId="Package">
                  <p:embed/>
                </p:oleObj>
              </mc:Choice>
              <mc:Fallback>
                <p:oleObj name="Packager Shell Object" showAsIcon="1" r:id="rId3" imgW="578160" imgH="437760" progId="Package">
                  <p:embed/>
                  <p:pic>
                    <p:nvPicPr>
                      <p:cNvPr id="0" name=""/>
                      <p:cNvPicPr/>
                      <p:nvPr/>
                    </p:nvPicPr>
                    <p:blipFill>
                      <a:blip r:embed="rId4"/>
                      <a:stretch>
                        <a:fillRect/>
                      </a:stretch>
                    </p:blipFill>
                    <p:spPr>
                      <a:xfrm>
                        <a:off x="4572000" y="5958961"/>
                        <a:ext cx="433388" cy="438150"/>
                      </a:xfrm>
                      <a:prstGeom prst="rect">
                        <a:avLst/>
                      </a:prstGeom>
                    </p:spPr>
                  </p:pic>
                </p:oleObj>
              </mc:Fallback>
            </mc:AlternateContent>
          </a:graphicData>
        </a:graphic>
      </p:graphicFrame>
    </p:spTree>
    <p:extLst>
      <p:ext uri="{BB962C8B-B14F-4D97-AF65-F5344CB8AC3E}">
        <p14:creationId xmlns:p14="http://schemas.microsoft.com/office/powerpoint/2010/main" val="72044563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endParaRPr lang="en-US" dirty="0" smtClean="0"/>
          </a:p>
          <a:p>
            <a:pPr fontAlgn="base"/>
            <a:r>
              <a:rPr lang="en-US" b="1" dirty="0" smtClean="0"/>
              <a:t>Worst, Average and Best </a:t>
            </a:r>
            <a:r>
              <a:rPr lang="en-US" b="1" dirty="0"/>
              <a:t>Case Time Complexity: </a:t>
            </a:r>
            <a:r>
              <a:rPr lang="en-US" dirty="0"/>
              <a:t>O(n*n). Worst case occurs when array is reverse sorted.</a:t>
            </a:r>
          </a:p>
          <a:p>
            <a:r>
              <a:rPr lang="en-US" dirty="0" smtClean="0"/>
              <a:t>Auxiliary </a:t>
            </a:r>
            <a:r>
              <a:rPr lang="en-US" dirty="0"/>
              <a:t>space: O(1)</a:t>
            </a:r>
          </a:p>
          <a:p>
            <a:r>
              <a:rPr lang="en-US" dirty="0"/>
              <a:t>Stable: </a:t>
            </a:r>
            <a:r>
              <a:rPr lang="en-US" dirty="0" smtClean="0"/>
              <a:t>No</a:t>
            </a:r>
            <a:endParaRPr lang="en-US" dirty="0"/>
          </a:p>
          <a:p>
            <a:r>
              <a:rPr lang="en-US" dirty="0"/>
              <a:t>Sorting In place: </a:t>
            </a:r>
            <a:r>
              <a:rPr lang="en-US" dirty="0" smtClean="0"/>
              <a:t>Yes</a:t>
            </a:r>
            <a:endParaRPr lang="en-US" dirty="0"/>
          </a:p>
          <a:p>
            <a:endParaRPr lang="en-US" dirty="0"/>
          </a:p>
        </p:txBody>
      </p:sp>
    </p:spTree>
    <p:extLst>
      <p:ext uri="{BB962C8B-B14F-4D97-AF65-F5344CB8AC3E}">
        <p14:creationId xmlns:p14="http://schemas.microsoft.com/office/powerpoint/2010/main" val="61659764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Insertion Sort</a:t>
            </a:r>
            <a:endParaRPr lang="en-US" sz="3200" dirty="0"/>
          </a:p>
        </p:txBody>
      </p:sp>
      <p:sp>
        <p:nvSpPr>
          <p:cNvPr id="3" name="Content Placeholder 2"/>
          <p:cNvSpPr>
            <a:spLocks noGrp="1"/>
          </p:cNvSpPr>
          <p:nvPr>
            <p:ph idx="1"/>
          </p:nvPr>
        </p:nvSpPr>
        <p:spPr/>
        <p:txBody>
          <a:bodyPr/>
          <a:lstStyle/>
          <a:p>
            <a:r>
              <a:rPr lang="en-US" dirty="0"/>
              <a:t>It is a simple Sorting algorithm which sorts the array by shifting elements one by one. Following are some of the important characteristics of Insertion Sort.</a:t>
            </a:r>
          </a:p>
          <a:p>
            <a:r>
              <a:rPr lang="en-US" dirty="0"/>
              <a:t>It has one of the simplest implementation</a:t>
            </a:r>
          </a:p>
          <a:p>
            <a:r>
              <a:rPr lang="en-US" dirty="0"/>
              <a:t>It is efficient for smaller data sets, but very inefficient for larger lists.</a:t>
            </a:r>
          </a:p>
          <a:p>
            <a:r>
              <a:rPr lang="en-US" dirty="0"/>
              <a:t>Insertion Sort is adaptive, that means it reduces its total number of steps if given a partially sorted list, hence it increases its efficiency</a:t>
            </a:r>
            <a:r>
              <a:rPr lang="en-US" dirty="0" smtClean="0"/>
              <a:t>.</a:t>
            </a:r>
          </a:p>
          <a:p>
            <a:endParaRPr lang="en-US" dirty="0" smtClean="0"/>
          </a:p>
          <a:p>
            <a:endParaRPr lang="en-US" dirty="0"/>
          </a:p>
        </p:txBody>
      </p:sp>
      <p:sp>
        <p:nvSpPr>
          <p:cNvPr id="5" name="Right Arrow 4"/>
          <p:cNvSpPr/>
          <p:nvPr/>
        </p:nvSpPr>
        <p:spPr>
          <a:xfrm>
            <a:off x="1524000" y="5562600"/>
            <a:ext cx="2530289" cy="9598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Refer Program here</a:t>
            </a:r>
            <a:endParaRPr lang="en-US" dirty="0">
              <a:solidFill>
                <a:schemeClr val="tx1"/>
              </a:solidFill>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1244410814"/>
              </p:ext>
            </p:extLst>
          </p:nvPr>
        </p:nvGraphicFramePr>
        <p:xfrm>
          <a:off x="4724400" y="5823463"/>
          <a:ext cx="427435" cy="438150"/>
        </p:xfrm>
        <a:graphic>
          <a:graphicData uri="http://schemas.openxmlformats.org/presentationml/2006/ole">
            <mc:AlternateContent xmlns:mc="http://schemas.openxmlformats.org/markup-compatibility/2006">
              <mc:Choice xmlns:v="urn:schemas-microsoft-com:vml" Requires="v">
                <p:oleObj spid="_x0000_s6188" name="Packager Shell Object" showAsIcon="1" r:id="rId3" imgW="569880" imgH="437760" progId="Package">
                  <p:embed/>
                </p:oleObj>
              </mc:Choice>
              <mc:Fallback>
                <p:oleObj name="Packager Shell Object" showAsIcon="1" r:id="rId3" imgW="569880" imgH="437760" progId="Package">
                  <p:embed/>
                  <p:pic>
                    <p:nvPicPr>
                      <p:cNvPr id="0" name=""/>
                      <p:cNvPicPr/>
                      <p:nvPr/>
                    </p:nvPicPr>
                    <p:blipFill>
                      <a:blip r:embed="rId4"/>
                      <a:stretch>
                        <a:fillRect/>
                      </a:stretch>
                    </p:blipFill>
                    <p:spPr>
                      <a:xfrm>
                        <a:off x="4724400" y="5823463"/>
                        <a:ext cx="427435" cy="438150"/>
                      </a:xfrm>
                      <a:prstGeom prst="rect">
                        <a:avLst/>
                      </a:prstGeom>
                    </p:spPr>
                  </p:pic>
                </p:oleObj>
              </mc:Fallback>
            </mc:AlternateContent>
          </a:graphicData>
        </a:graphic>
      </p:graphicFrame>
    </p:spTree>
    <p:extLst>
      <p:ext uri="{BB962C8B-B14F-4D97-AF65-F5344CB8AC3E}">
        <p14:creationId xmlns:p14="http://schemas.microsoft.com/office/powerpoint/2010/main" val="346594046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9218" name="Picture 2" descr="C:\Users\sanwarul\Desktop\insertionsort.png"/>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609600" y="1600200"/>
            <a:ext cx="7543800" cy="4873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610444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pPr fontAlgn="base"/>
            <a:r>
              <a:rPr lang="en-US" b="1" dirty="0"/>
              <a:t>Worst and Average Case Time Complexity: </a:t>
            </a:r>
            <a:r>
              <a:rPr lang="en-US" dirty="0"/>
              <a:t>O(n*n). Worst case occurs when array is reverse sorted.</a:t>
            </a:r>
          </a:p>
          <a:p>
            <a:pPr fontAlgn="base"/>
            <a:r>
              <a:rPr lang="en-US" b="1" dirty="0"/>
              <a:t>Best Case Time Complexity:</a:t>
            </a:r>
            <a:r>
              <a:rPr lang="en-US" dirty="0"/>
              <a:t> O(n). Best case occurs when array is already sorted</a:t>
            </a:r>
            <a:r>
              <a:rPr lang="en-US" dirty="0" smtClean="0"/>
              <a:t>.</a:t>
            </a:r>
          </a:p>
          <a:p>
            <a:r>
              <a:rPr lang="en-US" dirty="0"/>
              <a:t>Auxiliary space: O(1)</a:t>
            </a:r>
          </a:p>
          <a:p>
            <a:r>
              <a:rPr lang="en-US" dirty="0"/>
              <a:t>Stable: </a:t>
            </a:r>
            <a:r>
              <a:rPr lang="en-US" dirty="0" smtClean="0"/>
              <a:t>Yes</a:t>
            </a:r>
            <a:endParaRPr lang="en-US" dirty="0"/>
          </a:p>
          <a:p>
            <a:r>
              <a:rPr lang="en-US" dirty="0"/>
              <a:t>Sorting In place: Yes</a:t>
            </a:r>
          </a:p>
          <a:p>
            <a:pPr fontAlgn="base"/>
            <a:endParaRPr lang="en-US" dirty="0"/>
          </a:p>
        </p:txBody>
      </p:sp>
    </p:spTree>
    <p:extLst>
      <p:ext uri="{BB962C8B-B14F-4D97-AF65-F5344CB8AC3E}">
        <p14:creationId xmlns:p14="http://schemas.microsoft.com/office/powerpoint/2010/main" val="38613723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Merge Sort</a:t>
            </a:r>
            <a:endParaRPr lang="en-US" dirty="0"/>
          </a:p>
        </p:txBody>
      </p:sp>
      <p:sp>
        <p:nvSpPr>
          <p:cNvPr id="3" name="Content Placeholder 2"/>
          <p:cNvSpPr>
            <a:spLocks noGrp="1"/>
          </p:cNvSpPr>
          <p:nvPr>
            <p:ph sz="quarter" idx="1"/>
          </p:nvPr>
        </p:nvSpPr>
        <p:spPr/>
        <p:txBody>
          <a:bodyPr/>
          <a:lstStyle/>
          <a:p>
            <a:r>
              <a:rPr lang="en-US" dirty="0"/>
              <a:t>Merge Sort is a </a:t>
            </a:r>
            <a:r>
              <a:rPr lang="en-US" dirty="0">
                <a:hlinkClick r:id="rId2"/>
              </a:rPr>
              <a:t>Divide and Conquer</a:t>
            </a:r>
            <a:r>
              <a:rPr lang="en-US" dirty="0"/>
              <a:t> algorithm. </a:t>
            </a:r>
            <a:endParaRPr lang="en-US" dirty="0" smtClean="0"/>
          </a:p>
          <a:p>
            <a:r>
              <a:rPr lang="en-US" dirty="0" smtClean="0"/>
              <a:t>It </a:t>
            </a:r>
            <a:r>
              <a:rPr lang="en-US" dirty="0"/>
              <a:t>divides input array in two halves, calls itself for the two halves and then merges the two sorted halves. </a:t>
            </a:r>
            <a:endParaRPr lang="en-US" dirty="0" smtClean="0"/>
          </a:p>
          <a:p>
            <a:r>
              <a:rPr lang="en-US" b="1" dirty="0" smtClean="0"/>
              <a:t>The </a:t>
            </a:r>
            <a:r>
              <a:rPr lang="en-US" b="1" dirty="0"/>
              <a:t>merge() function</a:t>
            </a:r>
            <a:r>
              <a:rPr lang="en-US" dirty="0"/>
              <a:t> is used for merging two halves. The merge(</a:t>
            </a:r>
            <a:r>
              <a:rPr lang="en-US" dirty="0" err="1"/>
              <a:t>arr</a:t>
            </a:r>
            <a:r>
              <a:rPr lang="en-US" dirty="0"/>
              <a:t>, l, m, r) is key process that assumes that </a:t>
            </a:r>
            <a:r>
              <a:rPr lang="en-US" dirty="0" err="1"/>
              <a:t>arr</a:t>
            </a:r>
            <a:r>
              <a:rPr lang="en-US" dirty="0"/>
              <a:t>[</a:t>
            </a:r>
            <a:r>
              <a:rPr lang="en-US" dirty="0" err="1"/>
              <a:t>l..m</a:t>
            </a:r>
            <a:r>
              <a:rPr lang="en-US" dirty="0"/>
              <a:t>] and </a:t>
            </a:r>
            <a:r>
              <a:rPr lang="en-US" dirty="0" err="1"/>
              <a:t>arr</a:t>
            </a:r>
            <a:r>
              <a:rPr lang="en-US" dirty="0"/>
              <a:t>[m+1..r] are sorted and merges the two sorted sub-arrays into one.</a:t>
            </a:r>
          </a:p>
        </p:txBody>
      </p:sp>
    </p:spTree>
    <p:extLst>
      <p:ext uri="{BB962C8B-B14F-4D97-AF65-F5344CB8AC3E}">
        <p14:creationId xmlns:p14="http://schemas.microsoft.com/office/powerpoint/2010/main" val="50042382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7170" name="Picture 2" descr="C:\Users\sanwarul\Desktop\Merge-Sort-Tutorial.png"/>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381000" y="304800"/>
            <a:ext cx="7772399" cy="6169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11603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graphicFrame>
        <p:nvGraphicFramePr>
          <p:cNvPr id="4" name="Content Placeholder 3"/>
          <p:cNvGraphicFramePr>
            <a:graphicFrameLocks noGrp="1" noChangeAspect="1"/>
          </p:cNvGraphicFramePr>
          <p:nvPr>
            <p:ph sz="quarter" idx="1"/>
            <p:extLst>
              <p:ext uri="{D42A27DB-BD31-4B8C-83A1-F6EECF244321}">
                <p14:modId xmlns:p14="http://schemas.microsoft.com/office/powerpoint/2010/main" val="671144432"/>
              </p:ext>
            </p:extLst>
          </p:nvPr>
        </p:nvGraphicFramePr>
        <p:xfrm>
          <a:off x="457200" y="1920875"/>
          <a:ext cx="7467600" cy="4232275"/>
        </p:xfrm>
        <a:graphic>
          <a:graphicData uri="http://schemas.openxmlformats.org/presentationml/2006/ole">
            <mc:AlternateContent xmlns:mc="http://schemas.openxmlformats.org/markup-compatibility/2006">
              <mc:Choice xmlns:v="urn:schemas-microsoft-com:vml" Requires="v">
                <p:oleObj spid="_x0000_s8228" name="Packager Shell Object" showAsIcon="1" r:id="rId3" imgW="773640" imgH="437760" progId="Package">
                  <p:embed/>
                </p:oleObj>
              </mc:Choice>
              <mc:Fallback>
                <p:oleObj name="Packager Shell Object" showAsIcon="1" r:id="rId3" imgW="773640" imgH="437760" progId="Package">
                  <p:embed/>
                  <p:pic>
                    <p:nvPicPr>
                      <p:cNvPr id="0" name=""/>
                      <p:cNvPicPr/>
                      <p:nvPr/>
                    </p:nvPicPr>
                    <p:blipFill>
                      <a:blip r:embed="rId4"/>
                      <a:stretch>
                        <a:fillRect/>
                      </a:stretch>
                    </p:blipFill>
                    <p:spPr>
                      <a:xfrm>
                        <a:off x="457200" y="1920875"/>
                        <a:ext cx="7467600" cy="4232275"/>
                      </a:xfrm>
                      <a:prstGeom prst="rect">
                        <a:avLst/>
                      </a:prstGeom>
                    </p:spPr>
                  </p:pic>
                </p:oleObj>
              </mc:Fallback>
            </mc:AlternateContent>
          </a:graphicData>
        </a:graphic>
      </p:graphicFrame>
    </p:spTree>
    <p:extLst>
      <p:ext uri="{BB962C8B-B14F-4D97-AF65-F5344CB8AC3E}">
        <p14:creationId xmlns:p14="http://schemas.microsoft.com/office/powerpoint/2010/main" val="16417332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US" b="1" dirty="0"/>
              <a:t>Worst, Average and Best Case Time Complexity: </a:t>
            </a:r>
            <a:r>
              <a:rPr lang="en-US" dirty="0"/>
              <a:t>O(n log n). Worst case occurs when array is reverse sorted.</a:t>
            </a:r>
          </a:p>
          <a:p>
            <a:r>
              <a:rPr lang="en-US" dirty="0"/>
              <a:t>Auxiliary space: </a:t>
            </a:r>
            <a:r>
              <a:rPr lang="en-US" dirty="0" smtClean="0"/>
              <a:t>O(n)</a:t>
            </a:r>
            <a:endParaRPr lang="en-US" dirty="0"/>
          </a:p>
          <a:p>
            <a:r>
              <a:rPr lang="en-US" dirty="0"/>
              <a:t>Stable: </a:t>
            </a:r>
            <a:r>
              <a:rPr lang="en-US" dirty="0" smtClean="0"/>
              <a:t>Yes</a:t>
            </a:r>
            <a:endParaRPr lang="en-US" dirty="0"/>
          </a:p>
          <a:p>
            <a:r>
              <a:rPr lang="en-US" dirty="0"/>
              <a:t>Sorting In place: </a:t>
            </a:r>
            <a:r>
              <a:rPr lang="en-US" dirty="0" smtClean="0"/>
              <a:t>No</a:t>
            </a:r>
            <a:endParaRPr lang="en-US" dirty="0"/>
          </a:p>
          <a:p>
            <a:endParaRPr lang="en-US" dirty="0"/>
          </a:p>
        </p:txBody>
      </p:sp>
    </p:spTree>
    <p:extLst>
      <p:ext uri="{BB962C8B-B14F-4D97-AF65-F5344CB8AC3E}">
        <p14:creationId xmlns:p14="http://schemas.microsoft.com/office/powerpoint/2010/main" val="401467913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Quick Sort</a:t>
            </a:r>
            <a:endParaRPr lang="en-US" dirty="0"/>
          </a:p>
        </p:txBody>
      </p:sp>
      <p:sp>
        <p:nvSpPr>
          <p:cNvPr id="3" name="Content Placeholder 2"/>
          <p:cNvSpPr>
            <a:spLocks noGrp="1"/>
          </p:cNvSpPr>
          <p:nvPr>
            <p:ph sz="quarter" idx="1"/>
          </p:nvPr>
        </p:nvSpPr>
        <p:spPr/>
        <p:txBody>
          <a:bodyPr>
            <a:normAutofit fontScale="92500" lnSpcReduction="20000"/>
          </a:bodyPr>
          <a:lstStyle/>
          <a:p>
            <a:pPr fontAlgn="base"/>
            <a:r>
              <a:rPr lang="en-US" dirty="0"/>
              <a:t>Like </a:t>
            </a:r>
            <a:r>
              <a:rPr lang="en-US" dirty="0">
                <a:hlinkClick r:id="rId2"/>
              </a:rPr>
              <a:t>Merge Sort</a:t>
            </a:r>
            <a:r>
              <a:rPr lang="en-US" dirty="0"/>
              <a:t>, </a:t>
            </a:r>
            <a:r>
              <a:rPr lang="en-US" dirty="0" err="1"/>
              <a:t>QuickSort</a:t>
            </a:r>
            <a:r>
              <a:rPr lang="en-US" dirty="0"/>
              <a:t> is a Divide and Conquer algorithm. It picks an element as pivot and partitions the given array around the picked pivot. There are many different versions of </a:t>
            </a:r>
            <a:r>
              <a:rPr lang="en-US" dirty="0" err="1"/>
              <a:t>quickSort</a:t>
            </a:r>
            <a:r>
              <a:rPr lang="en-US" dirty="0"/>
              <a:t> that pick pivot in different ways.</a:t>
            </a:r>
          </a:p>
          <a:p>
            <a:pPr lvl="1" fontAlgn="base"/>
            <a:r>
              <a:rPr lang="en-US" dirty="0"/>
              <a:t>Always pick first element as pivot.</a:t>
            </a:r>
          </a:p>
          <a:p>
            <a:pPr lvl="1" fontAlgn="base"/>
            <a:r>
              <a:rPr lang="en-US" dirty="0"/>
              <a:t>Always pick last element as pivot (implemented below)</a:t>
            </a:r>
          </a:p>
          <a:p>
            <a:pPr lvl="1" fontAlgn="base"/>
            <a:r>
              <a:rPr lang="en-US" dirty="0"/>
              <a:t>Pick a random element as pivot.</a:t>
            </a:r>
          </a:p>
          <a:p>
            <a:pPr lvl="1" fontAlgn="base"/>
            <a:r>
              <a:rPr lang="en-US" dirty="0"/>
              <a:t>Pick median as pivot.</a:t>
            </a:r>
          </a:p>
          <a:p>
            <a:pPr fontAlgn="base"/>
            <a:r>
              <a:rPr lang="en-US" dirty="0"/>
              <a:t>The key process in </a:t>
            </a:r>
            <a:r>
              <a:rPr lang="en-US" dirty="0" err="1"/>
              <a:t>quickSort</a:t>
            </a:r>
            <a:r>
              <a:rPr lang="en-US" dirty="0"/>
              <a:t> is partition(). Target of partitions is, given an array and an element x of array as pivot, put x at its correct position in sorted array and put all smaller elements (smaller than x) before x, and put all greater elements (greater than x) after x. </a:t>
            </a:r>
            <a:endParaRPr lang="en-US" dirty="0" smtClean="0"/>
          </a:p>
          <a:p>
            <a:pPr fontAlgn="base"/>
            <a:r>
              <a:rPr lang="en-US" dirty="0" smtClean="0"/>
              <a:t>All </a:t>
            </a:r>
            <a:r>
              <a:rPr lang="en-US" dirty="0"/>
              <a:t>this should be done in linear time.</a:t>
            </a:r>
          </a:p>
          <a:p>
            <a:endParaRPr lang="en-US" dirty="0"/>
          </a:p>
        </p:txBody>
      </p:sp>
    </p:spTree>
    <p:extLst>
      <p:ext uri="{BB962C8B-B14F-4D97-AF65-F5344CB8AC3E}">
        <p14:creationId xmlns:p14="http://schemas.microsoft.com/office/powerpoint/2010/main" val="337255017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42" name="Picture 2" descr="C:\Users\sanwarul\Desktop\QuickSort2.png"/>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685800" y="1905000"/>
            <a:ext cx="7467600" cy="434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212734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Quicksort function</a:t>
            </a:r>
            <a:endParaRPr lang="en-US" dirty="0"/>
          </a:p>
        </p:txBody>
      </p:sp>
      <p:pic>
        <p:nvPicPr>
          <p:cNvPr id="11266" name="Picture 2" descr="C:\Users\sanwarul\Desktop\qs.PNG"/>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1228311" y="2141273"/>
            <a:ext cx="5925377" cy="37914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924780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2290" name="Picture 2" descr="C:\Users\sanwarul\Desktop\qs3.PNG"/>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457200" y="152400"/>
            <a:ext cx="7772400" cy="455358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C:\Users\sanwarul\Desktop\qs4.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4676471"/>
            <a:ext cx="7696200" cy="21815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70791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graphicFrame>
        <p:nvGraphicFramePr>
          <p:cNvPr id="5" name="Content Placeholder 4"/>
          <p:cNvGraphicFramePr>
            <a:graphicFrameLocks noGrp="1" noChangeAspect="1"/>
          </p:cNvGraphicFramePr>
          <p:nvPr>
            <p:ph sz="quarter" idx="1"/>
            <p:extLst>
              <p:ext uri="{D42A27DB-BD31-4B8C-83A1-F6EECF244321}">
                <p14:modId xmlns:p14="http://schemas.microsoft.com/office/powerpoint/2010/main" val="2608361816"/>
              </p:ext>
            </p:extLst>
          </p:nvPr>
        </p:nvGraphicFramePr>
        <p:xfrm>
          <a:off x="362239" y="1544782"/>
          <a:ext cx="7434263" cy="3886200"/>
        </p:xfrm>
        <a:graphic>
          <a:graphicData uri="http://schemas.openxmlformats.org/presentationml/2006/ole">
            <mc:AlternateContent xmlns:mc="http://schemas.openxmlformats.org/markup-compatibility/2006">
              <mc:Choice xmlns:v="urn:schemas-microsoft-com:vml" Requires="v">
                <p:oleObj spid="_x0000_s13331" name="Packager Shell Object" showAsIcon="1" r:id="rId3" imgW="667800" imgH="437760" progId="Package">
                  <p:embed/>
                </p:oleObj>
              </mc:Choice>
              <mc:Fallback>
                <p:oleObj name="Packager Shell Object" showAsIcon="1" r:id="rId3" imgW="667800" imgH="437760" progId="Package">
                  <p:embed/>
                  <p:pic>
                    <p:nvPicPr>
                      <p:cNvPr id="0" name=""/>
                      <p:cNvPicPr/>
                      <p:nvPr/>
                    </p:nvPicPr>
                    <p:blipFill>
                      <a:blip r:embed="rId4"/>
                      <a:stretch>
                        <a:fillRect/>
                      </a:stretch>
                    </p:blipFill>
                    <p:spPr>
                      <a:xfrm>
                        <a:off x="362239" y="1544782"/>
                        <a:ext cx="7434263" cy="3886200"/>
                      </a:xfrm>
                      <a:prstGeom prst="rect">
                        <a:avLst/>
                      </a:prstGeom>
                    </p:spPr>
                  </p:pic>
                </p:oleObj>
              </mc:Fallback>
            </mc:AlternateContent>
          </a:graphicData>
        </a:graphic>
      </p:graphicFrame>
    </p:spTree>
    <p:extLst>
      <p:ext uri="{BB962C8B-B14F-4D97-AF65-F5344CB8AC3E}">
        <p14:creationId xmlns:p14="http://schemas.microsoft.com/office/powerpoint/2010/main" val="313795867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pPr fontAlgn="base"/>
            <a:r>
              <a:rPr lang="en-US" b="1" dirty="0" smtClean="0"/>
              <a:t>Worst Case </a:t>
            </a:r>
            <a:r>
              <a:rPr lang="en-US" b="1" dirty="0"/>
              <a:t>Time Complexity: </a:t>
            </a:r>
            <a:r>
              <a:rPr lang="en-US" dirty="0" smtClean="0"/>
              <a:t>O(n*n). </a:t>
            </a:r>
            <a:r>
              <a:rPr lang="en-US" dirty="0"/>
              <a:t>Worst case occurs when array is reverse sorted.</a:t>
            </a:r>
          </a:p>
          <a:p>
            <a:pPr fontAlgn="base"/>
            <a:r>
              <a:rPr lang="en-US" b="1" dirty="0"/>
              <a:t>Best </a:t>
            </a:r>
            <a:r>
              <a:rPr lang="en-US" b="1" dirty="0" smtClean="0"/>
              <a:t>Case and Average Case </a:t>
            </a:r>
            <a:r>
              <a:rPr lang="en-US" b="1" dirty="0"/>
              <a:t>Time Complexity:</a:t>
            </a:r>
            <a:r>
              <a:rPr lang="en-US" dirty="0"/>
              <a:t> </a:t>
            </a:r>
            <a:r>
              <a:rPr lang="en-US" dirty="0" smtClean="0"/>
              <a:t>O(n log n). </a:t>
            </a:r>
            <a:r>
              <a:rPr lang="en-US" dirty="0"/>
              <a:t>Best case occurs when array is already sorted.</a:t>
            </a:r>
          </a:p>
          <a:p>
            <a:r>
              <a:rPr lang="en-US" dirty="0" smtClean="0"/>
              <a:t>Auxiliary </a:t>
            </a:r>
            <a:r>
              <a:rPr lang="en-US" dirty="0"/>
              <a:t>space: O(1)</a:t>
            </a:r>
          </a:p>
          <a:p>
            <a:r>
              <a:rPr lang="en-US" dirty="0"/>
              <a:t>Stable: No</a:t>
            </a:r>
          </a:p>
          <a:p>
            <a:r>
              <a:rPr lang="en-US" dirty="0"/>
              <a:t>Sorting In place: Yes</a:t>
            </a:r>
          </a:p>
          <a:p>
            <a:endParaRPr lang="en-US" dirty="0"/>
          </a:p>
        </p:txBody>
      </p:sp>
    </p:spTree>
    <p:extLst>
      <p:ext uri="{BB962C8B-B14F-4D97-AF65-F5344CB8AC3E}">
        <p14:creationId xmlns:p14="http://schemas.microsoft.com/office/powerpoint/2010/main" val="337845844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Heap</a:t>
            </a:r>
            <a:endParaRPr lang="en-US" dirty="0"/>
          </a:p>
        </p:txBody>
      </p:sp>
      <p:sp>
        <p:nvSpPr>
          <p:cNvPr id="3" name="Content Placeholder 2"/>
          <p:cNvSpPr>
            <a:spLocks noGrp="1"/>
          </p:cNvSpPr>
          <p:nvPr>
            <p:ph sz="quarter" idx="1"/>
          </p:nvPr>
        </p:nvSpPr>
        <p:spPr/>
        <p:txBody>
          <a:bodyPr>
            <a:normAutofit/>
          </a:bodyPr>
          <a:lstStyle/>
          <a:p>
            <a:pPr fontAlgn="base"/>
            <a:r>
              <a:rPr lang="en-US" dirty="0"/>
              <a:t>A Binary Heap is a Binary Tree with following properties.</a:t>
            </a:r>
            <a:br>
              <a:rPr lang="en-US" dirty="0"/>
            </a:br>
            <a:r>
              <a:rPr lang="en-US" dirty="0"/>
              <a:t>1) It’s a complete tree (All levels are completely filled except possibly the last level and the last level has all keys as left as possible). This property of Binary Heap makes them suitable to be stored in an array.</a:t>
            </a:r>
          </a:p>
          <a:p>
            <a:pPr fontAlgn="base"/>
            <a:r>
              <a:rPr lang="en-US" dirty="0"/>
              <a:t>2) A Binary Heap is either Min Heap or Max Heap. In a Min Binary Heap, the key at root must be minimum among all keys present in Binary Heap. The same property must be recursively true for all nodes in Binary Tree. </a:t>
            </a:r>
          </a:p>
          <a:p>
            <a:endParaRPr lang="en-US" dirty="0"/>
          </a:p>
        </p:txBody>
      </p:sp>
    </p:spTree>
    <p:extLst>
      <p:ext uri="{BB962C8B-B14F-4D97-AF65-F5344CB8AC3E}">
        <p14:creationId xmlns:p14="http://schemas.microsoft.com/office/powerpoint/2010/main" val="393213413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 of Min-Heap</a:t>
            </a:r>
            <a:endParaRPr lang="en-US" dirty="0"/>
          </a:p>
        </p:txBody>
      </p:sp>
      <p:pic>
        <p:nvPicPr>
          <p:cNvPr id="14338" name="Picture 2" descr="C:\Users\sanwarul\Desktop\heap.PNG"/>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838200" y="1752600"/>
            <a:ext cx="7391400" cy="4038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306777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Heap Sort</a:t>
            </a:r>
            <a:endParaRPr lang="en-US" dirty="0"/>
          </a:p>
        </p:txBody>
      </p:sp>
      <p:sp>
        <p:nvSpPr>
          <p:cNvPr id="3" name="Content Placeholder 2"/>
          <p:cNvSpPr>
            <a:spLocks noGrp="1"/>
          </p:cNvSpPr>
          <p:nvPr>
            <p:ph sz="quarter" idx="1"/>
          </p:nvPr>
        </p:nvSpPr>
        <p:spPr/>
        <p:txBody>
          <a:bodyPr/>
          <a:lstStyle/>
          <a:p>
            <a:r>
              <a:rPr lang="en-US" dirty="0"/>
              <a:t>Heap sort is a comparison based sorting technique based on Binary Heap data </a:t>
            </a:r>
            <a:r>
              <a:rPr lang="en-US" dirty="0" smtClean="0"/>
              <a:t>structure. It is similar to selection sort where we first find the maximum element and place the maximum element at the end. </a:t>
            </a:r>
          </a:p>
          <a:p>
            <a:r>
              <a:rPr lang="en-US" dirty="0" smtClean="0"/>
              <a:t>We repeat the same process for remaining element.</a:t>
            </a:r>
            <a:endParaRPr lang="en-US" dirty="0"/>
          </a:p>
        </p:txBody>
      </p:sp>
    </p:spTree>
    <p:extLst>
      <p:ext uri="{BB962C8B-B14F-4D97-AF65-F5344CB8AC3E}">
        <p14:creationId xmlns:p14="http://schemas.microsoft.com/office/powerpoint/2010/main" val="10116424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5362" name="Picture 2" descr="C:\Users\sanwarul\Desktop\heap1.PNG"/>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533400" y="381000"/>
            <a:ext cx="7620000" cy="601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26462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graphicFrame>
        <p:nvGraphicFramePr>
          <p:cNvPr id="4" name="Content Placeholder 3"/>
          <p:cNvGraphicFramePr>
            <a:graphicFrameLocks noGrp="1" noChangeAspect="1"/>
          </p:cNvGraphicFramePr>
          <p:nvPr>
            <p:ph sz="quarter" idx="1"/>
            <p:extLst>
              <p:ext uri="{D42A27DB-BD31-4B8C-83A1-F6EECF244321}">
                <p14:modId xmlns:p14="http://schemas.microsoft.com/office/powerpoint/2010/main" val="4071651541"/>
              </p:ext>
            </p:extLst>
          </p:nvPr>
        </p:nvGraphicFramePr>
        <p:xfrm>
          <a:off x="658813" y="1600200"/>
          <a:ext cx="7062787" cy="4873625"/>
        </p:xfrm>
        <a:graphic>
          <a:graphicData uri="http://schemas.openxmlformats.org/presentationml/2006/ole">
            <mc:AlternateContent xmlns:mc="http://schemas.openxmlformats.org/markup-compatibility/2006">
              <mc:Choice xmlns:v="urn:schemas-microsoft-com:vml" Requires="v">
                <p:oleObj spid="_x0000_s16398" name="Packager Shell Object" showAsIcon="1" r:id="rId3" imgW="635040" imgH="437760" progId="Package">
                  <p:embed/>
                </p:oleObj>
              </mc:Choice>
              <mc:Fallback>
                <p:oleObj name="Packager Shell Object" showAsIcon="1" r:id="rId3" imgW="635040" imgH="437760" progId="Package">
                  <p:embed/>
                  <p:pic>
                    <p:nvPicPr>
                      <p:cNvPr id="0" name=""/>
                      <p:cNvPicPr/>
                      <p:nvPr/>
                    </p:nvPicPr>
                    <p:blipFill>
                      <a:blip r:embed="rId4"/>
                      <a:stretch>
                        <a:fillRect/>
                      </a:stretch>
                    </p:blipFill>
                    <p:spPr>
                      <a:xfrm>
                        <a:off x="658813" y="1600200"/>
                        <a:ext cx="7062787" cy="4873625"/>
                      </a:xfrm>
                      <a:prstGeom prst="rect">
                        <a:avLst/>
                      </a:prstGeom>
                    </p:spPr>
                  </p:pic>
                </p:oleObj>
              </mc:Fallback>
            </mc:AlternateContent>
          </a:graphicData>
        </a:graphic>
      </p:graphicFrame>
    </p:spTree>
    <p:extLst>
      <p:ext uri="{BB962C8B-B14F-4D97-AF65-F5344CB8AC3E}">
        <p14:creationId xmlns:p14="http://schemas.microsoft.com/office/powerpoint/2010/main" val="28946500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US" b="1" dirty="0"/>
              <a:t>Worst, Average and Best Case Time Complexity: </a:t>
            </a:r>
            <a:r>
              <a:rPr lang="en-US" dirty="0" smtClean="0"/>
              <a:t>O(n</a:t>
            </a:r>
            <a:r>
              <a:rPr lang="en-US" dirty="0"/>
              <a:t> </a:t>
            </a:r>
            <a:r>
              <a:rPr lang="en-US" dirty="0" smtClean="0"/>
              <a:t>log n). </a:t>
            </a:r>
            <a:r>
              <a:rPr lang="en-US" dirty="0"/>
              <a:t>Worst case occurs when array is reverse sorted</a:t>
            </a:r>
            <a:r>
              <a:rPr lang="en-US" dirty="0" smtClean="0"/>
              <a:t>.</a:t>
            </a:r>
          </a:p>
          <a:p>
            <a:r>
              <a:rPr lang="en-US" dirty="0"/>
              <a:t>Auxiliary space: O(1)</a:t>
            </a:r>
          </a:p>
          <a:p>
            <a:r>
              <a:rPr lang="en-US" dirty="0"/>
              <a:t>Stable: No</a:t>
            </a:r>
          </a:p>
          <a:p>
            <a:r>
              <a:rPr lang="en-US" dirty="0"/>
              <a:t>Sorting In place: Yes</a:t>
            </a:r>
          </a:p>
          <a:p>
            <a:endParaRPr lang="en-US" dirty="0"/>
          </a:p>
          <a:p>
            <a:endParaRPr lang="en-US" dirty="0"/>
          </a:p>
        </p:txBody>
      </p:sp>
    </p:spTree>
    <p:extLst>
      <p:ext uri="{BB962C8B-B14F-4D97-AF65-F5344CB8AC3E}">
        <p14:creationId xmlns:p14="http://schemas.microsoft.com/office/powerpoint/2010/main" val="19532307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1977</TotalTime>
  <Words>748</Words>
  <Application>Microsoft Office PowerPoint</Application>
  <PresentationFormat>On-screen Show (4:3)</PresentationFormat>
  <Paragraphs>122</Paragraphs>
  <Slides>38</Slides>
  <Notes>3</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38</vt:i4>
      </vt:variant>
    </vt:vector>
  </HeadingPairs>
  <TitlesOfParts>
    <vt:vector size="41" baseType="lpstr">
      <vt:lpstr>Oriel</vt:lpstr>
      <vt:lpstr>Packager Shell Object</vt:lpstr>
      <vt:lpstr>Package</vt:lpstr>
      <vt:lpstr>Searching &amp; Sorting</vt:lpstr>
      <vt:lpstr>SEARCHING: linear search</vt:lpstr>
      <vt:lpstr>PowerPoint Presentation</vt:lpstr>
      <vt:lpstr>linear search</vt:lpstr>
      <vt:lpstr>Binary search</vt:lpstr>
      <vt:lpstr>PowerPoint Presentation</vt:lpstr>
      <vt:lpstr>Linear Search vs Binary Search</vt:lpstr>
      <vt:lpstr>PowerPoint Presentation</vt:lpstr>
      <vt:lpstr>Linear Search vs Binary Search</vt:lpstr>
      <vt:lpstr>Sorting</vt:lpstr>
      <vt:lpstr>Categories of Sorting</vt:lpstr>
      <vt:lpstr>PowerPoint Presentation</vt:lpstr>
      <vt:lpstr>Complexity of Sorting Algorithms</vt:lpstr>
      <vt:lpstr>Types of Sorting Techniques</vt:lpstr>
      <vt:lpstr>Bubble sort</vt:lpstr>
      <vt:lpstr>PowerPoint Presentation</vt:lpstr>
      <vt:lpstr>Modified bubble sort</vt:lpstr>
      <vt:lpstr>SELECTION SORT</vt:lpstr>
      <vt:lpstr>PowerPoint Presentation</vt:lpstr>
      <vt:lpstr>Insertion Sort</vt:lpstr>
      <vt:lpstr>PowerPoint Presentation</vt:lpstr>
      <vt:lpstr>PowerPoint Presentation</vt:lpstr>
      <vt:lpstr>Merge Sort</vt:lpstr>
      <vt:lpstr>PowerPoint Presentation</vt:lpstr>
      <vt:lpstr>PowerPoint Presentation</vt:lpstr>
      <vt:lpstr>PowerPoint Presentation</vt:lpstr>
      <vt:lpstr>Quick Sort</vt:lpstr>
      <vt:lpstr>PowerPoint Presentation</vt:lpstr>
      <vt:lpstr>Quicksort function</vt:lpstr>
      <vt:lpstr>PowerPoint Presentation</vt:lpstr>
      <vt:lpstr>PowerPoint Presentation</vt:lpstr>
      <vt:lpstr>PowerPoint Presentation</vt:lpstr>
      <vt:lpstr>Heap</vt:lpstr>
      <vt:lpstr>Examples of Min-Heap</vt:lpstr>
      <vt:lpstr>Heap Sort</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Searching &amp; Sorting</dc:title>
  <dc:creator>Shahina Anwarul</dc:creator>
  <cp:lastModifiedBy>Shahina Anwarul</cp:lastModifiedBy>
  <cp:revision>39</cp:revision>
  <dcterms:created xsi:type="dcterms:W3CDTF">2018-04-09T07:49:50Z</dcterms:created>
  <dcterms:modified xsi:type="dcterms:W3CDTF">2018-04-23T05:13:34Z</dcterms:modified>
</cp:coreProperties>
</file>