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343" r:id="rId3"/>
    <p:sldId id="333" r:id="rId4"/>
    <p:sldId id="334" r:id="rId5"/>
    <p:sldId id="336" r:id="rId6"/>
    <p:sldId id="339" r:id="rId7"/>
    <p:sldId id="340" r:id="rId8"/>
    <p:sldId id="341" r:id="rId9"/>
    <p:sldId id="342" r:id="rId10"/>
    <p:sldId id="344" r:id="rId11"/>
    <p:sldId id="345" r:id="rId12"/>
    <p:sldId id="346"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8" r:id="rId30"/>
    <p:sldId id="332" r:id="rId31"/>
    <p:sldId id="335" r:id="rId32"/>
    <p:sldId id="33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83" autoAdjust="0"/>
  </p:normalViewPr>
  <p:slideViewPr>
    <p:cSldViewPr>
      <p:cViewPr varScale="1">
        <p:scale>
          <a:sx n="68" d="100"/>
          <a:sy n="68" d="100"/>
        </p:scale>
        <p:origin x="1240"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F7174-4669-498D-ABF4-7742B93763D8}" type="datetimeFigureOut">
              <a:rPr lang="en-IN" smtClean="0"/>
              <a:t>13-04-2026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6DE39-288F-47F2-BA8C-AE8BCFC7B114}" type="slidenum">
              <a:rPr lang="en-IN" smtClean="0"/>
              <a:t>‹#›</a:t>
            </a:fld>
            <a:endParaRPr lang="en-IN"/>
          </a:p>
        </p:txBody>
      </p:sp>
    </p:spTree>
    <p:extLst>
      <p:ext uri="{BB962C8B-B14F-4D97-AF65-F5344CB8AC3E}">
        <p14:creationId xmlns:p14="http://schemas.microsoft.com/office/powerpoint/2010/main" val="349129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E7577929-AE19-4616-9215-540172FCC40F}" type="datetimeFigureOut">
              <a:rPr lang="en-US" smtClean="0"/>
              <a:t>4/13/2026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472D444A-3CF8-4237-9BE3-778DFCA50DB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E7577929-AE19-4616-9215-540172FCC40F}" type="datetimeFigureOut">
              <a:rPr lang="en-US" smtClean="0"/>
              <a:t>4/13/2026</a:t>
            </a:fld>
            <a:endParaRPr lang="en-US"/>
          </a:p>
        </p:txBody>
      </p:sp>
      <p:sp>
        <p:nvSpPr>
          <p:cNvPr id="9" name="Slide Number Placeholder 8"/>
          <p:cNvSpPr>
            <a:spLocks noGrp="1"/>
          </p:cNvSpPr>
          <p:nvPr>
            <p:ph type="sldNum" sz="quarter" idx="15"/>
          </p:nvPr>
        </p:nvSpPr>
        <p:spPr/>
        <p:txBody>
          <a:bodyPr rtlCol="0"/>
          <a:lstStyle/>
          <a:p>
            <a:fld id="{472D444A-3CF8-4237-9BE3-778DFCA50DBB}"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7577929-AE19-4616-9215-540172FCC40F}" type="datetimeFigureOut">
              <a:rPr lang="en-US" smtClean="0"/>
              <a:t>4/13/2026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472D444A-3CF8-4237-9BE3-778DFCA50D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7577929-AE19-4616-9215-540172FCC40F}"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2D444A-3CF8-4237-9BE3-778DFCA50DBB}"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7577929-AE19-4616-9215-540172FCC40F}"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2D444A-3CF8-4237-9BE3-778DFCA50DBB}"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7577929-AE19-4616-9215-540172FCC40F}" type="datetimeFigureOut">
              <a:rPr lang="en-US" smtClean="0"/>
              <a:t>4/13/2026</a:t>
            </a:fld>
            <a:endParaRPr lang="en-US"/>
          </a:p>
        </p:txBody>
      </p:sp>
      <p:sp>
        <p:nvSpPr>
          <p:cNvPr id="7" name="Slide Number Placeholder 6"/>
          <p:cNvSpPr>
            <a:spLocks noGrp="1"/>
          </p:cNvSpPr>
          <p:nvPr>
            <p:ph type="sldNum" sz="quarter" idx="11"/>
          </p:nvPr>
        </p:nvSpPr>
        <p:spPr/>
        <p:txBody>
          <a:bodyPr rtlCol="0"/>
          <a:lstStyle/>
          <a:p>
            <a:fld id="{472D444A-3CF8-4237-9BE3-778DFCA50DBB}"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77929-AE19-4616-9215-540172FCC40F}"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E7577929-AE19-4616-9215-540172FCC40F}" type="datetimeFigureOut">
              <a:rPr lang="en-US" smtClean="0"/>
              <a:t>4/13/2026</a:t>
            </a:fld>
            <a:endParaRPr lang="en-US"/>
          </a:p>
        </p:txBody>
      </p:sp>
      <p:sp>
        <p:nvSpPr>
          <p:cNvPr id="22" name="Slide Number Placeholder 21"/>
          <p:cNvSpPr>
            <a:spLocks noGrp="1"/>
          </p:cNvSpPr>
          <p:nvPr>
            <p:ph type="sldNum" sz="quarter" idx="15"/>
          </p:nvPr>
        </p:nvSpPr>
        <p:spPr/>
        <p:txBody>
          <a:bodyPr rtlCol="0"/>
          <a:lstStyle/>
          <a:p>
            <a:fld id="{472D444A-3CF8-4237-9BE3-778DFCA50DBB}"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7577929-AE19-4616-9215-540172FCC40F}" type="datetimeFigureOut">
              <a:rPr lang="en-US" smtClean="0"/>
              <a:t>4/13/2026</a:t>
            </a:fld>
            <a:endParaRPr lang="en-US"/>
          </a:p>
        </p:txBody>
      </p:sp>
      <p:sp>
        <p:nvSpPr>
          <p:cNvPr id="18" name="Slide Number Placeholder 17"/>
          <p:cNvSpPr>
            <a:spLocks noGrp="1"/>
          </p:cNvSpPr>
          <p:nvPr>
            <p:ph type="sldNum" sz="quarter" idx="11"/>
          </p:nvPr>
        </p:nvSpPr>
        <p:spPr/>
        <p:txBody>
          <a:bodyPr rtlCol="0"/>
          <a:lstStyle/>
          <a:p>
            <a:fld id="{472D444A-3CF8-4237-9BE3-778DFCA50DBB}"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7577929-AE19-4616-9215-540172FCC40F}" type="datetimeFigureOut">
              <a:rPr lang="en-US" smtClean="0"/>
              <a:t>4/13/2026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472D444A-3CF8-4237-9BE3-778DFCA50DB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133600"/>
            <a:ext cx="6172200" cy="1219200"/>
          </a:xfrm>
        </p:spPr>
        <p:txBody>
          <a:bodyPr>
            <a:normAutofit/>
          </a:bodyPr>
          <a:lstStyle/>
          <a:p>
            <a:r>
              <a:rPr lang="en-US" sz="5400" dirty="0" smtClean="0"/>
              <a:t>B-Tree</a:t>
            </a:r>
            <a:endParaRPr lang="en-US" sz="5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54607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B-Tree</a:t>
            </a:r>
            <a:endParaRPr lang="en-US" dirty="0"/>
          </a:p>
        </p:txBody>
      </p:sp>
      <p:sp>
        <p:nvSpPr>
          <p:cNvPr id="3" name="Rectangle 2"/>
          <p:cNvSpPr/>
          <p:nvPr/>
        </p:nvSpPr>
        <p:spPr>
          <a:xfrm>
            <a:off x="457200" y="1752600"/>
            <a:ext cx="7467600" cy="1938992"/>
          </a:xfrm>
          <a:prstGeom prst="rect">
            <a:avLst/>
          </a:prstGeom>
        </p:spPr>
        <p:txBody>
          <a:bodyPr wrap="square">
            <a:spAutoFit/>
          </a:bodyPr>
          <a:lstStyle/>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Balance m-way tree, where m is order of the tree.</a:t>
            </a:r>
          </a:p>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Generalization of BST in which a node can have more than one key and more than 2 children.</a:t>
            </a:r>
          </a:p>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Contains sorted data.</a:t>
            </a:r>
          </a:p>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All leaf nodes must be at the same level </a:t>
            </a:r>
          </a:p>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Used for multilevel </a:t>
            </a:r>
            <a:r>
              <a:rPr lang="en-US" sz="2000" dirty="0">
                <a:solidFill>
                  <a:srgbClr val="273239"/>
                </a:solidFill>
                <a:latin typeface="Times New Roman" panose="02020603050405020304" pitchFamily="18" charset="0"/>
                <a:cs typeface="Times New Roman" panose="02020603050405020304" pitchFamily="18" charset="0"/>
              </a:rPr>
              <a:t>i</a:t>
            </a:r>
            <a:r>
              <a:rPr lang="en-US" sz="2000" dirty="0" smtClean="0">
                <a:solidFill>
                  <a:srgbClr val="273239"/>
                </a:solidFill>
                <a:latin typeface="Times New Roman" panose="02020603050405020304" pitchFamily="18" charset="0"/>
                <a:cs typeface="Times New Roman" panose="02020603050405020304" pitchFamily="18" charset="0"/>
              </a:rPr>
              <a:t>ndexing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5655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B-Tree</a:t>
            </a:r>
            <a:endParaRPr lang="en-US" dirty="0"/>
          </a:p>
        </p:txBody>
      </p:sp>
      <p:sp>
        <p:nvSpPr>
          <p:cNvPr id="3" name="Rectangle 2"/>
          <p:cNvSpPr/>
          <p:nvPr/>
        </p:nvSpPr>
        <p:spPr>
          <a:xfrm>
            <a:off x="457200" y="1752600"/>
            <a:ext cx="7467600" cy="5016758"/>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When it comes to storing and searching large amounts of data, traditional binary search trees can become impractical due to their poor performance and high memory usage. </a:t>
            </a:r>
            <a:endParaRPr lang="en-US" sz="2000" dirty="0" smtClean="0">
              <a:solidFill>
                <a:srgbClr val="273239"/>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B-Trees</a:t>
            </a:r>
            <a:r>
              <a:rPr lang="en-US" sz="2000" dirty="0">
                <a:solidFill>
                  <a:srgbClr val="273239"/>
                </a:solidFill>
                <a:latin typeface="Times New Roman" panose="02020603050405020304" pitchFamily="18" charset="0"/>
                <a:cs typeface="Times New Roman" panose="02020603050405020304" pitchFamily="18" charset="0"/>
              </a:rPr>
              <a:t>, also known as B-Tree or Balanced Tree, are a type of self-balancing tree that was specifically designed to overcome these limitations</a:t>
            </a:r>
            <a:r>
              <a:rPr lang="en-US" sz="2000" dirty="0" smtClean="0">
                <a:solidFill>
                  <a:srgbClr val="273239"/>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Unlike traditional binary search trees, B-Trees are characterized by the large number of keys that they can store in a single node, which is why they are also known as “large key” trees. </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Each </a:t>
            </a:r>
            <a:r>
              <a:rPr lang="en-US" sz="2000" dirty="0">
                <a:latin typeface="Times New Roman" panose="02020603050405020304" pitchFamily="18" charset="0"/>
                <a:cs typeface="Times New Roman" panose="02020603050405020304" pitchFamily="18" charset="0"/>
              </a:rPr>
              <a:t>node in a B-Tree can contain multiple keys, which allows the tree to have a larger branching factor and thus a shallower </a:t>
            </a:r>
            <a:r>
              <a:rPr lang="en-US" sz="2000" dirty="0" smtClean="0">
                <a:latin typeface="Times New Roman" panose="02020603050405020304" pitchFamily="18" charset="0"/>
                <a:cs typeface="Times New Roman" panose="02020603050405020304" pitchFamily="18" charset="0"/>
              </a:rPr>
              <a:t>height.</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shallow height leads to less disk I/O, which results in faster search and insertion operations. </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B-Trees </a:t>
            </a:r>
            <a:r>
              <a:rPr lang="en-US" sz="2000" dirty="0">
                <a:latin typeface="Times New Roman" panose="02020603050405020304" pitchFamily="18" charset="0"/>
                <a:cs typeface="Times New Roman" panose="02020603050405020304" pitchFamily="18" charset="0"/>
              </a:rPr>
              <a:t>are particularly well suited for storage systems that have slow, bulky data access such as hard drives, flash memory, and CD-ROMs.</a:t>
            </a:r>
          </a:p>
        </p:txBody>
      </p:sp>
    </p:spTree>
    <p:extLst>
      <p:ext uri="{BB962C8B-B14F-4D97-AF65-F5344CB8AC3E}">
        <p14:creationId xmlns:p14="http://schemas.microsoft.com/office/powerpoint/2010/main" val="37768152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B-Tree</a:t>
            </a:r>
            <a:endParaRPr lang="en-US" dirty="0"/>
          </a:p>
        </p:txBody>
      </p:sp>
      <p:sp>
        <p:nvSpPr>
          <p:cNvPr id="3" name="Rectangle 2"/>
          <p:cNvSpPr/>
          <p:nvPr/>
        </p:nvSpPr>
        <p:spPr>
          <a:xfrm>
            <a:off x="609600" y="1752600"/>
            <a:ext cx="7848600" cy="4708981"/>
          </a:xfrm>
          <a:prstGeom prst="rect">
            <a:avLst/>
          </a:prstGeom>
        </p:spPr>
        <p:txBody>
          <a:bodyPr wrap="square">
            <a:spAutoFit/>
          </a:bodyPr>
          <a:lstStyle/>
          <a:p>
            <a:pPr algn="just"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All leaves are at the same level.</a:t>
            </a:r>
          </a:p>
          <a:p>
            <a:pPr algn="just" fontAlgn="base">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B-tree of order m has the following properties:</a:t>
            </a:r>
          </a:p>
          <a:p>
            <a:pPr lvl="1" algn="just" fontAlgn="base">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 Every node has max m children</a:t>
            </a:r>
          </a:p>
          <a:p>
            <a:pPr lvl="1" algn="just" fontAlgn="base">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Min children: for leaf: 0, for root: 2, for internal nodes: ceil(m/2)</a:t>
            </a:r>
          </a:p>
          <a:p>
            <a:pPr lvl="1" algn="just"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Every node has max m-1 key values</a:t>
            </a:r>
          </a:p>
          <a:p>
            <a:pPr lvl="1" algn="just" fontAlgn="base">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 Min key: for root: 1, other nodes: ceil(m/2)-1</a:t>
            </a:r>
            <a:endParaRPr lang="en-US" sz="2000" dirty="0">
              <a:solidFill>
                <a:srgbClr val="273239"/>
              </a:solidFill>
              <a:latin typeface="Times New Roman" panose="02020603050405020304" pitchFamily="18" charset="0"/>
              <a:cs typeface="Times New Roman" panose="02020603050405020304" pitchFamily="18" charset="0"/>
            </a:endParaRPr>
          </a:p>
          <a:p>
            <a:pPr algn="just" fontAlgn="base"/>
            <a:endParaRPr lang="en-US" sz="20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B-Tree grows and shrinks from the root which is unlike Binary Search Tree. Binary Search Trees grow downward and also shrink from downward.</a:t>
            </a:r>
          </a:p>
          <a:p>
            <a:pPr algn="just"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Like other balanced Binary Search Trees, the time complexity to search, insert, and delete is O(log n).</a:t>
            </a:r>
          </a:p>
          <a:p>
            <a:pPr algn="just"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Insertion of a Node in B-Tree happens only at Leaf Node.</a:t>
            </a:r>
          </a:p>
          <a:p>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2718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752600"/>
            <a:ext cx="6553200" cy="4540448"/>
          </a:xfrm>
          <a:prstGeom prst="rect">
            <a:avLst/>
          </a:prstGeom>
        </p:spPr>
      </p:pic>
    </p:spTree>
    <p:extLst>
      <p:ext uri="{BB962C8B-B14F-4D97-AF65-F5344CB8AC3E}">
        <p14:creationId xmlns:p14="http://schemas.microsoft.com/office/powerpoint/2010/main" val="1540986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 in B-Tree</a:t>
            </a:r>
            <a:endParaRPr lang="en-US" dirty="0"/>
          </a:p>
        </p:txBody>
      </p:sp>
      <p:sp>
        <p:nvSpPr>
          <p:cNvPr id="3" name="Rectangle 2"/>
          <p:cNvSpPr/>
          <p:nvPr/>
        </p:nvSpPr>
        <p:spPr>
          <a:xfrm>
            <a:off x="491764" y="1828800"/>
            <a:ext cx="7585435" cy="2862322"/>
          </a:xfrm>
          <a:prstGeom prst="rect">
            <a:avLst/>
          </a:prstGeom>
        </p:spPr>
        <p:txBody>
          <a:bodyPr wrap="square">
            <a:spAutoFit/>
          </a:bodyPr>
          <a:lstStyle/>
          <a:p>
            <a:pPr marL="285750" indent="-285750" algn="just" fontAlgn="base">
              <a:buFont typeface="Arial" panose="020B0604020202020204" pitchFamily="34" charset="0"/>
              <a:buChar char="•"/>
            </a:pPr>
            <a:r>
              <a:rPr lang="en-US" dirty="0">
                <a:solidFill>
                  <a:srgbClr val="273239"/>
                </a:solidFill>
                <a:latin typeface="Nunito"/>
              </a:rPr>
              <a:t>A new key is always inserted at the leaf node. Let the key to be inserted be k. Like BST, we start from the root and traverse down till we reach a leaf node. Once we reach a leaf node, we insert the key in that leaf node. Unlike BSTs, we have a predefined range on the number of keys that a node can contain. So before inserting a key to the node, we make sure that the node has extra space</a:t>
            </a:r>
            <a:r>
              <a:rPr lang="en-US" dirty="0" smtClean="0">
                <a:solidFill>
                  <a:srgbClr val="273239"/>
                </a:solidFill>
                <a:latin typeface="Nunito"/>
              </a:rPr>
              <a:t>.</a:t>
            </a:r>
          </a:p>
          <a:p>
            <a:pPr algn="just" fontAlgn="base"/>
            <a:r>
              <a:rPr lang="en-US" dirty="0">
                <a:solidFill>
                  <a:srgbClr val="273239"/>
                </a:solidFill>
                <a:latin typeface="Nunito"/>
              </a:rPr>
              <a:t> </a:t>
            </a:r>
          </a:p>
          <a:p>
            <a:pPr marL="285750" indent="-285750" algn="just" fontAlgn="base">
              <a:buFont typeface="Arial" panose="020B0604020202020204" pitchFamily="34" charset="0"/>
              <a:buChar char="•"/>
            </a:pPr>
            <a:r>
              <a:rPr lang="en-US" i="1" dirty="0">
                <a:solidFill>
                  <a:srgbClr val="273239"/>
                </a:solidFill>
                <a:latin typeface="Nunito"/>
              </a:rPr>
              <a:t>How to make sure that a node has space available for a key before the key is inserted?</a:t>
            </a:r>
            <a:r>
              <a:rPr lang="en-US" dirty="0">
                <a:solidFill>
                  <a:srgbClr val="273239"/>
                </a:solidFill>
                <a:latin typeface="Nunito"/>
              </a:rPr>
              <a:t> We use an operation called </a:t>
            </a:r>
            <a:r>
              <a:rPr lang="en-US" dirty="0" err="1">
                <a:solidFill>
                  <a:srgbClr val="273239"/>
                </a:solidFill>
                <a:latin typeface="Nunito"/>
              </a:rPr>
              <a:t>splitChild</a:t>
            </a:r>
            <a:r>
              <a:rPr lang="en-US" dirty="0">
                <a:solidFill>
                  <a:srgbClr val="273239"/>
                </a:solidFill>
                <a:latin typeface="Nunito"/>
              </a:rPr>
              <a:t>() that is used to split a child of a node. </a:t>
            </a:r>
            <a:endParaRPr lang="en-US" b="0" i="0" dirty="0">
              <a:solidFill>
                <a:srgbClr val="273239"/>
              </a:solidFill>
              <a:effectLst/>
              <a:latin typeface="Nunito"/>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4691122"/>
            <a:ext cx="5740695" cy="1943200"/>
          </a:xfrm>
          <a:prstGeom prst="rect">
            <a:avLst/>
          </a:prstGeom>
        </p:spPr>
      </p:pic>
    </p:spTree>
    <p:extLst>
      <p:ext uri="{BB962C8B-B14F-4D97-AF65-F5344CB8AC3E}">
        <p14:creationId xmlns:p14="http://schemas.microsoft.com/office/powerpoint/2010/main" val="35951730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 in B-Tree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 y="1417638"/>
            <a:ext cx="6568179" cy="5105400"/>
          </a:xfrm>
          <a:prstGeom prst="rect">
            <a:avLst/>
          </a:prstGeom>
        </p:spPr>
      </p:pic>
    </p:spTree>
    <p:extLst>
      <p:ext uri="{BB962C8B-B14F-4D97-AF65-F5344CB8AC3E}">
        <p14:creationId xmlns:p14="http://schemas.microsoft.com/office/powerpoint/2010/main" val="17470835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74638"/>
            <a:ext cx="7467599" cy="5905500"/>
          </a:xfrm>
          <a:prstGeom prst="rect">
            <a:avLst/>
          </a:prstGeom>
        </p:spPr>
      </p:pic>
    </p:spTree>
    <p:extLst>
      <p:ext uri="{BB962C8B-B14F-4D97-AF65-F5344CB8AC3E}">
        <p14:creationId xmlns:p14="http://schemas.microsoft.com/office/powerpoint/2010/main" val="36738565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74638"/>
            <a:ext cx="7467599" cy="6049962"/>
          </a:xfrm>
          <a:prstGeom prst="rect">
            <a:avLst/>
          </a:prstGeom>
        </p:spPr>
      </p:pic>
    </p:spTree>
    <p:extLst>
      <p:ext uri="{BB962C8B-B14F-4D97-AF65-F5344CB8AC3E}">
        <p14:creationId xmlns:p14="http://schemas.microsoft.com/office/powerpoint/2010/main" val="32605461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74638"/>
            <a:ext cx="7467600" cy="6126162"/>
          </a:xfrm>
          <a:prstGeom prst="rect">
            <a:avLst/>
          </a:prstGeom>
        </p:spPr>
      </p:pic>
    </p:spTree>
    <p:extLst>
      <p:ext uri="{BB962C8B-B14F-4D97-AF65-F5344CB8AC3E}">
        <p14:creationId xmlns:p14="http://schemas.microsoft.com/office/powerpoint/2010/main" val="17820640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Deletion in B-Tree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1417638"/>
            <a:ext cx="7239000" cy="5165889"/>
          </a:xfrm>
          <a:prstGeom prst="rect">
            <a:avLst/>
          </a:prstGeom>
        </p:spPr>
      </p:pic>
    </p:spTree>
    <p:extLst>
      <p:ext uri="{BB962C8B-B14F-4D97-AF65-F5344CB8AC3E}">
        <p14:creationId xmlns:p14="http://schemas.microsoft.com/office/powerpoint/2010/main" val="18561774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Rectangle 2"/>
          <p:cNvSpPr/>
          <p:nvPr/>
        </p:nvSpPr>
        <p:spPr>
          <a:xfrm>
            <a:off x="457200" y="1752600"/>
            <a:ext cx="7467600" cy="400110"/>
          </a:xfrm>
          <a:prstGeom prst="rect">
            <a:avLst/>
          </a:prstGeom>
        </p:spPr>
        <p:txBody>
          <a:bodyPr wrap="square">
            <a:spAutoFit/>
          </a:bodyPr>
          <a:lstStyle/>
          <a:p>
            <a:pPr marL="285750" indent="-285750" algn="just">
              <a:buFont typeface="Arial" panose="020B0604020202020204" pitchFamily="34" charset="0"/>
              <a:buChar char="•"/>
            </a:pPr>
            <a:r>
              <a:rPr lang="en-US" sz="2000" dirty="0" smtClean="0">
                <a:solidFill>
                  <a:srgbClr val="273239"/>
                </a:solidFill>
                <a:latin typeface="Times New Roman" panose="02020603050405020304" pitchFamily="18" charset="0"/>
                <a:cs typeface="Times New Roman" panose="02020603050405020304" pitchFamily="18" charset="0"/>
              </a:rPr>
              <a:t>Refer shared PDF</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966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1"/>
          </p:nvPr>
        </p:nvSpPr>
        <p:spPr/>
        <p:txBody>
          <a:bodyPr/>
          <a:lstStyle/>
          <a:p>
            <a:r>
              <a:rPr lang="en-US" altLang="en-US"/>
              <a:t>CSE 373   -- AU 2004 -- B-Trees</a:t>
            </a:r>
          </a:p>
        </p:txBody>
      </p:sp>
      <p:sp>
        <p:nvSpPr>
          <p:cNvPr id="64" name="Slide Number Placeholder 4"/>
          <p:cNvSpPr>
            <a:spLocks noGrp="1"/>
          </p:cNvSpPr>
          <p:nvPr>
            <p:ph type="sldNum" sz="quarter" idx="12"/>
          </p:nvPr>
        </p:nvSpPr>
        <p:spPr/>
        <p:txBody>
          <a:bodyPr/>
          <a:lstStyle/>
          <a:p>
            <a:fld id="{B0FBEB14-6C65-4232-A462-5F05F54429BC}" type="slidenum">
              <a:rPr lang="en-US" altLang="en-US"/>
              <a:pPr/>
              <a:t>13</a:t>
            </a:fld>
            <a:endParaRPr lang="en-US" altLang="en-US"/>
          </a:p>
        </p:txBody>
      </p:sp>
      <p:sp>
        <p:nvSpPr>
          <p:cNvPr id="54274"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B-Tree Example with m = 5</a:t>
            </a:r>
          </a:p>
        </p:txBody>
      </p:sp>
      <p:sp>
        <p:nvSpPr>
          <p:cNvPr id="54317" name="AutoShape 45"/>
          <p:cNvSpPr>
            <a:spLocks noChangeArrowheads="1"/>
          </p:cNvSpPr>
          <p:nvPr/>
        </p:nvSpPr>
        <p:spPr bwMode="auto">
          <a:xfrm>
            <a:off x="18859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19" name="Rectangle 47"/>
          <p:cNvSpPr>
            <a:spLocks noChangeArrowheads="1"/>
          </p:cNvSpPr>
          <p:nvPr/>
        </p:nvSpPr>
        <p:spPr bwMode="auto">
          <a:xfrm>
            <a:off x="20574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54320" name="Rectangle 48"/>
          <p:cNvSpPr>
            <a:spLocks noChangeArrowheads="1"/>
          </p:cNvSpPr>
          <p:nvPr/>
        </p:nvSpPr>
        <p:spPr bwMode="auto">
          <a:xfrm>
            <a:off x="25717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54322" name="Rectangle 50"/>
          <p:cNvSpPr>
            <a:spLocks noChangeArrowheads="1"/>
          </p:cNvSpPr>
          <p:nvPr/>
        </p:nvSpPr>
        <p:spPr bwMode="auto">
          <a:xfrm>
            <a:off x="29718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8</a:t>
            </a:r>
          </a:p>
        </p:txBody>
      </p:sp>
      <p:sp>
        <p:nvSpPr>
          <p:cNvPr id="54325" name="Line 53"/>
          <p:cNvSpPr>
            <a:spLocks noChangeShapeType="1"/>
          </p:cNvSpPr>
          <p:nvPr/>
        </p:nvSpPr>
        <p:spPr bwMode="auto">
          <a:xfrm>
            <a:off x="2057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27" name="Line 55"/>
          <p:cNvSpPr>
            <a:spLocks noChangeShapeType="1"/>
          </p:cNvSpPr>
          <p:nvPr/>
        </p:nvSpPr>
        <p:spPr bwMode="auto">
          <a:xfrm>
            <a:off x="23431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28" name="Line 56"/>
          <p:cNvSpPr>
            <a:spLocks noChangeShapeType="1"/>
          </p:cNvSpPr>
          <p:nvPr/>
        </p:nvSpPr>
        <p:spPr bwMode="auto">
          <a:xfrm>
            <a:off x="2514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29" name="Line 57"/>
          <p:cNvSpPr>
            <a:spLocks noChangeShapeType="1"/>
          </p:cNvSpPr>
          <p:nvPr/>
        </p:nvSpPr>
        <p:spPr bwMode="auto">
          <a:xfrm>
            <a:off x="2800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1" name="Line 59"/>
          <p:cNvSpPr>
            <a:spLocks noChangeShapeType="1"/>
          </p:cNvSpPr>
          <p:nvPr/>
        </p:nvSpPr>
        <p:spPr bwMode="auto">
          <a:xfrm>
            <a:off x="3257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2" name="Line 60"/>
          <p:cNvSpPr>
            <a:spLocks noChangeShapeType="1"/>
          </p:cNvSpPr>
          <p:nvPr/>
        </p:nvSpPr>
        <p:spPr bwMode="auto">
          <a:xfrm>
            <a:off x="34290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3" name="Line 61"/>
          <p:cNvSpPr>
            <a:spLocks noChangeShapeType="1"/>
          </p:cNvSpPr>
          <p:nvPr/>
        </p:nvSpPr>
        <p:spPr bwMode="auto">
          <a:xfrm>
            <a:off x="3714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7" name="Line 65"/>
          <p:cNvSpPr>
            <a:spLocks noChangeShapeType="1"/>
          </p:cNvSpPr>
          <p:nvPr/>
        </p:nvSpPr>
        <p:spPr bwMode="auto">
          <a:xfrm>
            <a:off x="2971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8" name="AutoShape 66"/>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39" name="Rectangle 67"/>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54343" name="Line 71"/>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4" name="Line 72"/>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5" name="Line 73"/>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6" name="Line 74"/>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7" name="Line 75"/>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8" name="Line 76"/>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49" name="Line 77"/>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0" name="Line 78"/>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1" name="AutoShape 79"/>
          <p:cNvSpPr>
            <a:spLocks noChangeArrowheads="1"/>
          </p:cNvSpPr>
          <p:nvPr/>
        </p:nvSpPr>
        <p:spPr bwMode="auto">
          <a:xfrm>
            <a:off x="49149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2" name="Rectangle 80"/>
          <p:cNvSpPr>
            <a:spLocks noChangeArrowheads="1"/>
          </p:cNvSpPr>
          <p:nvPr/>
        </p:nvSpPr>
        <p:spPr bwMode="auto">
          <a:xfrm>
            <a:off x="50863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54353" name="Rectangle 81"/>
          <p:cNvSpPr>
            <a:spLocks noChangeArrowheads="1"/>
          </p:cNvSpPr>
          <p:nvPr/>
        </p:nvSpPr>
        <p:spPr bwMode="auto">
          <a:xfrm>
            <a:off x="54864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54356" name="Line 84"/>
          <p:cNvSpPr>
            <a:spLocks noChangeShapeType="1"/>
          </p:cNvSpPr>
          <p:nvPr/>
        </p:nvSpPr>
        <p:spPr bwMode="auto">
          <a:xfrm>
            <a:off x="5086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7" name="Line 85"/>
          <p:cNvSpPr>
            <a:spLocks noChangeShapeType="1"/>
          </p:cNvSpPr>
          <p:nvPr/>
        </p:nvSpPr>
        <p:spPr bwMode="auto">
          <a:xfrm>
            <a:off x="5372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8" name="Line 86"/>
          <p:cNvSpPr>
            <a:spLocks noChangeShapeType="1"/>
          </p:cNvSpPr>
          <p:nvPr/>
        </p:nvSpPr>
        <p:spPr bwMode="auto">
          <a:xfrm>
            <a:off x="5543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59" name="Line 87"/>
          <p:cNvSpPr>
            <a:spLocks noChangeShapeType="1"/>
          </p:cNvSpPr>
          <p:nvPr/>
        </p:nvSpPr>
        <p:spPr bwMode="auto">
          <a:xfrm>
            <a:off x="5829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0" name="Line 88"/>
          <p:cNvSpPr>
            <a:spLocks noChangeShapeType="1"/>
          </p:cNvSpPr>
          <p:nvPr/>
        </p:nvSpPr>
        <p:spPr bwMode="auto">
          <a:xfrm>
            <a:off x="6286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1" name="Line 89"/>
          <p:cNvSpPr>
            <a:spLocks noChangeShapeType="1"/>
          </p:cNvSpPr>
          <p:nvPr/>
        </p:nvSpPr>
        <p:spPr bwMode="auto">
          <a:xfrm>
            <a:off x="64579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2" name="Line 90"/>
          <p:cNvSpPr>
            <a:spLocks noChangeShapeType="1"/>
          </p:cNvSpPr>
          <p:nvPr/>
        </p:nvSpPr>
        <p:spPr bwMode="auto">
          <a:xfrm>
            <a:off x="6743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3" name="Line 91"/>
          <p:cNvSpPr>
            <a:spLocks noChangeShapeType="1"/>
          </p:cNvSpPr>
          <p:nvPr/>
        </p:nvSpPr>
        <p:spPr bwMode="auto">
          <a:xfrm>
            <a:off x="6000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8" name="Oval 96"/>
          <p:cNvSpPr>
            <a:spLocks noChangeArrowheads="1"/>
          </p:cNvSpPr>
          <p:nvPr/>
        </p:nvSpPr>
        <p:spPr bwMode="auto">
          <a:xfrm>
            <a:off x="18859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69" name="Line 97"/>
          <p:cNvSpPr>
            <a:spLocks noChangeShapeType="1"/>
          </p:cNvSpPr>
          <p:nvPr/>
        </p:nvSpPr>
        <p:spPr bwMode="auto">
          <a:xfrm>
            <a:off x="19431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0" name="Rectangle 98"/>
          <p:cNvSpPr>
            <a:spLocks noChangeArrowheads="1"/>
          </p:cNvSpPr>
          <p:nvPr/>
        </p:nvSpPr>
        <p:spPr bwMode="auto">
          <a:xfrm>
            <a:off x="18859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1" name="Oval 99"/>
          <p:cNvSpPr>
            <a:spLocks noChangeArrowheads="1"/>
          </p:cNvSpPr>
          <p:nvPr/>
        </p:nvSpPr>
        <p:spPr bwMode="auto">
          <a:xfrm>
            <a:off x="23431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2" name="Line 100"/>
          <p:cNvSpPr>
            <a:spLocks noChangeShapeType="1"/>
          </p:cNvSpPr>
          <p:nvPr/>
        </p:nvSpPr>
        <p:spPr bwMode="auto">
          <a:xfrm>
            <a:off x="24003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3" name="Rectangle 101"/>
          <p:cNvSpPr>
            <a:spLocks noChangeArrowheads="1"/>
          </p:cNvSpPr>
          <p:nvPr/>
        </p:nvSpPr>
        <p:spPr bwMode="auto">
          <a:xfrm>
            <a:off x="23431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4" name="Oval 102"/>
          <p:cNvSpPr>
            <a:spLocks noChangeArrowheads="1"/>
          </p:cNvSpPr>
          <p:nvPr/>
        </p:nvSpPr>
        <p:spPr bwMode="auto">
          <a:xfrm>
            <a:off x="28575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5" name="Line 103"/>
          <p:cNvSpPr>
            <a:spLocks noChangeShapeType="1"/>
          </p:cNvSpPr>
          <p:nvPr/>
        </p:nvSpPr>
        <p:spPr bwMode="auto">
          <a:xfrm>
            <a:off x="29146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6" name="Rectangle 104"/>
          <p:cNvSpPr>
            <a:spLocks noChangeArrowheads="1"/>
          </p:cNvSpPr>
          <p:nvPr/>
        </p:nvSpPr>
        <p:spPr bwMode="auto">
          <a:xfrm>
            <a:off x="28575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7" name="Oval 105"/>
          <p:cNvSpPr>
            <a:spLocks noChangeArrowheads="1"/>
          </p:cNvSpPr>
          <p:nvPr/>
        </p:nvSpPr>
        <p:spPr bwMode="auto">
          <a:xfrm>
            <a:off x="33147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8" name="Line 106"/>
          <p:cNvSpPr>
            <a:spLocks noChangeShapeType="1"/>
          </p:cNvSpPr>
          <p:nvPr/>
        </p:nvSpPr>
        <p:spPr bwMode="auto">
          <a:xfrm>
            <a:off x="33718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79" name="Rectangle 107"/>
          <p:cNvSpPr>
            <a:spLocks noChangeArrowheads="1"/>
          </p:cNvSpPr>
          <p:nvPr/>
        </p:nvSpPr>
        <p:spPr bwMode="auto">
          <a:xfrm>
            <a:off x="33147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0" name="Oval 108"/>
          <p:cNvSpPr>
            <a:spLocks noChangeArrowheads="1"/>
          </p:cNvSpPr>
          <p:nvPr/>
        </p:nvSpPr>
        <p:spPr bwMode="auto">
          <a:xfrm>
            <a:off x="49149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1" name="Line 109"/>
          <p:cNvSpPr>
            <a:spLocks noChangeShapeType="1"/>
          </p:cNvSpPr>
          <p:nvPr/>
        </p:nvSpPr>
        <p:spPr bwMode="auto">
          <a:xfrm>
            <a:off x="49720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2" name="Rectangle 110"/>
          <p:cNvSpPr>
            <a:spLocks noChangeArrowheads="1"/>
          </p:cNvSpPr>
          <p:nvPr/>
        </p:nvSpPr>
        <p:spPr bwMode="auto">
          <a:xfrm>
            <a:off x="49149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3" name="Oval 111"/>
          <p:cNvSpPr>
            <a:spLocks noChangeArrowheads="1"/>
          </p:cNvSpPr>
          <p:nvPr/>
        </p:nvSpPr>
        <p:spPr bwMode="auto">
          <a:xfrm>
            <a:off x="5429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4" name="Line 112"/>
          <p:cNvSpPr>
            <a:spLocks noChangeShapeType="1"/>
          </p:cNvSpPr>
          <p:nvPr/>
        </p:nvSpPr>
        <p:spPr bwMode="auto">
          <a:xfrm>
            <a:off x="5486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5" name="Rectangle 113"/>
          <p:cNvSpPr>
            <a:spLocks noChangeArrowheads="1"/>
          </p:cNvSpPr>
          <p:nvPr/>
        </p:nvSpPr>
        <p:spPr bwMode="auto">
          <a:xfrm>
            <a:off x="5429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6" name="Oval 114"/>
          <p:cNvSpPr>
            <a:spLocks noChangeArrowheads="1"/>
          </p:cNvSpPr>
          <p:nvPr/>
        </p:nvSpPr>
        <p:spPr bwMode="auto">
          <a:xfrm>
            <a:off x="5886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7" name="Line 115"/>
          <p:cNvSpPr>
            <a:spLocks noChangeShapeType="1"/>
          </p:cNvSpPr>
          <p:nvPr/>
        </p:nvSpPr>
        <p:spPr bwMode="auto">
          <a:xfrm>
            <a:off x="5943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8" name="Rectangle 116"/>
          <p:cNvSpPr>
            <a:spLocks noChangeArrowheads="1"/>
          </p:cNvSpPr>
          <p:nvPr/>
        </p:nvSpPr>
        <p:spPr bwMode="auto">
          <a:xfrm>
            <a:off x="5886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89" name="Oval 117"/>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90" name="Line 118"/>
          <p:cNvSpPr>
            <a:spLocks noChangeShapeType="1"/>
          </p:cNvSpPr>
          <p:nvPr/>
        </p:nvSpPr>
        <p:spPr bwMode="auto">
          <a:xfrm>
            <a:off x="3886200" y="2343150"/>
            <a:ext cx="18288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92" name="Oval 120"/>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93" name="Line 121"/>
          <p:cNvSpPr>
            <a:spLocks noChangeShapeType="1"/>
          </p:cNvSpPr>
          <p:nvPr/>
        </p:nvSpPr>
        <p:spPr bwMode="auto">
          <a:xfrm flipH="1">
            <a:off x="2857500" y="2343150"/>
            <a:ext cx="5715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54394" name="Text Box 122"/>
          <p:cNvSpPr txBox="1">
            <a:spLocks noChangeArrowheads="1"/>
          </p:cNvSpPr>
          <p:nvPr/>
        </p:nvSpPr>
        <p:spPr bwMode="auto">
          <a:xfrm>
            <a:off x="1714500" y="4286251"/>
            <a:ext cx="571500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root has been 2 and </a:t>
            </a:r>
            <a:r>
              <a:rPr lang="en-US" altLang="en-US" sz="1350" i="1">
                <a:latin typeface="Arial" panose="020B0604020202020204" pitchFamily="34" charset="0"/>
              </a:rPr>
              <a:t>m</a:t>
            </a:r>
            <a:r>
              <a:rPr lang="en-US" altLang="en-US" sz="1350">
                <a:latin typeface="Arial" panose="020B0604020202020204" pitchFamily="34" charset="0"/>
              </a:rPr>
              <a:t> children.</a:t>
            </a:r>
          </a:p>
          <a:p>
            <a:pPr>
              <a:spcBef>
                <a:spcPct val="50000"/>
              </a:spcBef>
            </a:pPr>
            <a:r>
              <a:rPr lang="en-US" altLang="en-US" sz="1350">
                <a:latin typeface="Arial" panose="020B0604020202020204" pitchFamily="34" charset="0"/>
              </a:rPr>
              <a:t>Each non-root internal node has between </a:t>
            </a:r>
            <a:r>
              <a:rPr lang="en-US" altLang="en-US" sz="1350">
                <a:latin typeface="Arial" panose="020B0604020202020204" pitchFamily="34" charset="0"/>
                <a:sym typeface="Symbol" panose="05050102010706020507" pitchFamily="18" charset="2"/>
              </a:rPr>
              <a:t></a:t>
            </a:r>
            <a:r>
              <a:rPr lang="en-US" altLang="en-US" sz="1350" i="1">
                <a:latin typeface="Arial" panose="020B0604020202020204" pitchFamily="34" charset="0"/>
              </a:rPr>
              <a:t>m</a:t>
            </a:r>
            <a:r>
              <a:rPr lang="en-US" altLang="en-US" sz="1350">
                <a:latin typeface="Arial" panose="020B0604020202020204" pitchFamily="34" charset="0"/>
              </a:rPr>
              <a:t>/2</a:t>
            </a:r>
            <a:r>
              <a:rPr lang="en-US" altLang="en-US" sz="1350">
                <a:latin typeface="Arial" panose="020B0604020202020204" pitchFamily="34" charset="0"/>
                <a:sym typeface="Symbol" panose="05050102010706020507" pitchFamily="18" charset="2"/>
              </a:rPr>
              <a:t></a:t>
            </a:r>
            <a:r>
              <a:rPr lang="en-US" altLang="en-US" sz="1350">
                <a:latin typeface="Arial" panose="020B0604020202020204" pitchFamily="34" charset="0"/>
              </a:rPr>
              <a:t> and </a:t>
            </a:r>
            <a:r>
              <a:rPr lang="en-US" altLang="en-US" sz="1350" i="1">
                <a:latin typeface="Arial" panose="020B0604020202020204" pitchFamily="34" charset="0"/>
              </a:rPr>
              <a:t>m</a:t>
            </a:r>
            <a:r>
              <a:rPr lang="en-US" altLang="en-US" sz="1350">
                <a:latin typeface="Arial" panose="020B0604020202020204" pitchFamily="34" charset="0"/>
              </a:rPr>
              <a:t> children.</a:t>
            </a:r>
          </a:p>
          <a:p>
            <a:pPr>
              <a:spcBef>
                <a:spcPct val="50000"/>
              </a:spcBef>
            </a:pPr>
            <a:r>
              <a:rPr lang="en-US" altLang="en-US" sz="1350">
                <a:latin typeface="Arial" panose="020B0604020202020204" pitchFamily="34" charset="0"/>
              </a:rPr>
              <a:t>All external nodes are at the same level. (External nodes are actually represented by null pointers in implementations.)</a:t>
            </a:r>
          </a:p>
        </p:txBody>
      </p:sp>
    </p:spTree>
    <p:extLst>
      <p:ext uri="{BB962C8B-B14F-4D97-AF65-F5344CB8AC3E}">
        <p14:creationId xmlns:p14="http://schemas.microsoft.com/office/powerpoint/2010/main" val="4267584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1"/>
          </p:nvPr>
        </p:nvSpPr>
        <p:spPr/>
        <p:txBody>
          <a:bodyPr/>
          <a:lstStyle/>
          <a:p>
            <a:r>
              <a:rPr lang="en-US" altLang="en-US"/>
              <a:t>CSE 373   -- AU 2004 -- B-Trees</a:t>
            </a:r>
          </a:p>
        </p:txBody>
      </p:sp>
      <p:sp>
        <p:nvSpPr>
          <p:cNvPr id="68" name="Slide Number Placeholder 4"/>
          <p:cNvSpPr>
            <a:spLocks noGrp="1"/>
          </p:cNvSpPr>
          <p:nvPr>
            <p:ph type="sldNum" sz="quarter" idx="12"/>
          </p:nvPr>
        </p:nvSpPr>
        <p:spPr/>
        <p:txBody>
          <a:bodyPr/>
          <a:lstStyle/>
          <a:p>
            <a:fld id="{69075CD0-0452-45B9-9F5F-ED65B509F728}" type="slidenum">
              <a:rPr lang="en-US" altLang="en-US"/>
              <a:pPr/>
              <a:t>14</a:t>
            </a:fld>
            <a:endParaRPr lang="en-US" altLang="en-US"/>
          </a:p>
        </p:txBody>
      </p:sp>
      <p:sp>
        <p:nvSpPr>
          <p:cNvPr id="90114"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10</a:t>
            </a:r>
          </a:p>
        </p:txBody>
      </p:sp>
      <p:sp>
        <p:nvSpPr>
          <p:cNvPr id="90115" name="AutoShape 3"/>
          <p:cNvSpPr>
            <a:spLocks noChangeArrowheads="1"/>
          </p:cNvSpPr>
          <p:nvPr/>
        </p:nvSpPr>
        <p:spPr bwMode="auto">
          <a:xfrm>
            <a:off x="18859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16" name="Rectangle 4"/>
          <p:cNvSpPr>
            <a:spLocks noChangeArrowheads="1"/>
          </p:cNvSpPr>
          <p:nvPr/>
        </p:nvSpPr>
        <p:spPr bwMode="auto">
          <a:xfrm>
            <a:off x="20574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0117" name="Rectangle 5"/>
          <p:cNvSpPr>
            <a:spLocks noChangeArrowheads="1"/>
          </p:cNvSpPr>
          <p:nvPr/>
        </p:nvSpPr>
        <p:spPr bwMode="auto">
          <a:xfrm>
            <a:off x="25717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0118" name="Rectangle 6"/>
          <p:cNvSpPr>
            <a:spLocks noChangeArrowheads="1"/>
          </p:cNvSpPr>
          <p:nvPr/>
        </p:nvSpPr>
        <p:spPr bwMode="auto">
          <a:xfrm>
            <a:off x="29718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8</a:t>
            </a:r>
          </a:p>
        </p:txBody>
      </p:sp>
      <p:sp>
        <p:nvSpPr>
          <p:cNvPr id="90119" name="Line 7"/>
          <p:cNvSpPr>
            <a:spLocks noChangeShapeType="1"/>
          </p:cNvSpPr>
          <p:nvPr/>
        </p:nvSpPr>
        <p:spPr bwMode="auto">
          <a:xfrm>
            <a:off x="2057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0" name="Line 8"/>
          <p:cNvSpPr>
            <a:spLocks noChangeShapeType="1"/>
          </p:cNvSpPr>
          <p:nvPr/>
        </p:nvSpPr>
        <p:spPr bwMode="auto">
          <a:xfrm>
            <a:off x="23431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1" name="Line 9"/>
          <p:cNvSpPr>
            <a:spLocks noChangeShapeType="1"/>
          </p:cNvSpPr>
          <p:nvPr/>
        </p:nvSpPr>
        <p:spPr bwMode="auto">
          <a:xfrm>
            <a:off x="2514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2" name="Line 10"/>
          <p:cNvSpPr>
            <a:spLocks noChangeShapeType="1"/>
          </p:cNvSpPr>
          <p:nvPr/>
        </p:nvSpPr>
        <p:spPr bwMode="auto">
          <a:xfrm>
            <a:off x="2800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3" name="Line 11"/>
          <p:cNvSpPr>
            <a:spLocks noChangeShapeType="1"/>
          </p:cNvSpPr>
          <p:nvPr/>
        </p:nvSpPr>
        <p:spPr bwMode="auto">
          <a:xfrm>
            <a:off x="3257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4" name="Line 12"/>
          <p:cNvSpPr>
            <a:spLocks noChangeShapeType="1"/>
          </p:cNvSpPr>
          <p:nvPr/>
        </p:nvSpPr>
        <p:spPr bwMode="auto">
          <a:xfrm>
            <a:off x="34290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5" name="Line 13"/>
          <p:cNvSpPr>
            <a:spLocks noChangeShapeType="1"/>
          </p:cNvSpPr>
          <p:nvPr/>
        </p:nvSpPr>
        <p:spPr bwMode="auto">
          <a:xfrm>
            <a:off x="3714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6" name="Line 14"/>
          <p:cNvSpPr>
            <a:spLocks noChangeShapeType="1"/>
          </p:cNvSpPr>
          <p:nvPr/>
        </p:nvSpPr>
        <p:spPr bwMode="auto">
          <a:xfrm>
            <a:off x="2971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7" name="AutoShape 15"/>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28" name="Rectangle 16"/>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0129" name="Line 17"/>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0" name="Line 18"/>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1" name="Line 19"/>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2" name="Line 20"/>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3" name="Line 21"/>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4" name="Line 22"/>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5" name="Line 23"/>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6" name="Line 24"/>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7" name="AutoShape 25"/>
          <p:cNvSpPr>
            <a:spLocks noChangeArrowheads="1"/>
          </p:cNvSpPr>
          <p:nvPr/>
        </p:nvSpPr>
        <p:spPr bwMode="auto">
          <a:xfrm>
            <a:off x="49149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38" name="Rectangle 26"/>
          <p:cNvSpPr>
            <a:spLocks noChangeArrowheads="1"/>
          </p:cNvSpPr>
          <p:nvPr/>
        </p:nvSpPr>
        <p:spPr bwMode="auto">
          <a:xfrm>
            <a:off x="50863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90139" name="Rectangle 27"/>
          <p:cNvSpPr>
            <a:spLocks noChangeArrowheads="1"/>
          </p:cNvSpPr>
          <p:nvPr/>
        </p:nvSpPr>
        <p:spPr bwMode="auto">
          <a:xfrm>
            <a:off x="54864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0140" name="Line 28"/>
          <p:cNvSpPr>
            <a:spLocks noChangeShapeType="1"/>
          </p:cNvSpPr>
          <p:nvPr/>
        </p:nvSpPr>
        <p:spPr bwMode="auto">
          <a:xfrm>
            <a:off x="5086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1" name="Line 29"/>
          <p:cNvSpPr>
            <a:spLocks noChangeShapeType="1"/>
          </p:cNvSpPr>
          <p:nvPr/>
        </p:nvSpPr>
        <p:spPr bwMode="auto">
          <a:xfrm>
            <a:off x="5372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2" name="Line 30"/>
          <p:cNvSpPr>
            <a:spLocks noChangeShapeType="1"/>
          </p:cNvSpPr>
          <p:nvPr/>
        </p:nvSpPr>
        <p:spPr bwMode="auto">
          <a:xfrm>
            <a:off x="5543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3" name="Line 31"/>
          <p:cNvSpPr>
            <a:spLocks noChangeShapeType="1"/>
          </p:cNvSpPr>
          <p:nvPr/>
        </p:nvSpPr>
        <p:spPr bwMode="auto">
          <a:xfrm>
            <a:off x="5829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4" name="Line 32"/>
          <p:cNvSpPr>
            <a:spLocks noChangeShapeType="1"/>
          </p:cNvSpPr>
          <p:nvPr/>
        </p:nvSpPr>
        <p:spPr bwMode="auto">
          <a:xfrm>
            <a:off x="6286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5" name="Line 33"/>
          <p:cNvSpPr>
            <a:spLocks noChangeShapeType="1"/>
          </p:cNvSpPr>
          <p:nvPr/>
        </p:nvSpPr>
        <p:spPr bwMode="auto">
          <a:xfrm>
            <a:off x="64579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6" name="Line 34"/>
          <p:cNvSpPr>
            <a:spLocks noChangeShapeType="1"/>
          </p:cNvSpPr>
          <p:nvPr/>
        </p:nvSpPr>
        <p:spPr bwMode="auto">
          <a:xfrm>
            <a:off x="6743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7" name="Line 35"/>
          <p:cNvSpPr>
            <a:spLocks noChangeShapeType="1"/>
          </p:cNvSpPr>
          <p:nvPr/>
        </p:nvSpPr>
        <p:spPr bwMode="auto">
          <a:xfrm>
            <a:off x="6000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8" name="Oval 36"/>
          <p:cNvSpPr>
            <a:spLocks noChangeArrowheads="1"/>
          </p:cNvSpPr>
          <p:nvPr/>
        </p:nvSpPr>
        <p:spPr bwMode="auto">
          <a:xfrm>
            <a:off x="18859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49" name="Line 37"/>
          <p:cNvSpPr>
            <a:spLocks noChangeShapeType="1"/>
          </p:cNvSpPr>
          <p:nvPr/>
        </p:nvSpPr>
        <p:spPr bwMode="auto">
          <a:xfrm>
            <a:off x="19431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0" name="Rectangle 38"/>
          <p:cNvSpPr>
            <a:spLocks noChangeArrowheads="1"/>
          </p:cNvSpPr>
          <p:nvPr/>
        </p:nvSpPr>
        <p:spPr bwMode="auto">
          <a:xfrm>
            <a:off x="18859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1" name="Oval 39"/>
          <p:cNvSpPr>
            <a:spLocks noChangeArrowheads="1"/>
          </p:cNvSpPr>
          <p:nvPr/>
        </p:nvSpPr>
        <p:spPr bwMode="auto">
          <a:xfrm>
            <a:off x="23431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2" name="Line 40"/>
          <p:cNvSpPr>
            <a:spLocks noChangeShapeType="1"/>
          </p:cNvSpPr>
          <p:nvPr/>
        </p:nvSpPr>
        <p:spPr bwMode="auto">
          <a:xfrm>
            <a:off x="24003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3" name="Rectangle 41"/>
          <p:cNvSpPr>
            <a:spLocks noChangeArrowheads="1"/>
          </p:cNvSpPr>
          <p:nvPr/>
        </p:nvSpPr>
        <p:spPr bwMode="auto">
          <a:xfrm>
            <a:off x="23431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4" name="Oval 42"/>
          <p:cNvSpPr>
            <a:spLocks noChangeArrowheads="1"/>
          </p:cNvSpPr>
          <p:nvPr/>
        </p:nvSpPr>
        <p:spPr bwMode="auto">
          <a:xfrm>
            <a:off x="28575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5" name="Line 43"/>
          <p:cNvSpPr>
            <a:spLocks noChangeShapeType="1"/>
          </p:cNvSpPr>
          <p:nvPr/>
        </p:nvSpPr>
        <p:spPr bwMode="auto">
          <a:xfrm>
            <a:off x="29146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6" name="Rectangle 44"/>
          <p:cNvSpPr>
            <a:spLocks noChangeArrowheads="1"/>
          </p:cNvSpPr>
          <p:nvPr/>
        </p:nvSpPr>
        <p:spPr bwMode="auto">
          <a:xfrm>
            <a:off x="28575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7" name="Oval 45"/>
          <p:cNvSpPr>
            <a:spLocks noChangeArrowheads="1"/>
          </p:cNvSpPr>
          <p:nvPr/>
        </p:nvSpPr>
        <p:spPr bwMode="auto">
          <a:xfrm>
            <a:off x="33147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8" name="Line 46"/>
          <p:cNvSpPr>
            <a:spLocks noChangeShapeType="1"/>
          </p:cNvSpPr>
          <p:nvPr/>
        </p:nvSpPr>
        <p:spPr bwMode="auto">
          <a:xfrm>
            <a:off x="33718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59" name="Rectangle 47"/>
          <p:cNvSpPr>
            <a:spLocks noChangeArrowheads="1"/>
          </p:cNvSpPr>
          <p:nvPr/>
        </p:nvSpPr>
        <p:spPr bwMode="auto">
          <a:xfrm>
            <a:off x="3314700" y="3714750"/>
            <a:ext cx="171450" cy="171450"/>
          </a:xfrm>
          <a:prstGeom prst="rect">
            <a:avLst/>
          </a:prstGeom>
          <a:solidFill>
            <a:srgbClr val="CC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0" name="Oval 48"/>
          <p:cNvSpPr>
            <a:spLocks noChangeArrowheads="1"/>
          </p:cNvSpPr>
          <p:nvPr/>
        </p:nvSpPr>
        <p:spPr bwMode="auto">
          <a:xfrm>
            <a:off x="49149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1" name="Line 49"/>
          <p:cNvSpPr>
            <a:spLocks noChangeShapeType="1"/>
          </p:cNvSpPr>
          <p:nvPr/>
        </p:nvSpPr>
        <p:spPr bwMode="auto">
          <a:xfrm>
            <a:off x="49720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2" name="Rectangle 50"/>
          <p:cNvSpPr>
            <a:spLocks noChangeArrowheads="1"/>
          </p:cNvSpPr>
          <p:nvPr/>
        </p:nvSpPr>
        <p:spPr bwMode="auto">
          <a:xfrm>
            <a:off x="49149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3" name="Oval 51"/>
          <p:cNvSpPr>
            <a:spLocks noChangeArrowheads="1"/>
          </p:cNvSpPr>
          <p:nvPr/>
        </p:nvSpPr>
        <p:spPr bwMode="auto">
          <a:xfrm>
            <a:off x="5429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4" name="Line 52"/>
          <p:cNvSpPr>
            <a:spLocks noChangeShapeType="1"/>
          </p:cNvSpPr>
          <p:nvPr/>
        </p:nvSpPr>
        <p:spPr bwMode="auto">
          <a:xfrm>
            <a:off x="5486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5" name="Rectangle 53"/>
          <p:cNvSpPr>
            <a:spLocks noChangeArrowheads="1"/>
          </p:cNvSpPr>
          <p:nvPr/>
        </p:nvSpPr>
        <p:spPr bwMode="auto">
          <a:xfrm>
            <a:off x="5429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6" name="Oval 54"/>
          <p:cNvSpPr>
            <a:spLocks noChangeArrowheads="1"/>
          </p:cNvSpPr>
          <p:nvPr/>
        </p:nvSpPr>
        <p:spPr bwMode="auto">
          <a:xfrm>
            <a:off x="5886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7" name="Line 55"/>
          <p:cNvSpPr>
            <a:spLocks noChangeShapeType="1"/>
          </p:cNvSpPr>
          <p:nvPr/>
        </p:nvSpPr>
        <p:spPr bwMode="auto">
          <a:xfrm>
            <a:off x="5943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8" name="Rectangle 56"/>
          <p:cNvSpPr>
            <a:spLocks noChangeArrowheads="1"/>
          </p:cNvSpPr>
          <p:nvPr/>
        </p:nvSpPr>
        <p:spPr bwMode="auto">
          <a:xfrm>
            <a:off x="5886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69" name="Oval 57"/>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0" name="Line 58"/>
          <p:cNvSpPr>
            <a:spLocks noChangeShapeType="1"/>
          </p:cNvSpPr>
          <p:nvPr/>
        </p:nvSpPr>
        <p:spPr bwMode="auto">
          <a:xfrm>
            <a:off x="3886200" y="2343150"/>
            <a:ext cx="18288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1" name="Oval 59"/>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2" name="Line 60"/>
          <p:cNvSpPr>
            <a:spLocks noChangeShapeType="1"/>
          </p:cNvSpPr>
          <p:nvPr/>
        </p:nvSpPr>
        <p:spPr bwMode="auto">
          <a:xfrm flipH="1">
            <a:off x="2857500" y="2343150"/>
            <a:ext cx="5715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3" name="Text Box 61"/>
          <p:cNvSpPr txBox="1">
            <a:spLocks noChangeArrowheads="1"/>
          </p:cNvSpPr>
          <p:nvPr/>
        </p:nvSpPr>
        <p:spPr bwMode="auto">
          <a:xfrm>
            <a:off x="1543050" y="4114801"/>
            <a:ext cx="611505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We find the location for 10 by following a path from the root using the stored key values to guide the search.</a:t>
            </a:r>
          </a:p>
          <a:p>
            <a:pPr>
              <a:spcBef>
                <a:spcPct val="50000"/>
              </a:spcBef>
            </a:pPr>
            <a:r>
              <a:rPr lang="en-US" altLang="en-US" sz="1350">
                <a:latin typeface="Arial" panose="020B0604020202020204" pitchFamily="34" charset="0"/>
              </a:rPr>
              <a:t>The search falls out the tree at the 4th child of the 1st child of the root.</a:t>
            </a:r>
          </a:p>
          <a:p>
            <a:pPr>
              <a:spcBef>
                <a:spcPct val="50000"/>
              </a:spcBef>
            </a:pPr>
            <a:r>
              <a:rPr lang="en-US" altLang="en-US" sz="1350">
                <a:latin typeface="Arial" panose="020B0604020202020204" pitchFamily="34" charset="0"/>
              </a:rPr>
              <a:t>The 1st child of the root has room for the new element, so we store it there.</a:t>
            </a:r>
          </a:p>
        </p:txBody>
      </p:sp>
      <p:sp>
        <p:nvSpPr>
          <p:cNvPr id="90174" name="Rectangle 62"/>
          <p:cNvSpPr>
            <a:spLocks noChangeArrowheads="1"/>
          </p:cNvSpPr>
          <p:nvPr/>
        </p:nvSpPr>
        <p:spPr bwMode="auto">
          <a:xfrm>
            <a:off x="33718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10</a:t>
            </a:r>
          </a:p>
        </p:txBody>
      </p:sp>
      <p:sp>
        <p:nvSpPr>
          <p:cNvPr id="90175" name="Oval 63"/>
          <p:cNvSpPr>
            <a:spLocks noChangeArrowheads="1"/>
          </p:cNvSpPr>
          <p:nvPr/>
        </p:nvSpPr>
        <p:spPr bwMode="auto">
          <a:xfrm>
            <a:off x="3771900" y="3314700"/>
            <a:ext cx="114300" cy="1143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6" name="Line 64"/>
          <p:cNvSpPr>
            <a:spLocks noChangeShapeType="1"/>
          </p:cNvSpPr>
          <p:nvPr/>
        </p:nvSpPr>
        <p:spPr bwMode="auto">
          <a:xfrm>
            <a:off x="38290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0177" name="Rectangle 65"/>
          <p:cNvSpPr>
            <a:spLocks noChangeArrowheads="1"/>
          </p:cNvSpPr>
          <p:nvPr/>
        </p:nvSpPr>
        <p:spPr bwMode="auto">
          <a:xfrm>
            <a:off x="3771900" y="3714750"/>
            <a:ext cx="171450" cy="1714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9087304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ooter Placeholder 3"/>
          <p:cNvSpPr>
            <a:spLocks noGrp="1"/>
          </p:cNvSpPr>
          <p:nvPr>
            <p:ph type="ftr" sz="quarter" idx="11"/>
          </p:nvPr>
        </p:nvSpPr>
        <p:spPr/>
        <p:txBody>
          <a:bodyPr/>
          <a:lstStyle/>
          <a:p>
            <a:r>
              <a:rPr lang="en-US" altLang="en-US"/>
              <a:t>CSE 373   -- AU 2004 -- B-Trees</a:t>
            </a:r>
          </a:p>
        </p:txBody>
      </p:sp>
      <p:sp>
        <p:nvSpPr>
          <p:cNvPr id="70" name="Slide Number Placeholder 4"/>
          <p:cNvSpPr>
            <a:spLocks noGrp="1"/>
          </p:cNvSpPr>
          <p:nvPr>
            <p:ph type="sldNum" sz="quarter" idx="12"/>
          </p:nvPr>
        </p:nvSpPr>
        <p:spPr/>
        <p:txBody>
          <a:bodyPr/>
          <a:lstStyle/>
          <a:p>
            <a:fld id="{E68FC6AD-8A08-458C-BAFE-0BB487B2006E}" type="slidenum">
              <a:rPr lang="en-US" altLang="en-US"/>
              <a:pPr/>
              <a:t>15</a:t>
            </a:fld>
            <a:endParaRPr lang="en-US" altLang="en-US"/>
          </a:p>
        </p:txBody>
      </p:sp>
      <p:sp>
        <p:nvSpPr>
          <p:cNvPr id="91138"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11</a:t>
            </a:r>
          </a:p>
        </p:txBody>
      </p:sp>
      <p:sp>
        <p:nvSpPr>
          <p:cNvPr id="91139" name="AutoShape 3"/>
          <p:cNvSpPr>
            <a:spLocks noChangeArrowheads="1"/>
          </p:cNvSpPr>
          <p:nvPr/>
        </p:nvSpPr>
        <p:spPr bwMode="auto">
          <a:xfrm>
            <a:off x="18859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0" name="Rectangle 4"/>
          <p:cNvSpPr>
            <a:spLocks noChangeArrowheads="1"/>
          </p:cNvSpPr>
          <p:nvPr/>
        </p:nvSpPr>
        <p:spPr bwMode="auto">
          <a:xfrm>
            <a:off x="20574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1141" name="Rectangle 5"/>
          <p:cNvSpPr>
            <a:spLocks noChangeArrowheads="1"/>
          </p:cNvSpPr>
          <p:nvPr/>
        </p:nvSpPr>
        <p:spPr bwMode="auto">
          <a:xfrm>
            <a:off x="25717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1142" name="Rectangle 6"/>
          <p:cNvSpPr>
            <a:spLocks noChangeArrowheads="1"/>
          </p:cNvSpPr>
          <p:nvPr/>
        </p:nvSpPr>
        <p:spPr bwMode="auto">
          <a:xfrm>
            <a:off x="29718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8</a:t>
            </a:r>
          </a:p>
        </p:txBody>
      </p:sp>
      <p:sp>
        <p:nvSpPr>
          <p:cNvPr id="91143" name="Line 7"/>
          <p:cNvSpPr>
            <a:spLocks noChangeShapeType="1"/>
          </p:cNvSpPr>
          <p:nvPr/>
        </p:nvSpPr>
        <p:spPr bwMode="auto">
          <a:xfrm>
            <a:off x="2057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4" name="Line 8"/>
          <p:cNvSpPr>
            <a:spLocks noChangeShapeType="1"/>
          </p:cNvSpPr>
          <p:nvPr/>
        </p:nvSpPr>
        <p:spPr bwMode="auto">
          <a:xfrm>
            <a:off x="23431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5" name="Line 9"/>
          <p:cNvSpPr>
            <a:spLocks noChangeShapeType="1"/>
          </p:cNvSpPr>
          <p:nvPr/>
        </p:nvSpPr>
        <p:spPr bwMode="auto">
          <a:xfrm>
            <a:off x="2514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6" name="Line 10"/>
          <p:cNvSpPr>
            <a:spLocks noChangeShapeType="1"/>
          </p:cNvSpPr>
          <p:nvPr/>
        </p:nvSpPr>
        <p:spPr bwMode="auto">
          <a:xfrm>
            <a:off x="2800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7" name="Line 11"/>
          <p:cNvSpPr>
            <a:spLocks noChangeShapeType="1"/>
          </p:cNvSpPr>
          <p:nvPr/>
        </p:nvSpPr>
        <p:spPr bwMode="auto">
          <a:xfrm>
            <a:off x="3257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8" name="Line 12"/>
          <p:cNvSpPr>
            <a:spLocks noChangeShapeType="1"/>
          </p:cNvSpPr>
          <p:nvPr/>
        </p:nvSpPr>
        <p:spPr bwMode="auto">
          <a:xfrm>
            <a:off x="34290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49" name="Line 13"/>
          <p:cNvSpPr>
            <a:spLocks noChangeShapeType="1"/>
          </p:cNvSpPr>
          <p:nvPr/>
        </p:nvSpPr>
        <p:spPr bwMode="auto">
          <a:xfrm>
            <a:off x="3714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0" name="Line 14"/>
          <p:cNvSpPr>
            <a:spLocks noChangeShapeType="1"/>
          </p:cNvSpPr>
          <p:nvPr/>
        </p:nvSpPr>
        <p:spPr bwMode="auto">
          <a:xfrm>
            <a:off x="2971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1" name="AutoShape 15"/>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2" name="Rectangle 16"/>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1153" name="Line 17"/>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4" name="Line 18"/>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5" name="Line 19"/>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6" name="Line 20"/>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7" name="Line 21"/>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8" name="Line 22"/>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59" name="Line 23"/>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0" name="Line 24"/>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1" name="AutoShape 25"/>
          <p:cNvSpPr>
            <a:spLocks noChangeArrowheads="1"/>
          </p:cNvSpPr>
          <p:nvPr/>
        </p:nvSpPr>
        <p:spPr bwMode="auto">
          <a:xfrm>
            <a:off x="49149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2" name="Rectangle 26"/>
          <p:cNvSpPr>
            <a:spLocks noChangeArrowheads="1"/>
          </p:cNvSpPr>
          <p:nvPr/>
        </p:nvSpPr>
        <p:spPr bwMode="auto">
          <a:xfrm>
            <a:off x="50863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91163" name="Rectangle 27"/>
          <p:cNvSpPr>
            <a:spLocks noChangeArrowheads="1"/>
          </p:cNvSpPr>
          <p:nvPr/>
        </p:nvSpPr>
        <p:spPr bwMode="auto">
          <a:xfrm>
            <a:off x="54864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1164" name="Line 28"/>
          <p:cNvSpPr>
            <a:spLocks noChangeShapeType="1"/>
          </p:cNvSpPr>
          <p:nvPr/>
        </p:nvSpPr>
        <p:spPr bwMode="auto">
          <a:xfrm>
            <a:off x="5086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5" name="Line 29"/>
          <p:cNvSpPr>
            <a:spLocks noChangeShapeType="1"/>
          </p:cNvSpPr>
          <p:nvPr/>
        </p:nvSpPr>
        <p:spPr bwMode="auto">
          <a:xfrm>
            <a:off x="5372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6" name="Line 30"/>
          <p:cNvSpPr>
            <a:spLocks noChangeShapeType="1"/>
          </p:cNvSpPr>
          <p:nvPr/>
        </p:nvSpPr>
        <p:spPr bwMode="auto">
          <a:xfrm>
            <a:off x="55435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7" name="Line 31"/>
          <p:cNvSpPr>
            <a:spLocks noChangeShapeType="1"/>
          </p:cNvSpPr>
          <p:nvPr/>
        </p:nvSpPr>
        <p:spPr bwMode="auto">
          <a:xfrm>
            <a:off x="5829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8" name="Line 32"/>
          <p:cNvSpPr>
            <a:spLocks noChangeShapeType="1"/>
          </p:cNvSpPr>
          <p:nvPr/>
        </p:nvSpPr>
        <p:spPr bwMode="auto">
          <a:xfrm>
            <a:off x="6286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69" name="Line 33"/>
          <p:cNvSpPr>
            <a:spLocks noChangeShapeType="1"/>
          </p:cNvSpPr>
          <p:nvPr/>
        </p:nvSpPr>
        <p:spPr bwMode="auto">
          <a:xfrm>
            <a:off x="64579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0" name="Line 34"/>
          <p:cNvSpPr>
            <a:spLocks noChangeShapeType="1"/>
          </p:cNvSpPr>
          <p:nvPr/>
        </p:nvSpPr>
        <p:spPr bwMode="auto">
          <a:xfrm>
            <a:off x="6743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1" name="Line 35"/>
          <p:cNvSpPr>
            <a:spLocks noChangeShapeType="1"/>
          </p:cNvSpPr>
          <p:nvPr/>
        </p:nvSpPr>
        <p:spPr bwMode="auto">
          <a:xfrm>
            <a:off x="6000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2" name="Oval 36"/>
          <p:cNvSpPr>
            <a:spLocks noChangeArrowheads="1"/>
          </p:cNvSpPr>
          <p:nvPr/>
        </p:nvSpPr>
        <p:spPr bwMode="auto">
          <a:xfrm>
            <a:off x="18859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3" name="Line 37"/>
          <p:cNvSpPr>
            <a:spLocks noChangeShapeType="1"/>
          </p:cNvSpPr>
          <p:nvPr/>
        </p:nvSpPr>
        <p:spPr bwMode="auto">
          <a:xfrm>
            <a:off x="19431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4" name="Rectangle 38"/>
          <p:cNvSpPr>
            <a:spLocks noChangeArrowheads="1"/>
          </p:cNvSpPr>
          <p:nvPr/>
        </p:nvSpPr>
        <p:spPr bwMode="auto">
          <a:xfrm>
            <a:off x="18859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5" name="Oval 39"/>
          <p:cNvSpPr>
            <a:spLocks noChangeArrowheads="1"/>
          </p:cNvSpPr>
          <p:nvPr/>
        </p:nvSpPr>
        <p:spPr bwMode="auto">
          <a:xfrm>
            <a:off x="23431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6" name="Line 40"/>
          <p:cNvSpPr>
            <a:spLocks noChangeShapeType="1"/>
          </p:cNvSpPr>
          <p:nvPr/>
        </p:nvSpPr>
        <p:spPr bwMode="auto">
          <a:xfrm>
            <a:off x="24003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7" name="Rectangle 41"/>
          <p:cNvSpPr>
            <a:spLocks noChangeArrowheads="1"/>
          </p:cNvSpPr>
          <p:nvPr/>
        </p:nvSpPr>
        <p:spPr bwMode="auto">
          <a:xfrm>
            <a:off x="23431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8" name="Oval 42"/>
          <p:cNvSpPr>
            <a:spLocks noChangeArrowheads="1"/>
          </p:cNvSpPr>
          <p:nvPr/>
        </p:nvSpPr>
        <p:spPr bwMode="auto">
          <a:xfrm>
            <a:off x="28575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79" name="Line 43"/>
          <p:cNvSpPr>
            <a:spLocks noChangeShapeType="1"/>
          </p:cNvSpPr>
          <p:nvPr/>
        </p:nvSpPr>
        <p:spPr bwMode="auto">
          <a:xfrm>
            <a:off x="29146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0" name="Rectangle 44"/>
          <p:cNvSpPr>
            <a:spLocks noChangeArrowheads="1"/>
          </p:cNvSpPr>
          <p:nvPr/>
        </p:nvSpPr>
        <p:spPr bwMode="auto">
          <a:xfrm>
            <a:off x="28575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1" name="Oval 45"/>
          <p:cNvSpPr>
            <a:spLocks noChangeArrowheads="1"/>
          </p:cNvSpPr>
          <p:nvPr/>
        </p:nvSpPr>
        <p:spPr bwMode="auto">
          <a:xfrm>
            <a:off x="33147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2" name="Line 46"/>
          <p:cNvSpPr>
            <a:spLocks noChangeShapeType="1"/>
          </p:cNvSpPr>
          <p:nvPr/>
        </p:nvSpPr>
        <p:spPr bwMode="auto">
          <a:xfrm>
            <a:off x="33718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3" name="Rectangle 47"/>
          <p:cNvSpPr>
            <a:spLocks noChangeArrowheads="1"/>
          </p:cNvSpPr>
          <p:nvPr/>
        </p:nvSpPr>
        <p:spPr bwMode="auto">
          <a:xfrm>
            <a:off x="33147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4" name="Oval 48"/>
          <p:cNvSpPr>
            <a:spLocks noChangeArrowheads="1"/>
          </p:cNvSpPr>
          <p:nvPr/>
        </p:nvSpPr>
        <p:spPr bwMode="auto">
          <a:xfrm>
            <a:off x="49149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5" name="Line 49"/>
          <p:cNvSpPr>
            <a:spLocks noChangeShapeType="1"/>
          </p:cNvSpPr>
          <p:nvPr/>
        </p:nvSpPr>
        <p:spPr bwMode="auto">
          <a:xfrm>
            <a:off x="49720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6" name="Rectangle 50"/>
          <p:cNvSpPr>
            <a:spLocks noChangeArrowheads="1"/>
          </p:cNvSpPr>
          <p:nvPr/>
        </p:nvSpPr>
        <p:spPr bwMode="auto">
          <a:xfrm>
            <a:off x="49149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7" name="Oval 51"/>
          <p:cNvSpPr>
            <a:spLocks noChangeArrowheads="1"/>
          </p:cNvSpPr>
          <p:nvPr/>
        </p:nvSpPr>
        <p:spPr bwMode="auto">
          <a:xfrm>
            <a:off x="5429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8" name="Line 52"/>
          <p:cNvSpPr>
            <a:spLocks noChangeShapeType="1"/>
          </p:cNvSpPr>
          <p:nvPr/>
        </p:nvSpPr>
        <p:spPr bwMode="auto">
          <a:xfrm>
            <a:off x="5486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89" name="Rectangle 53"/>
          <p:cNvSpPr>
            <a:spLocks noChangeArrowheads="1"/>
          </p:cNvSpPr>
          <p:nvPr/>
        </p:nvSpPr>
        <p:spPr bwMode="auto">
          <a:xfrm>
            <a:off x="5429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0" name="Oval 54"/>
          <p:cNvSpPr>
            <a:spLocks noChangeArrowheads="1"/>
          </p:cNvSpPr>
          <p:nvPr/>
        </p:nvSpPr>
        <p:spPr bwMode="auto">
          <a:xfrm>
            <a:off x="5886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1" name="Line 55"/>
          <p:cNvSpPr>
            <a:spLocks noChangeShapeType="1"/>
          </p:cNvSpPr>
          <p:nvPr/>
        </p:nvSpPr>
        <p:spPr bwMode="auto">
          <a:xfrm>
            <a:off x="5943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2" name="Rectangle 56"/>
          <p:cNvSpPr>
            <a:spLocks noChangeArrowheads="1"/>
          </p:cNvSpPr>
          <p:nvPr/>
        </p:nvSpPr>
        <p:spPr bwMode="auto">
          <a:xfrm>
            <a:off x="5886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3" name="Oval 57"/>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4" name="Line 58"/>
          <p:cNvSpPr>
            <a:spLocks noChangeShapeType="1"/>
          </p:cNvSpPr>
          <p:nvPr/>
        </p:nvSpPr>
        <p:spPr bwMode="auto">
          <a:xfrm>
            <a:off x="3886200" y="2343150"/>
            <a:ext cx="18288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5" name="Oval 59"/>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6" name="Line 60"/>
          <p:cNvSpPr>
            <a:spLocks noChangeShapeType="1"/>
          </p:cNvSpPr>
          <p:nvPr/>
        </p:nvSpPr>
        <p:spPr bwMode="auto">
          <a:xfrm flipH="1">
            <a:off x="2857500" y="2343150"/>
            <a:ext cx="5715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197" name="Text Box 61"/>
          <p:cNvSpPr txBox="1">
            <a:spLocks noChangeArrowheads="1"/>
          </p:cNvSpPr>
          <p:nvPr/>
        </p:nvSpPr>
        <p:spPr bwMode="auto">
          <a:xfrm>
            <a:off x="1543050" y="4114801"/>
            <a:ext cx="61150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We fall out of the tree at the child to the right of key 10.</a:t>
            </a:r>
          </a:p>
          <a:p>
            <a:pPr>
              <a:spcBef>
                <a:spcPct val="50000"/>
              </a:spcBef>
            </a:pPr>
            <a:r>
              <a:rPr lang="en-US" altLang="en-US" sz="1350">
                <a:latin typeface="Arial" panose="020B0604020202020204" pitchFamily="34" charset="0"/>
              </a:rPr>
              <a:t>But there is no more room in the left child of the root to hold 11.</a:t>
            </a:r>
          </a:p>
          <a:p>
            <a:pPr>
              <a:spcBef>
                <a:spcPct val="50000"/>
              </a:spcBef>
            </a:pPr>
            <a:r>
              <a:rPr lang="en-US" altLang="en-US" sz="1350">
                <a:latin typeface="Arial" panose="020B0604020202020204" pitchFamily="34" charset="0"/>
              </a:rPr>
              <a:t>Therefore, we must </a:t>
            </a:r>
            <a:r>
              <a:rPr lang="en-US" altLang="en-US" sz="1350" i="1">
                <a:latin typeface="Arial" panose="020B0604020202020204" pitchFamily="34" charset="0"/>
              </a:rPr>
              <a:t>split</a:t>
            </a:r>
            <a:r>
              <a:rPr lang="en-US" altLang="en-US" sz="1350">
                <a:latin typeface="Arial" panose="020B0604020202020204" pitchFamily="34" charset="0"/>
              </a:rPr>
              <a:t> this node...</a:t>
            </a:r>
          </a:p>
        </p:txBody>
      </p:sp>
      <p:sp>
        <p:nvSpPr>
          <p:cNvPr id="91198" name="Rectangle 62"/>
          <p:cNvSpPr>
            <a:spLocks noChangeArrowheads="1"/>
          </p:cNvSpPr>
          <p:nvPr/>
        </p:nvSpPr>
        <p:spPr bwMode="auto">
          <a:xfrm>
            <a:off x="3371850" y="3200400"/>
            <a:ext cx="377026" cy="30008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10</a:t>
            </a:r>
            <a:endParaRPr lang="en-US" altLang="en-US" sz="1350">
              <a:solidFill>
                <a:schemeClr val="accent2"/>
              </a:solidFill>
              <a:latin typeface="Arial" panose="020B0604020202020204" pitchFamily="34" charset="0"/>
            </a:endParaRPr>
          </a:p>
        </p:txBody>
      </p:sp>
      <p:sp>
        <p:nvSpPr>
          <p:cNvPr id="91199" name="Oval 63"/>
          <p:cNvSpPr>
            <a:spLocks noChangeArrowheads="1"/>
          </p:cNvSpPr>
          <p:nvPr/>
        </p:nvSpPr>
        <p:spPr bwMode="auto">
          <a:xfrm>
            <a:off x="37719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200" name="Line 64"/>
          <p:cNvSpPr>
            <a:spLocks noChangeShapeType="1"/>
          </p:cNvSpPr>
          <p:nvPr/>
        </p:nvSpPr>
        <p:spPr bwMode="auto">
          <a:xfrm>
            <a:off x="38290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201" name="Rectangle 65"/>
          <p:cNvSpPr>
            <a:spLocks noChangeArrowheads="1"/>
          </p:cNvSpPr>
          <p:nvPr/>
        </p:nvSpPr>
        <p:spPr bwMode="auto">
          <a:xfrm>
            <a:off x="3771900" y="3714750"/>
            <a:ext cx="171450" cy="171450"/>
          </a:xfrm>
          <a:prstGeom prst="rect">
            <a:avLst/>
          </a:prstGeom>
          <a:solidFill>
            <a:srgbClr val="CC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1202" name="Rectangle 66"/>
          <p:cNvSpPr>
            <a:spLocks noChangeArrowheads="1"/>
          </p:cNvSpPr>
          <p:nvPr/>
        </p:nvSpPr>
        <p:spPr bwMode="auto">
          <a:xfrm>
            <a:off x="4000501" y="32004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11</a:t>
            </a:r>
          </a:p>
        </p:txBody>
      </p:sp>
      <p:sp>
        <p:nvSpPr>
          <p:cNvPr id="91203" name="Oval 67"/>
          <p:cNvSpPr>
            <a:spLocks noChangeArrowheads="1"/>
          </p:cNvSpPr>
          <p:nvPr/>
        </p:nvSpPr>
        <p:spPr bwMode="auto">
          <a:xfrm>
            <a:off x="4000500" y="3086100"/>
            <a:ext cx="514350" cy="514350"/>
          </a:xfrm>
          <a:prstGeom prst="ellipse">
            <a:avLst/>
          </a:prstGeom>
          <a:noFill/>
          <a:ln w="952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9592152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Footer Placeholder 3"/>
          <p:cNvSpPr>
            <a:spLocks noGrp="1"/>
          </p:cNvSpPr>
          <p:nvPr>
            <p:ph type="ftr" sz="quarter" idx="11"/>
          </p:nvPr>
        </p:nvSpPr>
        <p:spPr/>
        <p:txBody>
          <a:bodyPr/>
          <a:lstStyle/>
          <a:p>
            <a:r>
              <a:rPr lang="en-US" altLang="en-US"/>
              <a:t>CSE 373   -- AU 2004 -- B-Trees</a:t>
            </a:r>
          </a:p>
        </p:txBody>
      </p:sp>
      <p:sp>
        <p:nvSpPr>
          <p:cNvPr id="83" name="Slide Number Placeholder 4"/>
          <p:cNvSpPr>
            <a:spLocks noGrp="1"/>
          </p:cNvSpPr>
          <p:nvPr>
            <p:ph type="sldNum" sz="quarter" idx="12"/>
          </p:nvPr>
        </p:nvSpPr>
        <p:spPr/>
        <p:txBody>
          <a:bodyPr/>
          <a:lstStyle/>
          <a:p>
            <a:fld id="{04D2AD6A-E226-4037-9693-A75D5B776AA4}" type="slidenum">
              <a:rPr lang="en-US" altLang="en-US"/>
              <a:pPr/>
              <a:t>16</a:t>
            </a:fld>
            <a:endParaRPr lang="en-US" altLang="en-US"/>
          </a:p>
        </p:txBody>
      </p:sp>
      <p:sp>
        <p:nvSpPr>
          <p:cNvPr id="92162"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11 (Continued)</a:t>
            </a:r>
          </a:p>
        </p:txBody>
      </p:sp>
      <p:sp>
        <p:nvSpPr>
          <p:cNvPr id="92163" name="AutoShape 3"/>
          <p:cNvSpPr>
            <a:spLocks noChangeArrowheads="1"/>
          </p:cNvSpPr>
          <p:nvPr/>
        </p:nvSpPr>
        <p:spPr bwMode="auto">
          <a:xfrm>
            <a:off x="13716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64" name="Rectangle 4"/>
          <p:cNvSpPr>
            <a:spLocks noChangeArrowheads="1"/>
          </p:cNvSpPr>
          <p:nvPr/>
        </p:nvSpPr>
        <p:spPr bwMode="auto">
          <a:xfrm>
            <a:off x="1543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2165" name="Rectangle 5"/>
          <p:cNvSpPr>
            <a:spLocks noChangeArrowheads="1"/>
          </p:cNvSpPr>
          <p:nvPr/>
        </p:nvSpPr>
        <p:spPr bwMode="auto">
          <a:xfrm>
            <a:off x="20574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2167" name="Line 7"/>
          <p:cNvSpPr>
            <a:spLocks noChangeShapeType="1"/>
          </p:cNvSpPr>
          <p:nvPr/>
        </p:nvSpPr>
        <p:spPr bwMode="auto">
          <a:xfrm>
            <a:off x="1543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68" name="Line 8"/>
          <p:cNvSpPr>
            <a:spLocks noChangeShapeType="1"/>
          </p:cNvSpPr>
          <p:nvPr/>
        </p:nvSpPr>
        <p:spPr bwMode="auto">
          <a:xfrm>
            <a:off x="1828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69" name="Line 9"/>
          <p:cNvSpPr>
            <a:spLocks noChangeShapeType="1"/>
          </p:cNvSpPr>
          <p:nvPr/>
        </p:nvSpPr>
        <p:spPr bwMode="auto">
          <a:xfrm>
            <a:off x="20002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0" name="Line 10"/>
          <p:cNvSpPr>
            <a:spLocks noChangeShapeType="1"/>
          </p:cNvSpPr>
          <p:nvPr/>
        </p:nvSpPr>
        <p:spPr bwMode="auto">
          <a:xfrm>
            <a:off x="22860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1" name="Line 11"/>
          <p:cNvSpPr>
            <a:spLocks noChangeShapeType="1"/>
          </p:cNvSpPr>
          <p:nvPr/>
        </p:nvSpPr>
        <p:spPr bwMode="auto">
          <a:xfrm>
            <a:off x="2743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2" name="Line 12"/>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3" name="Line 13"/>
          <p:cNvSpPr>
            <a:spLocks noChangeShapeType="1"/>
          </p:cNvSpPr>
          <p:nvPr/>
        </p:nvSpPr>
        <p:spPr bwMode="auto">
          <a:xfrm>
            <a:off x="3200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4" name="Line 14"/>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5" name="AutoShape 15"/>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6" name="Rectangle 16"/>
          <p:cNvSpPr>
            <a:spLocks noChangeArrowheads="1"/>
          </p:cNvSpPr>
          <p:nvPr/>
        </p:nvSpPr>
        <p:spPr bwMode="auto">
          <a:xfrm>
            <a:off x="388620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2177" name="Line 17"/>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8" name="Line 18"/>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79" name="Line 19"/>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0" name="Line 20"/>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1" name="Line 21"/>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2" name="Line 22"/>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3" name="Line 23"/>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4" name="Line 24"/>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5" name="AutoShape 25"/>
          <p:cNvSpPr>
            <a:spLocks noChangeArrowheads="1"/>
          </p:cNvSpPr>
          <p:nvPr/>
        </p:nvSpPr>
        <p:spPr bwMode="auto">
          <a:xfrm>
            <a:off x="58293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6" name="Rectangle 26"/>
          <p:cNvSpPr>
            <a:spLocks noChangeArrowheads="1"/>
          </p:cNvSpPr>
          <p:nvPr/>
        </p:nvSpPr>
        <p:spPr bwMode="auto">
          <a:xfrm>
            <a:off x="60007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92187" name="Rectangle 27"/>
          <p:cNvSpPr>
            <a:spLocks noChangeArrowheads="1"/>
          </p:cNvSpPr>
          <p:nvPr/>
        </p:nvSpPr>
        <p:spPr bwMode="auto">
          <a:xfrm>
            <a:off x="64008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2188" name="Line 28"/>
          <p:cNvSpPr>
            <a:spLocks noChangeShapeType="1"/>
          </p:cNvSpPr>
          <p:nvPr/>
        </p:nvSpPr>
        <p:spPr bwMode="auto">
          <a:xfrm>
            <a:off x="6000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89" name="Line 29"/>
          <p:cNvSpPr>
            <a:spLocks noChangeShapeType="1"/>
          </p:cNvSpPr>
          <p:nvPr/>
        </p:nvSpPr>
        <p:spPr bwMode="auto">
          <a:xfrm>
            <a:off x="6286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0" name="Line 30"/>
          <p:cNvSpPr>
            <a:spLocks noChangeShapeType="1"/>
          </p:cNvSpPr>
          <p:nvPr/>
        </p:nvSpPr>
        <p:spPr bwMode="auto">
          <a:xfrm>
            <a:off x="64579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1" name="Line 31"/>
          <p:cNvSpPr>
            <a:spLocks noChangeShapeType="1"/>
          </p:cNvSpPr>
          <p:nvPr/>
        </p:nvSpPr>
        <p:spPr bwMode="auto">
          <a:xfrm>
            <a:off x="6743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2" name="Line 32"/>
          <p:cNvSpPr>
            <a:spLocks noChangeShapeType="1"/>
          </p:cNvSpPr>
          <p:nvPr/>
        </p:nvSpPr>
        <p:spPr bwMode="auto">
          <a:xfrm>
            <a:off x="7200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3" name="Line 33"/>
          <p:cNvSpPr>
            <a:spLocks noChangeShapeType="1"/>
          </p:cNvSpPr>
          <p:nvPr/>
        </p:nvSpPr>
        <p:spPr bwMode="auto">
          <a:xfrm>
            <a:off x="7372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4" name="Line 34"/>
          <p:cNvSpPr>
            <a:spLocks noChangeShapeType="1"/>
          </p:cNvSpPr>
          <p:nvPr/>
        </p:nvSpPr>
        <p:spPr bwMode="auto">
          <a:xfrm>
            <a:off x="7658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5" name="Line 35"/>
          <p:cNvSpPr>
            <a:spLocks noChangeShapeType="1"/>
          </p:cNvSpPr>
          <p:nvPr/>
        </p:nvSpPr>
        <p:spPr bwMode="auto">
          <a:xfrm>
            <a:off x="69151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6" name="Oval 36"/>
          <p:cNvSpPr>
            <a:spLocks noChangeArrowheads="1"/>
          </p:cNvSpPr>
          <p:nvPr/>
        </p:nvSpPr>
        <p:spPr bwMode="auto">
          <a:xfrm>
            <a:off x="13716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7" name="Line 37"/>
          <p:cNvSpPr>
            <a:spLocks noChangeShapeType="1"/>
          </p:cNvSpPr>
          <p:nvPr/>
        </p:nvSpPr>
        <p:spPr bwMode="auto">
          <a:xfrm>
            <a:off x="14287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8" name="Rectangle 38"/>
          <p:cNvSpPr>
            <a:spLocks noChangeArrowheads="1"/>
          </p:cNvSpPr>
          <p:nvPr/>
        </p:nvSpPr>
        <p:spPr bwMode="auto">
          <a:xfrm>
            <a:off x="13716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9" name="Oval 39"/>
          <p:cNvSpPr>
            <a:spLocks noChangeArrowheads="1"/>
          </p:cNvSpPr>
          <p:nvPr/>
        </p:nvSpPr>
        <p:spPr bwMode="auto">
          <a:xfrm>
            <a:off x="1828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0" name="Line 40"/>
          <p:cNvSpPr>
            <a:spLocks noChangeShapeType="1"/>
          </p:cNvSpPr>
          <p:nvPr/>
        </p:nvSpPr>
        <p:spPr bwMode="auto">
          <a:xfrm>
            <a:off x="1885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1" name="Rectangle 41"/>
          <p:cNvSpPr>
            <a:spLocks noChangeArrowheads="1"/>
          </p:cNvSpPr>
          <p:nvPr/>
        </p:nvSpPr>
        <p:spPr bwMode="auto">
          <a:xfrm>
            <a:off x="1828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2" name="Oval 42"/>
          <p:cNvSpPr>
            <a:spLocks noChangeArrowheads="1"/>
          </p:cNvSpPr>
          <p:nvPr/>
        </p:nvSpPr>
        <p:spPr bwMode="auto">
          <a:xfrm>
            <a:off x="23431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3" name="Line 43"/>
          <p:cNvSpPr>
            <a:spLocks noChangeShapeType="1"/>
          </p:cNvSpPr>
          <p:nvPr/>
        </p:nvSpPr>
        <p:spPr bwMode="auto">
          <a:xfrm>
            <a:off x="24003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4" name="Rectangle 44"/>
          <p:cNvSpPr>
            <a:spLocks noChangeArrowheads="1"/>
          </p:cNvSpPr>
          <p:nvPr/>
        </p:nvSpPr>
        <p:spPr bwMode="auto">
          <a:xfrm>
            <a:off x="23431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8" name="Oval 48"/>
          <p:cNvSpPr>
            <a:spLocks noChangeArrowheads="1"/>
          </p:cNvSpPr>
          <p:nvPr/>
        </p:nvSpPr>
        <p:spPr bwMode="auto">
          <a:xfrm>
            <a:off x="58293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09" name="Line 49"/>
          <p:cNvSpPr>
            <a:spLocks noChangeShapeType="1"/>
          </p:cNvSpPr>
          <p:nvPr/>
        </p:nvSpPr>
        <p:spPr bwMode="auto">
          <a:xfrm>
            <a:off x="58864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0" name="Rectangle 50"/>
          <p:cNvSpPr>
            <a:spLocks noChangeArrowheads="1"/>
          </p:cNvSpPr>
          <p:nvPr/>
        </p:nvSpPr>
        <p:spPr bwMode="auto">
          <a:xfrm>
            <a:off x="58293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1" name="Oval 51"/>
          <p:cNvSpPr>
            <a:spLocks noChangeArrowheads="1"/>
          </p:cNvSpPr>
          <p:nvPr/>
        </p:nvSpPr>
        <p:spPr bwMode="auto">
          <a:xfrm>
            <a:off x="63436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2" name="Line 52"/>
          <p:cNvSpPr>
            <a:spLocks noChangeShapeType="1"/>
          </p:cNvSpPr>
          <p:nvPr/>
        </p:nvSpPr>
        <p:spPr bwMode="auto">
          <a:xfrm>
            <a:off x="64008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3" name="Rectangle 53"/>
          <p:cNvSpPr>
            <a:spLocks noChangeArrowheads="1"/>
          </p:cNvSpPr>
          <p:nvPr/>
        </p:nvSpPr>
        <p:spPr bwMode="auto">
          <a:xfrm>
            <a:off x="63436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4" name="Oval 54"/>
          <p:cNvSpPr>
            <a:spLocks noChangeArrowheads="1"/>
          </p:cNvSpPr>
          <p:nvPr/>
        </p:nvSpPr>
        <p:spPr bwMode="auto">
          <a:xfrm>
            <a:off x="68008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5" name="Line 55"/>
          <p:cNvSpPr>
            <a:spLocks noChangeShapeType="1"/>
          </p:cNvSpPr>
          <p:nvPr/>
        </p:nvSpPr>
        <p:spPr bwMode="auto">
          <a:xfrm>
            <a:off x="68580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6" name="Rectangle 56"/>
          <p:cNvSpPr>
            <a:spLocks noChangeArrowheads="1"/>
          </p:cNvSpPr>
          <p:nvPr/>
        </p:nvSpPr>
        <p:spPr bwMode="auto">
          <a:xfrm>
            <a:off x="68008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7" name="Oval 57"/>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8" name="Line 58"/>
          <p:cNvSpPr>
            <a:spLocks noChangeShapeType="1"/>
          </p:cNvSpPr>
          <p:nvPr/>
        </p:nvSpPr>
        <p:spPr bwMode="auto">
          <a:xfrm>
            <a:off x="4343400" y="2343150"/>
            <a:ext cx="22288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9" name="Oval 59"/>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20" name="Line 60"/>
          <p:cNvSpPr>
            <a:spLocks noChangeShapeType="1"/>
          </p:cNvSpPr>
          <p:nvPr/>
        </p:nvSpPr>
        <p:spPr bwMode="auto">
          <a:xfrm flipH="1">
            <a:off x="2857500" y="2343150"/>
            <a:ext cx="5715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21" name="Text Box 61"/>
          <p:cNvSpPr txBox="1">
            <a:spLocks noChangeArrowheads="1"/>
          </p:cNvSpPr>
          <p:nvPr/>
        </p:nvSpPr>
        <p:spPr bwMode="auto">
          <a:xfrm>
            <a:off x="1543050" y="4114801"/>
            <a:ext cx="6115050" cy="819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m + 1 children are divided evenly between the old and new nodes.</a:t>
            </a:r>
          </a:p>
          <a:p>
            <a:pPr>
              <a:spcBef>
                <a:spcPct val="50000"/>
              </a:spcBef>
            </a:pPr>
            <a:r>
              <a:rPr lang="en-US" altLang="en-US" sz="1350">
                <a:latin typeface="Arial" panose="020B0604020202020204" pitchFamily="34" charset="0"/>
              </a:rPr>
              <a:t>The parent gets one new child.  (If the parent become overfull, then it, too, will have to be split).</a:t>
            </a:r>
          </a:p>
        </p:txBody>
      </p:sp>
      <p:sp>
        <p:nvSpPr>
          <p:cNvPr id="92228" name="AutoShape 68"/>
          <p:cNvSpPr>
            <a:spLocks noChangeArrowheads="1"/>
          </p:cNvSpPr>
          <p:nvPr/>
        </p:nvSpPr>
        <p:spPr bwMode="auto">
          <a:xfrm>
            <a:off x="3600450" y="3086100"/>
            <a:ext cx="2000250" cy="514350"/>
          </a:xfrm>
          <a:prstGeom prst="roundRect">
            <a:avLst>
              <a:gd name="adj" fmla="val 16667"/>
            </a:avLst>
          </a:prstGeom>
          <a:solidFill>
            <a:srgbClr val="33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29" name="Rectangle 69"/>
          <p:cNvSpPr>
            <a:spLocks noChangeArrowheads="1"/>
          </p:cNvSpPr>
          <p:nvPr/>
        </p:nvSpPr>
        <p:spPr bwMode="auto">
          <a:xfrm>
            <a:off x="37719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2230" name="Rectangle 70"/>
          <p:cNvSpPr>
            <a:spLocks noChangeArrowheads="1"/>
          </p:cNvSpPr>
          <p:nvPr/>
        </p:nvSpPr>
        <p:spPr bwMode="auto">
          <a:xfrm>
            <a:off x="4229101" y="32004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11</a:t>
            </a:r>
          </a:p>
        </p:txBody>
      </p:sp>
      <p:sp>
        <p:nvSpPr>
          <p:cNvPr id="92232" name="Line 72"/>
          <p:cNvSpPr>
            <a:spLocks noChangeShapeType="1"/>
          </p:cNvSpPr>
          <p:nvPr/>
        </p:nvSpPr>
        <p:spPr bwMode="auto">
          <a:xfrm>
            <a:off x="3771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3" name="Line 73"/>
          <p:cNvSpPr>
            <a:spLocks noChangeShapeType="1"/>
          </p:cNvSpPr>
          <p:nvPr/>
        </p:nvSpPr>
        <p:spPr bwMode="auto">
          <a:xfrm>
            <a:off x="4057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4" name="Line 74"/>
          <p:cNvSpPr>
            <a:spLocks noChangeShapeType="1"/>
          </p:cNvSpPr>
          <p:nvPr/>
        </p:nvSpPr>
        <p:spPr bwMode="auto">
          <a:xfrm>
            <a:off x="4229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5" name="Line 75"/>
          <p:cNvSpPr>
            <a:spLocks noChangeShapeType="1"/>
          </p:cNvSpPr>
          <p:nvPr/>
        </p:nvSpPr>
        <p:spPr bwMode="auto">
          <a:xfrm>
            <a:off x="4514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6" name="Line 76"/>
          <p:cNvSpPr>
            <a:spLocks noChangeShapeType="1"/>
          </p:cNvSpPr>
          <p:nvPr/>
        </p:nvSpPr>
        <p:spPr bwMode="auto">
          <a:xfrm>
            <a:off x="4972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7" name="Line 77"/>
          <p:cNvSpPr>
            <a:spLocks noChangeShapeType="1"/>
          </p:cNvSpPr>
          <p:nvPr/>
        </p:nvSpPr>
        <p:spPr bwMode="auto">
          <a:xfrm>
            <a:off x="5143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8" name="Line 78"/>
          <p:cNvSpPr>
            <a:spLocks noChangeShapeType="1"/>
          </p:cNvSpPr>
          <p:nvPr/>
        </p:nvSpPr>
        <p:spPr bwMode="auto">
          <a:xfrm>
            <a:off x="54292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39" name="Line 79"/>
          <p:cNvSpPr>
            <a:spLocks noChangeShapeType="1"/>
          </p:cNvSpPr>
          <p:nvPr/>
        </p:nvSpPr>
        <p:spPr bwMode="auto">
          <a:xfrm>
            <a:off x="4686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0" name="Oval 80"/>
          <p:cNvSpPr>
            <a:spLocks noChangeArrowheads="1"/>
          </p:cNvSpPr>
          <p:nvPr/>
        </p:nvSpPr>
        <p:spPr bwMode="auto">
          <a:xfrm>
            <a:off x="3600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1" name="Line 81"/>
          <p:cNvSpPr>
            <a:spLocks noChangeShapeType="1"/>
          </p:cNvSpPr>
          <p:nvPr/>
        </p:nvSpPr>
        <p:spPr bwMode="auto">
          <a:xfrm>
            <a:off x="3657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2" name="Rectangle 82"/>
          <p:cNvSpPr>
            <a:spLocks noChangeArrowheads="1"/>
          </p:cNvSpPr>
          <p:nvPr/>
        </p:nvSpPr>
        <p:spPr bwMode="auto">
          <a:xfrm>
            <a:off x="3600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3" name="Oval 83"/>
          <p:cNvSpPr>
            <a:spLocks noChangeArrowheads="1"/>
          </p:cNvSpPr>
          <p:nvPr/>
        </p:nvSpPr>
        <p:spPr bwMode="auto">
          <a:xfrm>
            <a:off x="40576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4" name="Line 84"/>
          <p:cNvSpPr>
            <a:spLocks noChangeShapeType="1"/>
          </p:cNvSpPr>
          <p:nvPr/>
        </p:nvSpPr>
        <p:spPr bwMode="auto">
          <a:xfrm>
            <a:off x="41148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5" name="Rectangle 85"/>
          <p:cNvSpPr>
            <a:spLocks noChangeArrowheads="1"/>
          </p:cNvSpPr>
          <p:nvPr/>
        </p:nvSpPr>
        <p:spPr bwMode="auto">
          <a:xfrm>
            <a:off x="40576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6" name="Oval 86"/>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7" name="Line 87"/>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48" name="Rectangle 88"/>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56" name="Line 96"/>
          <p:cNvSpPr>
            <a:spLocks noChangeShapeType="1"/>
          </p:cNvSpPr>
          <p:nvPr/>
        </p:nvSpPr>
        <p:spPr bwMode="auto">
          <a:xfrm>
            <a:off x="3886200" y="2343150"/>
            <a:ext cx="6858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57" name="Oval 97"/>
          <p:cNvSpPr>
            <a:spLocks noChangeArrowheads="1"/>
          </p:cNvSpPr>
          <p:nvPr/>
        </p:nvSpPr>
        <p:spPr bwMode="auto">
          <a:xfrm>
            <a:off x="42862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58" name="Rectangle 98"/>
          <p:cNvSpPr>
            <a:spLocks noChangeArrowheads="1"/>
          </p:cNvSpPr>
          <p:nvPr/>
        </p:nvSpPr>
        <p:spPr bwMode="auto">
          <a:xfrm>
            <a:off x="3486150" y="21717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8</a:t>
            </a:r>
          </a:p>
        </p:txBody>
      </p:sp>
    </p:spTree>
    <p:extLst>
      <p:ext uri="{BB962C8B-B14F-4D97-AF65-F5344CB8AC3E}">
        <p14:creationId xmlns:p14="http://schemas.microsoft.com/office/powerpoint/2010/main" val="33836909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Footer Placeholder 3"/>
          <p:cNvSpPr>
            <a:spLocks noGrp="1"/>
          </p:cNvSpPr>
          <p:nvPr>
            <p:ph type="ftr" sz="quarter" idx="11"/>
          </p:nvPr>
        </p:nvSpPr>
        <p:spPr/>
        <p:txBody>
          <a:bodyPr/>
          <a:lstStyle/>
          <a:p>
            <a:r>
              <a:rPr lang="en-US" altLang="en-US"/>
              <a:t>CSE 373   -- AU 2004 -- B-Trees</a:t>
            </a:r>
          </a:p>
        </p:txBody>
      </p:sp>
      <p:sp>
        <p:nvSpPr>
          <p:cNvPr id="83" name="Slide Number Placeholder 4"/>
          <p:cNvSpPr>
            <a:spLocks noGrp="1"/>
          </p:cNvSpPr>
          <p:nvPr>
            <p:ph type="sldNum" sz="quarter" idx="12"/>
          </p:nvPr>
        </p:nvSpPr>
        <p:spPr/>
        <p:txBody>
          <a:bodyPr/>
          <a:lstStyle/>
          <a:p>
            <a:fld id="{EC0DFF56-7472-47B6-A5C7-A1B65869CBD4}" type="slidenum">
              <a:rPr lang="en-US" altLang="en-US"/>
              <a:pPr/>
              <a:t>17</a:t>
            </a:fld>
            <a:endParaRPr lang="en-US" altLang="en-US"/>
          </a:p>
        </p:txBody>
      </p:sp>
      <p:sp>
        <p:nvSpPr>
          <p:cNvPr id="93186"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8</a:t>
            </a:r>
          </a:p>
        </p:txBody>
      </p:sp>
      <p:sp>
        <p:nvSpPr>
          <p:cNvPr id="93187" name="AutoShape 3"/>
          <p:cNvSpPr>
            <a:spLocks noChangeArrowheads="1"/>
          </p:cNvSpPr>
          <p:nvPr/>
        </p:nvSpPr>
        <p:spPr bwMode="auto">
          <a:xfrm>
            <a:off x="13716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88" name="Rectangle 4"/>
          <p:cNvSpPr>
            <a:spLocks noChangeArrowheads="1"/>
          </p:cNvSpPr>
          <p:nvPr/>
        </p:nvSpPr>
        <p:spPr bwMode="auto">
          <a:xfrm>
            <a:off x="1543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3189" name="Rectangle 5"/>
          <p:cNvSpPr>
            <a:spLocks noChangeArrowheads="1"/>
          </p:cNvSpPr>
          <p:nvPr/>
        </p:nvSpPr>
        <p:spPr bwMode="auto">
          <a:xfrm>
            <a:off x="20574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3190" name="Line 6"/>
          <p:cNvSpPr>
            <a:spLocks noChangeShapeType="1"/>
          </p:cNvSpPr>
          <p:nvPr/>
        </p:nvSpPr>
        <p:spPr bwMode="auto">
          <a:xfrm>
            <a:off x="1543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1" name="Line 7"/>
          <p:cNvSpPr>
            <a:spLocks noChangeShapeType="1"/>
          </p:cNvSpPr>
          <p:nvPr/>
        </p:nvSpPr>
        <p:spPr bwMode="auto">
          <a:xfrm>
            <a:off x="1828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2" name="Line 8"/>
          <p:cNvSpPr>
            <a:spLocks noChangeShapeType="1"/>
          </p:cNvSpPr>
          <p:nvPr/>
        </p:nvSpPr>
        <p:spPr bwMode="auto">
          <a:xfrm>
            <a:off x="20002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3" name="Line 9"/>
          <p:cNvSpPr>
            <a:spLocks noChangeShapeType="1"/>
          </p:cNvSpPr>
          <p:nvPr/>
        </p:nvSpPr>
        <p:spPr bwMode="auto">
          <a:xfrm>
            <a:off x="22860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4" name="Line 10"/>
          <p:cNvSpPr>
            <a:spLocks noChangeShapeType="1"/>
          </p:cNvSpPr>
          <p:nvPr/>
        </p:nvSpPr>
        <p:spPr bwMode="auto">
          <a:xfrm>
            <a:off x="2743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5" name="Line 11"/>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6" name="Line 12"/>
          <p:cNvSpPr>
            <a:spLocks noChangeShapeType="1"/>
          </p:cNvSpPr>
          <p:nvPr/>
        </p:nvSpPr>
        <p:spPr bwMode="auto">
          <a:xfrm>
            <a:off x="3200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7" name="Line 13"/>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8"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199" name="Rectangle 15"/>
          <p:cNvSpPr>
            <a:spLocks noChangeArrowheads="1"/>
          </p:cNvSpPr>
          <p:nvPr/>
        </p:nvSpPr>
        <p:spPr bwMode="auto">
          <a:xfrm>
            <a:off x="388620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3200"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1"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2"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3"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4"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5"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6"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7"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8" name="AutoShape 24"/>
          <p:cNvSpPr>
            <a:spLocks noChangeArrowheads="1"/>
          </p:cNvSpPr>
          <p:nvPr/>
        </p:nvSpPr>
        <p:spPr bwMode="auto">
          <a:xfrm>
            <a:off x="58293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09" name="Rectangle 25"/>
          <p:cNvSpPr>
            <a:spLocks noChangeArrowheads="1"/>
          </p:cNvSpPr>
          <p:nvPr/>
        </p:nvSpPr>
        <p:spPr bwMode="auto">
          <a:xfrm>
            <a:off x="60007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93210" name="Rectangle 26"/>
          <p:cNvSpPr>
            <a:spLocks noChangeArrowheads="1"/>
          </p:cNvSpPr>
          <p:nvPr/>
        </p:nvSpPr>
        <p:spPr bwMode="auto">
          <a:xfrm>
            <a:off x="64008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3211" name="Line 27"/>
          <p:cNvSpPr>
            <a:spLocks noChangeShapeType="1"/>
          </p:cNvSpPr>
          <p:nvPr/>
        </p:nvSpPr>
        <p:spPr bwMode="auto">
          <a:xfrm>
            <a:off x="60007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2" name="Line 28"/>
          <p:cNvSpPr>
            <a:spLocks noChangeShapeType="1"/>
          </p:cNvSpPr>
          <p:nvPr/>
        </p:nvSpPr>
        <p:spPr bwMode="auto">
          <a:xfrm>
            <a:off x="6286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3" name="Line 29"/>
          <p:cNvSpPr>
            <a:spLocks noChangeShapeType="1"/>
          </p:cNvSpPr>
          <p:nvPr/>
        </p:nvSpPr>
        <p:spPr bwMode="auto">
          <a:xfrm>
            <a:off x="64579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4" name="Line 30"/>
          <p:cNvSpPr>
            <a:spLocks noChangeShapeType="1"/>
          </p:cNvSpPr>
          <p:nvPr/>
        </p:nvSpPr>
        <p:spPr bwMode="auto">
          <a:xfrm>
            <a:off x="6743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5" name="Line 31"/>
          <p:cNvSpPr>
            <a:spLocks noChangeShapeType="1"/>
          </p:cNvSpPr>
          <p:nvPr/>
        </p:nvSpPr>
        <p:spPr bwMode="auto">
          <a:xfrm>
            <a:off x="7200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6" name="Line 32"/>
          <p:cNvSpPr>
            <a:spLocks noChangeShapeType="1"/>
          </p:cNvSpPr>
          <p:nvPr/>
        </p:nvSpPr>
        <p:spPr bwMode="auto">
          <a:xfrm>
            <a:off x="73723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7" name="Line 33"/>
          <p:cNvSpPr>
            <a:spLocks noChangeShapeType="1"/>
          </p:cNvSpPr>
          <p:nvPr/>
        </p:nvSpPr>
        <p:spPr bwMode="auto">
          <a:xfrm>
            <a:off x="7658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8" name="Line 34"/>
          <p:cNvSpPr>
            <a:spLocks noChangeShapeType="1"/>
          </p:cNvSpPr>
          <p:nvPr/>
        </p:nvSpPr>
        <p:spPr bwMode="auto">
          <a:xfrm>
            <a:off x="69151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19" name="Oval 35"/>
          <p:cNvSpPr>
            <a:spLocks noChangeArrowheads="1"/>
          </p:cNvSpPr>
          <p:nvPr/>
        </p:nvSpPr>
        <p:spPr bwMode="auto">
          <a:xfrm>
            <a:off x="13716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0" name="Line 36"/>
          <p:cNvSpPr>
            <a:spLocks noChangeShapeType="1"/>
          </p:cNvSpPr>
          <p:nvPr/>
        </p:nvSpPr>
        <p:spPr bwMode="auto">
          <a:xfrm>
            <a:off x="14287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1" name="Rectangle 37"/>
          <p:cNvSpPr>
            <a:spLocks noChangeArrowheads="1"/>
          </p:cNvSpPr>
          <p:nvPr/>
        </p:nvSpPr>
        <p:spPr bwMode="auto">
          <a:xfrm>
            <a:off x="13716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2" name="Oval 38"/>
          <p:cNvSpPr>
            <a:spLocks noChangeArrowheads="1"/>
          </p:cNvSpPr>
          <p:nvPr/>
        </p:nvSpPr>
        <p:spPr bwMode="auto">
          <a:xfrm>
            <a:off x="1828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3" name="Line 39"/>
          <p:cNvSpPr>
            <a:spLocks noChangeShapeType="1"/>
          </p:cNvSpPr>
          <p:nvPr/>
        </p:nvSpPr>
        <p:spPr bwMode="auto">
          <a:xfrm>
            <a:off x="1885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4" name="Rectangle 40"/>
          <p:cNvSpPr>
            <a:spLocks noChangeArrowheads="1"/>
          </p:cNvSpPr>
          <p:nvPr/>
        </p:nvSpPr>
        <p:spPr bwMode="auto">
          <a:xfrm>
            <a:off x="1828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5" name="Oval 41"/>
          <p:cNvSpPr>
            <a:spLocks noChangeArrowheads="1"/>
          </p:cNvSpPr>
          <p:nvPr/>
        </p:nvSpPr>
        <p:spPr bwMode="auto">
          <a:xfrm>
            <a:off x="23431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6" name="Line 42"/>
          <p:cNvSpPr>
            <a:spLocks noChangeShapeType="1"/>
          </p:cNvSpPr>
          <p:nvPr/>
        </p:nvSpPr>
        <p:spPr bwMode="auto">
          <a:xfrm>
            <a:off x="24003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7" name="Rectangle 43"/>
          <p:cNvSpPr>
            <a:spLocks noChangeArrowheads="1"/>
          </p:cNvSpPr>
          <p:nvPr/>
        </p:nvSpPr>
        <p:spPr bwMode="auto">
          <a:xfrm>
            <a:off x="23431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8" name="Oval 44"/>
          <p:cNvSpPr>
            <a:spLocks noChangeArrowheads="1"/>
          </p:cNvSpPr>
          <p:nvPr/>
        </p:nvSpPr>
        <p:spPr bwMode="auto">
          <a:xfrm>
            <a:off x="58293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29" name="Line 45"/>
          <p:cNvSpPr>
            <a:spLocks noChangeShapeType="1"/>
          </p:cNvSpPr>
          <p:nvPr/>
        </p:nvSpPr>
        <p:spPr bwMode="auto">
          <a:xfrm>
            <a:off x="58864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0" name="Rectangle 46"/>
          <p:cNvSpPr>
            <a:spLocks noChangeArrowheads="1"/>
          </p:cNvSpPr>
          <p:nvPr/>
        </p:nvSpPr>
        <p:spPr bwMode="auto">
          <a:xfrm>
            <a:off x="58293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1" name="Oval 47"/>
          <p:cNvSpPr>
            <a:spLocks noChangeArrowheads="1"/>
          </p:cNvSpPr>
          <p:nvPr/>
        </p:nvSpPr>
        <p:spPr bwMode="auto">
          <a:xfrm>
            <a:off x="63436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2" name="Line 48"/>
          <p:cNvSpPr>
            <a:spLocks noChangeShapeType="1"/>
          </p:cNvSpPr>
          <p:nvPr/>
        </p:nvSpPr>
        <p:spPr bwMode="auto">
          <a:xfrm>
            <a:off x="64008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3" name="Rectangle 49"/>
          <p:cNvSpPr>
            <a:spLocks noChangeArrowheads="1"/>
          </p:cNvSpPr>
          <p:nvPr/>
        </p:nvSpPr>
        <p:spPr bwMode="auto">
          <a:xfrm>
            <a:off x="63436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4" name="Oval 50"/>
          <p:cNvSpPr>
            <a:spLocks noChangeArrowheads="1"/>
          </p:cNvSpPr>
          <p:nvPr/>
        </p:nvSpPr>
        <p:spPr bwMode="auto">
          <a:xfrm>
            <a:off x="68008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5" name="Line 51"/>
          <p:cNvSpPr>
            <a:spLocks noChangeShapeType="1"/>
          </p:cNvSpPr>
          <p:nvPr/>
        </p:nvSpPr>
        <p:spPr bwMode="auto">
          <a:xfrm>
            <a:off x="68580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6" name="Rectangle 52"/>
          <p:cNvSpPr>
            <a:spLocks noChangeArrowheads="1"/>
          </p:cNvSpPr>
          <p:nvPr/>
        </p:nvSpPr>
        <p:spPr bwMode="auto">
          <a:xfrm>
            <a:off x="68008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7"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8" name="Line 54"/>
          <p:cNvSpPr>
            <a:spLocks noChangeShapeType="1"/>
          </p:cNvSpPr>
          <p:nvPr/>
        </p:nvSpPr>
        <p:spPr bwMode="auto">
          <a:xfrm>
            <a:off x="4343400" y="2343150"/>
            <a:ext cx="22288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39" name="Oval 55"/>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0" name="Line 56"/>
          <p:cNvSpPr>
            <a:spLocks noChangeShapeType="1"/>
          </p:cNvSpPr>
          <p:nvPr/>
        </p:nvSpPr>
        <p:spPr bwMode="auto">
          <a:xfrm flipH="1">
            <a:off x="2857500" y="2343150"/>
            <a:ext cx="5715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1" name="Text Box 57"/>
          <p:cNvSpPr txBox="1">
            <a:spLocks noChangeArrowheads="1"/>
          </p:cNvSpPr>
          <p:nvPr/>
        </p:nvSpPr>
        <p:spPr bwMode="auto">
          <a:xfrm>
            <a:off x="1543050" y="4114800"/>
            <a:ext cx="6115050" cy="1027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Removing 8 might force us to move another key up from one of the children.  It could either be the 3 from the 1st child or the 10 from the second child.  </a:t>
            </a:r>
          </a:p>
          <a:p>
            <a:pPr>
              <a:spcBef>
                <a:spcPct val="50000"/>
              </a:spcBef>
            </a:pPr>
            <a:r>
              <a:rPr lang="en-US" altLang="en-US" sz="1350">
                <a:latin typeface="Arial" panose="020B0604020202020204" pitchFamily="34" charset="0"/>
              </a:rPr>
              <a:t>However, neither child has more than the minimum number of children (3), so the two nodes will have to be merged.  Nothing moves up.</a:t>
            </a:r>
          </a:p>
        </p:txBody>
      </p:sp>
      <p:sp>
        <p:nvSpPr>
          <p:cNvPr id="93242" name="AutoShape 58"/>
          <p:cNvSpPr>
            <a:spLocks noChangeArrowheads="1"/>
          </p:cNvSpPr>
          <p:nvPr/>
        </p:nvSpPr>
        <p:spPr bwMode="auto">
          <a:xfrm>
            <a:off x="3600450" y="3086100"/>
            <a:ext cx="2000250" cy="514350"/>
          </a:xfrm>
          <a:prstGeom prst="roundRect">
            <a:avLst>
              <a:gd name="adj" fmla="val 16667"/>
            </a:avLst>
          </a:prstGeom>
          <a:solidFill>
            <a:srgbClr val="33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3" name="Rectangle 59"/>
          <p:cNvSpPr>
            <a:spLocks noChangeArrowheads="1"/>
          </p:cNvSpPr>
          <p:nvPr/>
        </p:nvSpPr>
        <p:spPr bwMode="auto">
          <a:xfrm>
            <a:off x="37719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3244" name="Rectangle 60"/>
          <p:cNvSpPr>
            <a:spLocks noChangeArrowheads="1"/>
          </p:cNvSpPr>
          <p:nvPr/>
        </p:nvSpPr>
        <p:spPr bwMode="auto">
          <a:xfrm>
            <a:off x="4229101" y="32004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11</a:t>
            </a:r>
          </a:p>
        </p:txBody>
      </p:sp>
      <p:sp>
        <p:nvSpPr>
          <p:cNvPr id="93245" name="Line 61"/>
          <p:cNvSpPr>
            <a:spLocks noChangeShapeType="1"/>
          </p:cNvSpPr>
          <p:nvPr/>
        </p:nvSpPr>
        <p:spPr bwMode="auto">
          <a:xfrm>
            <a:off x="3771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6" name="Line 62"/>
          <p:cNvSpPr>
            <a:spLocks noChangeShapeType="1"/>
          </p:cNvSpPr>
          <p:nvPr/>
        </p:nvSpPr>
        <p:spPr bwMode="auto">
          <a:xfrm>
            <a:off x="4057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7" name="Line 63"/>
          <p:cNvSpPr>
            <a:spLocks noChangeShapeType="1"/>
          </p:cNvSpPr>
          <p:nvPr/>
        </p:nvSpPr>
        <p:spPr bwMode="auto">
          <a:xfrm>
            <a:off x="4229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8" name="Line 64"/>
          <p:cNvSpPr>
            <a:spLocks noChangeShapeType="1"/>
          </p:cNvSpPr>
          <p:nvPr/>
        </p:nvSpPr>
        <p:spPr bwMode="auto">
          <a:xfrm>
            <a:off x="4514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49" name="Line 65"/>
          <p:cNvSpPr>
            <a:spLocks noChangeShapeType="1"/>
          </p:cNvSpPr>
          <p:nvPr/>
        </p:nvSpPr>
        <p:spPr bwMode="auto">
          <a:xfrm>
            <a:off x="4972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0" name="Line 66"/>
          <p:cNvSpPr>
            <a:spLocks noChangeShapeType="1"/>
          </p:cNvSpPr>
          <p:nvPr/>
        </p:nvSpPr>
        <p:spPr bwMode="auto">
          <a:xfrm>
            <a:off x="51435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1" name="Line 67"/>
          <p:cNvSpPr>
            <a:spLocks noChangeShapeType="1"/>
          </p:cNvSpPr>
          <p:nvPr/>
        </p:nvSpPr>
        <p:spPr bwMode="auto">
          <a:xfrm>
            <a:off x="54292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2" name="Line 68"/>
          <p:cNvSpPr>
            <a:spLocks noChangeShapeType="1"/>
          </p:cNvSpPr>
          <p:nvPr/>
        </p:nvSpPr>
        <p:spPr bwMode="auto">
          <a:xfrm>
            <a:off x="4686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3" name="Oval 69"/>
          <p:cNvSpPr>
            <a:spLocks noChangeArrowheads="1"/>
          </p:cNvSpPr>
          <p:nvPr/>
        </p:nvSpPr>
        <p:spPr bwMode="auto">
          <a:xfrm>
            <a:off x="3600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4" name="Line 70"/>
          <p:cNvSpPr>
            <a:spLocks noChangeShapeType="1"/>
          </p:cNvSpPr>
          <p:nvPr/>
        </p:nvSpPr>
        <p:spPr bwMode="auto">
          <a:xfrm>
            <a:off x="3657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5" name="Rectangle 71"/>
          <p:cNvSpPr>
            <a:spLocks noChangeArrowheads="1"/>
          </p:cNvSpPr>
          <p:nvPr/>
        </p:nvSpPr>
        <p:spPr bwMode="auto">
          <a:xfrm>
            <a:off x="3600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6" name="Oval 72"/>
          <p:cNvSpPr>
            <a:spLocks noChangeArrowheads="1"/>
          </p:cNvSpPr>
          <p:nvPr/>
        </p:nvSpPr>
        <p:spPr bwMode="auto">
          <a:xfrm>
            <a:off x="40576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7" name="Line 73"/>
          <p:cNvSpPr>
            <a:spLocks noChangeShapeType="1"/>
          </p:cNvSpPr>
          <p:nvPr/>
        </p:nvSpPr>
        <p:spPr bwMode="auto">
          <a:xfrm>
            <a:off x="41148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8" name="Rectangle 74"/>
          <p:cNvSpPr>
            <a:spLocks noChangeArrowheads="1"/>
          </p:cNvSpPr>
          <p:nvPr/>
        </p:nvSpPr>
        <p:spPr bwMode="auto">
          <a:xfrm>
            <a:off x="40576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59" name="Oval 75"/>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60" name="Line 76"/>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61" name="Rectangle 77"/>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62" name="Line 78"/>
          <p:cNvSpPr>
            <a:spLocks noChangeShapeType="1"/>
          </p:cNvSpPr>
          <p:nvPr/>
        </p:nvSpPr>
        <p:spPr bwMode="auto">
          <a:xfrm>
            <a:off x="3886200" y="2343150"/>
            <a:ext cx="6858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63" name="Oval 79"/>
          <p:cNvSpPr>
            <a:spLocks noChangeArrowheads="1"/>
          </p:cNvSpPr>
          <p:nvPr/>
        </p:nvSpPr>
        <p:spPr bwMode="auto">
          <a:xfrm>
            <a:off x="42862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3264" name="Rectangle 80"/>
          <p:cNvSpPr>
            <a:spLocks noChangeArrowheads="1"/>
          </p:cNvSpPr>
          <p:nvPr/>
        </p:nvSpPr>
        <p:spPr bwMode="auto">
          <a:xfrm>
            <a:off x="3486150" y="21717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rgbClr val="CC0000"/>
                </a:solidFill>
                <a:latin typeface="Arial" panose="020B0604020202020204" pitchFamily="34" charset="0"/>
              </a:rPr>
              <a:t>8</a:t>
            </a:r>
            <a:endParaRPr lang="en-US" altLang="en-US" sz="1350">
              <a:latin typeface="Arial" panose="020B0604020202020204" pitchFamily="34" charset="0"/>
            </a:endParaRPr>
          </a:p>
        </p:txBody>
      </p:sp>
    </p:spTree>
    <p:extLst>
      <p:ext uri="{BB962C8B-B14F-4D97-AF65-F5344CB8AC3E}">
        <p14:creationId xmlns:p14="http://schemas.microsoft.com/office/powerpoint/2010/main" val="31271746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1"/>
          </p:nvPr>
        </p:nvSpPr>
        <p:spPr/>
        <p:txBody>
          <a:bodyPr/>
          <a:lstStyle/>
          <a:p>
            <a:r>
              <a:rPr lang="en-US" altLang="en-US"/>
              <a:t>CSE 373   -- AU 2004 -- B-Trees</a:t>
            </a:r>
          </a:p>
        </p:txBody>
      </p:sp>
      <p:sp>
        <p:nvSpPr>
          <p:cNvPr id="68" name="Slide Number Placeholder 4"/>
          <p:cNvSpPr>
            <a:spLocks noGrp="1"/>
          </p:cNvSpPr>
          <p:nvPr>
            <p:ph type="sldNum" sz="quarter" idx="12"/>
          </p:nvPr>
        </p:nvSpPr>
        <p:spPr/>
        <p:txBody>
          <a:bodyPr/>
          <a:lstStyle/>
          <a:p>
            <a:fld id="{F6F35BEE-9493-4C00-B4A7-153E7E3CD7C3}" type="slidenum">
              <a:rPr lang="en-US" altLang="en-US"/>
              <a:pPr/>
              <a:t>18</a:t>
            </a:fld>
            <a:endParaRPr lang="en-US" altLang="en-US"/>
          </a:p>
        </p:txBody>
      </p:sp>
      <p:sp>
        <p:nvSpPr>
          <p:cNvPr id="94210"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8 (Continued)</a:t>
            </a:r>
          </a:p>
        </p:txBody>
      </p:sp>
      <p:sp>
        <p:nvSpPr>
          <p:cNvPr id="94211" name="AutoShape 3"/>
          <p:cNvSpPr>
            <a:spLocks noChangeArrowheads="1"/>
          </p:cNvSpPr>
          <p:nvPr/>
        </p:nvSpPr>
        <p:spPr bwMode="auto">
          <a:xfrm>
            <a:off x="2000250" y="3086100"/>
            <a:ext cx="2000250" cy="514350"/>
          </a:xfrm>
          <a:prstGeom prst="roundRect">
            <a:avLst>
              <a:gd name="adj" fmla="val 16667"/>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2"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4213"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4214"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5"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6"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7"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8"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19"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0"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1"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2"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3" name="Rectangle 15"/>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4224"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5"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6"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7"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8"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29"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0"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1"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2"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3"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13</a:t>
            </a:r>
          </a:p>
        </p:txBody>
      </p:sp>
      <p:sp>
        <p:nvSpPr>
          <p:cNvPr id="94234"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4235"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6"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7"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8"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39"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0"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1"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2"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3"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4"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5"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6"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7"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8"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49"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0"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1"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2"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3"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4"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5"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6"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7"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8"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59"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60"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61"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63" name="Oval 55"/>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64" name="Line 56"/>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65" name="Text Box 57"/>
          <p:cNvSpPr txBox="1">
            <a:spLocks noChangeArrowheads="1"/>
          </p:cNvSpPr>
          <p:nvPr/>
        </p:nvSpPr>
        <p:spPr bwMode="auto">
          <a:xfrm>
            <a:off x="1543050" y="4114800"/>
            <a:ext cx="6115050" cy="6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root contains one fewer key, and has one fewer child.</a:t>
            </a:r>
          </a:p>
          <a:p>
            <a:pPr>
              <a:spcBef>
                <a:spcPct val="50000"/>
              </a:spcBef>
            </a:pPr>
            <a:r>
              <a:rPr lang="en-US" altLang="en-US" sz="1350">
                <a:latin typeface="Arial" panose="020B0604020202020204" pitchFamily="34" charset="0"/>
              </a:rPr>
              <a:t> </a:t>
            </a:r>
          </a:p>
        </p:txBody>
      </p:sp>
      <p:sp>
        <p:nvSpPr>
          <p:cNvPr id="94267" name="Rectangle 59"/>
          <p:cNvSpPr>
            <a:spLocks noChangeArrowheads="1"/>
          </p:cNvSpPr>
          <p:nvPr/>
        </p:nvSpPr>
        <p:spPr bwMode="auto">
          <a:xfrm>
            <a:off x="30861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4268" name="Rectangle 60"/>
          <p:cNvSpPr>
            <a:spLocks noChangeArrowheads="1"/>
          </p:cNvSpPr>
          <p:nvPr/>
        </p:nvSpPr>
        <p:spPr bwMode="auto">
          <a:xfrm>
            <a:off x="3543301" y="32004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11</a:t>
            </a:r>
          </a:p>
        </p:txBody>
      </p:sp>
      <p:sp>
        <p:nvSpPr>
          <p:cNvPr id="94277" name="Oval 69"/>
          <p:cNvSpPr>
            <a:spLocks noChangeArrowheads="1"/>
          </p:cNvSpPr>
          <p:nvPr/>
        </p:nvSpPr>
        <p:spPr bwMode="auto">
          <a:xfrm>
            <a:off x="3429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78" name="Line 70"/>
          <p:cNvSpPr>
            <a:spLocks noChangeShapeType="1"/>
          </p:cNvSpPr>
          <p:nvPr/>
        </p:nvSpPr>
        <p:spPr bwMode="auto">
          <a:xfrm>
            <a:off x="3486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79" name="Rectangle 71"/>
          <p:cNvSpPr>
            <a:spLocks noChangeArrowheads="1"/>
          </p:cNvSpPr>
          <p:nvPr/>
        </p:nvSpPr>
        <p:spPr bwMode="auto">
          <a:xfrm>
            <a:off x="3429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80" name="Oval 72"/>
          <p:cNvSpPr>
            <a:spLocks noChangeArrowheads="1"/>
          </p:cNvSpPr>
          <p:nvPr/>
        </p:nvSpPr>
        <p:spPr bwMode="auto">
          <a:xfrm>
            <a:off x="38862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81" name="Line 73"/>
          <p:cNvSpPr>
            <a:spLocks noChangeShapeType="1"/>
          </p:cNvSpPr>
          <p:nvPr/>
        </p:nvSpPr>
        <p:spPr bwMode="auto">
          <a:xfrm>
            <a:off x="39433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82" name="Rectangle 74"/>
          <p:cNvSpPr>
            <a:spLocks noChangeArrowheads="1"/>
          </p:cNvSpPr>
          <p:nvPr/>
        </p:nvSpPr>
        <p:spPr bwMode="auto">
          <a:xfrm>
            <a:off x="38862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4286" name="Line 78"/>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152062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1"/>
          </p:nvPr>
        </p:nvSpPr>
        <p:spPr/>
        <p:txBody>
          <a:bodyPr/>
          <a:lstStyle/>
          <a:p>
            <a:r>
              <a:rPr lang="en-US" altLang="en-US"/>
              <a:t>CSE 373   -- AU 2004 -- B-Trees</a:t>
            </a:r>
          </a:p>
        </p:txBody>
      </p:sp>
      <p:sp>
        <p:nvSpPr>
          <p:cNvPr id="68" name="Slide Number Placeholder 4"/>
          <p:cNvSpPr>
            <a:spLocks noGrp="1"/>
          </p:cNvSpPr>
          <p:nvPr>
            <p:ph type="sldNum" sz="quarter" idx="12"/>
          </p:nvPr>
        </p:nvSpPr>
        <p:spPr/>
        <p:txBody>
          <a:bodyPr/>
          <a:lstStyle/>
          <a:p>
            <a:fld id="{E60CA034-CB9B-45F5-961C-DAE564DA59CA}" type="slidenum">
              <a:rPr lang="en-US" altLang="en-US"/>
              <a:pPr/>
              <a:t>19</a:t>
            </a:fld>
            <a:endParaRPr lang="en-US" altLang="en-US"/>
          </a:p>
        </p:txBody>
      </p:sp>
      <p:sp>
        <p:nvSpPr>
          <p:cNvPr id="95234"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13</a:t>
            </a:r>
          </a:p>
        </p:txBody>
      </p:sp>
      <p:sp>
        <p:nvSpPr>
          <p:cNvPr id="95235"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36"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5237"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5238"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39"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0"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1"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2"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3"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4"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5"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6"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7" name="Rectangle 15"/>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12</a:t>
            </a:r>
          </a:p>
        </p:txBody>
      </p:sp>
      <p:sp>
        <p:nvSpPr>
          <p:cNvPr id="95248"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49"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0"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1"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2"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3"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4"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5"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6"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57"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rgbClr val="CC0000"/>
                </a:solidFill>
                <a:latin typeface="Arial" panose="020B0604020202020204" pitchFamily="34" charset="0"/>
              </a:rPr>
              <a:t>13</a:t>
            </a:r>
            <a:endParaRPr lang="en-US" altLang="en-US" sz="1350">
              <a:latin typeface="Arial" panose="020B0604020202020204" pitchFamily="34" charset="0"/>
            </a:endParaRPr>
          </a:p>
        </p:txBody>
      </p:sp>
      <p:sp>
        <p:nvSpPr>
          <p:cNvPr id="95258"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5259"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0"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1"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2"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3"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4"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5"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6"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7"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8"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69"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0"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1"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2"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3"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4"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5"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6"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7"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8"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79"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0"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1"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2"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3"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4"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5"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6"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7"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88" name="Text Box 56"/>
          <p:cNvSpPr txBox="1">
            <a:spLocks noChangeArrowheads="1"/>
          </p:cNvSpPr>
          <p:nvPr/>
        </p:nvSpPr>
        <p:spPr bwMode="auto">
          <a:xfrm>
            <a:off x="1543050" y="4114801"/>
            <a:ext cx="61150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Removing 13 would cause the node containing it to become underfull.</a:t>
            </a:r>
          </a:p>
          <a:p>
            <a:pPr>
              <a:spcBef>
                <a:spcPct val="50000"/>
              </a:spcBef>
            </a:pPr>
            <a:r>
              <a:rPr lang="en-US" altLang="en-US" sz="1350">
                <a:latin typeface="Arial" panose="020B0604020202020204" pitchFamily="34" charset="0"/>
              </a:rPr>
              <a:t>To fix this, we try to reassign one key from a sibling that has spares.</a:t>
            </a:r>
          </a:p>
          <a:p>
            <a:pPr>
              <a:spcBef>
                <a:spcPct val="50000"/>
              </a:spcBef>
            </a:pPr>
            <a:r>
              <a:rPr lang="en-US" altLang="en-US" sz="1350">
                <a:latin typeface="Arial" panose="020B0604020202020204" pitchFamily="34" charset="0"/>
              </a:rPr>
              <a:t> </a:t>
            </a:r>
          </a:p>
        </p:txBody>
      </p:sp>
      <p:sp>
        <p:nvSpPr>
          <p:cNvPr id="95289" name="Rectangle 57"/>
          <p:cNvSpPr>
            <a:spLocks noChangeArrowheads="1"/>
          </p:cNvSpPr>
          <p:nvPr/>
        </p:nvSpPr>
        <p:spPr bwMode="auto">
          <a:xfrm>
            <a:off x="30861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5290" name="Rectangle 58"/>
          <p:cNvSpPr>
            <a:spLocks noChangeArrowheads="1"/>
          </p:cNvSpPr>
          <p:nvPr/>
        </p:nvSpPr>
        <p:spPr bwMode="auto">
          <a:xfrm>
            <a:off x="3543301" y="32004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11</a:t>
            </a:r>
          </a:p>
        </p:txBody>
      </p:sp>
      <p:sp>
        <p:nvSpPr>
          <p:cNvPr id="95291" name="Oval 59"/>
          <p:cNvSpPr>
            <a:spLocks noChangeArrowheads="1"/>
          </p:cNvSpPr>
          <p:nvPr/>
        </p:nvSpPr>
        <p:spPr bwMode="auto">
          <a:xfrm>
            <a:off x="3429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2" name="Line 60"/>
          <p:cNvSpPr>
            <a:spLocks noChangeShapeType="1"/>
          </p:cNvSpPr>
          <p:nvPr/>
        </p:nvSpPr>
        <p:spPr bwMode="auto">
          <a:xfrm>
            <a:off x="3486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3" name="Rectangle 61"/>
          <p:cNvSpPr>
            <a:spLocks noChangeArrowheads="1"/>
          </p:cNvSpPr>
          <p:nvPr/>
        </p:nvSpPr>
        <p:spPr bwMode="auto">
          <a:xfrm>
            <a:off x="3429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4" name="Oval 62"/>
          <p:cNvSpPr>
            <a:spLocks noChangeArrowheads="1"/>
          </p:cNvSpPr>
          <p:nvPr/>
        </p:nvSpPr>
        <p:spPr bwMode="auto">
          <a:xfrm>
            <a:off x="38862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5" name="Line 63"/>
          <p:cNvSpPr>
            <a:spLocks noChangeShapeType="1"/>
          </p:cNvSpPr>
          <p:nvPr/>
        </p:nvSpPr>
        <p:spPr bwMode="auto">
          <a:xfrm>
            <a:off x="39433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6" name="Rectangle 64"/>
          <p:cNvSpPr>
            <a:spLocks noChangeArrowheads="1"/>
          </p:cNvSpPr>
          <p:nvPr/>
        </p:nvSpPr>
        <p:spPr bwMode="auto">
          <a:xfrm>
            <a:off x="38862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5297" name="Line 65"/>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15926134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1"/>
          </p:nvPr>
        </p:nvSpPr>
        <p:spPr/>
        <p:txBody>
          <a:bodyPr/>
          <a:lstStyle/>
          <a:p>
            <a:r>
              <a:rPr lang="en-US" altLang="en-US"/>
              <a:t>CSE 373   -- AU 2004 -- B-Trees</a:t>
            </a:r>
          </a:p>
        </p:txBody>
      </p:sp>
      <p:sp>
        <p:nvSpPr>
          <p:cNvPr id="64" name="Slide Number Placeholder 4"/>
          <p:cNvSpPr>
            <a:spLocks noGrp="1"/>
          </p:cNvSpPr>
          <p:nvPr>
            <p:ph type="sldNum" sz="quarter" idx="12"/>
          </p:nvPr>
        </p:nvSpPr>
        <p:spPr/>
        <p:txBody>
          <a:bodyPr/>
          <a:lstStyle/>
          <a:p>
            <a:fld id="{03E6BE9B-386A-411A-AC15-EA5E57425577}" type="slidenum">
              <a:rPr lang="en-US" altLang="en-US"/>
              <a:pPr/>
              <a:t>20</a:t>
            </a:fld>
            <a:endParaRPr lang="en-US" altLang="en-US"/>
          </a:p>
        </p:txBody>
      </p:sp>
      <p:sp>
        <p:nvSpPr>
          <p:cNvPr id="96258"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13 (Cont)</a:t>
            </a:r>
          </a:p>
        </p:txBody>
      </p:sp>
      <p:sp>
        <p:nvSpPr>
          <p:cNvPr id="96259"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0"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6261"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6262"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3"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4"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5"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6"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7"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8"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69"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0"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1" name="Rectangle 15"/>
          <p:cNvSpPr>
            <a:spLocks noChangeArrowheads="1"/>
          </p:cNvSpPr>
          <p:nvPr/>
        </p:nvSpPr>
        <p:spPr bwMode="auto">
          <a:xfrm>
            <a:off x="3486151" y="21717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11</a:t>
            </a:r>
            <a:endParaRPr lang="en-US" altLang="en-US" sz="1350">
              <a:latin typeface="Arial" panose="020B0604020202020204" pitchFamily="34" charset="0"/>
            </a:endParaRPr>
          </a:p>
        </p:txBody>
      </p:sp>
      <p:sp>
        <p:nvSpPr>
          <p:cNvPr id="96272"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3"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4"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5"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6"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7"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8"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79"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0"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1"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12</a:t>
            </a:r>
            <a:endParaRPr lang="en-US" altLang="en-US" sz="1350">
              <a:latin typeface="Arial" panose="020B0604020202020204" pitchFamily="34" charset="0"/>
            </a:endParaRPr>
          </a:p>
        </p:txBody>
      </p:sp>
      <p:sp>
        <p:nvSpPr>
          <p:cNvPr id="96282"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6283"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4"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5"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6"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7"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8"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89"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0"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1"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2"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3"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4"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5"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6"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7"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8"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299"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0"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1"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2"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3"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4"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5"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6"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7"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8"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09"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10"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11"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12" name="Text Box 56"/>
          <p:cNvSpPr txBox="1">
            <a:spLocks noChangeArrowheads="1"/>
          </p:cNvSpPr>
          <p:nvPr/>
        </p:nvSpPr>
        <p:spPr bwMode="auto">
          <a:xfrm>
            <a:off x="1543050" y="4114801"/>
            <a:ext cx="62293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13 is replaced by the parent’s key 12.</a:t>
            </a:r>
          </a:p>
          <a:p>
            <a:pPr>
              <a:spcBef>
                <a:spcPct val="50000"/>
              </a:spcBef>
            </a:pPr>
            <a:r>
              <a:rPr lang="en-US" altLang="en-US" sz="1350">
                <a:latin typeface="Arial" panose="020B0604020202020204" pitchFamily="34" charset="0"/>
              </a:rPr>
              <a:t>The parent’s key 12 is replaced by the spare key 11 from the left sibling.</a:t>
            </a:r>
          </a:p>
          <a:p>
            <a:pPr>
              <a:spcBef>
                <a:spcPct val="50000"/>
              </a:spcBef>
            </a:pPr>
            <a:r>
              <a:rPr lang="en-US" altLang="en-US" sz="1350">
                <a:latin typeface="Arial" panose="020B0604020202020204" pitchFamily="34" charset="0"/>
              </a:rPr>
              <a:t>The sibling has one fewer element.</a:t>
            </a:r>
          </a:p>
        </p:txBody>
      </p:sp>
      <p:sp>
        <p:nvSpPr>
          <p:cNvPr id="96313" name="Rectangle 57"/>
          <p:cNvSpPr>
            <a:spLocks noChangeArrowheads="1"/>
          </p:cNvSpPr>
          <p:nvPr/>
        </p:nvSpPr>
        <p:spPr bwMode="auto">
          <a:xfrm>
            <a:off x="30861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6315" name="Oval 59"/>
          <p:cNvSpPr>
            <a:spLocks noChangeArrowheads="1"/>
          </p:cNvSpPr>
          <p:nvPr/>
        </p:nvSpPr>
        <p:spPr bwMode="auto">
          <a:xfrm>
            <a:off x="3429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16" name="Line 60"/>
          <p:cNvSpPr>
            <a:spLocks noChangeShapeType="1"/>
          </p:cNvSpPr>
          <p:nvPr/>
        </p:nvSpPr>
        <p:spPr bwMode="auto">
          <a:xfrm>
            <a:off x="3486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17" name="Rectangle 61"/>
          <p:cNvSpPr>
            <a:spLocks noChangeArrowheads="1"/>
          </p:cNvSpPr>
          <p:nvPr/>
        </p:nvSpPr>
        <p:spPr bwMode="auto">
          <a:xfrm>
            <a:off x="3429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6321" name="Line 65"/>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8894763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1"/>
          </p:nvPr>
        </p:nvSpPr>
        <p:spPr/>
        <p:txBody>
          <a:bodyPr/>
          <a:lstStyle/>
          <a:p>
            <a:r>
              <a:rPr lang="en-US" altLang="en-US"/>
              <a:t>CSE 373   -- AU 2004 -- B-Trees</a:t>
            </a:r>
          </a:p>
        </p:txBody>
      </p:sp>
      <p:sp>
        <p:nvSpPr>
          <p:cNvPr id="64" name="Slide Number Placeholder 4"/>
          <p:cNvSpPr>
            <a:spLocks noGrp="1"/>
          </p:cNvSpPr>
          <p:nvPr>
            <p:ph type="sldNum" sz="quarter" idx="12"/>
          </p:nvPr>
        </p:nvSpPr>
        <p:spPr/>
        <p:txBody>
          <a:bodyPr/>
          <a:lstStyle/>
          <a:p>
            <a:fld id="{868DDC87-F709-4D55-85AE-E2E98FED1C26}" type="slidenum">
              <a:rPr lang="en-US" altLang="en-US"/>
              <a:pPr/>
              <a:t>21</a:t>
            </a:fld>
            <a:endParaRPr lang="en-US" altLang="en-US"/>
          </a:p>
        </p:txBody>
      </p:sp>
      <p:sp>
        <p:nvSpPr>
          <p:cNvPr id="97282"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11</a:t>
            </a:r>
          </a:p>
        </p:txBody>
      </p:sp>
      <p:sp>
        <p:nvSpPr>
          <p:cNvPr id="97283"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84"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7285"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7286"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87"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88"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89"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0"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1"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2"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3"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4"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5" name="Rectangle 15"/>
          <p:cNvSpPr>
            <a:spLocks noChangeArrowheads="1"/>
          </p:cNvSpPr>
          <p:nvPr/>
        </p:nvSpPr>
        <p:spPr bwMode="auto">
          <a:xfrm>
            <a:off x="3486151" y="2171700"/>
            <a:ext cx="36420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rgbClr val="CC0000"/>
                </a:solidFill>
                <a:latin typeface="Arial" panose="020B0604020202020204" pitchFamily="34" charset="0"/>
              </a:rPr>
              <a:t>11</a:t>
            </a:r>
            <a:endParaRPr lang="en-US" altLang="en-US" sz="1350">
              <a:latin typeface="Arial" panose="020B0604020202020204" pitchFamily="34" charset="0"/>
            </a:endParaRPr>
          </a:p>
        </p:txBody>
      </p:sp>
      <p:sp>
        <p:nvSpPr>
          <p:cNvPr id="97296"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7"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8"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299"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0"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1"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2"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3"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4"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5"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97306"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7307"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8"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09"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0"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1"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2"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3"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4"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5"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6"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7"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8"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19"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0"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1"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2"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3"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4"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5"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6"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7"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8"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29"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0"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1"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2"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3"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4"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5"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6" name="Text Box 56"/>
          <p:cNvSpPr txBox="1">
            <a:spLocks noChangeArrowheads="1"/>
          </p:cNvSpPr>
          <p:nvPr/>
        </p:nvSpPr>
        <p:spPr bwMode="auto">
          <a:xfrm>
            <a:off x="1543050" y="4114800"/>
            <a:ext cx="6229350" cy="6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11 is in a non-leaf, so replace it by the value immediately preceding: 10.</a:t>
            </a:r>
          </a:p>
          <a:p>
            <a:pPr>
              <a:spcBef>
                <a:spcPct val="50000"/>
              </a:spcBef>
            </a:pPr>
            <a:r>
              <a:rPr lang="en-US" altLang="en-US" sz="1350">
                <a:latin typeface="Arial" panose="020B0604020202020204" pitchFamily="34" charset="0"/>
              </a:rPr>
              <a:t>10 is at leaf, and this node has spares, so just delete it there.</a:t>
            </a:r>
          </a:p>
        </p:txBody>
      </p:sp>
      <p:sp>
        <p:nvSpPr>
          <p:cNvPr id="97337" name="Rectangle 57"/>
          <p:cNvSpPr>
            <a:spLocks noChangeArrowheads="1"/>
          </p:cNvSpPr>
          <p:nvPr/>
        </p:nvSpPr>
        <p:spPr bwMode="auto">
          <a:xfrm>
            <a:off x="30861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97338" name="Oval 58"/>
          <p:cNvSpPr>
            <a:spLocks noChangeArrowheads="1"/>
          </p:cNvSpPr>
          <p:nvPr/>
        </p:nvSpPr>
        <p:spPr bwMode="auto">
          <a:xfrm>
            <a:off x="3429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39" name="Line 59"/>
          <p:cNvSpPr>
            <a:spLocks noChangeShapeType="1"/>
          </p:cNvSpPr>
          <p:nvPr/>
        </p:nvSpPr>
        <p:spPr bwMode="auto">
          <a:xfrm>
            <a:off x="3486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40" name="Rectangle 60"/>
          <p:cNvSpPr>
            <a:spLocks noChangeArrowheads="1"/>
          </p:cNvSpPr>
          <p:nvPr/>
        </p:nvSpPr>
        <p:spPr bwMode="auto">
          <a:xfrm>
            <a:off x="3429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7341" name="Line 61"/>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1421671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3"/>
          <p:cNvSpPr>
            <a:spLocks noGrp="1"/>
          </p:cNvSpPr>
          <p:nvPr>
            <p:ph type="ftr" sz="quarter" idx="11"/>
          </p:nvPr>
        </p:nvSpPr>
        <p:spPr/>
        <p:txBody>
          <a:bodyPr/>
          <a:lstStyle/>
          <a:p>
            <a:r>
              <a:rPr lang="en-US" altLang="en-US"/>
              <a:t>CSE 373   -- AU 2004 -- B-Trees</a:t>
            </a:r>
          </a:p>
        </p:txBody>
      </p:sp>
      <p:sp>
        <p:nvSpPr>
          <p:cNvPr id="59" name="Slide Number Placeholder 4"/>
          <p:cNvSpPr>
            <a:spLocks noGrp="1"/>
          </p:cNvSpPr>
          <p:nvPr>
            <p:ph type="sldNum" sz="quarter" idx="12"/>
          </p:nvPr>
        </p:nvSpPr>
        <p:spPr/>
        <p:txBody>
          <a:bodyPr/>
          <a:lstStyle/>
          <a:p>
            <a:fld id="{8C37D375-BF35-4627-BC6E-A4340F29D146}" type="slidenum">
              <a:rPr lang="en-US" altLang="en-US"/>
              <a:pPr/>
              <a:t>22</a:t>
            </a:fld>
            <a:endParaRPr lang="en-US" altLang="en-US"/>
          </a:p>
        </p:txBody>
      </p:sp>
      <p:sp>
        <p:nvSpPr>
          <p:cNvPr id="98306"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11 (Cont)</a:t>
            </a:r>
          </a:p>
        </p:txBody>
      </p:sp>
      <p:sp>
        <p:nvSpPr>
          <p:cNvPr id="98307"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08"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a:t>
            </a:r>
          </a:p>
        </p:txBody>
      </p:sp>
      <p:sp>
        <p:nvSpPr>
          <p:cNvPr id="98309"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8310"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1"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2"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3"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4"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5"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6"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7"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8"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19" name="Rectangle 15"/>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10</a:t>
            </a:r>
            <a:endParaRPr lang="en-US" altLang="en-US" sz="1350">
              <a:latin typeface="Arial" panose="020B0604020202020204" pitchFamily="34" charset="0"/>
            </a:endParaRPr>
          </a:p>
        </p:txBody>
      </p:sp>
      <p:sp>
        <p:nvSpPr>
          <p:cNvPr id="98320"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1"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2"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3"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4"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5"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6"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7"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8"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29"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98330"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8331"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2"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3"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4"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5"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6"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7"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8"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39"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0"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1"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2"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3"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4"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5"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6"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7"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8"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49"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0"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1"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2"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3"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4"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5"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6"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7"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8"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59"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8365" name="Line 61"/>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8745629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3"/>
          <p:cNvSpPr>
            <a:spLocks noGrp="1"/>
          </p:cNvSpPr>
          <p:nvPr>
            <p:ph type="ftr" sz="quarter" idx="11"/>
          </p:nvPr>
        </p:nvSpPr>
        <p:spPr/>
        <p:txBody>
          <a:bodyPr/>
          <a:lstStyle/>
          <a:p>
            <a:r>
              <a:rPr lang="en-US" altLang="en-US"/>
              <a:t>CSE 373   -- AU 2004 -- B-Trees</a:t>
            </a:r>
          </a:p>
        </p:txBody>
      </p:sp>
      <p:sp>
        <p:nvSpPr>
          <p:cNvPr id="60" name="Slide Number Placeholder 4"/>
          <p:cNvSpPr>
            <a:spLocks noGrp="1"/>
          </p:cNvSpPr>
          <p:nvPr>
            <p:ph type="sldNum" sz="quarter" idx="12"/>
          </p:nvPr>
        </p:nvSpPr>
        <p:spPr/>
        <p:txBody>
          <a:bodyPr/>
          <a:lstStyle/>
          <a:p>
            <a:fld id="{A36D8278-C8A4-4BA9-8452-B78992BA5F46}" type="slidenum">
              <a:rPr lang="en-US" altLang="en-US"/>
              <a:pPr/>
              <a:t>23</a:t>
            </a:fld>
            <a:endParaRPr lang="en-US" altLang="en-US"/>
          </a:p>
        </p:txBody>
      </p:sp>
      <p:sp>
        <p:nvSpPr>
          <p:cNvPr id="99330"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2</a:t>
            </a:r>
          </a:p>
        </p:txBody>
      </p:sp>
      <p:sp>
        <p:nvSpPr>
          <p:cNvPr id="99331"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2"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rgbClr val="CC0000"/>
                </a:solidFill>
                <a:latin typeface="Arial" panose="020B0604020202020204" pitchFamily="34" charset="0"/>
              </a:rPr>
              <a:t>2</a:t>
            </a:r>
            <a:endParaRPr lang="en-US" altLang="en-US" sz="1350">
              <a:latin typeface="Arial" panose="020B0604020202020204" pitchFamily="34" charset="0"/>
            </a:endParaRPr>
          </a:p>
        </p:txBody>
      </p:sp>
      <p:sp>
        <p:nvSpPr>
          <p:cNvPr id="99333" name="Rectangle 5"/>
          <p:cNvSpPr>
            <a:spLocks noChangeArrowheads="1"/>
          </p:cNvSpPr>
          <p:nvPr/>
        </p:nvSpPr>
        <p:spPr bwMode="auto">
          <a:xfrm>
            <a:off x="268605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3</a:t>
            </a:r>
          </a:p>
        </p:txBody>
      </p:sp>
      <p:sp>
        <p:nvSpPr>
          <p:cNvPr id="99334"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5"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6"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7"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8"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39"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0"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1"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2"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3" name="Rectangle 15"/>
          <p:cNvSpPr>
            <a:spLocks noChangeArrowheads="1"/>
          </p:cNvSpPr>
          <p:nvPr/>
        </p:nvSpPr>
        <p:spPr bwMode="auto">
          <a:xfrm>
            <a:off x="3486150" y="21717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10</a:t>
            </a:r>
            <a:endParaRPr lang="en-US" altLang="en-US" sz="1350">
              <a:latin typeface="Arial" panose="020B0604020202020204" pitchFamily="34" charset="0"/>
            </a:endParaRPr>
          </a:p>
        </p:txBody>
      </p:sp>
      <p:sp>
        <p:nvSpPr>
          <p:cNvPr id="99344"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5"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6"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7"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8"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49"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0"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1"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2" name="AutoShape 24"/>
          <p:cNvSpPr>
            <a:spLocks noChangeArrowheads="1"/>
          </p:cNvSpPr>
          <p:nvPr/>
        </p:nvSpPr>
        <p:spPr bwMode="auto">
          <a:xfrm>
            <a:off x="457200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3" name="Rectangle 25"/>
          <p:cNvSpPr>
            <a:spLocks noChangeArrowheads="1"/>
          </p:cNvSpPr>
          <p:nvPr/>
        </p:nvSpPr>
        <p:spPr bwMode="auto">
          <a:xfrm>
            <a:off x="47434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99354" name="Rectangle 26"/>
          <p:cNvSpPr>
            <a:spLocks noChangeArrowheads="1"/>
          </p:cNvSpPr>
          <p:nvPr/>
        </p:nvSpPr>
        <p:spPr bwMode="auto">
          <a:xfrm>
            <a:off x="51435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27</a:t>
            </a:r>
          </a:p>
        </p:txBody>
      </p:sp>
      <p:sp>
        <p:nvSpPr>
          <p:cNvPr id="99355" name="Line 27"/>
          <p:cNvSpPr>
            <a:spLocks noChangeShapeType="1"/>
          </p:cNvSpPr>
          <p:nvPr/>
        </p:nvSpPr>
        <p:spPr bwMode="auto">
          <a:xfrm>
            <a:off x="4743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6" name="Line 28"/>
          <p:cNvSpPr>
            <a:spLocks noChangeShapeType="1"/>
          </p:cNvSpPr>
          <p:nvPr/>
        </p:nvSpPr>
        <p:spPr bwMode="auto">
          <a:xfrm>
            <a:off x="50292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7" name="Line 29"/>
          <p:cNvSpPr>
            <a:spLocks noChangeShapeType="1"/>
          </p:cNvSpPr>
          <p:nvPr/>
        </p:nvSpPr>
        <p:spPr bwMode="auto">
          <a:xfrm>
            <a:off x="5200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8" name="Line 30"/>
          <p:cNvSpPr>
            <a:spLocks noChangeShapeType="1"/>
          </p:cNvSpPr>
          <p:nvPr/>
        </p:nvSpPr>
        <p:spPr bwMode="auto">
          <a:xfrm>
            <a:off x="54864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59" name="Line 31"/>
          <p:cNvSpPr>
            <a:spLocks noChangeShapeType="1"/>
          </p:cNvSpPr>
          <p:nvPr/>
        </p:nvSpPr>
        <p:spPr bwMode="auto">
          <a:xfrm>
            <a:off x="59436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0" name="Line 32"/>
          <p:cNvSpPr>
            <a:spLocks noChangeShapeType="1"/>
          </p:cNvSpPr>
          <p:nvPr/>
        </p:nvSpPr>
        <p:spPr bwMode="auto">
          <a:xfrm>
            <a:off x="6115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1" name="Line 33"/>
          <p:cNvSpPr>
            <a:spLocks noChangeShapeType="1"/>
          </p:cNvSpPr>
          <p:nvPr/>
        </p:nvSpPr>
        <p:spPr bwMode="auto">
          <a:xfrm>
            <a:off x="64008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2" name="Line 34"/>
          <p:cNvSpPr>
            <a:spLocks noChangeShapeType="1"/>
          </p:cNvSpPr>
          <p:nvPr/>
        </p:nvSpPr>
        <p:spPr bwMode="auto">
          <a:xfrm>
            <a:off x="5657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3"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4"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5"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6"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7"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8"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69"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0"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1"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2" name="Oval 44"/>
          <p:cNvSpPr>
            <a:spLocks noChangeArrowheads="1"/>
          </p:cNvSpPr>
          <p:nvPr/>
        </p:nvSpPr>
        <p:spPr bwMode="auto">
          <a:xfrm>
            <a:off x="4572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3" name="Line 45"/>
          <p:cNvSpPr>
            <a:spLocks noChangeShapeType="1"/>
          </p:cNvSpPr>
          <p:nvPr/>
        </p:nvSpPr>
        <p:spPr bwMode="auto">
          <a:xfrm>
            <a:off x="4629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4" name="Rectangle 46"/>
          <p:cNvSpPr>
            <a:spLocks noChangeArrowheads="1"/>
          </p:cNvSpPr>
          <p:nvPr/>
        </p:nvSpPr>
        <p:spPr bwMode="auto">
          <a:xfrm>
            <a:off x="4572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5" name="Oval 47"/>
          <p:cNvSpPr>
            <a:spLocks noChangeArrowheads="1"/>
          </p:cNvSpPr>
          <p:nvPr/>
        </p:nvSpPr>
        <p:spPr bwMode="auto">
          <a:xfrm>
            <a:off x="50863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6" name="Line 48"/>
          <p:cNvSpPr>
            <a:spLocks noChangeShapeType="1"/>
          </p:cNvSpPr>
          <p:nvPr/>
        </p:nvSpPr>
        <p:spPr bwMode="auto">
          <a:xfrm>
            <a:off x="51435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7" name="Rectangle 49"/>
          <p:cNvSpPr>
            <a:spLocks noChangeArrowheads="1"/>
          </p:cNvSpPr>
          <p:nvPr/>
        </p:nvSpPr>
        <p:spPr bwMode="auto">
          <a:xfrm>
            <a:off x="50863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8" name="Oval 50"/>
          <p:cNvSpPr>
            <a:spLocks noChangeArrowheads="1"/>
          </p:cNvSpPr>
          <p:nvPr/>
        </p:nvSpPr>
        <p:spPr bwMode="auto">
          <a:xfrm>
            <a:off x="55435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79" name="Line 51"/>
          <p:cNvSpPr>
            <a:spLocks noChangeShapeType="1"/>
          </p:cNvSpPr>
          <p:nvPr/>
        </p:nvSpPr>
        <p:spPr bwMode="auto">
          <a:xfrm>
            <a:off x="56007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80" name="Rectangle 52"/>
          <p:cNvSpPr>
            <a:spLocks noChangeArrowheads="1"/>
          </p:cNvSpPr>
          <p:nvPr/>
        </p:nvSpPr>
        <p:spPr bwMode="auto">
          <a:xfrm>
            <a:off x="55435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81" name="Oval 53"/>
          <p:cNvSpPr>
            <a:spLocks noChangeArrowheads="1"/>
          </p:cNvSpPr>
          <p:nvPr/>
        </p:nvSpPr>
        <p:spPr bwMode="auto">
          <a:xfrm>
            <a:off x="38290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82"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83"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9384" name="Text Box 56"/>
          <p:cNvSpPr txBox="1">
            <a:spLocks noChangeArrowheads="1"/>
          </p:cNvSpPr>
          <p:nvPr/>
        </p:nvSpPr>
        <p:spPr bwMode="auto">
          <a:xfrm>
            <a:off x="1543050" y="4114801"/>
            <a:ext cx="622935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Although 2 is at leaf level, removing it leads to an underfull node.</a:t>
            </a:r>
          </a:p>
          <a:p>
            <a:pPr>
              <a:spcBef>
                <a:spcPct val="50000"/>
              </a:spcBef>
            </a:pPr>
            <a:r>
              <a:rPr lang="en-US" altLang="en-US" sz="1350">
                <a:latin typeface="Arial" panose="020B0604020202020204" pitchFamily="34" charset="0"/>
              </a:rPr>
              <a:t>The node has no left sibling.  It does have a right sibling, but that node is at its minimum occupancy already.</a:t>
            </a:r>
          </a:p>
          <a:p>
            <a:pPr>
              <a:spcBef>
                <a:spcPct val="50000"/>
              </a:spcBef>
            </a:pPr>
            <a:r>
              <a:rPr lang="en-US" altLang="en-US" sz="1350">
                <a:latin typeface="Arial" panose="020B0604020202020204" pitchFamily="34" charset="0"/>
              </a:rPr>
              <a:t>Therefore, the node must be merged with its right sibling.</a:t>
            </a:r>
          </a:p>
        </p:txBody>
      </p:sp>
      <p:sp>
        <p:nvSpPr>
          <p:cNvPr id="99385" name="Line 57"/>
          <p:cNvSpPr>
            <a:spLocks noChangeShapeType="1"/>
          </p:cNvSpPr>
          <p:nvPr/>
        </p:nvSpPr>
        <p:spPr bwMode="auto">
          <a:xfrm>
            <a:off x="3886200" y="2343150"/>
            <a:ext cx="154305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911689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3"/>
          <p:cNvSpPr>
            <a:spLocks noGrp="1"/>
          </p:cNvSpPr>
          <p:nvPr>
            <p:ph type="ftr" sz="quarter" idx="11"/>
          </p:nvPr>
        </p:nvSpPr>
        <p:spPr/>
        <p:txBody>
          <a:bodyPr/>
          <a:lstStyle/>
          <a:p>
            <a:r>
              <a:rPr lang="en-US" altLang="en-US"/>
              <a:t>CSE 373   -- AU 2004 -- B-Trees</a:t>
            </a:r>
          </a:p>
        </p:txBody>
      </p:sp>
      <p:sp>
        <p:nvSpPr>
          <p:cNvPr id="45" name="Slide Number Placeholder 4"/>
          <p:cNvSpPr>
            <a:spLocks noGrp="1"/>
          </p:cNvSpPr>
          <p:nvPr>
            <p:ph type="sldNum" sz="quarter" idx="12"/>
          </p:nvPr>
        </p:nvSpPr>
        <p:spPr/>
        <p:txBody>
          <a:bodyPr/>
          <a:lstStyle/>
          <a:p>
            <a:fld id="{DAE66AF7-A195-4545-B273-AAEF150E0074}" type="slidenum">
              <a:rPr lang="en-US" altLang="en-US"/>
              <a:pPr/>
              <a:t>24</a:t>
            </a:fld>
            <a:endParaRPr lang="en-US" altLang="en-US"/>
          </a:p>
        </p:txBody>
      </p:sp>
      <p:sp>
        <p:nvSpPr>
          <p:cNvPr id="100354"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2 (Cont)</a:t>
            </a:r>
          </a:p>
        </p:txBody>
      </p:sp>
      <p:sp>
        <p:nvSpPr>
          <p:cNvPr id="100355" name="AutoShape 3"/>
          <p:cNvSpPr>
            <a:spLocks noChangeArrowheads="1"/>
          </p:cNvSpPr>
          <p:nvPr/>
        </p:nvSpPr>
        <p:spPr bwMode="auto">
          <a:xfrm>
            <a:off x="2000250" y="3086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56" name="Rectangle 4"/>
          <p:cNvSpPr>
            <a:spLocks noChangeArrowheads="1"/>
          </p:cNvSpPr>
          <p:nvPr/>
        </p:nvSpPr>
        <p:spPr bwMode="auto">
          <a:xfrm>
            <a:off x="2171700" y="32004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3</a:t>
            </a:r>
            <a:endParaRPr lang="en-US" altLang="en-US" sz="1350">
              <a:latin typeface="Arial" panose="020B0604020202020204" pitchFamily="34" charset="0"/>
            </a:endParaRPr>
          </a:p>
        </p:txBody>
      </p:sp>
      <p:sp>
        <p:nvSpPr>
          <p:cNvPr id="100357" name="Rectangle 5"/>
          <p:cNvSpPr>
            <a:spLocks noChangeArrowheads="1"/>
          </p:cNvSpPr>
          <p:nvPr/>
        </p:nvSpPr>
        <p:spPr bwMode="auto">
          <a:xfrm>
            <a:off x="257175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100358" name="Line 6"/>
          <p:cNvSpPr>
            <a:spLocks noChangeShapeType="1"/>
          </p:cNvSpPr>
          <p:nvPr/>
        </p:nvSpPr>
        <p:spPr bwMode="auto">
          <a:xfrm>
            <a:off x="21717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59" name="Line 7"/>
          <p:cNvSpPr>
            <a:spLocks noChangeShapeType="1"/>
          </p:cNvSpPr>
          <p:nvPr/>
        </p:nvSpPr>
        <p:spPr bwMode="auto">
          <a:xfrm>
            <a:off x="24574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0" name="Line 8"/>
          <p:cNvSpPr>
            <a:spLocks noChangeShapeType="1"/>
          </p:cNvSpPr>
          <p:nvPr/>
        </p:nvSpPr>
        <p:spPr bwMode="auto">
          <a:xfrm>
            <a:off x="26289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1" name="Line 9"/>
          <p:cNvSpPr>
            <a:spLocks noChangeShapeType="1"/>
          </p:cNvSpPr>
          <p:nvPr/>
        </p:nvSpPr>
        <p:spPr bwMode="auto">
          <a:xfrm>
            <a:off x="29146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2" name="Line 10"/>
          <p:cNvSpPr>
            <a:spLocks noChangeShapeType="1"/>
          </p:cNvSpPr>
          <p:nvPr/>
        </p:nvSpPr>
        <p:spPr bwMode="auto">
          <a:xfrm>
            <a:off x="33718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3" name="Line 11"/>
          <p:cNvSpPr>
            <a:spLocks noChangeShapeType="1"/>
          </p:cNvSpPr>
          <p:nvPr/>
        </p:nvSpPr>
        <p:spPr bwMode="auto">
          <a:xfrm>
            <a:off x="35433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4" name="Line 12"/>
          <p:cNvSpPr>
            <a:spLocks noChangeShapeType="1"/>
          </p:cNvSpPr>
          <p:nvPr/>
        </p:nvSpPr>
        <p:spPr bwMode="auto">
          <a:xfrm>
            <a:off x="382905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5" name="Line 13"/>
          <p:cNvSpPr>
            <a:spLocks noChangeShapeType="1"/>
          </p:cNvSpPr>
          <p:nvPr/>
        </p:nvSpPr>
        <p:spPr bwMode="auto">
          <a:xfrm>
            <a:off x="3086100" y="3086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6" name="AutoShape 14"/>
          <p:cNvSpPr>
            <a:spLocks noChangeArrowheads="1"/>
          </p:cNvSpPr>
          <p:nvPr/>
        </p:nvSpPr>
        <p:spPr bwMode="auto">
          <a:xfrm>
            <a:off x="3314700" y="20574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7" name="Rectangle 15"/>
          <p:cNvSpPr>
            <a:spLocks noChangeArrowheads="1"/>
          </p:cNvSpPr>
          <p:nvPr/>
        </p:nvSpPr>
        <p:spPr bwMode="auto">
          <a:xfrm>
            <a:off x="35433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27</a:t>
            </a:r>
            <a:endParaRPr lang="en-US" altLang="en-US" sz="1350">
              <a:latin typeface="Arial" panose="020B0604020202020204" pitchFamily="34" charset="0"/>
            </a:endParaRPr>
          </a:p>
        </p:txBody>
      </p:sp>
      <p:sp>
        <p:nvSpPr>
          <p:cNvPr id="100368" name="Line 16"/>
          <p:cNvSpPr>
            <a:spLocks noChangeShapeType="1"/>
          </p:cNvSpPr>
          <p:nvPr/>
        </p:nvSpPr>
        <p:spPr bwMode="auto">
          <a:xfrm>
            <a:off x="34861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69" name="Line 17"/>
          <p:cNvSpPr>
            <a:spLocks noChangeShapeType="1"/>
          </p:cNvSpPr>
          <p:nvPr/>
        </p:nvSpPr>
        <p:spPr bwMode="auto">
          <a:xfrm>
            <a:off x="37719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0" name="Line 18"/>
          <p:cNvSpPr>
            <a:spLocks noChangeShapeType="1"/>
          </p:cNvSpPr>
          <p:nvPr/>
        </p:nvSpPr>
        <p:spPr bwMode="auto">
          <a:xfrm>
            <a:off x="39433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1" name="Line 19"/>
          <p:cNvSpPr>
            <a:spLocks noChangeShapeType="1"/>
          </p:cNvSpPr>
          <p:nvPr/>
        </p:nvSpPr>
        <p:spPr bwMode="auto">
          <a:xfrm>
            <a:off x="42291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2" name="Line 20"/>
          <p:cNvSpPr>
            <a:spLocks noChangeShapeType="1"/>
          </p:cNvSpPr>
          <p:nvPr/>
        </p:nvSpPr>
        <p:spPr bwMode="auto">
          <a:xfrm>
            <a:off x="46863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3" name="Line 21"/>
          <p:cNvSpPr>
            <a:spLocks noChangeShapeType="1"/>
          </p:cNvSpPr>
          <p:nvPr/>
        </p:nvSpPr>
        <p:spPr bwMode="auto">
          <a:xfrm>
            <a:off x="48577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4" name="Line 22"/>
          <p:cNvSpPr>
            <a:spLocks noChangeShapeType="1"/>
          </p:cNvSpPr>
          <p:nvPr/>
        </p:nvSpPr>
        <p:spPr bwMode="auto">
          <a:xfrm>
            <a:off x="514350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5" name="Line 23"/>
          <p:cNvSpPr>
            <a:spLocks noChangeShapeType="1"/>
          </p:cNvSpPr>
          <p:nvPr/>
        </p:nvSpPr>
        <p:spPr bwMode="auto">
          <a:xfrm>
            <a:off x="4400550" y="20574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77" name="Rectangle 25"/>
          <p:cNvSpPr>
            <a:spLocks noChangeArrowheads="1"/>
          </p:cNvSpPr>
          <p:nvPr/>
        </p:nvSpPr>
        <p:spPr bwMode="auto">
          <a:xfrm>
            <a:off x="3086100" y="3200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100387" name="Oval 35"/>
          <p:cNvSpPr>
            <a:spLocks noChangeArrowheads="1"/>
          </p:cNvSpPr>
          <p:nvPr/>
        </p:nvSpPr>
        <p:spPr bwMode="auto">
          <a:xfrm>
            <a:off x="20002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88" name="Line 36"/>
          <p:cNvSpPr>
            <a:spLocks noChangeShapeType="1"/>
          </p:cNvSpPr>
          <p:nvPr/>
        </p:nvSpPr>
        <p:spPr bwMode="auto">
          <a:xfrm>
            <a:off x="20574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89" name="Rectangle 37"/>
          <p:cNvSpPr>
            <a:spLocks noChangeArrowheads="1"/>
          </p:cNvSpPr>
          <p:nvPr/>
        </p:nvSpPr>
        <p:spPr bwMode="auto">
          <a:xfrm>
            <a:off x="20002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0" name="Oval 38"/>
          <p:cNvSpPr>
            <a:spLocks noChangeArrowheads="1"/>
          </p:cNvSpPr>
          <p:nvPr/>
        </p:nvSpPr>
        <p:spPr bwMode="auto">
          <a:xfrm>
            <a:off x="245745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1" name="Line 39"/>
          <p:cNvSpPr>
            <a:spLocks noChangeShapeType="1"/>
          </p:cNvSpPr>
          <p:nvPr/>
        </p:nvSpPr>
        <p:spPr bwMode="auto">
          <a:xfrm>
            <a:off x="251460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2" name="Rectangle 40"/>
          <p:cNvSpPr>
            <a:spLocks noChangeArrowheads="1"/>
          </p:cNvSpPr>
          <p:nvPr/>
        </p:nvSpPr>
        <p:spPr bwMode="auto">
          <a:xfrm>
            <a:off x="245745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3" name="Oval 41"/>
          <p:cNvSpPr>
            <a:spLocks noChangeArrowheads="1"/>
          </p:cNvSpPr>
          <p:nvPr/>
        </p:nvSpPr>
        <p:spPr bwMode="auto">
          <a:xfrm>
            <a:off x="29718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4" name="Line 42"/>
          <p:cNvSpPr>
            <a:spLocks noChangeShapeType="1"/>
          </p:cNvSpPr>
          <p:nvPr/>
        </p:nvSpPr>
        <p:spPr bwMode="auto">
          <a:xfrm>
            <a:off x="30289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5" name="Rectangle 43"/>
          <p:cNvSpPr>
            <a:spLocks noChangeArrowheads="1"/>
          </p:cNvSpPr>
          <p:nvPr/>
        </p:nvSpPr>
        <p:spPr bwMode="auto">
          <a:xfrm>
            <a:off x="29718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6" name="Oval 44"/>
          <p:cNvSpPr>
            <a:spLocks noChangeArrowheads="1"/>
          </p:cNvSpPr>
          <p:nvPr/>
        </p:nvSpPr>
        <p:spPr bwMode="auto">
          <a:xfrm>
            <a:off x="34290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7" name="Line 45"/>
          <p:cNvSpPr>
            <a:spLocks noChangeShapeType="1"/>
          </p:cNvSpPr>
          <p:nvPr/>
        </p:nvSpPr>
        <p:spPr bwMode="auto">
          <a:xfrm>
            <a:off x="34861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8" name="Rectangle 46"/>
          <p:cNvSpPr>
            <a:spLocks noChangeArrowheads="1"/>
          </p:cNvSpPr>
          <p:nvPr/>
        </p:nvSpPr>
        <p:spPr bwMode="auto">
          <a:xfrm>
            <a:off x="34290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399" name="Oval 47"/>
          <p:cNvSpPr>
            <a:spLocks noChangeArrowheads="1"/>
          </p:cNvSpPr>
          <p:nvPr/>
        </p:nvSpPr>
        <p:spPr bwMode="auto">
          <a:xfrm>
            <a:off x="3886200" y="3314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400" name="Line 48"/>
          <p:cNvSpPr>
            <a:spLocks noChangeShapeType="1"/>
          </p:cNvSpPr>
          <p:nvPr/>
        </p:nvSpPr>
        <p:spPr bwMode="auto">
          <a:xfrm>
            <a:off x="3943350" y="33718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401" name="Rectangle 49"/>
          <p:cNvSpPr>
            <a:spLocks noChangeArrowheads="1"/>
          </p:cNvSpPr>
          <p:nvPr/>
        </p:nvSpPr>
        <p:spPr bwMode="auto">
          <a:xfrm>
            <a:off x="3886200" y="37147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406" name="Oval 54"/>
          <p:cNvSpPr>
            <a:spLocks noChangeArrowheads="1"/>
          </p:cNvSpPr>
          <p:nvPr/>
        </p:nvSpPr>
        <p:spPr bwMode="auto">
          <a:xfrm>
            <a:off x="3371850" y="22860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407" name="Line 55"/>
          <p:cNvSpPr>
            <a:spLocks noChangeShapeType="1"/>
          </p:cNvSpPr>
          <p:nvPr/>
        </p:nvSpPr>
        <p:spPr bwMode="auto">
          <a:xfrm flipH="1">
            <a:off x="3200400" y="2343150"/>
            <a:ext cx="228600" cy="742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0408" name="Text Box 56"/>
          <p:cNvSpPr txBox="1">
            <a:spLocks noChangeArrowheads="1"/>
          </p:cNvSpPr>
          <p:nvPr/>
        </p:nvSpPr>
        <p:spPr bwMode="auto">
          <a:xfrm>
            <a:off x="1543050" y="4114800"/>
            <a:ext cx="6229350" cy="6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result is illegal, because the root does not have at least 2 children.</a:t>
            </a:r>
          </a:p>
          <a:p>
            <a:pPr>
              <a:spcBef>
                <a:spcPct val="50000"/>
              </a:spcBef>
            </a:pPr>
            <a:r>
              <a:rPr lang="en-US" altLang="en-US" sz="1350">
                <a:latin typeface="Arial" panose="020B0604020202020204" pitchFamily="34" charset="0"/>
              </a:rPr>
              <a:t>Therefore, we must remove the root, making its child the new root.</a:t>
            </a:r>
          </a:p>
        </p:txBody>
      </p:sp>
    </p:spTree>
    <p:extLst>
      <p:ext uri="{BB962C8B-B14F-4D97-AF65-F5344CB8AC3E}">
        <p14:creationId xmlns:p14="http://schemas.microsoft.com/office/powerpoint/2010/main" val="931447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1"/>
          </p:nvPr>
        </p:nvSpPr>
        <p:spPr/>
        <p:txBody>
          <a:bodyPr/>
          <a:lstStyle/>
          <a:p>
            <a:r>
              <a:rPr lang="en-US" altLang="en-US"/>
              <a:t>CSE 373   -- AU 2004 -- B-Trees</a:t>
            </a:r>
          </a:p>
        </p:txBody>
      </p:sp>
      <p:sp>
        <p:nvSpPr>
          <p:cNvPr id="34" name="Slide Number Placeholder 4"/>
          <p:cNvSpPr>
            <a:spLocks noGrp="1"/>
          </p:cNvSpPr>
          <p:nvPr>
            <p:ph type="sldNum" sz="quarter" idx="12"/>
          </p:nvPr>
        </p:nvSpPr>
        <p:spPr/>
        <p:txBody>
          <a:bodyPr/>
          <a:lstStyle/>
          <a:p>
            <a:fld id="{6AD2D57C-7A0C-4F10-BBAD-0FDF83A24232}" type="slidenum">
              <a:rPr lang="en-US" altLang="en-US"/>
              <a:pPr/>
              <a:t>25</a:t>
            </a:fld>
            <a:endParaRPr lang="en-US" altLang="en-US"/>
          </a:p>
        </p:txBody>
      </p:sp>
      <p:sp>
        <p:nvSpPr>
          <p:cNvPr id="101378"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Remove 2 (Cont)</a:t>
            </a:r>
          </a:p>
        </p:txBody>
      </p:sp>
      <p:sp>
        <p:nvSpPr>
          <p:cNvPr id="101379" name="AutoShape 3"/>
          <p:cNvSpPr>
            <a:spLocks noChangeArrowheads="1"/>
          </p:cNvSpPr>
          <p:nvPr/>
        </p:nvSpPr>
        <p:spPr bwMode="auto">
          <a:xfrm>
            <a:off x="3429000" y="25146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0" name="Rectangle 4"/>
          <p:cNvSpPr>
            <a:spLocks noChangeArrowheads="1"/>
          </p:cNvSpPr>
          <p:nvPr/>
        </p:nvSpPr>
        <p:spPr bwMode="auto">
          <a:xfrm>
            <a:off x="3600450" y="26289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3</a:t>
            </a:r>
            <a:endParaRPr lang="en-US" altLang="en-US" sz="1350">
              <a:latin typeface="Arial" panose="020B0604020202020204" pitchFamily="34" charset="0"/>
            </a:endParaRPr>
          </a:p>
        </p:txBody>
      </p:sp>
      <p:sp>
        <p:nvSpPr>
          <p:cNvPr id="101381" name="Rectangle 5"/>
          <p:cNvSpPr>
            <a:spLocks noChangeArrowheads="1"/>
          </p:cNvSpPr>
          <p:nvPr/>
        </p:nvSpPr>
        <p:spPr bwMode="auto">
          <a:xfrm>
            <a:off x="400050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101382" name="Line 6"/>
          <p:cNvSpPr>
            <a:spLocks noChangeShapeType="1"/>
          </p:cNvSpPr>
          <p:nvPr/>
        </p:nvSpPr>
        <p:spPr bwMode="auto">
          <a:xfrm>
            <a:off x="36004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3" name="Line 7"/>
          <p:cNvSpPr>
            <a:spLocks noChangeShapeType="1"/>
          </p:cNvSpPr>
          <p:nvPr/>
        </p:nvSpPr>
        <p:spPr bwMode="auto">
          <a:xfrm>
            <a:off x="38862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4" name="Line 8"/>
          <p:cNvSpPr>
            <a:spLocks noChangeShapeType="1"/>
          </p:cNvSpPr>
          <p:nvPr/>
        </p:nvSpPr>
        <p:spPr bwMode="auto">
          <a:xfrm>
            <a:off x="40576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5" name="Line 9"/>
          <p:cNvSpPr>
            <a:spLocks noChangeShapeType="1"/>
          </p:cNvSpPr>
          <p:nvPr/>
        </p:nvSpPr>
        <p:spPr bwMode="auto">
          <a:xfrm>
            <a:off x="43434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6" name="Line 10"/>
          <p:cNvSpPr>
            <a:spLocks noChangeShapeType="1"/>
          </p:cNvSpPr>
          <p:nvPr/>
        </p:nvSpPr>
        <p:spPr bwMode="auto">
          <a:xfrm>
            <a:off x="48006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7" name="Line 11"/>
          <p:cNvSpPr>
            <a:spLocks noChangeShapeType="1"/>
          </p:cNvSpPr>
          <p:nvPr/>
        </p:nvSpPr>
        <p:spPr bwMode="auto">
          <a:xfrm>
            <a:off x="49720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8" name="Line 12"/>
          <p:cNvSpPr>
            <a:spLocks noChangeShapeType="1"/>
          </p:cNvSpPr>
          <p:nvPr/>
        </p:nvSpPr>
        <p:spPr bwMode="auto">
          <a:xfrm>
            <a:off x="52578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89" name="Line 13"/>
          <p:cNvSpPr>
            <a:spLocks noChangeShapeType="1"/>
          </p:cNvSpPr>
          <p:nvPr/>
        </p:nvSpPr>
        <p:spPr bwMode="auto">
          <a:xfrm>
            <a:off x="45148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391" name="Rectangle 15"/>
          <p:cNvSpPr>
            <a:spLocks noChangeArrowheads="1"/>
          </p:cNvSpPr>
          <p:nvPr/>
        </p:nvSpPr>
        <p:spPr bwMode="auto">
          <a:xfrm>
            <a:off x="497205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27</a:t>
            </a:r>
            <a:endParaRPr lang="en-US" altLang="en-US" sz="1350">
              <a:latin typeface="Arial" panose="020B0604020202020204" pitchFamily="34" charset="0"/>
            </a:endParaRPr>
          </a:p>
        </p:txBody>
      </p:sp>
      <p:sp>
        <p:nvSpPr>
          <p:cNvPr id="101400" name="Rectangle 24"/>
          <p:cNvSpPr>
            <a:spLocks noChangeArrowheads="1"/>
          </p:cNvSpPr>
          <p:nvPr/>
        </p:nvSpPr>
        <p:spPr bwMode="auto">
          <a:xfrm>
            <a:off x="451485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101401" name="Oval 25"/>
          <p:cNvSpPr>
            <a:spLocks noChangeArrowheads="1"/>
          </p:cNvSpPr>
          <p:nvPr/>
        </p:nvSpPr>
        <p:spPr bwMode="auto">
          <a:xfrm>
            <a:off x="342900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2" name="Line 26"/>
          <p:cNvSpPr>
            <a:spLocks noChangeShapeType="1"/>
          </p:cNvSpPr>
          <p:nvPr/>
        </p:nvSpPr>
        <p:spPr bwMode="auto">
          <a:xfrm>
            <a:off x="348615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3" name="Rectangle 27"/>
          <p:cNvSpPr>
            <a:spLocks noChangeArrowheads="1"/>
          </p:cNvSpPr>
          <p:nvPr/>
        </p:nvSpPr>
        <p:spPr bwMode="auto">
          <a:xfrm>
            <a:off x="342900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4" name="Oval 28"/>
          <p:cNvSpPr>
            <a:spLocks noChangeArrowheads="1"/>
          </p:cNvSpPr>
          <p:nvPr/>
        </p:nvSpPr>
        <p:spPr bwMode="auto">
          <a:xfrm>
            <a:off x="388620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5" name="Line 29"/>
          <p:cNvSpPr>
            <a:spLocks noChangeShapeType="1"/>
          </p:cNvSpPr>
          <p:nvPr/>
        </p:nvSpPr>
        <p:spPr bwMode="auto">
          <a:xfrm>
            <a:off x="394335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6" name="Rectangle 30"/>
          <p:cNvSpPr>
            <a:spLocks noChangeArrowheads="1"/>
          </p:cNvSpPr>
          <p:nvPr/>
        </p:nvSpPr>
        <p:spPr bwMode="auto">
          <a:xfrm>
            <a:off x="388620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7" name="Oval 31"/>
          <p:cNvSpPr>
            <a:spLocks noChangeArrowheads="1"/>
          </p:cNvSpPr>
          <p:nvPr/>
        </p:nvSpPr>
        <p:spPr bwMode="auto">
          <a:xfrm>
            <a:off x="44005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8" name="Line 32"/>
          <p:cNvSpPr>
            <a:spLocks noChangeShapeType="1"/>
          </p:cNvSpPr>
          <p:nvPr/>
        </p:nvSpPr>
        <p:spPr bwMode="auto">
          <a:xfrm>
            <a:off x="44577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09" name="Rectangle 33"/>
          <p:cNvSpPr>
            <a:spLocks noChangeArrowheads="1"/>
          </p:cNvSpPr>
          <p:nvPr/>
        </p:nvSpPr>
        <p:spPr bwMode="auto">
          <a:xfrm>
            <a:off x="44005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0" name="Oval 34"/>
          <p:cNvSpPr>
            <a:spLocks noChangeArrowheads="1"/>
          </p:cNvSpPr>
          <p:nvPr/>
        </p:nvSpPr>
        <p:spPr bwMode="auto">
          <a:xfrm>
            <a:off x="48577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1" name="Line 35"/>
          <p:cNvSpPr>
            <a:spLocks noChangeShapeType="1"/>
          </p:cNvSpPr>
          <p:nvPr/>
        </p:nvSpPr>
        <p:spPr bwMode="auto">
          <a:xfrm>
            <a:off x="49149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2" name="Rectangle 36"/>
          <p:cNvSpPr>
            <a:spLocks noChangeArrowheads="1"/>
          </p:cNvSpPr>
          <p:nvPr/>
        </p:nvSpPr>
        <p:spPr bwMode="auto">
          <a:xfrm>
            <a:off x="48577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3" name="Oval 37"/>
          <p:cNvSpPr>
            <a:spLocks noChangeArrowheads="1"/>
          </p:cNvSpPr>
          <p:nvPr/>
        </p:nvSpPr>
        <p:spPr bwMode="auto">
          <a:xfrm>
            <a:off x="53149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4" name="Line 38"/>
          <p:cNvSpPr>
            <a:spLocks noChangeShapeType="1"/>
          </p:cNvSpPr>
          <p:nvPr/>
        </p:nvSpPr>
        <p:spPr bwMode="auto">
          <a:xfrm>
            <a:off x="53721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5" name="Rectangle 39"/>
          <p:cNvSpPr>
            <a:spLocks noChangeArrowheads="1"/>
          </p:cNvSpPr>
          <p:nvPr/>
        </p:nvSpPr>
        <p:spPr bwMode="auto">
          <a:xfrm>
            <a:off x="53149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1418" name="Text Box 42"/>
          <p:cNvSpPr txBox="1">
            <a:spLocks noChangeArrowheads="1"/>
          </p:cNvSpPr>
          <p:nvPr/>
        </p:nvSpPr>
        <p:spPr bwMode="auto">
          <a:xfrm>
            <a:off x="1543050" y="4114800"/>
            <a:ext cx="62293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new B-tree has only one node, the root.</a:t>
            </a:r>
          </a:p>
        </p:txBody>
      </p:sp>
    </p:spTree>
    <p:extLst>
      <p:ext uri="{BB962C8B-B14F-4D97-AF65-F5344CB8AC3E}">
        <p14:creationId xmlns:p14="http://schemas.microsoft.com/office/powerpoint/2010/main" val="31568107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1"/>
          </p:nvPr>
        </p:nvSpPr>
        <p:spPr/>
        <p:txBody>
          <a:bodyPr/>
          <a:lstStyle/>
          <a:p>
            <a:r>
              <a:rPr lang="en-US" altLang="en-US"/>
              <a:t>CSE 373   -- AU 2004 -- B-Trees</a:t>
            </a:r>
          </a:p>
        </p:txBody>
      </p:sp>
      <p:sp>
        <p:nvSpPr>
          <p:cNvPr id="34" name="Slide Number Placeholder 4"/>
          <p:cNvSpPr>
            <a:spLocks noGrp="1"/>
          </p:cNvSpPr>
          <p:nvPr>
            <p:ph type="sldNum" sz="quarter" idx="12"/>
          </p:nvPr>
        </p:nvSpPr>
        <p:spPr/>
        <p:txBody>
          <a:bodyPr/>
          <a:lstStyle/>
          <a:p>
            <a:fld id="{6F9606E0-815E-4D51-AD51-F66D130BE4A6}" type="slidenum">
              <a:rPr lang="en-US" altLang="en-US"/>
              <a:pPr/>
              <a:t>26</a:t>
            </a:fld>
            <a:endParaRPr lang="en-US" altLang="en-US"/>
          </a:p>
        </p:txBody>
      </p:sp>
      <p:sp>
        <p:nvSpPr>
          <p:cNvPr id="102402"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49</a:t>
            </a:r>
          </a:p>
        </p:txBody>
      </p:sp>
      <p:sp>
        <p:nvSpPr>
          <p:cNvPr id="102403" name="AutoShape 3"/>
          <p:cNvSpPr>
            <a:spLocks noChangeArrowheads="1"/>
          </p:cNvSpPr>
          <p:nvPr/>
        </p:nvSpPr>
        <p:spPr bwMode="auto">
          <a:xfrm>
            <a:off x="3429000" y="25146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04" name="Rectangle 4"/>
          <p:cNvSpPr>
            <a:spLocks noChangeArrowheads="1"/>
          </p:cNvSpPr>
          <p:nvPr/>
        </p:nvSpPr>
        <p:spPr bwMode="auto">
          <a:xfrm>
            <a:off x="3600450" y="26289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3</a:t>
            </a:r>
            <a:endParaRPr lang="en-US" altLang="en-US" sz="1350">
              <a:latin typeface="Arial" panose="020B0604020202020204" pitchFamily="34" charset="0"/>
            </a:endParaRPr>
          </a:p>
        </p:txBody>
      </p:sp>
      <p:sp>
        <p:nvSpPr>
          <p:cNvPr id="102405" name="Rectangle 5"/>
          <p:cNvSpPr>
            <a:spLocks noChangeArrowheads="1"/>
          </p:cNvSpPr>
          <p:nvPr/>
        </p:nvSpPr>
        <p:spPr bwMode="auto">
          <a:xfrm>
            <a:off x="400050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102406" name="Line 6"/>
          <p:cNvSpPr>
            <a:spLocks noChangeShapeType="1"/>
          </p:cNvSpPr>
          <p:nvPr/>
        </p:nvSpPr>
        <p:spPr bwMode="auto">
          <a:xfrm>
            <a:off x="36004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07" name="Line 7"/>
          <p:cNvSpPr>
            <a:spLocks noChangeShapeType="1"/>
          </p:cNvSpPr>
          <p:nvPr/>
        </p:nvSpPr>
        <p:spPr bwMode="auto">
          <a:xfrm>
            <a:off x="38862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08" name="Line 8"/>
          <p:cNvSpPr>
            <a:spLocks noChangeShapeType="1"/>
          </p:cNvSpPr>
          <p:nvPr/>
        </p:nvSpPr>
        <p:spPr bwMode="auto">
          <a:xfrm>
            <a:off x="40576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09" name="Line 9"/>
          <p:cNvSpPr>
            <a:spLocks noChangeShapeType="1"/>
          </p:cNvSpPr>
          <p:nvPr/>
        </p:nvSpPr>
        <p:spPr bwMode="auto">
          <a:xfrm>
            <a:off x="43434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0" name="Line 10"/>
          <p:cNvSpPr>
            <a:spLocks noChangeShapeType="1"/>
          </p:cNvSpPr>
          <p:nvPr/>
        </p:nvSpPr>
        <p:spPr bwMode="auto">
          <a:xfrm>
            <a:off x="48006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1" name="Line 11"/>
          <p:cNvSpPr>
            <a:spLocks noChangeShapeType="1"/>
          </p:cNvSpPr>
          <p:nvPr/>
        </p:nvSpPr>
        <p:spPr bwMode="auto">
          <a:xfrm>
            <a:off x="49720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2" name="Line 12"/>
          <p:cNvSpPr>
            <a:spLocks noChangeShapeType="1"/>
          </p:cNvSpPr>
          <p:nvPr/>
        </p:nvSpPr>
        <p:spPr bwMode="auto">
          <a:xfrm>
            <a:off x="525780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3" name="Line 13"/>
          <p:cNvSpPr>
            <a:spLocks noChangeShapeType="1"/>
          </p:cNvSpPr>
          <p:nvPr/>
        </p:nvSpPr>
        <p:spPr bwMode="auto">
          <a:xfrm>
            <a:off x="4514850" y="25146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4" name="Rectangle 14"/>
          <p:cNvSpPr>
            <a:spLocks noChangeArrowheads="1"/>
          </p:cNvSpPr>
          <p:nvPr/>
        </p:nvSpPr>
        <p:spPr bwMode="auto">
          <a:xfrm>
            <a:off x="497205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27</a:t>
            </a:r>
            <a:endParaRPr lang="en-US" altLang="en-US" sz="1350">
              <a:latin typeface="Arial" panose="020B0604020202020204" pitchFamily="34" charset="0"/>
            </a:endParaRPr>
          </a:p>
        </p:txBody>
      </p:sp>
      <p:sp>
        <p:nvSpPr>
          <p:cNvPr id="102415" name="Rectangle 15"/>
          <p:cNvSpPr>
            <a:spLocks noChangeArrowheads="1"/>
          </p:cNvSpPr>
          <p:nvPr/>
        </p:nvSpPr>
        <p:spPr bwMode="auto">
          <a:xfrm>
            <a:off x="4514850" y="26289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102416" name="Oval 16"/>
          <p:cNvSpPr>
            <a:spLocks noChangeArrowheads="1"/>
          </p:cNvSpPr>
          <p:nvPr/>
        </p:nvSpPr>
        <p:spPr bwMode="auto">
          <a:xfrm>
            <a:off x="342900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7" name="Line 17"/>
          <p:cNvSpPr>
            <a:spLocks noChangeShapeType="1"/>
          </p:cNvSpPr>
          <p:nvPr/>
        </p:nvSpPr>
        <p:spPr bwMode="auto">
          <a:xfrm>
            <a:off x="348615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8" name="Rectangle 18"/>
          <p:cNvSpPr>
            <a:spLocks noChangeArrowheads="1"/>
          </p:cNvSpPr>
          <p:nvPr/>
        </p:nvSpPr>
        <p:spPr bwMode="auto">
          <a:xfrm>
            <a:off x="342900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19" name="Oval 19"/>
          <p:cNvSpPr>
            <a:spLocks noChangeArrowheads="1"/>
          </p:cNvSpPr>
          <p:nvPr/>
        </p:nvSpPr>
        <p:spPr bwMode="auto">
          <a:xfrm>
            <a:off x="388620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0" name="Line 20"/>
          <p:cNvSpPr>
            <a:spLocks noChangeShapeType="1"/>
          </p:cNvSpPr>
          <p:nvPr/>
        </p:nvSpPr>
        <p:spPr bwMode="auto">
          <a:xfrm>
            <a:off x="394335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1" name="Rectangle 21"/>
          <p:cNvSpPr>
            <a:spLocks noChangeArrowheads="1"/>
          </p:cNvSpPr>
          <p:nvPr/>
        </p:nvSpPr>
        <p:spPr bwMode="auto">
          <a:xfrm>
            <a:off x="388620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2" name="Oval 22"/>
          <p:cNvSpPr>
            <a:spLocks noChangeArrowheads="1"/>
          </p:cNvSpPr>
          <p:nvPr/>
        </p:nvSpPr>
        <p:spPr bwMode="auto">
          <a:xfrm>
            <a:off x="44005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3" name="Line 23"/>
          <p:cNvSpPr>
            <a:spLocks noChangeShapeType="1"/>
          </p:cNvSpPr>
          <p:nvPr/>
        </p:nvSpPr>
        <p:spPr bwMode="auto">
          <a:xfrm>
            <a:off x="44577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4" name="Rectangle 24"/>
          <p:cNvSpPr>
            <a:spLocks noChangeArrowheads="1"/>
          </p:cNvSpPr>
          <p:nvPr/>
        </p:nvSpPr>
        <p:spPr bwMode="auto">
          <a:xfrm>
            <a:off x="44005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5" name="Oval 25"/>
          <p:cNvSpPr>
            <a:spLocks noChangeArrowheads="1"/>
          </p:cNvSpPr>
          <p:nvPr/>
        </p:nvSpPr>
        <p:spPr bwMode="auto">
          <a:xfrm>
            <a:off x="48577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6" name="Line 26"/>
          <p:cNvSpPr>
            <a:spLocks noChangeShapeType="1"/>
          </p:cNvSpPr>
          <p:nvPr/>
        </p:nvSpPr>
        <p:spPr bwMode="auto">
          <a:xfrm>
            <a:off x="49149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7" name="Rectangle 27"/>
          <p:cNvSpPr>
            <a:spLocks noChangeArrowheads="1"/>
          </p:cNvSpPr>
          <p:nvPr/>
        </p:nvSpPr>
        <p:spPr bwMode="auto">
          <a:xfrm>
            <a:off x="48577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8" name="Oval 28"/>
          <p:cNvSpPr>
            <a:spLocks noChangeArrowheads="1"/>
          </p:cNvSpPr>
          <p:nvPr/>
        </p:nvSpPr>
        <p:spPr bwMode="auto">
          <a:xfrm>
            <a:off x="5314950" y="27432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29" name="Line 29"/>
          <p:cNvSpPr>
            <a:spLocks noChangeShapeType="1"/>
          </p:cNvSpPr>
          <p:nvPr/>
        </p:nvSpPr>
        <p:spPr bwMode="auto">
          <a:xfrm>
            <a:off x="5372100" y="28003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30" name="Rectangle 30"/>
          <p:cNvSpPr>
            <a:spLocks noChangeArrowheads="1"/>
          </p:cNvSpPr>
          <p:nvPr/>
        </p:nvSpPr>
        <p:spPr bwMode="auto">
          <a:xfrm>
            <a:off x="5314950" y="31432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2431" name="Text Box 31"/>
          <p:cNvSpPr txBox="1">
            <a:spLocks noChangeArrowheads="1"/>
          </p:cNvSpPr>
          <p:nvPr/>
        </p:nvSpPr>
        <p:spPr bwMode="auto">
          <a:xfrm>
            <a:off x="1543050" y="4114800"/>
            <a:ext cx="62293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Let’s put an element into this B-tree.</a:t>
            </a:r>
          </a:p>
        </p:txBody>
      </p:sp>
    </p:spTree>
    <p:extLst>
      <p:ext uri="{BB962C8B-B14F-4D97-AF65-F5344CB8AC3E}">
        <p14:creationId xmlns:p14="http://schemas.microsoft.com/office/powerpoint/2010/main" val="6315036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3"/>
          <p:cNvSpPr>
            <a:spLocks noGrp="1"/>
          </p:cNvSpPr>
          <p:nvPr>
            <p:ph type="ftr" sz="quarter" idx="11"/>
          </p:nvPr>
        </p:nvSpPr>
        <p:spPr/>
        <p:txBody>
          <a:bodyPr/>
          <a:lstStyle/>
          <a:p>
            <a:r>
              <a:rPr lang="en-US" altLang="en-US"/>
              <a:t>CSE 373   -- AU 2004 -- B-Trees</a:t>
            </a:r>
          </a:p>
        </p:txBody>
      </p:sp>
      <p:sp>
        <p:nvSpPr>
          <p:cNvPr id="50" name="Slide Number Placeholder 4"/>
          <p:cNvSpPr>
            <a:spLocks noGrp="1"/>
          </p:cNvSpPr>
          <p:nvPr>
            <p:ph type="sldNum" sz="quarter" idx="12"/>
          </p:nvPr>
        </p:nvSpPr>
        <p:spPr/>
        <p:txBody>
          <a:bodyPr/>
          <a:lstStyle/>
          <a:p>
            <a:fld id="{0A05F90E-4E08-4642-ADD4-6350D4A7FD32}" type="slidenum">
              <a:rPr lang="en-US" altLang="en-US"/>
              <a:pPr/>
              <a:t>27</a:t>
            </a:fld>
            <a:endParaRPr lang="en-US" altLang="en-US"/>
          </a:p>
        </p:txBody>
      </p:sp>
      <p:sp>
        <p:nvSpPr>
          <p:cNvPr id="103426"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49 (Cont)</a:t>
            </a:r>
          </a:p>
        </p:txBody>
      </p:sp>
      <p:sp>
        <p:nvSpPr>
          <p:cNvPr id="103427" name="AutoShape 3"/>
          <p:cNvSpPr>
            <a:spLocks noChangeArrowheads="1"/>
          </p:cNvSpPr>
          <p:nvPr/>
        </p:nvSpPr>
        <p:spPr bwMode="auto">
          <a:xfrm>
            <a:off x="2057400" y="26289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28" name="Rectangle 4"/>
          <p:cNvSpPr>
            <a:spLocks noChangeArrowheads="1"/>
          </p:cNvSpPr>
          <p:nvPr/>
        </p:nvSpPr>
        <p:spPr bwMode="auto">
          <a:xfrm>
            <a:off x="2228850" y="274320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3</a:t>
            </a:r>
            <a:endParaRPr lang="en-US" altLang="en-US" sz="1350">
              <a:latin typeface="Arial" panose="020B0604020202020204" pitchFamily="34" charset="0"/>
            </a:endParaRPr>
          </a:p>
        </p:txBody>
      </p:sp>
      <p:sp>
        <p:nvSpPr>
          <p:cNvPr id="103429" name="Rectangle 5"/>
          <p:cNvSpPr>
            <a:spLocks noChangeArrowheads="1"/>
          </p:cNvSpPr>
          <p:nvPr/>
        </p:nvSpPr>
        <p:spPr bwMode="auto">
          <a:xfrm>
            <a:off x="2628900" y="27432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103430" name="Line 6"/>
          <p:cNvSpPr>
            <a:spLocks noChangeShapeType="1"/>
          </p:cNvSpPr>
          <p:nvPr/>
        </p:nvSpPr>
        <p:spPr bwMode="auto">
          <a:xfrm>
            <a:off x="22288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1" name="Line 7"/>
          <p:cNvSpPr>
            <a:spLocks noChangeShapeType="1"/>
          </p:cNvSpPr>
          <p:nvPr/>
        </p:nvSpPr>
        <p:spPr bwMode="auto">
          <a:xfrm>
            <a:off x="25146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2" name="Line 8"/>
          <p:cNvSpPr>
            <a:spLocks noChangeShapeType="1"/>
          </p:cNvSpPr>
          <p:nvPr/>
        </p:nvSpPr>
        <p:spPr bwMode="auto">
          <a:xfrm>
            <a:off x="26860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3" name="Line 9"/>
          <p:cNvSpPr>
            <a:spLocks noChangeShapeType="1"/>
          </p:cNvSpPr>
          <p:nvPr/>
        </p:nvSpPr>
        <p:spPr bwMode="auto">
          <a:xfrm>
            <a:off x="29718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4" name="Line 10"/>
          <p:cNvSpPr>
            <a:spLocks noChangeShapeType="1"/>
          </p:cNvSpPr>
          <p:nvPr/>
        </p:nvSpPr>
        <p:spPr bwMode="auto">
          <a:xfrm>
            <a:off x="34290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5" name="Line 11"/>
          <p:cNvSpPr>
            <a:spLocks noChangeShapeType="1"/>
          </p:cNvSpPr>
          <p:nvPr/>
        </p:nvSpPr>
        <p:spPr bwMode="auto">
          <a:xfrm>
            <a:off x="36004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6" name="Line 12"/>
          <p:cNvSpPr>
            <a:spLocks noChangeShapeType="1"/>
          </p:cNvSpPr>
          <p:nvPr/>
        </p:nvSpPr>
        <p:spPr bwMode="auto">
          <a:xfrm>
            <a:off x="38862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37" name="Line 13"/>
          <p:cNvSpPr>
            <a:spLocks noChangeShapeType="1"/>
          </p:cNvSpPr>
          <p:nvPr/>
        </p:nvSpPr>
        <p:spPr bwMode="auto">
          <a:xfrm>
            <a:off x="31432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0" name="Oval 16"/>
          <p:cNvSpPr>
            <a:spLocks noChangeArrowheads="1"/>
          </p:cNvSpPr>
          <p:nvPr/>
        </p:nvSpPr>
        <p:spPr bwMode="auto">
          <a:xfrm>
            <a:off x="205740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1" name="Line 17"/>
          <p:cNvSpPr>
            <a:spLocks noChangeShapeType="1"/>
          </p:cNvSpPr>
          <p:nvPr/>
        </p:nvSpPr>
        <p:spPr bwMode="auto">
          <a:xfrm>
            <a:off x="211455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2" name="Rectangle 18"/>
          <p:cNvSpPr>
            <a:spLocks noChangeArrowheads="1"/>
          </p:cNvSpPr>
          <p:nvPr/>
        </p:nvSpPr>
        <p:spPr bwMode="auto">
          <a:xfrm>
            <a:off x="205740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3" name="Oval 19"/>
          <p:cNvSpPr>
            <a:spLocks noChangeArrowheads="1"/>
          </p:cNvSpPr>
          <p:nvPr/>
        </p:nvSpPr>
        <p:spPr bwMode="auto">
          <a:xfrm>
            <a:off x="251460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4" name="Line 20"/>
          <p:cNvSpPr>
            <a:spLocks noChangeShapeType="1"/>
          </p:cNvSpPr>
          <p:nvPr/>
        </p:nvSpPr>
        <p:spPr bwMode="auto">
          <a:xfrm>
            <a:off x="257175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5" name="Rectangle 21"/>
          <p:cNvSpPr>
            <a:spLocks noChangeArrowheads="1"/>
          </p:cNvSpPr>
          <p:nvPr/>
        </p:nvSpPr>
        <p:spPr bwMode="auto">
          <a:xfrm>
            <a:off x="251460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6" name="Oval 22"/>
          <p:cNvSpPr>
            <a:spLocks noChangeArrowheads="1"/>
          </p:cNvSpPr>
          <p:nvPr/>
        </p:nvSpPr>
        <p:spPr bwMode="auto">
          <a:xfrm>
            <a:off x="302895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7" name="Line 23"/>
          <p:cNvSpPr>
            <a:spLocks noChangeShapeType="1"/>
          </p:cNvSpPr>
          <p:nvPr/>
        </p:nvSpPr>
        <p:spPr bwMode="auto">
          <a:xfrm>
            <a:off x="308610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48" name="Rectangle 24"/>
          <p:cNvSpPr>
            <a:spLocks noChangeArrowheads="1"/>
          </p:cNvSpPr>
          <p:nvPr/>
        </p:nvSpPr>
        <p:spPr bwMode="auto">
          <a:xfrm>
            <a:off x="302895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55" name="Text Box 31"/>
          <p:cNvSpPr txBox="1">
            <a:spLocks noChangeArrowheads="1"/>
          </p:cNvSpPr>
          <p:nvPr/>
        </p:nvSpPr>
        <p:spPr bwMode="auto">
          <a:xfrm>
            <a:off x="1543050" y="4114801"/>
            <a:ext cx="62293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Adding this key make the node overfull, so it must be split into two.</a:t>
            </a:r>
          </a:p>
          <a:p>
            <a:pPr>
              <a:spcBef>
                <a:spcPct val="50000"/>
              </a:spcBef>
            </a:pPr>
            <a:r>
              <a:rPr lang="en-US" altLang="en-US" sz="1350">
                <a:latin typeface="Arial" panose="020B0604020202020204" pitchFamily="34" charset="0"/>
              </a:rPr>
              <a:t>But this node was the root.</a:t>
            </a:r>
          </a:p>
          <a:p>
            <a:pPr>
              <a:spcBef>
                <a:spcPct val="50000"/>
              </a:spcBef>
            </a:pPr>
            <a:r>
              <a:rPr lang="en-US" altLang="en-US" sz="1350">
                <a:latin typeface="Arial" panose="020B0604020202020204" pitchFamily="34" charset="0"/>
              </a:rPr>
              <a:t>So we must construct a new root, and make these its children.</a:t>
            </a:r>
          </a:p>
        </p:txBody>
      </p:sp>
      <p:sp>
        <p:nvSpPr>
          <p:cNvPr id="103456" name="AutoShape 32"/>
          <p:cNvSpPr>
            <a:spLocks noChangeArrowheads="1"/>
          </p:cNvSpPr>
          <p:nvPr/>
        </p:nvSpPr>
        <p:spPr bwMode="auto">
          <a:xfrm>
            <a:off x="4743450" y="26289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57" name="Rectangle 33"/>
          <p:cNvSpPr>
            <a:spLocks noChangeArrowheads="1"/>
          </p:cNvSpPr>
          <p:nvPr/>
        </p:nvSpPr>
        <p:spPr bwMode="auto">
          <a:xfrm>
            <a:off x="4914900" y="27432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27</a:t>
            </a:r>
            <a:endParaRPr lang="en-US" altLang="en-US" sz="1350">
              <a:latin typeface="Arial" panose="020B0604020202020204" pitchFamily="34" charset="0"/>
            </a:endParaRPr>
          </a:p>
        </p:txBody>
      </p:sp>
      <p:sp>
        <p:nvSpPr>
          <p:cNvPr id="103458" name="Rectangle 34"/>
          <p:cNvSpPr>
            <a:spLocks noChangeArrowheads="1"/>
          </p:cNvSpPr>
          <p:nvPr/>
        </p:nvSpPr>
        <p:spPr bwMode="auto">
          <a:xfrm>
            <a:off x="5314950" y="27432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49</a:t>
            </a:r>
            <a:endParaRPr lang="en-US" altLang="en-US" sz="1350">
              <a:latin typeface="Arial" panose="020B0604020202020204" pitchFamily="34" charset="0"/>
            </a:endParaRPr>
          </a:p>
        </p:txBody>
      </p:sp>
      <p:sp>
        <p:nvSpPr>
          <p:cNvPr id="103459" name="Line 35"/>
          <p:cNvSpPr>
            <a:spLocks noChangeShapeType="1"/>
          </p:cNvSpPr>
          <p:nvPr/>
        </p:nvSpPr>
        <p:spPr bwMode="auto">
          <a:xfrm>
            <a:off x="49149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0" name="Line 36"/>
          <p:cNvSpPr>
            <a:spLocks noChangeShapeType="1"/>
          </p:cNvSpPr>
          <p:nvPr/>
        </p:nvSpPr>
        <p:spPr bwMode="auto">
          <a:xfrm>
            <a:off x="52006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1" name="Line 37"/>
          <p:cNvSpPr>
            <a:spLocks noChangeShapeType="1"/>
          </p:cNvSpPr>
          <p:nvPr/>
        </p:nvSpPr>
        <p:spPr bwMode="auto">
          <a:xfrm>
            <a:off x="53721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2" name="Line 38"/>
          <p:cNvSpPr>
            <a:spLocks noChangeShapeType="1"/>
          </p:cNvSpPr>
          <p:nvPr/>
        </p:nvSpPr>
        <p:spPr bwMode="auto">
          <a:xfrm>
            <a:off x="56578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3" name="Line 39"/>
          <p:cNvSpPr>
            <a:spLocks noChangeShapeType="1"/>
          </p:cNvSpPr>
          <p:nvPr/>
        </p:nvSpPr>
        <p:spPr bwMode="auto">
          <a:xfrm>
            <a:off x="61150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4" name="Line 40"/>
          <p:cNvSpPr>
            <a:spLocks noChangeShapeType="1"/>
          </p:cNvSpPr>
          <p:nvPr/>
        </p:nvSpPr>
        <p:spPr bwMode="auto">
          <a:xfrm>
            <a:off x="62865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5" name="Line 41"/>
          <p:cNvSpPr>
            <a:spLocks noChangeShapeType="1"/>
          </p:cNvSpPr>
          <p:nvPr/>
        </p:nvSpPr>
        <p:spPr bwMode="auto">
          <a:xfrm>
            <a:off x="657225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6" name="Line 42"/>
          <p:cNvSpPr>
            <a:spLocks noChangeShapeType="1"/>
          </p:cNvSpPr>
          <p:nvPr/>
        </p:nvSpPr>
        <p:spPr bwMode="auto">
          <a:xfrm>
            <a:off x="5829300" y="26289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68" name="Rectangle 44"/>
          <p:cNvSpPr>
            <a:spLocks noChangeArrowheads="1"/>
          </p:cNvSpPr>
          <p:nvPr/>
        </p:nvSpPr>
        <p:spPr bwMode="auto">
          <a:xfrm>
            <a:off x="3143250" y="27432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12</a:t>
            </a:r>
            <a:endParaRPr lang="en-US" altLang="en-US" sz="1350">
              <a:latin typeface="Arial" panose="020B0604020202020204" pitchFamily="34" charset="0"/>
            </a:endParaRPr>
          </a:p>
        </p:txBody>
      </p:sp>
      <p:sp>
        <p:nvSpPr>
          <p:cNvPr id="103469" name="Oval 45"/>
          <p:cNvSpPr>
            <a:spLocks noChangeArrowheads="1"/>
          </p:cNvSpPr>
          <p:nvPr/>
        </p:nvSpPr>
        <p:spPr bwMode="auto">
          <a:xfrm>
            <a:off x="474345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0" name="Line 46"/>
          <p:cNvSpPr>
            <a:spLocks noChangeShapeType="1"/>
          </p:cNvSpPr>
          <p:nvPr/>
        </p:nvSpPr>
        <p:spPr bwMode="auto">
          <a:xfrm>
            <a:off x="480060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1" name="Rectangle 47"/>
          <p:cNvSpPr>
            <a:spLocks noChangeArrowheads="1"/>
          </p:cNvSpPr>
          <p:nvPr/>
        </p:nvSpPr>
        <p:spPr bwMode="auto">
          <a:xfrm>
            <a:off x="474345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2" name="Oval 48"/>
          <p:cNvSpPr>
            <a:spLocks noChangeArrowheads="1"/>
          </p:cNvSpPr>
          <p:nvPr/>
        </p:nvSpPr>
        <p:spPr bwMode="auto">
          <a:xfrm>
            <a:off x="520065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3" name="Line 49"/>
          <p:cNvSpPr>
            <a:spLocks noChangeShapeType="1"/>
          </p:cNvSpPr>
          <p:nvPr/>
        </p:nvSpPr>
        <p:spPr bwMode="auto">
          <a:xfrm>
            <a:off x="525780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4" name="Rectangle 50"/>
          <p:cNvSpPr>
            <a:spLocks noChangeArrowheads="1"/>
          </p:cNvSpPr>
          <p:nvPr/>
        </p:nvSpPr>
        <p:spPr bwMode="auto">
          <a:xfrm>
            <a:off x="520065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5" name="Oval 51"/>
          <p:cNvSpPr>
            <a:spLocks noChangeArrowheads="1"/>
          </p:cNvSpPr>
          <p:nvPr/>
        </p:nvSpPr>
        <p:spPr bwMode="auto">
          <a:xfrm>
            <a:off x="571500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6" name="Line 52"/>
          <p:cNvSpPr>
            <a:spLocks noChangeShapeType="1"/>
          </p:cNvSpPr>
          <p:nvPr/>
        </p:nvSpPr>
        <p:spPr bwMode="auto">
          <a:xfrm>
            <a:off x="577215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77" name="Rectangle 53"/>
          <p:cNvSpPr>
            <a:spLocks noChangeArrowheads="1"/>
          </p:cNvSpPr>
          <p:nvPr/>
        </p:nvSpPr>
        <p:spPr bwMode="auto">
          <a:xfrm>
            <a:off x="571500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81" name="Oval 57"/>
          <p:cNvSpPr>
            <a:spLocks noChangeArrowheads="1"/>
          </p:cNvSpPr>
          <p:nvPr/>
        </p:nvSpPr>
        <p:spPr bwMode="auto">
          <a:xfrm>
            <a:off x="3486150" y="28575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82" name="Line 58"/>
          <p:cNvSpPr>
            <a:spLocks noChangeShapeType="1"/>
          </p:cNvSpPr>
          <p:nvPr/>
        </p:nvSpPr>
        <p:spPr bwMode="auto">
          <a:xfrm>
            <a:off x="3543300" y="29146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3483" name="Rectangle 59"/>
          <p:cNvSpPr>
            <a:spLocks noChangeArrowheads="1"/>
          </p:cNvSpPr>
          <p:nvPr/>
        </p:nvSpPr>
        <p:spPr bwMode="auto">
          <a:xfrm>
            <a:off x="3486150" y="325755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3334432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3"/>
          <p:cNvSpPr>
            <a:spLocks noGrp="1"/>
          </p:cNvSpPr>
          <p:nvPr>
            <p:ph type="ftr" sz="quarter" idx="11"/>
          </p:nvPr>
        </p:nvSpPr>
        <p:spPr/>
        <p:txBody>
          <a:bodyPr/>
          <a:lstStyle/>
          <a:p>
            <a:r>
              <a:rPr lang="en-US" altLang="en-US"/>
              <a:t>CSE 373   -- AU 2004 -- B-Trees</a:t>
            </a:r>
          </a:p>
        </p:txBody>
      </p:sp>
      <p:sp>
        <p:nvSpPr>
          <p:cNvPr id="60" name="Slide Number Placeholder 4"/>
          <p:cNvSpPr>
            <a:spLocks noGrp="1"/>
          </p:cNvSpPr>
          <p:nvPr>
            <p:ph type="sldNum" sz="quarter" idx="12"/>
          </p:nvPr>
        </p:nvSpPr>
        <p:spPr/>
        <p:txBody>
          <a:bodyPr/>
          <a:lstStyle/>
          <a:p>
            <a:fld id="{AFA3493E-F248-471D-B56F-352C8A56A1CB}" type="slidenum">
              <a:rPr lang="en-US" altLang="en-US"/>
              <a:pPr/>
              <a:t>28</a:t>
            </a:fld>
            <a:endParaRPr lang="en-US" altLang="en-US"/>
          </a:p>
        </p:txBody>
      </p:sp>
      <p:sp>
        <p:nvSpPr>
          <p:cNvPr id="104450" name="Rectangle 2"/>
          <p:cNvSpPr>
            <a:spLocks noGrp="1" noChangeArrowheads="1"/>
          </p:cNvSpPr>
          <p:nvPr>
            <p:ph type="title"/>
          </p:nvPr>
        </p:nvSpPr>
        <p:spPr>
          <a:xfrm>
            <a:off x="1600200" y="971550"/>
            <a:ext cx="5829300" cy="628650"/>
          </a:xfrm>
        </p:spPr>
        <p:txBody>
          <a:bodyPr/>
          <a:lstStyle/>
          <a:p>
            <a:r>
              <a:rPr lang="en-US" altLang="en-US">
                <a:solidFill>
                  <a:srgbClr val="800000"/>
                </a:solidFill>
                <a:latin typeface="Arial" panose="020B0604020202020204" pitchFamily="34" charset="0"/>
              </a:rPr>
              <a:t>Insert 49 (Cont)</a:t>
            </a:r>
          </a:p>
        </p:txBody>
      </p:sp>
      <p:sp>
        <p:nvSpPr>
          <p:cNvPr id="104451" name="AutoShape 3"/>
          <p:cNvSpPr>
            <a:spLocks noChangeArrowheads="1"/>
          </p:cNvSpPr>
          <p:nvPr/>
        </p:nvSpPr>
        <p:spPr bwMode="auto">
          <a:xfrm>
            <a:off x="2057400" y="314325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2" name="Rectangle 4"/>
          <p:cNvSpPr>
            <a:spLocks noChangeArrowheads="1"/>
          </p:cNvSpPr>
          <p:nvPr/>
        </p:nvSpPr>
        <p:spPr bwMode="auto">
          <a:xfrm>
            <a:off x="2228850" y="3257550"/>
            <a:ext cx="28084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3</a:t>
            </a:r>
            <a:endParaRPr lang="en-US" altLang="en-US" sz="1350">
              <a:latin typeface="Arial" panose="020B0604020202020204" pitchFamily="34" charset="0"/>
            </a:endParaRPr>
          </a:p>
        </p:txBody>
      </p:sp>
      <p:sp>
        <p:nvSpPr>
          <p:cNvPr id="104453" name="Rectangle 5"/>
          <p:cNvSpPr>
            <a:spLocks noChangeArrowheads="1"/>
          </p:cNvSpPr>
          <p:nvPr/>
        </p:nvSpPr>
        <p:spPr bwMode="auto">
          <a:xfrm>
            <a:off x="2628900" y="325755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10</a:t>
            </a:r>
          </a:p>
        </p:txBody>
      </p:sp>
      <p:sp>
        <p:nvSpPr>
          <p:cNvPr id="104454" name="Line 6"/>
          <p:cNvSpPr>
            <a:spLocks noChangeShapeType="1"/>
          </p:cNvSpPr>
          <p:nvPr/>
        </p:nvSpPr>
        <p:spPr bwMode="auto">
          <a:xfrm>
            <a:off x="22288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5" name="Line 7"/>
          <p:cNvSpPr>
            <a:spLocks noChangeShapeType="1"/>
          </p:cNvSpPr>
          <p:nvPr/>
        </p:nvSpPr>
        <p:spPr bwMode="auto">
          <a:xfrm>
            <a:off x="25146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6" name="Line 8"/>
          <p:cNvSpPr>
            <a:spLocks noChangeShapeType="1"/>
          </p:cNvSpPr>
          <p:nvPr/>
        </p:nvSpPr>
        <p:spPr bwMode="auto">
          <a:xfrm>
            <a:off x="26860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7" name="Line 9"/>
          <p:cNvSpPr>
            <a:spLocks noChangeShapeType="1"/>
          </p:cNvSpPr>
          <p:nvPr/>
        </p:nvSpPr>
        <p:spPr bwMode="auto">
          <a:xfrm>
            <a:off x="29718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8" name="Line 10"/>
          <p:cNvSpPr>
            <a:spLocks noChangeShapeType="1"/>
          </p:cNvSpPr>
          <p:nvPr/>
        </p:nvSpPr>
        <p:spPr bwMode="auto">
          <a:xfrm>
            <a:off x="34290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59" name="Line 11"/>
          <p:cNvSpPr>
            <a:spLocks noChangeShapeType="1"/>
          </p:cNvSpPr>
          <p:nvPr/>
        </p:nvSpPr>
        <p:spPr bwMode="auto">
          <a:xfrm>
            <a:off x="36004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0" name="Line 12"/>
          <p:cNvSpPr>
            <a:spLocks noChangeShapeType="1"/>
          </p:cNvSpPr>
          <p:nvPr/>
        </p:nvSpPr>
        <p:spPr bwMode="auto">
          <a:xfrm>
            <a:off x="38862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1" name="Line 13"/>
          <p:cNvSpPr>
            <a:spLocks noChangeShapeType="1"/>
          </p:cNvSpPr>
          <p:nvPr/>
        </p:nvSpPr>
        <p:spPr bwMode="auto">
          <a:xfrm>
            <a:off x="31432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2" name="Oval 14"/>
          <p:cNvSpPr>
            <a:spLocks noChangeArrowheads="1"/>
          </p:cNvSpPr>
          <p:nvPr/>
        </p:nvSpPr>
        <p:spPr bwMode="auto">
          <a:xfrm>
            <a:off x="205740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3" name="Line 15"/>
          <p:cNvSpPr>
            <a:spLocks noChangeShapeType="1"/>
          </p:cNvSpPr>
          <p:nvPr/>
        </p:nvSpPr>
        <p:spPr bwMode="auto">
          <a:xfrm>
            <a:off x="211455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4" name="Rectangle 16"/>
          <p:cNvSpPr>
            <a:spLocks noChangeArrowheads="1"/>
          </p:cNvSpPr>
          <p:nvPr/>
        </p:nvSpPr>
        <p:spPr bwMode="auto">
          <a:xfrm>
            <a:off x="205740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5" name="Oval 17"/>
          <p:cNvSpPr>
            <a:spLocks noChangeArrowheads="1"/>
          </p:cNvSpPr>
          <p:nvPr/>
        </p:nvSpPr>
        <p:spPr bwMode="auto">
          <a:xfrm>
            <a:off x="251460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6" name="Line 18"/>
          <p:cNvSpPr>
            <a:spLocks noChangeShapeType="1"/>
          </p:cNvSpPr>
          <p:nvPr/>
        </p:nvSpPr>
        <p:spPr bwMode="auto">
          <a:xfrm>
            <a:off x="257175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7" name="Rectangle 19"/>
          <p:cNvSpPr>
            <a:spLocks noChangeArrowheads="1"/>
          </p:cNvSpPr>
          <p:nvPr/>
        </p:nvSpPr>
        <p:spPr bwMode="auto">
          <a:xfrm>
            <a:off x="251460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8" name="Oval 20"/>
          <p:cNvSpPr>
            <a:spLocks noChangeArrowheads="1"/>
          </p:cNvSpPr>
          <p:nvPr/>
        </p:nvSpPr>
        <p:spPr bwMode="auto">
          <a:xfrm>
            <a:off x="302895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69" name="Line 21"/>
          <p:cNvSpPr>
            <a:spLocks noChangeShapeType="1"/>
          </p:cNvSpPr>
          <p:nvPr/>
        </p:nvSpPr>
        <p:spPr bwMode="auto">
          <a:xfrm>
            <a:off x="308610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0" name="Rectangle 22"/>
          <p:cNvSpPr>
            <a:spLocks noChangeArrowheads="1"/>
          </p:cNvSpPr>
          <p:nvPr/>
        </p:nvSpPr>
        <p:spPr bwMode="auto">
          <a:xfrm>
            <a:off x="302895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1" name="Text Box 23"/>
          <p:cNvSpPr txBox="1">
            <a:spLocks noChangeArrowheads="1"/>
          </p:cNvSpPr>
          <p:nvPr/>
        </p:nvSpPr>
        <p:spPr bwMode="auto">
          <a:xfrm>
            <a:off x="1543050" y="4286250"/>
            <a:ext cx="6229350" cy="6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350">
                <a:latin typeface="Arial" panose="020B0604020202020204" pitchFamily="34" charset="0"/>
              </a:rPr>
              <a:t>The middle key (12) is moved up into the root.</a:t>
            </a:r>
          </a:p>
          <a:p>
            <a:pPr>
              <a:spcBef>
                <a:spcPct val="50000"/>
              </a:spcBef>
            </a:pPr>
            <a:r>
              <a:rPr lang="en-US" altLang="en-US" sz="1350">
                <a:latin typeface="Arial" panose="020B0604020202020204" pitchFamily="34" charset="0"/>
              </a:rPr>
              <a:t>The result is a B-tree with one more level.</a:t>
            </a:r>
          </a:p>
        </p:txBody>
      </p:sp>
      <p:sp>
        <p:nvSpPr>
          <p:cNvPr id="104472" name="AutoShape 24"/>
          <p:cNvSpPr>
            <a:spLocks noChangeArrowheads="1"/>
          </p:cNvSpPr>
          <p:nvPr/>
        </p:nvSpPr>
        <p:spPr bwMode="auto">
          <a:xfrm>
            <a:off x="4743450" y="314325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3" name="Rectangle 25"/>
          <p:cNvSpPr>
            <a:spLocks noChangeArrowheads="1"/>
          </p:cNvSpPr>
          <p:nvPr/>
        </p:nvSpPr>
        <p:spPr bwMode="auto">
          <a:xfrm>
            <a:off x="4914900" y="325755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tx2"/>
                </a:solidFill>
                <a:latin typeface="Arial" panose="020B0604020202020204" pitchFamily="34" charset="0"/>
              </a:rPr>
              <a:t>27</a:t>
            </a:r>
            <a:endParaRPr lang="en-US" altLang="en-US" sz="1350">
              <a:latin typeface="Arial" panose="020B0604020202020204" pitchFamily="34" charset="0"/>
            </a:endParaRPr>
          </a:p>
        </p:txBody>
      </p:sp>
      <p:sp>
        <p:nvSpPr>
          <p:cNvPr id="104474" name="Rectangle 26"/>
          <p:cNvSpPr>
            <a:spLocks noChangeArrowheads="1"/>
          </p:cNvSpPr>
          <p:nvPr/>
        </p:nvSpPr>
        <p:spPr bwMode="auto">
          <a:xfrm>
            <a:off x="5314950" y="325755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latin typeface="Arial" panose="020B0604020202020204" pitchFamily="34" charset="0"/>
              </a:rPr>
              <a:t>49</a:t>
            </a:r>
          </a:p>
        </p:txBody>
      </p:sp>
      <p:sp>
        <p:nvSpPr>
          <p:cNvPr id="104475" name="Line 27"/>
          <p:cNvSpPr>
            <a:spLocks noChangeShapeType="1"/>
          </p:cNvSpPr>
          <p:nvPr/>
        </p:nvSpPr>
        <p:spPr bwMode="auto">
          <a:xfrm>
            <a:off x="49149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6" name="Line 28"/>
          <p:cNvSpPr>
            <a:spLocks noChangeShapeType="1"/>
          </p:cNvSpPr>
          <p:nvPr/>
        </p:nvSpPr>
        <p:spPr bwMode="auto">
          <a:xfrm>
            <a:off x="52006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7" name="Line 29"/>
          <p:cNvSpPr>
            <a:spLocks noChangeShapeType="1"/>
          </p:cNvSpPr>
          <p:nvPr/>
        </p:nvSpPr>
        <p:spPr bwMode="auto">
          <a:xfrm>
            <a:off x="53721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8" name="Line 30"/>
          <p:cNvSpPr>
            <a:spLocks noChangeShapeType="1"/>
          </p:cNvSpPr>
          <p:nvPr/>
        </p:nvSpPr>
        <p:spPr bwMode="auto">
          <a:xfrm>
            <a:off x="56578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79" name="Line 31"/>
          <p:cNvSpPr>
            <a:spLocks noChangeShapeType="1"/>
          </p:cNvSpPr>
          <p:nvPr/>
        </p:nvSpPr>
        <p:spPr bwMode="auto">
          <a:xfrm>
            <a:off x="61150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0" name="Line 32"/>
          <p:cNvSpPr>
            <a:spLocks noChangeShapeType="1"/>
          </p:cNvSpPr>
          <p:nvPr/>
        </p:nvSpPr>
        <p:spPr bwMode="auto">
          <a:xfrm>
            <a:off x="62865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1" name="Line 33"/>
          <p:cNvSpPr>
            <a:spLocks noChangeShapeType="1"/>
          </p:cNvSpPr>
          <p:nvPr/>
        </p:nvSpPr>
        <p:spPr bwMode="auto">
          <a:xfrm>
            <a:off x="657225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2" name="Line 34"/>
          <p:cNvSpPr>
            <a:spLocks noChangeShapeType="1"/>
          </p:cNvSpPr>
          <p:nvPr/>
        </p:nvSpPr>
        <p:spPr bwMode="auto">
          <a:xfrm>
            <a:off x="5829300" y="31432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4" name="Oval 36"/>
          <p:cNvSpPr>
            <a:spLocks noChangeArrowheads="1"/>
          </p:cNvSpPr>
          <p:nvPr/>
        </p:nvSpPr>
        <p:spPr bwMode="auto">
          <a:xfrm>
            <a:off x="474345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5" name="Line 37"/>
          <p:cNvSpPr>
            <a:spLocks noChangeShapeType="1"/>
          </p:cNvSpPr>
          <p:nvPr/>
        </p:nvSpPr>
        <p:spPr bwMode="auto">
          <a:xfrm>
            <a:off x="480060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6" name="Rectangle 38"/>
          <p:cNvSpPr>
            <a:spLocks noChangeArrowheads="1"/>
          </p:cNvSpPr>
          <p:nvPr/>
        </p:nvSpPr>
        <p:spPr bwMode="auto">
          <a:xfrm>
            <a:off x="474345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7" name="Oval 39"/>
          <p:cNvSpPr>
            <a:spLocks noChangeArrowheads="1"/>
          </p:cNvSpPr>
          <p:nvPr/>
        </p:nvSpPr>
        <p:spPr bwMode="auto">
          <a:xfrm>
            <a:off x="520065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8" name="Line 40"/>
          <p:cNvSpPr>
            <a:spLocks noChangeShapeType="1"/>
          </p:cNvSpPr>
          <p:nvPr/>
        </p:nvSpPr>
        <p:spPr bwMode="auto">
          <a:xfrm>
            <a:off x="525780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89" name="Rectangle 41"/>
          <p:cNvSpPr>
            <a:spLocks noChangeArrowheads="1"/>
          </p:cNvSpPr>
          <p:nvPr/>
        </p:nvSpPr>
        <p:spPr bwMode="auto">
          <a:xfrm>
            <a:off x="520065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90" name="Oval 42"/>
          <p:cNvSpPr>
            <a:spLocks noChangeArrowheads="1"/>
          </p:cNvSpPr>
          <p:nvPr/>
        </p:nvSpPr>
        <p:spPr bwMode="auto">
          <a:xfrm>
            <a:off x="5715000" y="337185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91" name="Line 43"/>
          <p:cNvSpPr>
            <a:spLocks noChangeShapeType="1"/>
          </p:cNvSpPr>
          <p:nvPr/>
        </p:nvSpPr>
        <p:spPr bwMode="auto">
          <a:xfrm>
            <a:off x="5772150" y="3429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92" name="Rectangle 44"/>
          <p:cNvSpPr>
            <a:spLocks noChangeArrowheads="1"/>
          </p:cNvSpPr>
          <p:nvPr/>
        </p:nvSpPr>
        <p:spPr bwMode="auto">
          <a:xfrm>
            <a:off x="5715000" y="3771900"/>
            <a:ext cx="171450" cy="1714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96" name="AutoShape 48"/>
          <p:cNvSpPr>
            <a:spLocks noChangeArrowheads="1"/>
          </p:cNvSpPr>
          <p:nvPr/>
        </p:nvSpPr>
        <p:spPr bwMode="auto">
          <a:xfrm>
            <a:off x="3371850" y="1943100"/>
            <a:ext cx="2000250" cy="51435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497" name="Rectangle 49"/>
          <p:cNvSpPr>
            <a:spLocks noChangeArrowheads="1"/>
          </p:cNvSpPr>
          <p:nvPr/>
        </p:nvSpPr>
        <p:spPr bwMode="auto">
          <a:xfrm>
            <a:off x="3543300" y="2057400"/>
            <a:ext cx="37702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350">
                <a:solidFill>
                  <a:schemeClr val="accent2"/>
                </a:solidFill>
                <a:latin typeface="Arial" panose="020B0604020202020204" pitchFamily="34" charset="0"/>
              </a:rPr>
              <a:t>12</a:t>
            </a:r>
            <a:endParaRPr lang="en-US" altLang="en-US" sz="1350">
              <a:latin typeface="Arial" panose="020B0604020202020204" pitchFamily="34" charset="0"/>
            </a:endParaRPr>
          </a:p>
        </p:txBody>
      </p:sp>
      <p:sp>
        <p:nvSpPr>
          <p:cNvPr id="104499" name="Line 51"/>
          <p:cNvSpPr>
            <a:spLocks noChangeShapeType="1"/>
          </p:cNvSpPr>
          <p:nvPr/>
        </p:nvSpPr>
        <p:spPr bwMode="auto">
          <a:xfrm>
            <a:off x="354330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0" name="Line 52"/>
          <p:cNvSpPr>
            <a:spLocks noChangeShapeType="1"/>
          </p:cNvSpPr>
          <p:nvPr/>
        </p:nvSpPr>
        <p:spPr bwMode="auto">
          <a:xfrm>
            <a:off x="382905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1" name="Line 53"/>
          <p:cNvSpPr>
            <a:spLocks noChangeShapeType="1"/>
          </p:cNvSpPr>
          <p:nvPr/>
        </p:nvSpPr>
        <p:spPr bwMode="auto">
          <a:xfrm>
            <a:off x="400050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2" name="Line 54"/>
          <p:cNvSpPr>
            <a:spLocks noChangeShapeType="1"/>
          </p:cNvSpPr>
          <p:nvPr/>
        </p:nvSpPr>
        <p:spPr bwMode="auto">
          <a:xfrm>
            <a:off x="428625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3" name="Line 55"/>
          <p:cNvSpPr>
            <a:spLocks noChangeShapeType="1"/>
          </p:cNvSpPr>
          <p:nvPr/>
        </p:nvSpPr>
        <p:spPr bwMode="auto">
          <a:xfrm>
            <a:off x="474345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4" name="Line 56"/>
          <p:cNvSpPr>
            <a:spLocks noChangeShapeType="1"/>
          </p:cNvSpPr>
          <p:nvPr/>
        </p:nvSpPr>
        <p:spPr bwMode="auto">
          <a:xfrm>
            <a:off x="491490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5" name="Line 57"/>
          <p:cNvSpPr>
            <a:spLocks noChangeShapeType="1"/>
          </p:cNvSpPr>
          <p:nvPr/>
        </p:nvSpPr>
        <p:spPr bwMode="auto">
          <a:xfrm>
            <a:off x="520065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06" name="Line 58"/>
          <p:cNvSpPr>
            <a:spLocks noChangeShapeType="1"/>
          </p:cNvSpPr>
          <p:nvPr/>
        </p:nvSpPr>
        <p:spPr bwMode="auto">
          <a:xfrm>
            <a:off x="4457700" y="194310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24" name="Oval 76"/>
          <p:cNvSpPr>
            <a:spLocks noChangeArrowheads="1"/>
          </p:cNvSpPr>
          <p:nvPr/>
        </p:nvSpPr>
        <p:spPr bwMode="auto">
          <a:xfrm>
            <a:off x="3371850" y="2171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25" name="Line 77"/>
          <p:cNvSpPr>
            <a:spLocks noChangeShapeType="1"/>
          </p:cNvSpPr>
          <p:nvPr/>
        </p:nvSpPr>
        <p:spPr bwMode="auto">
          <a:xfrm flipH="1">
            <a:off x="3028950" y="2228850"/>
            <a:ext cx="40005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26" name="Oval 78"/>
          <p:cNvSpPr>
            <a:spLocks noChangeArrowheads="1"/>
          </p:cNvSpPr>
          <p:nvPr/>
        </p:nvSpPr>
        <p:spPr bwMode="auto">
          <a:xfrm>
            <a:off x="3886200" y="2171700"/>
            <a:ext cx="114300" cy="1143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04527" name="Line 79"/>
          <p:cNvSpPr>
            <a:spLocks noChangeShapeType="1"/>
          </p:cNvSpPr>
          <p:nvPr/>
        </p:nvSpPr>
        <p:spPr bwMode="auto">
          <a:xfrm>
            <a:off x="3943350" y="2228850"/>
            <a:ext cx="16002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37022960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273239"/>
                </a:solidFill>
                <a:latin typeface="Nunito"/>
              </a:rPr>
              <a:t>Traversal in B-Tree: </a:t>
            </a:r>
            <a:br>
              <a:rPr lang="en-US" b="1" dirty="0">
                <a:solidFill>
                  <a:srgbClr val="273239"/>
                </a:solidFill>
                <a:latin typeface="Nunito"/>
              </a:rPr>
            </a:br>
            <a:endParaRPr lang="en-US" dirty="0"/>
          </a:p>
        </p:txBody>
      </p:sp>
      <p:sp>
        <p:nvSpPr>
          <p:cNvPr id="3" name="Rectangle 2"/>
          <p:cNvSpPr/>
          <p:nvPr/>
        </p:nvSpPr>
        <p:spPr>
          <a:xfrm>
            <a:off x="457200" y="2413338"/>
            <a:ext cx="7620000" cy="1200329"/>
          </a:xfrm>
          <a:prstGeom prst="rect">
            <a:avLst/>
          </a:prstGeom>
        </p:spPr>
        <p:txBody>
          <a:bodyPr wrap="square">
            <a:spAutoFit/>
          </a:bodyPr>
          <a:lstStyle/>
          <a:p>
            <a:pPr algn="just" fontAlgn="base"/>
            <a:r>
              <a:rPr lang="en-US" dirty="0" smtClean="0">
                <a:solidFill>
                  <a:srgbClr val="273239"/>
                </a:solidFill>
                <a:latin typeface="Nunito"/>
              </a:rPr>
              <a:t>Traversal </a:t>
            </a:r>
            <a:r>
              <a:rPr lang="en-US" dirty="0">
                <a:solidFill>
                  <a:srgbClr val="273239"/>
                </a:solidFill>
                <a:latin typeface="Nunito"/>
              </a:rPr>
              <a:t>is also similar to </a:t>
            </a:r>
            <a:r>
              <a:rPr lang="en-US" dirty="0" err="1">
                <a:solidFill>
                  <a:srgbClr val="273239"/>
                </a:solidFill>
                <a:latin typeface="Nunito"/>
              </a:rPr>
              <a:t>Inorder</a:t>
            </a:r>
            <a:r>
              <a:rPr lang="en-US" dirty="0">
                <a:solidFill>
                  <a:srgbClr val="273239"/>
                </a:solidFill>
                <a:latin typeface="Nunito"/>
              </a:rPr>
              <a:t> traversal of Binary Tree. We start from the leftmost child, recursively print the leftmost child, then repeat the same process for the remaining children and keys. In the end, recursively print the rightmost child. </a:t>
            </a:r>
            <a:endParaRPr lang="en-US" b="0" i="0" dirty="0">
              <a:solidFill>
                <a:srgbClr val="273239"/>
              </a:solidFill>
              <a:effectLst/>
              <a:latin typeface="Nunito"/>
            </a:endParaRPr>
          </a:p>
        </p:txBody>
      </p:sp>
    </p:spTree>
    <p:extLst>
      <p:ext uri="{BB962C8B-B14F-4D97-AF65-F5344CB8AC3E}">
        <p14:creationId xmlns:p14="http://schemas.microsoft.com/office/powerpoint/2010/main" val="42049613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r>
              <a:rPr lang="en-US" altLang="en-US"/>
              <a:t>CSE 373   -- AU 2004 -- B-Trees</a:t>
            </a:r>
          </a:p>
        </p:txBody>
      </p:sp>
      <p:sp>
        <p:nvSpPr>
          <p:cNvPr id="6" name="Slide Number Placeholder 4"/>
          <p:cNvSpPr>
            <a:spLocks noGrp="1"/>
          </p:cNvSpPr>
          <p:nvPr>
            <p:ph type="sldNum" sz="quarter" idx="12"/>
          </p:nvPr>
        </p:nvSpPr>
        <p:spPr/>
        <p:txBody>
          <a:bodyPr/>
          <a:lstStyle/>
          <a:p>
            <a:fld id="{13B09F77-08D2-43B4-8274-2880925F7ACF}" type="slidenum">
              <a:rPr lang="en-US" altLang="en-US"/>
              <a:pPr/>
              <a:t>30</a:t>
            </a:fld>
            <a:endParaRPr lang="en-US" altLang="en-US"/>
          </a:p>
        </p:txBody>
      </p:sp>
      <p:sp>
        <p:nvSpPr>
          <p:cNvPr id="108546" name="Rectangle 2"/>
          <p:cNvSpPr>
            <a:spLocks noGrp="1" noChangeArrowheads="1"/>
          </p:cNvSpPr>
          <p:nvPr>
            <p:ph type="title"/>
          </p:nvPr>
        </p:nvSpPr>
        <p:spPr>
          <a:xfrm>
            <a:off x="1600200" y="1314450"/>
            <a:ext cx="5829300" cy="628650"/>
          </a:xfrm>
        </p:spPr>
        <p:txBody>
          <a:bodyPr/>
          <a:lstStyle/>
          <a:p>
            <a:r>
              <a:rPr lang="en-US" altLang="en-US">
                <a:solidFill>
                  <a:srgbClr val="800000"/>
                </a:solidFill>
                <a:latin typeface="Arial" panose="020B0604020202020204" pitchFamily="34" charset="0"/>
              </a:rPr>
              <a:t>2-3 Trees</a:t>
            </a:r>
          </a:p>
        </p:txBody>
      </p:sp>
      <p:sp>
        <p:nvSpPr>
          <p:cNvPr id="108547" name="Text Box 3"/>
          <p:cNvSpPr txBox="1">
            <a:spLocks noChangeArrowheads="1"/>
          </p:cNvSpPr>
          <p:nvPr/>
        </p:nvSpPr>
        <p:spPr bwMode="auto">
          <a:xfrm>
            <a:off x="1771650" y="2228851"/>
            <a:ext cx="5600700"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100">
                <a:latin typeface="Arial" panose="020B0604020202020204" pitchFamily="34" charset="0"/>
              </a:rPr>
              <a:t>A  B-tree of order </a:t>
            </a:r>
            <a:r>
              <a:rPr lang="en-US" altLang="en-US" sz="2100" i="1">
                <a:latin typeface="Arial" panose="020B0604020202020204" pitchFamily="34" charset="0"/>
              </a:rPr>
              <a:t>m</a:t>
            </a:r>
            <a:r>
              <a:rPr lang="en-US" altLang="en-US" sz="2100">
                <a:latin typeface="Arial" panose="020B0604020202020204" pitchFamily="34" charset="0"/>
              </a:rPr>
              <a:t> is a kind of </a:t>
            </a:r>
            <a:r>
              <a:rPr lang="en-US" altLang="en-US" sz="2100" i="1">
                <a:latin typeface="Arial" panose="020B0604020202020204" pitchFamily="34" charset="0"/>
              </a:rPr>
              <a:t>m</a:t>
            </a:r>
            <a:r>
              <a:rPr lang="en-US" altLang="en-US" sz="2100">
                <a:latin typeface="Arial" panose="020B0604020202020204" pitchFamily="34" charset="0"/>
              </a:rPr>
              <a:t>-way search tree.</a:t>
            </a:r>
          </a:p>
          <a:p>
            <a:pPr>
              <a:spcBef>
                <a:spcPct val="50000"/>
              </a:spcBef>
            </a:pPr>
            <a:r>
              <a:rPr lang="en-US" altLang="en-US" sz="2100">
                <a:latin typeface="Arial" panose="020B0604020202020204" pitchFamily="34" charset="0"/>
              </a:rPr>
              <a:t>A  B-Tree of order 3 is called a </a:t>
            </a:r>
            <a:r>
              <a:rPr lang="en-US" altLang="en-US" sz="2100">
                <a:solidFill>
                  <a:srgbClr val="CC6600"/>
                </a:solidFill>
                <a:latin typeface="Arial" panose="020B0604020202020204" pitchFamily="34" charset="0"/>
              </a:rPr>
              <a:t>2-3 Tree</a:t>
            </a:r>
            <a:r>
              <a:rPr lang="en-US" altLang="en-US" sz="2100">
                <a:latin typeface="Arial" panose="020B0604020202020204" pitchFamily="34" charset="0"/>
              </a:rPr>
              <a:t>.</a:t>
            </a:r>
          </a:p>
          <a:p>
            <a:pPr>
              <a:spcBef>
                <a:spcPct val="50000"/>
              </a:spcBef>
            </a:pPr>
            <a:r>
              <a:rPr lang="en-US" altLang="en-US" sz="2100">
                <a:latin typeface="Arial" panose="020B0604020202020204" pitchFamily="34" charset="0"/>
              </a:rPr>
              <a:t>In a 2-3 tree, each internal node has either 2 or 3 children.</a:t>
            </a:r>
          </a:p>
          <a:p>
            <a:pPr>
              <a:spcBef>
                <a:spcPct val="50000"/>
              </a:spcBef>
            </a:pPr>
            <a:r>
              <a:rPr lang="en-US" altLang="en-US" sz="2100">
                <a:latin typeface="Arial" panose="020B0604020202020204" pitchFamily="34" charset="0"/>
              </a:rPr>
              <a:t>In practical applications, however, B-Trees of large order (e.g., </a:t>
            </a:r>
            <a:r>
              <a:rPr lang="en-US" altLang="en-US" sz="2100" i="1">
                <a:latin typeface="Arial" panose="020B0604020202020204" pitchFamily="34" charset="0"/>
              </a:rPr>
              <a:t>m</a:t>
            </a:r>
            <a:r>
              <a:rPr lang="en-US" altLang="en-US" sz="2100">
                <a:latin typeface="Arial" panose="020B0604020202020204" pitchFamily="34" charset="0"/>
              </a:rPr>
              <a:t> = 128) are more common than low-order B-Trees such as 2-3 trees.</a:t>
            </a:r>
          </a:p>
          <a:p>
            <a:pPr>
              <a:spcBef>
                <a:spcPct val="50000"/>
              </a:spcBef>
            </a:pPr>
            <a:endParaRPr lang="en-US" altLang="en-US" sz="2100">
              <a:latin typeface="Arial" panose="020B0604020202020204" pitchFamily="34" charset="0"/>
            </a:endParaRPr>
          </a:p>
        </p:txBody>
      </p:sp>
    </p:spTree>
    <p:extLst>
      <p:ext uri="{BB962C8B-B14F-4D97-AF65-F5344CB8AC3E}">
        <p14:creationId xmlns:p14="http://schemas.microsoft.com/office/powerpoint/2010/main" val="3815338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35033"/>
            <a:ext cx="7239000" cy="3587934"/>
          </a:xfrm>
          <a:prstGeom prst="rect">
            <a:avLst/>
          </a:prstGeom>
        </p:spPr>
      </p:pic>
    </p:spTree>
    <p:extLst>
      <p:ext uri="{BB962C8B-B14F-4D97-AF65-F5344CB8AC3E}">
        <p14:creationId xmlns:p14="http://schemas.microsoft.com/office/powerpoint/2010/main" val="32591939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Interesting facts about B-Tree</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701710"/>
            <a:ext cx="7162800" cy="4318089"/>
          </a:xfrm>
          <a:prstGeom prst="rect">
            <a:avLst/>
          </a:prstGeom>
        </p:spPr>
      </p:pic>
    </p:spTree>
    <p:extLst>
      <p:ext uri="{BB962C8B-B14F-4D97-AF65-F5344CB8AC3E}">
        <p14:creationId xmlns:p14="http://schemas.microsoft.com/office/powerpoint/2010/main" val="28345922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11042</TotalTime>
  <Words>1422</Words>
  <Application>Microsoft Office PowerPoint</Application>
  <PresentationFormat>On-screen Show (4:3)</PresentationFormat>
  <Paragraphs>223</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Century Schoolbook</vt:lpstr>
      <vt:lpstr>Nunito</vt:lpstr>
      <vt:lpstr>Symbol</vt:lpstr>
      <vt:lpstr>Times New Roman</vt:lpstr>
      <vt:lpstr>Wingdings</vt:lpstr>
      <vt:lpstr>Wingdings 2</vt:lpstr>
      <vt:lpstr>Oriel</vt:lpstr>
      <vt:lpstr>B-Tree</vt:lpstr>
      <vt:lpstr>B-Tree</vt:lpstr>
      <vt:lpstr>B-Tree</vt:lpstr>
      <vt:lpstr>Properties of B-Tree</vt:lpstr>
      <vt:lpstr>Example</vt:lpstr>
      <vt:lpstr>Insertion in B-Tree</vt:lpstr>
      <vt:lpstr>Insertion in B-Tree</vt:lpstr>
      <vt:lpstr>PowerPoint Presentation</vt:lpstr>
      <vt:lpstr>PowerPoint Presentation</vt:lpstr>
      <vt:lpstr>PowerPoint Presentation</vt:lpstr>
      <vt:lpstr>Deletion in B-Tree</vt:lpstr>
      <vt:lpstr>Examples</vt:lpstr>
      <vt:lpstr>B-Tree Example with m = 5</vt:lpstr>
      <vt:lpstr>Insert 10</vt:lpstr>
      <vt:lpstr>Insert 11</vt:lpstr>
      <vt:lpstr>Insert 11 (Continued)</vt:lpstr>
      <vt:lpstr>Remove 8</vt:lpstr>
      <vt:lpstr>Remove 8 (Continued)</vt:lpstr>
      <vt:lpstr>Remove 13</vt:lpstr>
      <vt:lpstr>Remove 13 (Cont)</vt:lpstr>
      <vt:lpstr>Remove 11</vt:lpstr>
      <vt:lpstr>Remove 11 (Cont)</vt:lpstr>
      <vt:lpstr>Remove 2</vt:lpstr>
      <vt:lpstr>Remove 2 (Cont)</vt:lpstr>
      <vt:lpstr>Remove 2 (Cont)</vt:lpstr>
      <vt:lpstr>Insert 49</vt:lpstr>
      <vt:lpstr>Insert 49 (Cont)</vt:lpstr>
      <vt:lpstr>Insert 49 (Cont)</vt:lpstr>
      <vt:lpstr>Traversal in B-Tree:  </vt:lpstr>
      <vt:lpstr>2-3 Trees</vt:lpstr>
      <vt:lpstr>PowerPoint Presentation</vt:lpstr>
      <vt:lpstr>Interesting facts about B-Tree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AVL TREE</dc:title>
  <dc:creator>Shahina Anwarul</dc:creator>
  <cp:lastModifiedBy>Shahina Anwarul</cp:lastModifiedBy>
  <cp:revision>60</cp:revision>
  <dcterms:created xsi:type="dcterms:W3CDTF">2018-04-08T10:17:27Z</dcterms:created>
  <dcterms:modified xsi:type="dcterms:W3CDTF">2026-04-13T06:07:49Z</dcterms:modified>
</cp:coreProperties>
</file>