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9"/>
  </p:notesMasterIdLst>
  <p:sldIdLst>
    <p:sldId id="256" r:id="rId2"/>
    <p:sldId id="262" r:id="rId3"/>
    <p:sldId id="263" r:id="rId4"/>
    <p:sldId id="264" r:id="rId5"/>
    <p:sldId id="265" r:id="rId6"/>
    <p:sldId id="266" r:id="rId7"/>
    <p:sldId id="267" r:id="rId8"/>
    <p:sldId id="259" r:id="rId9"/>
    <p:sldId id="260" r:id="rId10"/>
    <p:sldId id="261" r:id="rId11"/>
    <p:sldId id="269" r:id="rId12"/>
    <p:sldId id="286" r:id="rId13"/>
    <p:sldId id="270" r:id="rId14"/>
    <p:sldId id="277" r:id="rId15"/>
    <p:sldId id="287" r:id="rId16"/>
    <p:sldId id="290" r:id="rId17"/>
    <p:sldId id="289" r:id="rId18"/>
    <p:sldId id="288" r:id="rId19"/>
    <p:sldId id="291" r:id="rId20"/>
    <p:sldId id="292" r:id="rId21"/>
    <p:sldId id="294" r:id="rId22"/>
    <p:sldId id="303" r:id="rId23"/>
    <p:sldId id="298" r:id="rId24"/>
    <p:sldId id="297" r:id="rId25"/>
    <p:sldId id="296" r:id="rId26"/>
    <p:sldId id="295" r:id="rId27"/>
    <p:sldId id="302" r:id="rId28"/>
    <p:sldId id="301" r:id="rId29"/>
    <p:sldId id="300" r:id="rId30"/>
    <p:sldId id="299" r:id="rId31"/>
    <p:sldId id="306" r:id="rId32"/>
    <p:sldId id="305" r:id="rId33"/>
    <p:sldId id="304" r:id="rId34"/>
    <p:sldId id="307" r:id="rId35"/>
    <p:sldId id="308" r:id="rId36"/>
    <p:sldId id="271" r:id="rId37"/>
    <p:sldId id="283" r:id="rId38"/>
    <p:sldId id="284" r:id="rId39"/>
    <p:sldId id="337" r:id="rId40"/>
    <p:sldId id="338" r:id="rId41"/>
    <p:sldId id="339" r:id="rId42"/>
    <p:sldId id="340" r:id="rId43"/>
    <p:sldId id="341" r:id="rId44"/>
    <p:sldId id="342" r:id="rId45"/>
    <p:sldId id="343" r:id="rId46"/>
    <p:sldId id="344" r:id="rId47"/>
    <p:sldId id="345" r:id="rId48"/>
    <p:sldId id="346" r:id="rId49"/>
    <p:sldId id="285" r:id="rId50"/>
    <p:sldId id="348" r:id="rId51"/>
    <p:sldId id="349" r:id="rId52"/>
    <p:sldId id="350" r:id="rId53"/>
    <p:sldId id="351" r:id="rId54"/>
    <p:sldId id="352" r:id="rId55"/>
    <p:sldId id="310" r:id="rId56"/>
    <p:sldId id="311" r:id="rId57"/>
    <p:sldId id="312" r:id="rId58"/>
    <p:sldId id="313" r:id="rId59"/>
    <p:sldId id="314" r:id="rId60"/>
    <p:sldId id="316" r:id="rId61"/>
    <p:sldId id="355" r:id="rId62"/>
    <p:sldId id="356" r:id="rId63"/>
    <p:sldId id="357" r:id="rId64"/>
    <p:sldId id="358" r:id="rId65"/>
    <p:sldId id="359" r:id="rId66"/>
    <p:sldId id="321" r:id="rId67"/>
    <p:sldId id="317" r:id="rId68"/>
    <p:sldId id="320" r:id="rId69"/>
    <p:sldId id="318" r:id="rId70"/>
    <p:sldId id="319" r:id="rId71"/>
    <p:sldId id="323" r:id="rId72"/>
    <p:sldId id="324" r:id="rId73"/>
    <p:sldId id="322" r:id="rId74"/>
    <p:sldId id="325" r:id="rId75"/>
    <p:sldId id="333" r:id="rId76"/>
    <p:sldId id="347" r:id="rId77"/>
    <p:sldId id="334" r:id="rId78"/>
    <p:sldId id="332" r:id="rId79"/>
    <p:sldId id="354" r:id="rId80"/>
    <p:sldId id="335" r:id="rId81"/>
    <p:sldId id="336" r:id="rId82"/>
    <p:sldId id="360" r:id="rId83"/>
    <p:sldId id="361" r:id="rId84"/>
    <p:sldId id="362" r:id="rId85"/>
    <p:sldId id="363" r:id="rId86"/>
    <p:sldId id="364" r:id="rId87"/>
    <p:sldId id="365" r:id="rId8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0221" autoAdjust="0"/>
    <p:restoredTop sz="93800" autoAdjust="0"/>
  </p:normalViewPr>
  <p:slideViewPr>
    <p:cSldViewPr snapToGrid="0">
      <p:cViewPr varScale="1">
        <p:scale>
          <a:sx n="67" d="100"/>
          <a:sy n="67" d="100"/>
        </p:scale>
        <p:origin x="60" y="6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2.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0.wmf"/><Relationship Id="rId1" Type="http://schemas.openxmlformats.org/officeDocument/2006/relationships/image" Target="../media/image5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4A91EB-9D04-4B2B-A8EC-C26057F35368}"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EAF083-6659-4761-8DBD-F9B281D98BC7}" type="slidenum">
              <a:rPr lang="en-US" smtClean="0"/>
              <a:t>‹#›</a:t>
            </a:fld>
            <a:endParaRPr lang="en-US"/>
          </a:p>
        </p:txBody>
      </p:sp>
    </p:spTree>
    <p:extLst>
      <p:ext uri="{BB962C8B-B14F-4D97-AF65-F5344CB8AC3E}">
        <p14:creationId xmlns:p14="http://schemas.microsoft.com/office/powerpoint/2010/main" val="250341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https://www.w3resource.com/c-programming-exercises/linked_list/index.php</a:t>
            </a:r>
          </a:p>
          <a:p>
            <a:r>
              <a:rPr lang="en-US"/>
              <a:t>http://www.ggu.ac.in/download/IT/Inf%20Tech%20Pankaj%20Chandra%20B%20Tech%20%20IV%20Data%20Structure%20-%20Model%20Answer.pdf</a:t>
            </a:r>
          </a:p>
          <a:p>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1</a:t>
            </a:fld>
            <a:endParaRPr lang="en-US"/>
          </a:p>
        </p:txBody>
      </p:sp>
    </p:spTree>
    <p:extLst>
      <p:ext uri="{BB962C8B-B14F-4D97-AF65-F5344CB8AC3E}">
        <p14:creationId xmlns:p14="http://schemas.microsoft.com/office/powerpoint/2010/main" val="1396563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https://www.youtube.com/watch?v=_8-ht2AKyH4</a:t>
            </a:r>
          </a:p>
        </p:txBody>
      </p:sp>
      <p:sp>
        <p:nvSpPr>
          <p:cNvPr id="4" name="Slide Number Placeholder 3"/>
          <p:cNvSpPr>
            <a:spLocks noGrp="1"/>
          </p:cNvSpPr>
          <p:nvPr>
            <p:ph type="sldNum" sz="quarter" idx="10"/>
          </p:nvPr>
        </p:nvSpPr>
        <p:spPr/>
        <p:txBody>
          <a:bodyPr/>
          <a:lstStyle/>
          <a:p>
            <a:fld id="{B0EAF083-6659-4761-8DBD-F9B281D98BC7}" type="slidenum">
              <a:rPr lang="en-US" smtClean="0"/>
              <a:t>2</a:t>
            </a:fld>
            <a:endParaRPr lang="en-US"/>
          </a:p>
        </p:txBody>
      </p:sp>
    </p:spTree>
    <p:extLst>
      <p:ext uri="{BB962C8B-B14F-4D97-AF65-F5344CB8AC3E}">
        <p14:creationId xmlns:p14="http://schemas.microsoft.com/office/powerpoint/2010/main" val="1604260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n w="0"/>
                <a:solidFill>
                  <a:schemeClr val="tx1"/>
                </a:solidFill>
                <a:effectLst>
                  <a:outerShdw blurRad="38100" dist="19050" dir="2700000" algn="tl" rotWithShape="0">
                    <a:schemeClr val="dk1">
                      <a:alpha val="40000"/>
                    </a:schemeClr>
                  </a:outerShdw>
                </a:effectLst>
              </a:rPr>
              <a:t>We should assign a variable global only if is needed at multiple places in multiple functions and needed for whole lifetime of the program otherwise it is just waste of memory</a:t>
            </a:r>
          </a:p>
          <a:p>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4</a:t>
            </a:fld>
            <a:endParaRPr lang="en-US"/>
          </a:p>
        </p:txBody>
      </p:sp>
    </p:spTree>
    <p:extLst>
      <p:ext uri="{BB962C8B-B14F-4D97-AF65-F5344CB8AC3E}">
        <p14:creationId xmlns:p14="http://schemas.microsoft.com/office/powerpoint/2010/main" val="41377320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36</a:t>
            </a:fld>
            <a:endParaRPr lang="en-US"/>
          </a:p>
        </p:txBody>
      </p:sp>
    </p:spTree>
    <p:extLst>
      <p:ext uri="{BB962C8B-B14F-4D97-AF65-F5344CB8AC3E}">
        <p14:creationId xmlns:p14="http://schemas.microsoft.com/office/powerpoint/2010/main" val="246050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3/5/2026</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931260"/>
          </a:xfrm>
        </p:spPr>
        <p:txBody>
          <a:bodyPr/>
          <a:lstStyle/>
          <a:p>
            <a:r>
              <a:rPr lang="en-US" dirty="0"/>
              <a:t>Click to edit Master title style</a:t>
            </a:r>
          </a:p>
        </p:txBody>
      </p:sp>
      <p:sp>
        <p:nvSpPr>
          <p:cNvPr id="3" name="Content Placeholder 2"/>
          <p:cNvSpPr>
            <a:spLocks noGrp="1"/>
          </p:cNvSpPr>
          <p:nvPr>
            <p:ph idx="1"/>
          </p:nvPr>
        </p:nvSpPr>
        <p:spPr>
          <a:xfrm>
            <a:off x="1251678" y="1506829"/>
            <a:ext cx="10178322" cy="5214646"/>
          </a:xfrm>
        </p:spPr>
        <p:txBody>
          <a:bodyPr>
            <a:normAutofit/>
          </a:bodyPr>
          <a:lstStyle>
            <a:lvl1pPr>
              <a:defRPr sz="1800">
                <a:latin typeface="Georgia" panose="02040502050405020303" pitchFamily="18" charset="0"/>
              </a:defRPr>
            </a:lvl1pPr>
            <a:lvl2pPr>
              <a:defRPr sz="1800">
                <a:latin typeface="Georgia" panose="02040502050405020303" pitchFamily="18" charset="0"/>
              </a:defRPr>
            </a:lvl2pPr>
            <a:lvl3pPr>
              <a:defRPr sz="1800">
                <a:latin typeface="Georgia" panose="02040502050405020303" pitchFamily="18" charset="0"/>
              </a:defRPr>
            </a:lvl3pPr>
            <a:lvl4pPr>
              <a:defRPr sz="1800">
                <a:latin typeface="Georgia" panose="02040502050405020303" pitchFamily="18" charset="0"/>
              </a:defRPr>
            </a:lvl4pPr>
            <a:lvl5pPr>
              <a:defRPr sz="1800">
                <a:latin typeface="Georgia" panose="02040502050405020303"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3/5/2026</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3/5/2026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3/5/2026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3/5/2026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3/5/2026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3/5/2026</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3/5/2026</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2024</a:t>
            </a:r>
          </a:p>
        </p:txBody>
      </p:sp>
      <p:sp>
        <p:nvSpPr>
          <p:cNvPr id="3" name="Footer Placeholder 2"/>
          <p:cNvSpPr>
            <a:spLocks noGrp="1"/>
          </p:cNvSpPr>
          <p:nvPr>
            <p:ph type="ftr" sz="quarter" idx="11"/>
          </p:nvPr>
        </p:nvSpPr>
        <p:spPr/>
        <p:txBody>
          <a:bodyPr/>
          <a:lstStyle/>
          <a:p>
            <a:r>
              <a:rPr lang="en-US"/>
              <a:t>Data Structures and Algorithms</a:t>
            </a:r>
          </a:p>
        </p:txBody>
      </p:sp>
      <p:sp>
        <p:nvSpPr>
          <p:cNvPr id="4" name="Slide Number Placeholder 3"/>
          <p:cNvSpPr>
            <a:spLocks noGrp="1"/>
          </p:cNvSpPr>
          <p:nvPr>
            <p:ph type="sldNum" sz="quarter" idx="12"/>
          </p:nvPr>
        </p:nvSpPr>
        <p:spPr/>
        <p:txBody>
          <a:bodyPr/>
          <a:lstStyle/>
          <a:p>
            <a:fld id="{EB1023CF-B329-E444-9BAC-9F50F1C2498A}" type="slidenum">
              <a:rPr lang="en-US" smtClean="0"/>
              <a:pPr/>
              <a:t>‹#›</a:t>
            </a:fld>
            <a:endParaRPr lang="en-US"/>
          </a:p>
        </p:txBody>
      </p:sp>
      <p:sp>
        <p:nvSpPr>
          <p:cNvPr id="5" name="Title Placeholder 1">
            <a:extLst>
              <a:ext uri="{FF2B5EF4-FFF2-40B4-BE49-F238E27FC236}">
                <a16:creationId xmlns:a16="http://schemas.microsoft.com/office/drawing/2014/main" id="{7E9BCB5A-9765-46B3-8024-522FDFBD4395}"/>
              </a:ext>
            </a:extLst>
          </p:cNvPr>
          <p:cNvSpPr>
            <a:spLocks noGrp="1"/>
          </p:cNvSpPr>
          <p:nvPr>
            <p:ph type="title"/>
          </p:nvPr>
        </p:nvSpPr>
        <p:spPr>
          <a:xfrm>
            <a:off x="762000" y="427039"/>
            <a:ext cx="10972800" cy="1143000"/>
          </a:xfrm>
          <a:prstGeom prst="rect">
            <a:avLst/>
          </a:prstGeom>
        </p:spPr>
        <p:txBody>
          <a:bodyPr vert="horz" lIns="91438" tIns="45719" rIns="91438" bIns="45719" rtlCol="0" anchor="ctr">
            <a:normAutofit/>
          </a:bodyPr>
          <a:lstStyle/>
          <a:p>
            <a:r>
              <a:rPr lang="en-US" dirty="0"/>
              <a:t>Click to edit Master title style</a:t>
            </a:r>
          </a:p>
        </p:txBody>
      </p:sp>
      <p:sp>
        <p:nvSpPr>
          <p:cNvPr id="6" name="Text Placeholder 2">
            <a:extLst>
              <a:ext uri="{FF2B5EF4-FFF2-40B4-BE49-F238E27FC236}">
                <a16:creationId xmlns:a16="http://schemas.microsoft.com/office/drawing/2014/main" id="{ABC7395B-BA29-4C79-BEEB-EE53CCFC2685}"/>
              </a:ext>
            </a:extLst>
          </p:cNvPr>
          <p:cNvSpPr>
            <a:spLocks noGrp="1"/>
          </p:cNvSpPr>
          <p:nvPr>
            <p:ph idx="1" hasCustomPrompt="1"/>
          </p:nvPr>
        </p:nvSpPr>
        <p:spPr>
          <a:xfrm>
            <a:off x="762000" y="1752601"/>
            <a:ext cx="10972800" cy="4525963"/>
          </a:xfrm>
          <a:prstGeom prst="rect">
            <a:avLst/>
          </a:prstGeom>
        </p:spPr>
        <p:txBody>
          <a:bodyPr vert="horz" lIns="91438" tIns="45719" rIns="91438" bIns="45719" rtlCol="0">
            <a:normAutofit/>
          </a:bodyPr>
          <a:lstStyle>
            <a:lvl1pPr>
              <a:defRPr/>
            </a:lvl1pPr>
          </a:lstStyle>
          <a:p>
            <a:pPr lvl="0"/>
            <a:r>
              <a:rPr lang="en-US" dirty="0"/>
              <a:t>Text</a:t>
            </a:r>
          </a:p>
        </p:txBody>
      </p:sp>
      <p:sp>
        <p:nvSpPr>
          <p:cNvPr id="8" name="Slide Number Placeholder 5">
            <a:extLst>
              <a:ext uri="{FF2B5EF4-FFF2-40B4-BE49-F238E27FC236}">
                <a16:creationId xmlns:a16="http://schemas.microsoft.com/office/drawing/2014/main" id="{6A950C3E-4668-4901-9878-0DF46FD8E602}"/>
              </a:ext>
            </a:extLst>
          </p:cNvPr>
          <p:cNvSpPr txBox="1">
            <a:spLocks/>
          </p:cNvSpPr>
          <p:nvPr userDrawn="1"/>
        </p:nvSpPr>
        <p:spPr>
          <a:xfrm>
            <a:off x="8890000" y="6508752"/>
            <a:ext cx="2844800" cy="365125"/>
          </a:xfrm>
          <a:prstGeom prst="rect">
            <a:avLst/>
          </a:prstGeom>
        </p:spPr>
        <p:txBody>
          <a:bodyPr vert="horz" lIns="91438" tIns="45719" rIns="91438" bIns="45719" rtlCol="0" anchor="ctr"/>
          <a:lstStyle>
            <a:defPPr>
              <a:defRPr lang="en-US"/>
            </a:defPPr>
            <a:lvl1pPr marL="0" algn="r" defTabSz="457189" rtl="0" eaLnBrk="1" latinLnBrk="0" hangingPunct="1">
              <a:defRPr sz="1200" kern="1200">
                <a:solidFill>
                  <a:schemeClr val="tx1">
                    <a:tint val="75000"/>
                  </a:schemeClr>
                </a:solidFill>
                <a:latin typeface="+mn-lt"/>
                <a:ea typeface="+mn-ea"/>
                <a:cs typeface="+mn-cs"/>
              </a:defRPr>
            </a:lvl1pPr>
            <a:lvl2pPr marL="457189" algn="l" defTabSz="457189" rtl="0" eaLnBrk="1" latinLnBrk="0" hangingPunct="1">
              <a:defRPr sz="1900" kern="1200">
                <a:solidFill>
                  <a:schemeClr val="tx1"/>
                </a:solidFill>
                <a:latin typeface="+mn-lt"/>
                <a:ea typeface="+mn-ea"/>
                <a:cs typeface="+mn-cs"/>
              </a:defRPr>
            </a:lvl2pPr>
            <a:lvl3pPr marL="914377" algn="l" defTabSz="457189" rtl="0" eaLnBrk="1" latinLnBrk="0" hangingPunct="1">
              <a:defRPr sz="1900" kern="1200">
                <a:solidFill>
                  <a:schemeClr val="tx1"/>
                </a:solidFill>
                <a:latin typeface="+mn-lt"/>
                <a:ea typeface="+mn-ea"/>
                <a:cs typeface="+mn-cs"/>
              </a:defRPr>
            </a:lvl3pPr>
            <a:lvl4pPr marL="1371566" algn="l" defTabSz="457189" rtl="0" eaLnBrk="1" latinLnBrk="0" hangingPunct="1">
              <a:defRPr sz="1900" kern="1200">
                <a:solidFill>
                  <a:schemeClr val="tx1"/>
                </a:solidFill>
                <a:latin typeface="+mn-lt"/>
                <a:ea typeface="+mn-ea"/>
                <a:cs typeface="+mn-cs"/>
              </a:defRPr>
            </a:lvl4pPr>
            <a:lvl5pPr marL="1828754" algn="l" defTabSz="457189" rtl="0" eaLnBrk="1" latinLnBrk="0" hangingPunct="1">
              <a:defRPr sz="1900" kern="1200">
                <a:solidFill>
                  <a:schemeClr val="tx1"/>
                </a:solidFill>
                <a:latin typeface="+mn-lt"/>
                <a:ea typeface="+mn-ea"/>
                <a:cs typeface="+mn-cs"/>
              </a:defRPr>
            </a:lvl5pPr>
            <a:lvl6pPr marL="2285943" algn="l" defTabSz="457189" rtl="0" eaLnBrk="1" latinLnBrk="0" hangingPunct="1">
              <a:defRPr sz="1900" kern="1200">
                <a:solidFill>
                  <a:schemeClr val="tx1"/>
                </a:solidFill>
                <a:latin typeface="+mn-lt"/>
                <a:ea typeface="+mn-ea"/>
                <a:cs typeface="+mn-cs"/>
              </a:defRPr>
            </a:lvl6pPr>
            <a:lvl7pPr marL="2743131" algn="l" defTabSz="457189" rtl="0" eaLnBrk="1" latinLnBrk="0" hangingPunct="1">
              <a:defRPr sz="1900" kern="1200">
                <a:solidFill>
                  <a:schemeClr val="tx1"/>
                </a:solidFill>
                <a:latin typeface="+mn-lt"/>
                <a:ea typeface="+mn-ea"/>
                <a:cs typeface="+mn-cs"/>
              </a:defRPr>
            </a:lvl7pPr>
            <a:lvl8pPr marL="3200320" algn="l" defTabSz="457189" rtl="0" eaLnBrk="1" latinLnBrk="0" hangingPunct="1">
              <a:defRPr sz="1900" kern="1200">
                <a:solidFill>
                  <a:schemeClr val="tx1"/>
                </a:solidFill>
                <a:latin typeface="+mn-lt"/>
                <a:ea typeface="+mn-ea"/>
                <a:cs typeface="+mn-cs"/>
              </a:defRPr>
            </a:lvl8pPr>
            <a:lvl9pPr marL="3657509" algn="l" defTabSz="457189" rtl="0" eaLnBrk="1" latinLnBrk="0" hangingPunct="1">
              <a:defRPr sz="1900" kern="1200">
                <a:solidFill>
                  <a:schemeClr val="tx1"/>
                </a:solidFill>
                <a:latin typeface="+mn-lt"/>
                <a:ea typeface="+mn-ea"/>
                <a:cs typeface="+mn-cs"/>
              </a:defRPr>
            </a:lvl9pPr>
          </a:lstStyle>
          <a:p>
            <a:fld id="{EB1023CF-B329-E444-9BAC-9F50F1C2498A}" type="slidenum">
              <a:rPr lang="en-US" smtClean="0"/>
              <a:pPr/>
              <a:t>‹#›</a:t>
            </a:fld>
            <a:endParaRPr lang="en-US"/>
          </a:p>
        </p:txBody>
      </p:sp>
    </p:spTree>
    <p:extLst>
      <p:ext uri="{BB962C8B-B14F-4D97-AF65-F5344CB8AC3E}">
        <p14:creationId xmlns:p14="http://schemas.microsoft.com/office/powerpoint/2010/main" val="508045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3/5/2026</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0.emf"/><Relationship Id="rId4" Type="http://schemas.openxmlformats.org/officeDocument/2006/relationships/oleObject" Target="../embeddings/oleObject1.bin"/></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7.emf"/></Relationships>
</file>

<file path=ppt/slides/_rels/slide5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59.wmf"/></Relationships>
</file>

<file path=ppt/slides/_rels/slide56.xml.rels><?xml version="1.0" encoding="UTF-8" standalone="yes"?>
<Relationships xmlns="http://schemas.openxmlformats.org/package/2006/relationships"><Relationship Id="rId8" Type="http://schemas.openxmlformats.org/officeDocument/2006/relationships/image" Target="../media/image61.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60.wmf"/><Relationship Id="rId5" Type="http://schemas.openxmlformats.org/officeDocument/2006/relationships/oleObject" Target="../embeddings/oleObject5.bin"/><Relationship Id="rId4" Type="http://schemas.openxmlformats.org/officeDocument/2006/relationships/image" Target="../media/image59.w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62.emf"/></Relationships>
</file>

<file path=ppt/slides/_rels/slide58.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60.wmf"/><Relationship Id="rId5" Type="http://schemas.openxmlformats.org/officeDocument/2006/relationships/oleObject" Target="../embeddings/oleObject9.bin"/><Relationship Id="rId4" Type="http://schemas.openxmlformats.org/officeDocument/2006/relationships/image" Target="../media/image59.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hyperlink" Target="https://www.geeksforgeeks.org/skip-list/"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hyperlink" Target="https://www.geeksforgeeks.org/generalized-linked-list/"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7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LINKED LIST</a:t>
            </a:r>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4974354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memory allocation</a:t>
            </a:r>
          </a:p>
        </p:txBody>
      </p:sp>
      <p:sp>
        <p:nvSpPr>
          <p:cNvPr id="3" name="Content Placeholder 2"/>
          <p:cNvSpPr>
            <a:spLocks noGrp="1"/>
          </p:cNvSpPr>
          <p:nvPr>
            <p:ph idx="1"/>
          </p:nvPr>
        </p:nvSpPr>
        <p:spPr>
          <a:xfrm>
            <a:off x="1" y="1025236"/>
            <a:ext cx="11804072" cy="5696239"/>
          </a:xfrm>
        </p:spPr>
        <p:txBody>
          <a:bodyPr/>
          <a:lstStyle/>
          <a:p>
            <a:pPr marL="0" indent="0">
              <a:buNone/>
            </a:pPr>
            <a:r>
              <a:rPr lang="en-US" dirty="0"/>
              <a:t>		</a:t>
            </a:r>
          </a:p>
        </p:txBody>
      </p:sp>
      <p:pic>
        <p:nvPicPr>
          <p:cNvPr id="5" name="Picture 4"/>
          <p:cNvPicPr>
            <a:picLocks noChangeAspect="1"/>
          </p:cNvPicPr>
          <p:nvPr/>
        </p:nvPicPr>
        <p:blipFill>
          <a:blip r:embed="rId3"/>
          <a:stretch>
            <a:fillRect/>
          </a:stretch>
        </p:blipFill>
        <p:spPr>
          <a:xfrm>
            <a:off x="9199418" y="2118219"/>
            <a:ext cx="2489489" cy="3798682"/>
          </a:xfrm>
          <a:prstGeom prst="rect">
            <a:avLst/>
          </a:prstGeom>
        </p:spPr>
      </p:pic>
      <p:sp>
        <p:nvSpPr>
          <p:cNvPr id="6" name="Rectangle 5"/>
          <p:cNvSpPr/>
          <p:nvPr/>
        </p:nvSpPr>
        <p:spPr>
          <a:xfrm>
            <a:off x="9266525" y="1385923"/>
            <a:ext cx="2355273" cy="570573"/>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Application’s memory</a:t>
            </a:r>
          </a:p>
        </p:txBody>
      </p:sp>
      <p:sp>
        <p:nvSpPr>
          <p:cNvPr id="7" name="Rectangle 6"/>
          <p:cNvSpPr/>
          <p:nvPr/>
        </p:nvSpPr>
        <p:spPr>
          <a:xfrm>
            <a:off x="7532543" y="5292436"/>
            <a:ext cx="1556039" cy="624465"/>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Instructions</a:t>
            </a:r>
          </a:p>
        </p:txBody>
      </p:sp>
      <p:sp>
        <p:nvSpPr>
          <p:cNvPr id="9" name="Rectangle 8"/>
          <p:cNvSpPr/>
          <p:nvPr/>
        </p:nvSpPr>
        <p:spPr>
          <a:xfrm>
            <a:off x="7532542" y="4516704"/>
            <a:ext cx="1496291" cy="624465"/>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Global and static data</a:t>
            </a:r>
          </a:p>
        </p:txBody>
      </p:sp>
      <p:sp>
        <p:nvSpPr>
          <p:cNvPr id="10" name="Rectangle 9"/>
          <p:cNvSpPr/>
          <p:nvPr/>
        </p:nvSpPr>
        <p:spPr>
          <a:xfrm>
            <a:off x="7532543" y="3519055"/>
            <a:ext cx="1496291" cy="846383"/>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Function calls and local variables</a:t>
            </a:r>
          </a:p>
        </p:txBody>
      </p:sp>
      <p:sp>
        <p:nvSpPr>
          <p:cNvPr id="13" name="Rectangle 12"/>
          <p:cNvSpPr/>
          <p:nvPr/>
        </p:nvSpPr>
        <p:spPr>
          <a:xfrm>
            <a:off x="4706218" y="5472545"/>
            <a:ext cx="2401164" cy="124893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GLOBAL </a:t>
            </a:r>
          </a:p>
        </p:txBody>
      </p:sp>
      <p:sp>
        <p:nvSpPr>
          <p:cNvPr id="14" name="Rectangle 13"/>
          <p:cNvSpPr/>
          <p:nvPr/>
        </p:nvSpPr>
        <p:spPr>
          <a:xfrm>
            <a:off x="4706217" y="1452190"/>
            <a:ext cx="2401165" cy="368897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STACK</a:t>
            </a:r>
          </a:p>
        </p:txBody>
      </p:sp>
      <p:pic>
        <p:nvPicPr>
          <p:cNvPr id="15" name="Picture 14"/>
          <p:cNvPicPr>
            <a:picLocks noChangeAspect="1"/>
          </p:cNvPicPr>
          <p:nvPr/>
        </p:nvPicPr>
        <p:blipFill>
          <a:blip r:embed="rId4"/>
          <a:stretch>
            <a:fillRect/>
          </a:stretch>
        </p:blipFill>
        <p:spPr>
          <a:xfrm>
            <a:off x="565006" y="1385923"/>
            <a:ext cx="3970626" cy="5340189"/>
          </a:xfrm>
          <a:prstGeom prst="rect">
            <a:avLst/>
          </a:prstGeom>
        </p:spPr>
      </p:pic>
    </p:spTree>
    <p:extLst>
      <p:ext uri="{BB962C8B-B14F-4D97-AF65-F5344CB8AC3E}">
        <p14:creationId xmlns:p14="http://schemas.microsoft.com/office/powerpoint/2010/main" val="13445615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pic>
        <p:nvPicPr>
          <p:cNvPr id="26" name="Content Placeholder 25"/>
          <p:cNvPicPr>
            <a:picLocks noGrp="1" noChangeAspect="1"/>
          </p:cNvPicPr>
          <p:nvPr>
            <p:ph idx="1"/>
          </p:nvPr>
        </p:nvPicPr>
        <p:blipFill>
          <a:blip r:embed="rId2"/>
          <a:stretch>
            <a:fillRect/>
          </a:stretch>
        </p:blipFill>
        <p:spPr>
          <a:xfrm>
            <a:off x="7152848" y="36135"/>
            <a:ext cx="1981200" cy="4222669"/>
          </a:xfrm>
          <a:prstGeom prst="rect">
            <a:avLst/>
          </a:prstGeom>
        </p:spPr>
      </p:pic>
      <p:sp>
        <p:nvSpPr>
          <p:cNvPr id="10" name="Rectangle 9"/>
          <p:cNvSpPr/>
          <p:nvPr/>
        </p:nvSpPr>
        <p:spPr>
          <a:xfrm>
            <a:off x="4697988" y="4386194"/>
            <a:ext cx="1707572" cy="610381"/>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total </a:t>
            </a:r>
          </a:p>
        </p:txBody>
      </p:sp>
      <p:pic>
        <p:nvPicPr>
          <p:cNvPr id="13" name="Picture 12"/>
          <p:cNvPicPr>
            <a:picLocks noChangeAspect="1"/>
          </p:cNvPicPr>
          <p:nvPr/>
        </p:nvPicPr>
        <p:blipFill>
          <a:blip r:embed="rId3"/>
          <a:stretch>
            <a:fillRect/>
          </a:stretch>
        </p:blipFill>
        <p:spPr>
          <a:xfrm>
            <a:off x="4008300" y="36135"/>
            <a:ext cx="2428008" cy="4327814"/>
          </a:xfrm>
          <a:prstGeom prst="rect">
            <a:avLst/>
          </a:prstGeom>
        </p:spPr>
      </p:pic>
      <p:pic>
        <p:nvPicPr>
          <p:cNvPr id="14" name="Picture 13"/>
          <p:cNvPicPr>
            <a:picLocks noChangeAspect="1"/>
          </p:cNvPicPr>
          <p:nvPr/>
        </p:nvPicPr>
        <p:blipFill>
          <a:blip r:embed="rId4"/>
          <a:stretch>
            <a:fillRect/>
          </a:stretch>
        </p:blipFill>
        <p:spPr>
          <a:xfrm>
            <a:off x="90164" y="36134"/>
            <a:ext cx="3970626" cy="5340189"/>
          </a:xfrm>
          <a:prstGeom prst="rect">
            <a:avLst/>
          </a:prstGeom>
        </p:spPr>
      </p:pic>
      <p:sp>
        <p:nvSpPr>
          <p:cNvPr id="17" name="Right Brace 16"/>
          <p:cNvSpPr/>
          <p:nvPr/>
        </p:nvSpPr>
        <p:spPr>
          <a:xfrm>
            <a:off x="6354690" y="1911927"/>
            <a:ext cx="364761" cy="1857269"/>
          </a:xfrm>
          <a:prstGeom prst="rightBrace">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en-US"/>
          </a:p>
        </p:txBody>
      </p:sp>
      <p:sp>
        <p:nvSpPr>
          <p:cNvPr id="18" name="Rectangle 17"/>
          <p:cNvSpPr/>
          <p:nvPr/>
        </p:nvSpPr>
        <p:spPr>
          <a:xfrm rot="5400000">
            <a:off x="6116149" y="2535371"/>
            <a:ext cx="1707572" cy="61038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STACK FRAME</a:t>
            </a:r>
          </a:p>
        </p:txBody>
      </p:sp>
      <p:sp>
        <p:nvSpPr>
          <p:cNvPr id="19" name="Rounded Rectangle 18"/>
          <p:cNvSpPr/>
          <p:nvPr/>
        </p:nvSpPr>
        <p:spPr>
          <a:xfrm>
            <a:off x="4777330" y="5010662"/>
            <a:ext cx="1514907" cy="2149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Global</a:t>
            </a:r>
          </a:p>
        </p:txBody>
      </p:sp>
      <p:cxnSp>
        <p:nvCxnSpPr>
          <p:cNvPr id="22" name="Straight Arrow Connector 21"/>
          <p:cNvCxnSpPr/>
          <p:nvPr/>
        </p:nvCxnSpPr>
        <p:spPr>
          <a:xfrm>
            <a:off x="2357380" y="919975"/>
            <a:ext cx="2202872" cy="10668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pic>
        <p:nvPicPr>
          <p:cNvPr id="27" name="Picture 26"/>
          <p:cNvPicPr>
            <a:picLocks noChangeAspect="1"/>
          </p:cNvPicPr>
          <p:nvPr/>
        </p:nvPicPr>
        <p:blipFill>
          <a:blip r:embed="rId5"/>
          <a:stretch>
            <a:fillRect/>
          </a:stretch>
        </p:blipFill>
        <p:spPr>
          <a:xfrm>
            <a:off x="9386674" y="36134"/>
            <a:ext cx="1790700" cy="4222669"/>
          </a:xfrm>
          <a:prstGeom prst="rect">
            <a:avLst/>
          </a:prstGeom>
        </p:spPr>
      </p:pic>
      <p:sp>
        <p:nvSpPr>
          <p:cNvPr id="28" name="Rectangle 27"/>
          <p:cNvSpPr/>
          <p:nvPr/>
        </p:nvSpPr>
        <p:spPr>
          <a:xfrm>
            <a:off x="7385763" y="4400045"/>
            <a:ext cx="1707572" cy="610381"/>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total </a:t>
            </a:r>
          </a:p>
        </p:txBody>
      </p:sp>
      <p:sp>
        <p:nvSpPr>
          <p:cNvPr id="29" name="Rounded Rectangle 28"/>
          <p:cNvSpPr/>
          <p:nvPr/>
        </p:nvSpPr>
        <p:spPr>
          <a:xfrm>
            <a:off x="7465105" y="5024513"/>
            <a:ext cx="1514907" cy="2149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Global</a:t>
            </a:r>
          </a:p>
        </p:txBody>
      </p:sp>
      <p:sp>
        <p:nvSpPr>
          <p:cNvPr id="30" name="Rectangle 29"/>
          <p:cNvSpPr/>
          <p:nvPr/>
        </p:nvSpPr>
        <p:spPr>
          <a:xfrm>
            <a:off x="9491662" y="4344626"/>
            <a:ext cx="1707572" cy="610381"/>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total </a:t>
            </a:r>
          </a:p>
        </p:txBody>
      </p:sp>
      <p:sp>
        <p:nvSpPr>
          <p:cNvPr id="31" name="Rounded Rectangle 30"/>
          <p:cNvSpPr/>
          <p:nvPr/>
        </p:nvSpPr>
        <p:spPr>
          <a:xfrm>
            <a:off x="9571004" y="4969094"/>
            <a:ext cx="1514907" cy="2149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Global</a:t>
            </a:r>
          </a:p>
        </p:txBody>
      </p:sp>
    </p:spTree>
    <p:extLst>
      <p:ext uri="{BB962C8B-B14F-4D97-AF65-F5344CB8AC3E}">
        <p14:creationId xmlns:p14="http://schemas.microsoft.com/office/powerpoint/2010/main" val="12755521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58885" y="0"/>
            <a:ext cx="11994570" cy="6721475"/>
          </a:xfrm>
        </p:spPr>
        <p:txBody>
          <a:bodyPr/>
          <a:lstStyle/>
          <a:p>
            <a:r>
              <a:rPr lang="en-US" dirty="0"/>
              <a:t> </a:t>
            </a:r>
          </a:p>
        </p:txBody>
      </p:sp>
      <p:pic>
        <p:nvPicPr>
          <p:cNvPr id="4" name="Picture 3"/>
          <p:cNvPicPr>
            <a:picLocks noChangeAspect="1"/>
          </p:cNvPicPr>
          <p:nvPr/>
        </p:nvPicPr>
        <p:blipFill>
          <a:blip r:embed="rId3"/>
          <a:stretch>
            <a:fillRect/>
          </a:stretch>
        </p:blipFill>
        <p:spPr>
          <a:xfrm>
            <a:off x="5031347" y="311583"/>
            <a:ext cx="1819275" cy="3983037"/>
          </a:xfrm>
          <a:prstGeom prst="rect">
            <a:avLst/>
          </a:prstGeom>
        </p:spPr>
      </p:pic>
      <p:pic>
        <p:nvPicPr>
          <p:cNvPr id="5" name="Picture 4"/>
          <p:cNvPicPr>
            <a:picLocks noChangeAspect="1"/>
          </p:cNvPicPr>
          <p:nvPr/>
        </p:nvPicPr>
        <p:blipFill>
          <a:blip r:embed="rId4"/>
          <a:stretch>
            <a:fillRect/>
          </a:stretch>
        </p:blipFill>
        <p:spPr>
          <a:xfrm>
            <a:off x="559803" y="95483"/>
            <a:ext cx="3970626" cy="5340189"/>
          </a:xfrm>
          <a:prstGeom prst="rect">
            <a:avLst/>
          </a:prstGeom>
        </p:spPr>
      </p:pic>
      <p:sp>
        <p:nvSpPr>
          <p:cNvPr id="6" name="Rectangle 5"/>
          <p:cNvSpPr/>
          <p:nvPr/>
        </p:nvSpPr>
        <p:spPr>
          <a:xfrm>
            <a:off x="5224454" y="4233789"/>
            <a:ext cx="1707572" cy="610381"/>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total </a:t>
            </a:r>
          </a:p>
        </p:txBody>
      </p:sp>
      <p:sp>
        <p:nvSpPr>
          <p:cNvPr id="7" name="Rounded Rectangle 6"/>
          <p:cNvSpPr/>
          <p:nvPr/>
        </p:nvSpPr>
        <p:spPr>
          <a:xfrm>
            <a:off x="5303796" y="4858257"/>
            <a:ext cx="1514907" cy="2149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Global</a:t>
            </a:r>
          </a:p>
        </p:txBody>
      </p:sp>
      <p:cxnSp>
        <p:nvCxnSpPr>
          <p:cNvPr id="9" name="Straight Arrow Connector 8"/>
          <p:cNvCxnSpPr/>
          <p:nvPr/>
        </p:nvCxnSpPr>
        <p:spPr>
          <a:xfrm flipV="1">
            <a:off x="1251678" y="3088065"/>
            <a:ext cx="3779669" cy="185899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pic>
        <p:nvPicPr>
          <p:cNvPr id="11" name="Picture 10"/>
          <p:cNvPicPr>
            <a:picLocks noChangeAspect="1"/>
          </p:cNvPicPr>
          <p:nvPr/>
        </p:nvPicPr>
        <p:blipFill>
          <a:blip r:embed="rId5"/>
          <a:stretch>
            <a:fillRect/>
          </a:stretch>
        </p:blipFill>
        <p:spPr>
          <a:xfrm>
            <a:off x="7480151" y="311583"/>
            <a:ext cx="1352550" cy="3837709"/>
          </a:xfrm>
          <a:prstGeom prst="rect">
            <a:avLst/>
          </a:prstGeom>
        </p:spPr>
      </p:pic>
      <p:sp>
        <p:nvSpPr>
          <p:cNvPr id="12" name="Rectangle 11"/>
          <p:cNvSpPr/>
          <p:nvPr/>
        </p:nvSpPr>
        <p:spPr>
          <a:xfrm>
            <a:off x="7302640" y="4233789"/>
            <a:ext cx="1707572" cy="610381"/>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 </a:t>
            </a:r>
          </a:p>
        </p:txBody>
      </p:sp>
      <p:sp>
        <p:nvSpPr>
          <p:cNvPr id="13" name="Rounded Rectangle 12"/>
          <p:cNvSpPr/>
          <p:nvPr/>
        </p:nvSpPr>
        <p:spPr>
          <a:xfrm>
            <a:off x="7381982" y="4858257"/>
            <a:ext cx="1514907" cy="2149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Global</a:t>
            </a:r>
          </a:p>
        </p:txBody>
      </p:sp>
      <p:sp>
        <p:nvSpPr>
          <p:cNvPr id="14" name="Rounded Rectangle 13"/>
          <p:cNvSpPr/>
          <p:nvPr/>
        </p:nvSpPr>
        <p:spPr>
          <a:xfrm>
            <a:off x="5335715" y="58761"/>
            <a:ext cx="1514907" cy="2149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stack</a:t>
            </a:r>
          </a:p>
        </p:txBody>
      </p:sp>
      <p:sp>
        <p:nvSpPr>
          <p:cNvPr id="15" name="Rounded Rectangle 14"/>
          <p:cNvSpPr/>
          <p:nvPr/>
        </p:nvSpPr>
        <p:spPr>
          <a:xfrm>
            <a:off x="7333915" y="42277"/>
            <a:ext cx="1514907" cy="2149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stack</a:t>
            </a:r>
          </a:p>
        </p:txBody>
      </p:sp>
      <p:sp>
        <p:nvSpPr>
          <p:cNvPr id="16" name="Oval 15"/>
          <p:cNvSpPr/>
          <p:nvPr/>
        </p:nvSpPr>
        <p:spPr>
          <a:xfrm>
            <a:off x="9010212" y="95482"/>
            <a:ext cx="2795247" cy="2689281"/>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OS allocates some amount of space for stack at compile time but stack frames and local variables are allocated at run time</a:t>
            </a:r>
          </a:p>
        </p:txBody>
      </p:sp>
      <p:sp>
        <p:nvSpPr>
          <p:cNvPr id="17" name="Oval 16"/>
          <p:cNvSpPr/>
          <p:nvPr/>
        </p:nvSpPr>
        <p:spPr>
          <a:xfrm>
            <a:off x="9146011" y="3014231"/>
            <a:ext cx="2556438" cy="2943224"/>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If stack grows beyond the reserved space (</a:t>
            </a:r>
            <a:r>
              <a:rPr lang="en-US" dirty="0" err="1">
                <a:ln w="0"/>
                <a:solidFill>
                  <a:schemeClr val="tx1"/>
                </a:solidFill>
                <a:effectLst>
                  <a:outerShdw blurRad="38100" dist="19050" dir="2700000" algn="tl" rotWithShape="0">
                    <a:schemeClr val="dk1">
                      <a:alpha val="40000"/>
                    </a:schemeClr>
                  </a:outerShdw>
                </a:effectLst>
              </a:rPr>
              <a:t>eg</a:t>
            </a:r>
            <a:r>
              <a:rPr lang="en-US" dirty="0">
                <a:ln w="0"/>
                <a:solidFill>
                  <a:schemeClr val="tx1"/>
                </a:solidFill>
                <a:effectLst>
                  <a:outerShdw blurRad="38100" dist="19050" dir="2700000" algn="tl" rotWithShape="0">
                    <a:schemeClr val="dk1">
                      <a:alpha val="40000"/>
                    </a:schemeClr>
                  </a:outerShdw>
                </a:effectLst>
              </a:rPr>
              <a:t>: bad recursion), stack overflow occurs because stack cannot grow at run time</a:t>
            </a:r>
          </a:p>
        </p:txBody>
      </p:sp>
      <p:sp>
        <p:nvSpPr>
          <p:cNvPr id="20" name="Rectangle 19"/>
          <p:cNvSpPr/>
          <p:nvPr/>
        </p:nvSpPr>
        <p:spPr>
          <a:xfrm>
            <a:off x="1524000" y="5611091"/>
            <a:ext cx="7024255" cy="103909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Unlike stack, heap is not fixed. Its size can vary during the lifetime of the application. A programmer can totally control how much memory to use from heap.</a:t>
            </a:r>
          </a:p>
        </p:txBody>
      </p:sp>
      <p:sp>
        <p:nvSpPr>
          <p:cNvPr id="21" name="Down Arrow 20"/>
          <p:cNvSpPr/>
          <p:nvPr/>
        </p:nvSpPr>
        <p:spPr>
          <a:xfrm>
            <a:off x="9310255" y="6023321"/>
            <a:ext cx="45719" cy="4571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04854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endParaRPr lang="en-US" dirty="0"/>
          </a:p>
        </p:txBody>
      </p:sp>
      <p:pic>
        <p:nvPicPr>
          <p:cNvPr id="4" name="Content Placeholder 3"/>
          <p:cNvPicPr>
            <a:picLocks noGrp="1" noChangeAspect="1"/>
          </p:cNvPicPr>
          <p:nvPr>
            <p:ph idx="1"/>
          </p:nvPr>
        </p:nvPicPr>
        <p:blipFill>
          <a:blip r:embed="rId2"/>
          <a:stretch>
            <a:fillRect/>
          </a:stretch>
        </p:blipFill>
        <p:spPr>
          <a:xfrm>
            <a:off x="545096" y="1559503"/>
            <a:ext cx="4410075" cy="4010025"/>
          </a:xfrm>
          <a:prstGeom prst="rect">
            <a:avLst/>
          </a:prstGeom>
        </p:spPr>
      </p:pic>
      <p:pic>
        <p:nvPicPr>
          <p:cNvPr id="5" name="Picture 4"/>
          <p:cNvPicPr>
            <a:picLocks noChangeAspect="1"/>
          </p:cNvPicPr>
          <p:nvPr/>
        </p:nvPicPr>
        <p:blipFill>
          <a:blip r:embed="rId3"/>
          <a:stretch>
            <a:fillRect/>
          </a:stretch>
        </p:blipFill>
        <p:spPr>
          <a:xfrm>
            <a:off x="5737952" y="0"/>
            <a:ext cx="3219011" cy="4160662"/>
          </a:xfrm>
          <a:prstGeom prst="rect">
            <a:avLst/>
          </a:prstGeom>
        </p:spPr>
      </p:pic>
      <p:sp>
        <p:nvSpPr>
          <p:cNvPr id="6" name="Rectangle 5"/>
          <p:cNvSpPr/>
          <p:nvPr/>
        </p:nvSpPr>
        <p:spPr>
          <a:xfrm>
            <a:off x="5652661" y="4941295"/>
            <a:ext cx="3237195" cy="1285419"/>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Heap is also called dynamic memory and using the heap is referred to as dynamic memory allocation</a:t>
            </a:r>
          </a:p>
        </p:txBody>
      </p:sp>
      <p:pic>
        <p:nvPicPr>
          <p:cNvPr id="7" name="Picture 6"/>
          <p:cNvPicPr>
            <a:picLocks noChangeAspect="1"/>
          </p:cNvPicPr>
          <p:nvPr/>
        </p:nvPicPr>
        <p:blipFill>
          <a:blip r:embed="rId4"/>
          <a:stretch>
            <a:fillRect/>
          </a:stretch>
        </p:blipFill>
        <p:spPr>
          <a:xfrm>
            <a:off x="9587346" y="0"/>
            <a:ext cx="2189018" cy="4160662"/>
          </a:xfrm>
          <a:prstGeom prst="rect">
            <a:avLst/>
          </a:prstGeom>
        </p:spPr>
      </p:pic>
      <p:sp>
        <p:nvSpPr>
          <p:cNvPr id="9" name="Rectangle 8"/>
          <p:cNvSpPr/>
          <p:nvPr/>
        </p:nvSpPr>
        <p:spPr>
          <a:xfrm>
            <a:off x="9739745" y="4313062"/>
            <a:ext cx="2137931" cy="1256466"/>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n w="0"/>
                <a:solidFill>
                  <a:schemeClr val="tx1"/>
                </a:solidFill>
                <a:effectLst>
                  <a:outerShdw blurRad="38100" dist="19050" dir="2700000" algn="tl" rotWithShape="0">
                    <a:schemeClr val="dk1">
                      <a:alpha val="40000"/>
                    </a:schemeClr>
                  </a:outerShdw>
                </a:effectLst>
              </a:rPr>
              <a:t>malloc</a:t>
            </a:r>
            <a:endParaRPr lang="en-US" dirty="0">
              <a:ln w="0"/>
              <a:solidFill>
                <a:schemeClr val="tx1"/>
              </a:solidFill>
              <a:effectLst>
                <a:outerShdw blurRad="38100" dist="19050" dir="2700000" algn="tl" rotWithShape="0">
                  <a:schemeClr val="dk1">
                    <a:alpha val="40000"/>
                  </a:schemeClr>
                </a:outerShdw>
              </a:effectLst>
            </a:endParaRPr>
          </a:p>
          <a:p>
            <a:pPr algn="ctr"/>
            <a:r>
              <a:rPr lang="en-US" dirty="0" err="1">
                <a:ln w="0"/>
                <a:solidFill>
                  <a:schemeClr val="tx1"/>
                </a:solidFill>
                <a:effectLst>
                  <a:outerShdw blurRad="38100" dist="19050" dir="2700000" algn="tl" rotWithShape="0">
                    <a:schemeClr val="dk1">
                      <a:alpha val="40000"/>
                    </a:schemeClr>
                  </a:outerShdw>
                </a:effectLst>
              </a:rPr>
              <a:t>calloc</a:t>
            </a:r>
            <a:endParaRPr lang="en-US" dirty="0">
              <a:ln w="0"/>
              <a:solidFill>
                <a:schemeClr val="tx1"/>
              </a:solidFill>
              <a:effectLst>
                <a:outerShdw blurRad="38100" dist="19050" dir="2700000" algn="tl" rotWithShape="0">
                  <a:schemeClr val="dk1">
                    <a:alpha val="40000"/>
                  </a:schemeClr>
                </a:outerShdw>
              </a:effectLst>
            </a:endParaRPr>
          </a:p>
          <a:p>
            <a:pPr algn="ctr"/>
            <a:r>
              <a:rPr lang="en-US" dirty="0" err="1">
                <a:ln w="0"/>
                <a:solidFill>
                  <a:schemeClr val="tx1"/>
                </a:solidFill>
                <a:effectLst>
                  <a:outerShdw blurRad="38100" dist="19050" dir="2700000" algn="tl" rotWithShape="0">
                    <a:schemeClr val="dk1">
                      <a:alpha val="40000"/>
                    </a:schemeClr>
                  </a:outerShdw>
                </a:effectLst>
              </a:rPr>
              <a:t>realloc</a:t>
            </a:r>
            <a:endParaRPr lang="en-US" dirty="0">
              <a:ln w="0"/>
              <a:solidFill>
                <a:schemeClr val="tx1"/>
              </a:solidFill>
              <a:effectLst>
                <a:outerShdw blurRad="38100" dist="19050" dir="2700000" algn="tl" rotWithShape="0">
                  <a:schemeClr val="dk1">
                    <a:alpha val="40000"/>
                  </a:schemeClr>
                </a:outerShdw>
              </a:effectLst>
            </a:endParaRPr>
          </a:p>
          <a:p>
            <a:pPr algn="ctr"/>
            <a:r>
              <a:rPr lang="en-US" dirty="0">
                <a:ln w="0"/>
                <a:solidFill>
                  <a:schemeClr val="tx1"/>
                </a:solidFill>
                <a:effectLst>
                  <a:outerShdw blurRad="38100" dist="19050" dir="2700000" algn="tl" rotWithShape="0">
                    <a:schemeClr val="dk1">
                      <a:alpha val="40000"/>
                    </a:schemeClr>
                  </a:outerShdw>
                </a:effectLst>
              </a:rPr>
              <a:t>free</a:t>
            </a:r>
          </a:p>
        </p:txBody>
      </p:sp>
    </p:spTree>
    <p:extLst>
      <p:ext uri="{BB962C8B-B14F-4D97-AF65-F5344CB8AC3E}">
        <p14:creationId xmlns:p14="http://schemas.microsoft.com/office/powerpoint/2010/main" val="41005563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pic>
        <p:nvPicPr>
          <p:cNvPr id="4" name="Content Placeholder 3"/>
          <p:cNvPicPr>
            <a:picLocks noGrp="1" noChangeAspect="1"/>
          </p:cNvPicPr>
          <p:nvPr>
            <p:ph idx="1"/>
          </p:nvPr>
        </p:nvPicPr>
        <p:blipFill>
          <a:blip r:embed="rId2"/>
          <a:stretch>
            <a:fillRect/>
          </a:stretch>
        </p:blipFill>
        <p:spPr>
          <a:xfrm>
            <a:off x="868795" y="75364"/>
            <a:ext cx="4514850" cy="1666875"/>
          </a:xfrm>
          <a:prstGeom prst="rect">
            <a:avLst/>
          </a:prstGeom>
        </p:spPr>
      </p:pic>
      <p:pic>
        <p:nvPicPr>
          <p:cNvPr id="7" name="Picture 6"/>
          <p:cNvPicPr>
            <a:picLocks noChangeAspect="1"/>
          </p:cNvPicPr>
          <p:nvPr/>
        </p:nvPicPr>
        <p:blipFill>
          <a:blip r:embed="rId3"/>
          <a:stretch>
            <a:fillRect/>
          </a:stretch>
        </p:blipFill>
        <p:spPr>
          <a:xfrm>
            <a:off x="868795" y="2245332"/>
            <a:ext cx="3867150" cy="4576330"/>
          </a:xfrm>
          <a:prstGeom prst="rect">
            <a:avLst/>
          </a:prstGeom>
        </p:spPr>
      </p:pic>
      <p:pic>
        <p:nvPicPr>
          <p:cNvPr id="8" name="Picture 7"/>
          <p:cNvPicPr>
            <a:picLocks noChangeAspect="1"/>
          </p:cNvPicPr>
          <p:nvPr/>
        </p:nvPicPr>
        <p:blipFill>
          <a:blip r:embed="rId4"/>
          <a:stretch>
            <a:fillRect/>
          </a:stretch>
        </p:blipFill>
        <p:spPr>
          <a:xfrm>
            <a:off x="1132035" y="1797657"/>
            <a:ext cx="1417205" cy="447675"/>
          </a:xfrm>
          <a:prstGeom prst="rect">
            <a:avLst/>
          </a:prstGeom>
        </p:spPr>
      </p:pic>
      <p:pic>
        <p:nvPicPr>
          <p:cNvPr id="9" name="Content Placeholder 3"/>
          <p:cNvPicPr>
            <a:picLocks noChangeAspect="1"/>
          </p:cNvPicPr>
          <p:nvPr/>
        </p:nvPicPr>
        <p:blipFill>
          <a:blip r:embed="rId2"/>
          <a:stretch>
            <a:fillRect/>
          </a:stretch>
        </p:blipFill>
        <p:spPr>
          <a:xfrm>
            <a:off x="6105814" y="75362"/>
            <a:ext cx="4251610" cy="1666875"/>
          </a:xfrm>
          <a:prstGeom prst="rect">
            <a:avLst/>
          </a:prstGeom>
        </p:spPr>
      </p:pic>
      <p:pic>
        <p:nvPicPr>
          <p:cNvPr id="10" name="Picture 9"/>
          <p:cNvPicPr>
            <a:picLocks noChangeAspect="1"/>
          </p:cNvPicPr>
          <p:nvPr/>
        </p:nvPicPr>
        <p:blipFill>
          <a:blip r:embed="rId4"/>
          <a:stretch>
            <a:fillRect/>
          </a:stretch>
        </p:blipFill>
        <p:spPr>
          <a:xfrm>
            <a:off x="6105814" y="1732696"/>
            <a:ext cx="1417205" cy="447675"/>
          </a:xfrm>
          <a:prstGeom prst="rect">
            <a:avLst/>
          </a:prstGeom>
        </p:spPr>
      </p:pic>
      <p:pic>
        <p:nvPicPr>
          <p:cNvPr id="11" name="Picture 10"/>
          <p:cNvPicPr>
            <a:picLocks noChangeAspect="1"/>
          </p:cNvPicPr>
          <p:nvPr/>
        </p:nvPicPr>
        <p:blipFill>
          <a:blip r:embed="rId5"/>
          <a:stretch>
            <a:fillRect/>
          </a:stretch>
        </p:blipFill>
        <p:spPr>
          <a:xfrm>
            <a:off x="6105814" y="2161288"/>
            <a:ext cx="4219575" cy="876300"/>
          </a:xfrm>
          <a:prstGeom prst="rect">
            <a:avLst/>
          </a:prstGeom>
        </p:spPr>
      </p:pic>
      <p:pic>
        <p:nvPicPr>
          <p:cNvPr id="12" name="Picture 11"/>
          <p:cNvPicPr>
            <a:picLocks noChangeAspect="1"/>
          </p:cNvPicPr>
          <p:nvPr/>
        </p:nvPicPr>
        <p:blipFill>
          <a:blip r:embed="rId6"/>
          <a:stretch>
            <a:fillRect/>
          </a:stretch>
        </p:blipFill>
        <p:spPr>
          <a:xfrm>
            <a:off x="6105814" y="3078855"/>
            <a:ext cx="3867150" cy="3784074"/>
          </a:xfrm>
          <a:prstGeom prst="rect">
            <a:avLst/>
          </a:prstGeom>
        </p:spPr>
      </p:pic>
      <p:sp>
        <p:nvSpPr>
          <p:cNvPr id="14" name="Rectangle 13"/>
          <p:cNvSpPr/>
          <p:nvPr/>
        </p:nvSpPr>
        <p:spPr>
          <a:xfrm>
            <a:off x="10357424" y="5491328"/>
            <a:ext cx="1136469" cy="91440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Clear the memory using free</a:t>
            </a:r>
          </a:p>
        </p:txBody>
      </p:sp>
      <p:cxnSp>
        <p:nvCxnSpPr>
          <p:cNvPr id="16" name="Straight Arrow Connector 15"/>
          <p:cNvCxnSpPr/>
          <p:nvPr/>
        </p:nvCxnSpPr>
        <p:spPr>
          <a:xfrm>
            <a:off x="9509760" y="4970892"/>
            <a:ext cx="1149531" cy="520436"/>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pic>
        <p:nvPicPr>
          <p:cNvPr id="19" name="Content Placeholder 3"/>
          <p:cNvPicPr>
            <a:picLocks noChangeAspect="1"/>
          </p:cNvPicPr>
          <p:nvPr/>
        </p:nvPicPr>
        <p:blipFill>
          <a:blip r:embed="rId2"/>
          <a:stretch>
            <a:fillRect/>
          </a:stretch>
        </p:blipFill>
        <p:spPr>
          <a:xfrm>
            <a:off x="6105814" y="36174"/>
            <a:ext cx="4251610" cy="1666875"/>
          </a:xfrm>
          <a:prstGeom prst="rect">
            <a:avLst/>
          </a:prstGeom>
        </p:spPr>
      </p:pic>
      <p:pic>
        <p:nvPicPr>
          <p:cNvPr id="20" name="Picture 19"/>
          <p:cNvPicPr>
            <a:picLocks noChangeAspect="1"/>
          </p:cNvPicPr>
          <p:nvPr/>
        </p:nvPicPr>
        <p:blipFill>
          <a:blip r:embed="rId4"/>
          <a:stretch>
            <a:fillRect/>
          </a:stretch>
        </p:blipFill>
        <p:spPr>
          <a:xfrm>
            <a:off x="6105814" y="1693508"/>
            <a:ext cx="1417205" cy="447675"/>
          </a:xfrm>
          <a:prstGeom prst="rect">
            <a:avLst/>
          </a:prstGeom>
        </p:spPr>
      </p:pic>
    </p:spTree>
    <p:extLst>
      <p:ext uri="{BB962C8B-B14F-4D97-AF65-F5344CB8AC3E}">
        <p14:creationId xmlns:p14="http://schemas.microsoft.com/office/powerpoint/2010/main" val="37151372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br>
              <a:rPr lang="en-US" dirty="0"/>
            </a:br>
            <a:r>
              <a:rPr lang="en-US" dirty="0"/>
              <a:t> </a:t>
            </a:r>
          </a:p>
        </p:txBody>
      </p:sp>
      <p:sp>
        <p:nvSpPr>
          <p:cNvPr id="3" name="Content Placeholder 2"/>
          <p:cNvSpPr>
            <a:spLocks noGrp="1"/>
          </p:cNvSpPr>
          <p:nvPr>
            <p:ph idx="1"/>
          </p:nvPr>
        </p:nvSpPr>
        <p:spPr>
          <a:xfrm>
            <a:off x="731520" y="0"/>
            <a:ext cx="10698480" cy="6721475"/>
          </a:xfrm>
        </p:spPr>
        <p:txBody>
          <a:bodyPr/>
          <a:lstStyle/>
          <a:p>
            <a:r>
              <a:rPr lang="en-US" dirty="0"/>
              <a:t> </a:t>
            </a:r>
          </a:p>
        </p:txBody>
      </p:sp>
      <p:pic>
        <p:nvPicPr>
          <p:cNvPr id="4" name="Picture 3"/>
          <p:cNvPicPr>
            <a:picLocks noChangeAspect="1"/>
          </p:cNvPicPr>
          <p:nvPr/>
        </p:nvPicPr>
        <p:blipFill>
          <a:blip r:embed="rId2"/>
          <a:stretch>
            <a:fillRect/>
          </a:stretch>
        </p:blipFill>
        <p:spPr>
          <a:xfrm>
            <a:off x="1077428" y="2683516"/>
            <a:ext cx="4219575" cy="876300"/>
          </a:xfrm>
          <a:prstGeom prst="rect">
            <a:avLst/>
          </a:prstGeom>
        </p:spPr>
      </p:pic>
      <p:pic>
        <p:nvPicPr>
          <p:cNvPr id="5" name="Content Placeholder 3"/>
          <p:cNvPicPr>
            <a:picLocks noChangeAspect="1"/>
          </p:cNvPicPr>
          <p:nvPr/>
        </p:nvPicPr>
        <p:blipFill>
          <a:blip r:embed="rId3"/>
          <a:stretch>
            <a:fillRect/>
          </a:stretch>
        </p:blipFill>
        <p:spPr>
          <a:xfrm>
            <a:off x="1098150" y="-636"/>
            <a:ext cx="4251610" cy="1972508"/>
          </a:xfrm>
          <a:prstGeom prst="rect">
            <a:avLst/>
          </a:prstGeom>
        </p:spPr>
      </p:pic>
      <p:pic>
        <p:nvPicPr>
          <p:cNvPr id="6" name="Picture 5"/>
          <p:cNvPicPr>
            <a:picLocks noChangeAspect="1"/>
          </p:cNvPicPr>
          <p:nvPr/>
        </p:nvPicPr>
        <p:blipFill>
          <a:blip r:embed="rId4"/>
          <a:stretch>
            <a:fillRect/>
          </a:stretch>
        </p:blipFill>
        <p:spPr>
          <a:xfrm>
            <a:off x="1098150" y="1939291"/>
            <a:ext cx="1417205" cy="529760"/>
          </a:xfrm>
          <a:prstGeom prst="rect">
            <a:avLst/>
          </a:prstGeom>
        </p:spPr>
      </p:pic>
      <p:pic>
        <p:nvPicPr>
          <p:cNvPr id="7" name="Picture 6"/>
          <p:cNvPicPr>
            <a:picLocks noChangeAspect="1"/>
          </p:cNvPicPr>
          <p:nvPr/>
        </p:nvPicPr>
        <p:blipFill>
          <a:blip r:embed="rId5"/>
          <a:stretch>
            <a:fillRect/>
          </a:stretch>
        </p:blipFill>
        <p:spPr>
          <a:xfrm>
            <a:off x="1098150" y="2398439"/>
            <a:ext cx="1114425" cy="342900"/>
          </a:xfrm>
          <a:prstGeom prst="rect">
            <a:avLst/>
          </a:prstGeom>
        </p:spPr>
      </p:pic>
      <p:sp>
        <p:nvSpPr>
          <p:cNvPr id="8" name="Content Placeholder 2"/>
          <p:cNvSpPr txBox="1">
            <a:spLocks/>
          </p:cNvSpPr>
          <p:nvPr/>
        </p:nvSpPr>
        <p:spPr>
          <a:xfrm>
            <a:off x="731520" y="182881"/>
            <a:ext cx="10698480" cy="649940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1800" kern="1200">
                <a:solidFill>
                  <a:schemeClr val="tx1">
                    <a:lumMod val="65000"/>
                    <a:lumOff val="35000"/>
                  </a:schemeClr>
                </a:solidFill>
                <a:latin typeface="Georgia" panose="02040502050405020303" pitchFamily="18" charset="0"/>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Georgia" panose="02040502050405020303" pitchFamily="18" charset="0"/>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800" kern="1200">
                <a:solidFill>
                  <a:schemeClr val="tx1">
                    <a:lumMod val="65000"/>
                    <a:lumOff val="35000"/>
                  </a:schemeClr>
                </a:solidFill>
                <a:latin typeface="Georgia" panose="02040502050405020303" pitchFamily="18" charset="0"/>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Georgia" panose="02040502050405020303" pitchFamily="18" charset="0"/>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800" kern="1200">
                <a:solidFill>
                  <a:schemeClr val="tx1">
                    <a:lumMod val="65000"/>
                    <a:lumOff val="35000"/>
                  </a:schemeClr>
                </a:solidFill>
                <a:latin typeface="Georgia" panose="02040502050405020303" pitchFamily="18" charset="0"/>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r>
              <a:rPr lang="en-US"/>
              <a:t> </a:t>
            </a:r>
            <a:endParaRPr lang="en-US" dirty="0"/>
          </a:p>
        </p:txBody>
      </p:sp>
      <p:pic>
        <p:nvPicPr>
          <p:cNvPr id="9" name="Picture 8"/>
          <p:cNvPicPr>
            <a:picLocks noChangeAspect="1"/>
          </p:cNvPicPr>
          <p:nvPr/>
        </p:nvPicPr>
        <p:blipFill>
          <a:blip r:embed="rId6"/>
          <a:stretch>
            <a:fillRect/>
          </a:stretch>
        </p:blipFill>
        <p:spPr>
          <a:xfrm>
            <a:off x="971333" y="3559816"/>
            <a:ext cx="4085857" cy="3161659"/>
          </a:xfrm>
          <a:prstGeom prst="rect">
            <a:avLst/>
          </a:prstGeom>
        </p:spPr>
      </p:pic>
      <p:pic>
        <p:nvPicPr>
          <p:cNvPr id="10" name="Picture 9"/>
          <p:cNvPicPr>
            <a:picLocks noChangeAspect="1"/>
          </p:cNvPicPr>
          <p:nvPr/>
        </p:nvPicPr>
        <p:blipFill>
          <a:blip r:embed="rId7"/>
          <a:stretch>
            <a:fillRect/>
          </a:stretch>
        </p:blipFill>
        <p:spPr>
          <a:xfrm>
            <a:off x="6233037" y="3529095"/>
            <a:ext cx="4543425" cy="381000"/>
          </a:xfrm>
          <a:prstGeom prst="rect">
            <a:avLst/>
          </a:prstGeom>
        </p:spPr>
      </p:pic>
      <p:pic>
        <p:nvPicPr>
          <p:cNvPr id="11" name="Picture 10"/>
          <p:cNvPicPr>
            <a:picLocks noChangeAspect="1"/>
          </p:cNvPicPr>
          <p:nvPr/>
        </p:nvPicPr>
        <p:blipFill>
          <a:blip r:embed="rId2"/>
          <a:stretch>
            <a:fillRect/>
          </a:stretch>
        </p:blipFill>
        <p:spPr>
          <a:xfrm>
            <a:off x="6206326" y="2683516"/>
            <a:ext cx="4219575" cy="876300"/>
          </a:xfrm>
          <a:prstGeom prst="rect">
            <a:avLst/>
          </a:prstGeom>
        </p:spPr>
      </p:pic>
      <p:pic>
        <p:nvPicPr>
          <p:cNvPr id="12" name="Content Placeholder 3"/>
          <p:cNvPicPr>
            <a:picLocks noChangeAspect="1"/>
          </p:cNvPicPr>
          <p:nvPr/>
        </p:nvPicPr>
        <p:blipFill>
          <a:blip r:embed="rId3"/>
          <a:stretch>
            <a:fillRect/>
          </a:stretch>
        </p:blipFill>
        <p:spPr>
          <a:xfrm>
            <a:off x="6161309" y="-636"/>
            <a:ext cx="4251610" cy="1972508"/>
          </a:xfrm>
          <a:prstGeom prst="rect">
            <a:avLst/>
          </a:prstGeom>
        </p:spPr>
      </p:pic>
      <p:pic>
        <p:nvPicPr>
          <p:cNvPr id="13" name="Picture 12"/>
          <p:cNvPicPr>
            <a:picLocks noChangeAspect="1"/>
          </p:cNvPicPr>
          <p:nvPr/>
        </p:nvPicPr>
        <p:blipFill>
          <a:blip r:embed="rId4"/>
          <a:stretch>
            <a:fillRect/>
          </a:stretch>
        </p:blipFill>
        <p:spPr>
          <a:xfrm>
            <a:off x="6233037" y="1817201"/>
            <a:ext cx="1417205" cy="529760"/>
          </a:xfrm>
          <a:prstGeom prst="rect">
            <a:avLst/>
          </a:prstGeom>
        </p:spPr>
      </p:pic>
      <p:pic>
        <p:nvPicPr>
          <p:cNvPr id="14" name="Picture 13"/>
          <p:cNvPicPr>
            <a:picLocks noChangeAspect="1"/>
          </p:cNvPicPr>
          <p:nvPr/>
        </p:nvPicPr>
        <p:blipFill>
          <a:blip r:embed="rId5"/>
          <a:stretch>
            <a:fillRect/>
          </a:stretch>
        </p:blipFill>
        <p:spPr>
          <a:xfrm>
            <a:off x="6233037" y="2315979"/>
            <a:ext cx="1114425" cy="342900"/>
          </a:xfrm>
          <a:prstGeom prst="rect">
            <a:avLst/>
          </a:prstGeom>
        </p:spPr>
      </p:pic>
      <p:sp>
        <p:nvSpPr>
          <p:cNvPr id="16" name="Oval Callout 15"/>
          <p:cNvSpPr/>
          <p:nvPr/>
        </p:nvSpPr>
        <p:spPr>
          <a:xfrm>
            <a:off x="7264888" y="4586683"/>
            <a:ext cx="1300888" cy="1087976"/>
          </a:xfrm>
          <a:prstGeom prst="wedgeEllipseCallout">
            <a:avLst>
              <a:gd name="adj1" fmla="val 71031"/>
              <a:gd name="adj2" fmla="val -364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Tree>
    <p:extLst>
      <p:ext uri="{BB962C8B-B14F-4D97-AF65-F5344CB8AC3E}">
        <p14:creationId xmlns:p14="http://schemas.microsoft.com/office/powerpoint/2010/main" val="710230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5" name="Content Placeholder 4"/>
          <p:cNvSpPr>
            <a:spLocks noGrp="1"/>
          </p:cNvSpPr>
          <p:nvPr>
            <p:ph idx="1"/>
          </p:nvPr>
        </p:nvSpPr>
        <p:spPr/>
        <p:txBody>
          <a:bodyPr/>
          <a:lstStyle/>
          <a:p>
            <a:pPr marL="0" indent="0">
              <a:buNone/>
            </a:pPr>
            <a:r>
              <a:rPr lang="en-US" dirty="0"/>
              <a:t> </a:t>
            </a:r>
          </a:p>
        </p:txBody>
      </p:sp>
      <p:pic>
        <p:nvPicPr>
          <p:cNvPr id="6" name="Picture 5"/>
          <p:cNvPicPr>
            <a:picLocks noChangeAspect="1"/>
          </p:cNvPicPr>
          <p:nvPr/>
        </p:nvPicPr>
        <p:blipFill>
          <a:blip r:embed="rId2"/>
          <a:stretch>
            <a:fillRect/>
          </a:stretch>
        </p:blipFill>
        <p:spPr>
          <a:xfrm>
            <a:off x="4572433" y="119413"/>
            <a:ext cx="6753225" cy="3317297"/>
          </a:xfrm>
          <a:prstGeom prst="rect">
            <a:avLst/>
          </a:prstGeom>
        </p:spPr>
      </p:pic>
      <p:pic>
        <p:nvPicPr>
          <p:cNvPr id="7" name="Picture 6"/>
          <p:cNvPicPr>
            <a:picLocks noChangeAspect="1"/>
          </p:cNvPicPr>
          <p:nvPr/>
        </p:nvPicPr>
        <p:blipFill>
          <a:blip r:embed="rId3"/>
          <a:stretch>
            <a:fillRect/>
          </a:stretch>
        </p:blipFill>
        <p:spPr>
          <a:xfrm>
            <a:off x="4627853" y="3729255"/>
            <a:ext cx="6667500" cy="2992220"/>
          </a:xfrm>
          <a:prstGeom prst="rect">
            <a:avLst/>
          </a:prstGeom>
        </p:spPr>
      </p:pic>
      <p:sp>
        <p:nvSpPr>
          <p:cNvPr id="8" name="Oval 7"/>
          <p:cNvSpPr/>
          <p:nvPr/>
        </p:nvSpPr>
        <p:spPr>
          <a:xfrm>
            <a:off x="1251678" y="799564"/>
            <a:ext cx="2604655" cy="2026080"/>
          </a:xfrm>
          <a:prstGeom prst="ellipse">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Storing an integer value in memory,</a:t>
            </a:r>
          </a:p>
          <a:p>
            <a:pPr algn="ctr"/>
            <a:r>
              <a:rPr lang="en-US" dirty="0" err="1">
                <a:solidFill>
                  <a:schemeClr val="tx1"/>
                </a:solidFill>
              </a:rPr>
              <a:t>int</a:t>
            </a:r>
            <a:r>
              <a:rPr lang="en-US" dirty="0">
                <a:solidFill>
                  <a:schemeClr val="tx1"/>
                </a:solidFill>
              </a:rPr>
              <a:t> x=8;</a:t>
            </a:r>
          </a:p>
        </p:txBody>
      </p:sp>
      <p:sp>
        <p:nvSpPr>
          <p:cNvPr id="9" name="Oval 8"/>
          <p:cNvSpPr/>
          <p:nvPr/>
        </p:nvSpPr>
        <p:spPr>
          <a:xfrm>
            <a:off x="1196248" y="3935276"/>
            <a:ext cx="3066189" cy="2607323"/>
          </a:xfrm>
          <a:prstGeom prst="ellipse">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Storing a list of numbers in memory: Using array we can store list of number of same type, array is always stored as one contiguous block of memory</a:t>
            </a:r>
          </a:p>
        </p:txBody>
      </p:sp>
      <p:sp>
        <p:nvSpPr>
          <p:cNvPr id="10" name="Rectangle 9"/>
          <p:cNvSpPr/>
          <p:nvPr/>
        </p:nvSpPr>
        <p:spPr>
          <a:xfrm>
            <a:off x="8354291" y="3024324"/>
            <a:ext cx="1898072" cy="315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Memory Manager</a:t>
            </a:r>
          </a:p>
          <a:p>
            <a:pPr algn="ctr"/>
            <a:endParaRPr lang="en-US" dirty="0"/>
          </a:p>
        </p:txBody>
      </p:sp>
      <p:sp>
        <p:nvSpPr>
          <p:cNvPr id="11" name="Rectangle 10"/>
          <p:cNvSpPr/>
          <p:nvPr/>
        </p:nvSpPr>
        <p:spPr>
          <a:xfrm>
            <a:off x="8354291" y="6542599"/>
            <a:ext cx="1898072" cy="315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Memory Manager</a:t>
            </a:r>
          </a:p>
          <a:p>
            <a:pPr algn="ctr"/>
            <a:endParaRPr lang="en-US" dirty="0"/>
          </a:p>
        </p:txBody>
      </p:sp>
    </p:spTree>
    <p:extLst>
      <p:ext uri="{BB962C8B-B14F-4D97-AF65-F5344CB8AC3E}">
        <p14:creationId xmlns:p14="http://schemas.microsoft.com/office/powerpoint/2010/main" val="11295245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pic>
        <p:nvPicPr>
          <p:cNvPr id="4" name="Content Placeholder 3"/>
          <p:cNvPicPr>
            <a:picLocks noGrp="1" noChangeAspect="1"/>
          </p:cNvPicPr>
          <p:nvPr>
            <p:ph idx="1"/>
          </p:nvPr>
        </p:nvPicPr>
        <p:blipFill>
          <a:blip r:embed="rId2"/>
          <a:stretch>
            <a:fillRect/>
          </a:stretch>
        </p:blipFill>
        <p:spPr>
          <a:xfrm>
            <a:off x="4544292" y="192991"/>
            <a:ext cx="7315200" cy="3145954"/>
          </a:xfrm>
          <a:prstGeom prst="rect">
            <a:avLst/>
          </a:prstGeom>
        </p:spPr>
      </p:pic>
      <p:sp>
        <p:nvSpPr>
          <p:cNvPr id="5" name="Oval 4"/>
          <p:cNvSpPr/>
          <p:nvPr/>
        </p:nvSpPr>
        <p:spPr>
          <a:xfrm>
            <a:off x="1025234" y="666092"/>
            <a:ext cx="3089566" cy="2478890"/>
          </a:xfrm>
          <a:prstGeom prst="ellipse">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Irrespective of the size of arrays, an application can access any of the elements in array in constant time(Random access)</a:t>
            </a:r>
          </a:p>
        </p:txBody>
      </p:sp>
      <p:sp>
        <p:nvSpPr>
          <p:cNvPr id="6" name="Rectangle 5"/>
          <p:cNvSpPr/>
          <p:nvPr/>
        </p:nvSpPr>
        <p:spPr>
          <a:xfrm>
            <a:off x="7407414" y="3018234"/>
            <a:ext cx="1898072" cy="315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Memory Manager</a:t>
            </a:r>
          </a:p>
          <a:p>
            <a:pPr algn="ctr"/>
            <a:endParaRPr lang="en-US" dirty="0"/>
          </a:p>
        </p:txBody>
      </p:sp>
      <p:pic>
        <p:nvPicPr>
          <p:cNvPr id="7" name="Picture 6"/>
          <p:cNvPicPr>
            <a:picLocks noChangeAspect="1"/>
          </p:cNvPicPr>
          <p:nvPr/>
        </p:nvPicPr>
        <p:blipFill>
          <a:blip r:embed="rId3"/>
          <a:stretch>
            <a:fillRect/>
          </a:stretch>
        </p:blipFill>
        <p:spPr>
          <a:xfrm>
            <a:off x="4655554" y="3643726"/>
            <a:ext cx="7203937" cy="3103437"/>
          </a:xfrm>
          <a:prstGeom prst="rect">
            <a:avLst/>
          </a:prstGeom>
        </p:spPr>
      </p:pic>
      <p:sp>
        <p:nvSpPr>
          <p:cNvPr id="8" name="Oval 7"/>
          <p:cNvSpPr/>
          <p:nvPr/>
        </p:nvSpPr>
        <p:spPr>
          <a:xfrm>
            <a:off x="1025234" y="3977329"/>
            <a:ext cx="3089566" cy="2205410"/>
          </a:xfrm>
          <a:prstGeom prst="ellipse">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Storing elements in array: a[0]=6; a[1]=5; a[2]=4; a[3]=2;</a:t>
            </a:r>
          </a:p>
        </p:txBody>
      </p:sp>
      <p:sp>
        <p:nvSpPr>
          <p:cNvPr id="9" name="Rectangle 8"/>
          <p:cNvSpPr/>
          <p:nvPr/>
        </p:nvSpPr>
        <p:spPr>
          <a:xfrm>
            <a:off x="8723596" y="6431762"/>
            <a:ext cx="1898072" cy="315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Memory Manager</a:t>
            </a:r>
          </a:p>
          <a:p>
            <a:pPr algn="ctr"/>
            <a:endParaRPr lang="en-US" dirty="0"/>
          </a:p>
        </p:txBody>
      </p:sp>
    </p:spTree>
    <p:extLst>
      <p:ext uri="{BB962C8B-B14F-4D97-AF65-F5344CB8AC3E}">
        <p14:creationId xmlns:p14="http://schemas.microsoft.com/office/powerpoint/2010/main" val="1501937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t>
            </a:r>
          </a:p>
        </p:txBody>
      </p:sp>
      <p:pic>
        <p:nvPicPr>
          <p:cNvPr id="4" name="Content Placeholder 3"/>
          <p:cNvPicPr>
            <a:picLocks noGrp="1" noChangeAspect="1"/>
          </p:cNvPicPr>
          <p:nvPr>
            <p:ph idx="1"/>
          </p:nvPr>
        </p:nvPicPr>
        <p:blipFill>
          <a:blip r:embed="rId2"/>
          <a:stretch>
            <a:fillRect/>
          </a:stretch>
        </p:blipFill>
        <p:spPr>
          <a:xfrm>
            <a:off x="4937627" y="382385"/>
            <a:ext cx="6881091" cy="2845725"/>
          </a:xfrm>
          <a:prstGeom prst="rect">
            <a:avLst/>
          </a:prstGeom>
        </p:spPr>
      </p:pic>
      <p:sp>
        <p:nvSpPr>
          <p:cNvPr id="6" name="Oval 5"/>
          <p:cNvSpPr/>
          <p:nvPr/>
        </p:nvSpPr>
        <p:spPr>
          <a:xfrm>
            <a:off x="841080" y="128316"/>
            <a:ext cx="3527564" cy="2790306"/>
          </a:xfrm>
          <a:prstGeom prst="ellipse">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Now, adding one more element to the array won't be possible in the same location, therefore the array is copied to a different memory area where the sufficient space is available</a:t>
            </a:r>
          </a:p>
        </p:txBody>
      </p:sp>
      <p:sp>
        <p:nvSpPr>
          <p:cNvPr id="7" name="Rectangle 6"/>
          <p:cNvSpPr/>
          <p:nvPr/>
        </p:nvSpPr>
        <p:spPr>
          <a:xfrm>
            <a:off x="8792868" y="2857290"/>
            <a:ext cx="1898072" cy="315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Memory Manager</a:t>
            </a:r>
          </a:p>
          <a:p>
            <a:pPr algn="ctr"/>
            <a:endParaRPr lang="en-US" dirty="0"/>
          </a:p>
        </p:txBody>
      </p:sp>
      <p:pic>
        <p:nvPicPr>
          <p:cNvPr id="8" name="Picture 7"/>
          <p:cNvPicPr>
            <a:picLocks noChangeAspect="1"/>
          </p:cNvPicPr>
          <p:nvPr/>
        </p:nvPicPr>
        <p:blipFill>
          <a:blip r:embed="rId3"/>
          <a:stretch>
            <a:fillRect/>
          </a:stretch>
        </p:blipFill>
        <p:spPr>
          <a:xfrm>
            <a:off x="767986" y="2959587"/>
            <a:ext cx="4169641" cy="1937039"/>
          </a:xfrm>
          <a:prstGeom prst="rect">
            <a:avLst/>
          </a:prstGeom>
        </p:spPr>
      </p:pic>
      <p:pic>
        <p:nvPicPr>
          <p:cNvPr id="10" name="Picture 9"/>
          <p:cNvPicPr>
            <a:picLocks noChangeAspect="1"/>
          </p:cNvPicPr>
          <p:nvPr/>
        </p:nvPicPr>
        <p:blipFill>
          <a:blip r:embed="rId4"/>
          <a:stretch>
            <a:fillRect/>
          </a:stretch>
        </p:blipFill>
        <p:spPr>
          <a:xfrm>
            <a:off x="4937627" y="3891916"/>
            <a:ext cx="6492373" cy="2417443"/>
          </a:xfrm>
          <a:prstGeom prst="rect">
            <a:avLst/>
          </a:prstGeom>
        </p:spPr>
      </p:pic>
      <p:sp>
        <p:nvSpPr>
          <p:cNvPr id="11" name="Oval 10"/>
          <p:cNvSpPr/>
          <p:nvPr/>
        </p:nvSpPr>
        <p:spPr>
          <a:xfrm>
            <a:off x="924850" y="4976778"/>
            <a:ext cx="3229132" cy="1881221"/>
          </a:xfrm>
          <a:prstGeom prst="ellipse">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Creation of entirely new array is costly. Solution to this problem is linked list data structure</a:t>
            </a:r>
          </a:p>
        </p:txBody>
      </p:sp>
      <p:sp>
        <p:nvSpPr>
          <p:cNvPr id="12" name="Oval 11"/>
          <p:cNvSpPr/>
          <p:nvPr/>
        </p:nvSpPr>
        <p:spPr>
          <a:xfrm>
            <a:off x="841080" y="4976779"/>
            <a:ext cx="3229132" cy="1881221"/>
          </a:xfrm>
          <a:prstGeom prst="ellipse">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Creation of entirely new array is costly. Solution to this problem is linked list data structure</a:t>
            </a:r>
          </a:p>
        </p:txBody>
      </p:sp>
      <p:sp>
        <p:nvSpPr>
          <p:cNvPr id="13" name="Rectangle 12"/>
          <p:cNvSpPr/>
          <p:nvPr/>
        </p:nvSpPr>
        <p:spPr>
          <a:xfrm>
            <a:off x="8792868" y="2801886"/>
            <a:ext cx="1898072" cy="315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Memory Manager</a:t>
            </a:r>
          </a:p>
          <a:p>
            <a:pPr algn="ctr"/>
            <a:endParaRPr lang="en-US" dirty="0"/>
          </a:p>
        </p:txBody>
      </p:sp>
      <p:sp>
        <p:nvSpPr>
          <p:cNvPr id="14" name="Rectangle 13"/>
          <p:cNvSpPr/>
          <p:nvPr/>
        </p:nvSpPr>
        <p:spPr>
          <a:xfrm>
            <a:off x="7090342" y="6151658"/>
            <a:ext cx="1898072" cy="315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Memory Manager</a:t>
            </a:r>
          </a:p>
          <a:p>
            <a:pPr algn="ctr"/>
            <a:endParaRPr lang="en-US" dirty="0"/>
          </a:p>
        </p:txBody>
      </p:sp>
    </p:spTree>
    <p:extLst>
      <p:ext uri="{BB962C8B-B14F-4D97-AF65-F5344CB8AC3E}">
        <p14:creationId xmlns:p14="http://schemas.microsoft.com/office/powerpoint/2010/main" val="1669262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679269" y="156754"/>
            <a:ext cx="10750731" cy="6525532"/>
          </a:xfrm>
        </p:spPr>
        <p:txBody>
          <a:bodyPr/>
          <a:lstStyle/>
          <a:p>
            <a:r>
              <a:rPr lang="en-US" dirty="0"/>
              <a:t> </a:t>
            </a:r>
          </a:p>
        </p:txBody>
      </p:sp>
      <p:sp>
        <p:nvSpPr>
          <p:cNvPr id="4" name="Oval 3"/>
          <p:cNvSpPr/>
          <p:nvPr/>
        </p:nvSpPr>
        <p:spPr>
          <a:xfrm>
            <a:off x="875212" y="156754"/>
            <a:ext cx="3579222" cy="2455817"/>
          </a:xfrm>
          <a:prstGeom prst="ellipse">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If we request for one element at a time, instead of getting one contiguous block of memory we get these disjoint, non-contiguous block of memory </a:t>
            </a:r>
          </a:p>
        </p:txBody>
      </p:sp>
      <p:sp>
        <p:nvSpPr>
          <p:cNvPr id="5" name="Oval 4"/>
          <p:cNvSpPr/>
          <p:nvPr/>
        </p:nvSpPr>
        <p:spPr>
          <a:xfrm>
            <a:off x="942804" y="2740983"/>
            <a:ext cx="3579222" cy="2013897"/>
          </a:xfrm>
          <a:prstGeom prst="ellipse">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Now we need to link these newly created blocks. To link these blocks, we store some extra information with the block.  </a:t>
            </a:r>
          </a:p>
        </p:txBody>
      </p:sp>
      <p:pic>
        <p:nvPicPr>
          <p:cNvPr id="6" name="Picture 5"/>
          <p:cNvPicPr>
            <a:picLocks noChangeAspect="1"/>
          </p:cNvPicPr>
          <p:nvPr/>
        </p:nvPicPr>
        <p:blipFill>
          <a:blip r:embed="rId2"/>
          <a:stretch>
            <a:fillRect/>
          </a:stretch>
        </p:blipFill>
        <p:spPr>
          <a:xfrm>
            <a:off x="5238206" y="-7896"/>
            <a:ext cx="6191794" cy="2520717"/>
          </a:xfrm>
          <a:prstGeom prst="rect">
            <a:avLst/>
          </a:prstGeom>
        </p:spPr>
      </p:pic>
      <p:sp>
        <p:nvSpPr>
          <p:cNvPr id="7" name="Rectangle 6"/>
          <p:cNvSpPr/>
          <p:nvPr/>
        </p:nvSpPr>
        <p:spPr>
          <a:xfrm>
            <a:off x="7341326" y="2197420"/>
            <a:ext cx="1898072" cy="315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Memory Manager</a:t>
            </a:r>
          </a:p>
          <a:p>
            <a:pPr algn="ctr"/>
            <a:endParaRPr lang="en-US" dirty="0"/>
          </a:p>
        </p:txBody>
      </p:sp>
      <p:pic>
        <p:nvPicPr>
          <p:cNvPr id="8" name="Picture 7"/>
          <p:cNvPicPr>
            <a:picLocks noChangeAspect="1"/>
          </p:cNvPicPr>
          <p:nvPr/>
        </p:nvPicPr>
        <p:blipFill>
          <a:blip r:embed="rId3"/>
          <a:stretch>
            <a:fillRect/>
          </a:stretch>
        </p:blipFill>
        <p:spPr>
          <a:xfrm>
            <a:off x="5194465" y="2512821"/>
            <a:ext cx="6191794" cy="2394859"/>
          </a:xfrm>
          <a:prstGeom prst="rect">
            <a:avLst/>
          </a:prstGeom>
        </p:spPr>
      </p:pic>
      <p:sp>
        <p:nvSpPr>
          <p:cNvPr id="9" name="Rectangle 8"/>
          <p:cNvSpPr/>
          <p:nvPr/>
        </p:nvSpPr>
        <p:spPr>
          <a:xfrm>
            <a:off x="7341326" y="4560397"/>
            <a:ext cx="1898072" cy="315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dirty="0"/>
              <a:t>Memory Manager</a:t>
            </a:r>
          </a:p>
          <a:p>
            <a:pPr algn="ctr"/>
            <a:endParaRPr lang="en-US" dirty="0"/>
          </a:p>
        </p:txBody>
      </p:sp>
      <p:sp>
        <p:nvSpPr>
          <p:cNvPr id="10" name="Oval 9"/>
          <p:cNvSpPr/>
          <p:nvPr/>
        </p:nvSpPr>
        <p:spPr>
          <a:xfrm>
            <a:off x="1056016" y="4803293"/>
            <a:ext cx="3579222" cy="2013897"/>
          </a:xfrm>
          <a:prstGeom prst="ellipse">
            <a:avLst/>
          </a:prstGeom>
          <a:solidFill>
            <a:schemeClr val="accent5">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Request MM for 2 blocks where 1</a:t>
            </a:r>
            <a:r>
              <a:rPr lang="en-US" baseline="30000" dirty="0">
                <a:solidFill>
                  <a:schemeClr val="tx1"/>
                </a:solidFill>
              </a:rPr>
              <a:t>st</a:t>
            </a:r>
            <a:r>
              <a:rPr lang="en-US" dirty="0">
                <a:solidFill>
                  <a:schemeClr val="tx1"/>
                </a:solidFill>
              </a:rPr>
              <a:t> block stores the value and other variable stores the address of the next block in order to create a link</a:t>
            </a:r>
          </a:p>
        </p:txBody>
      </p:sp>
      <p:pic>
        <p:nvPicPr>
          <p:cNvPr id="11" name="Picture 10"/>
          <p:cNvPicPr>
            <a:picLocks noChangeAspect="1"/>
          </p:cNvPicPr>
          <p:nvPr/>
        </p:nvPicPr>
        <p:blipFill>
          <a:blip r:embed="rId4"/>
          <a:stretch>
            <a:fillRect/>
          </a:stretch>
        </p:blipFill>
        <p:spPr>
          <a:xfrm>
            <a:off x="6229049" y="4980775"/>
            <a:ext cx="3181783" cy="1701511"/>
          </a:xfrm>
          <a:prstGeom prst="rect">
            <a:avLst/>
          </a:prstGeom>
        </p:spPr>
      </p:pic>
      <p:cxnSp>
        <p:nvCxnSpPr>
          <p:cNvPr id="13" name="Straight Arrow Connector 12"/>
          <p:cNvCxnSpPr/>
          <p:nvPr/>
        </p:nvCxnSpPr>
        <p:spPr>
          <a:xfrm flipV="1">
            <a:off x="4522026" y="3944983"/>
            <a:ext cx="1212568" cy="1489166"/>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5" name="Straight Arrow Connector 14"/>
          <p:cNvCxnSpPr/>
          <p:nvPr/>
        </p:nvCxnSpPr>
        <p:spPr>
          <a:xfrm>
            <a:off x="6439989" y="3513909"/>
            <a:ext cx="901337" cy="176348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8910475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descr="C:\Users\sanwarul\Desktop\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6286" y="509451"/>
            <a:ext cx="10110651" cy="5995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3748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809897" y="182880"/>
            <a:ext cx="10620103" cy="6949440"/>
          </a:xfrm>
        </p:spPr>
        <p:txBody>
          <a:bodyPr>
            <a:noAutofit/>
          </a:bodyPr>
          <a:lstStyle/>
          <a:p>
            <a:pPr marL="0" indent="0">
              <a:buNone/>
            </a:pPr>
            <a:r>
              <a:rPr lang="en-US" sz="1600" dirty="0"/>
              <a:t> </a:t>
            </a:r>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fontAlgn="base"/>
            <a:endParaRPr lang="en-US" sz="1600" b="1" dirty="0">
              <a:solidFill>
                <a:srgbClr val="002060"/>
              </a:solidFill>
            </a:endParaRPr>
          </a:p>
          <a:p>
            <a:pPr marL="0" indent="0" fontAlgn="base">
              <a:buNone/>
            </a:pPr>
            <a:r>
              <a:rPr lang="en-US" sz="1600" b="1" dirty="0">
                <a:solidFill>
                  <a:srgbClr val="002060"/>
                </a:solidFill>
              </a:rPr>
              <a:t>Linked List vs Array</a:t>
            </a:r>
          </a:p>
          <a:p>
            <a:pPr marL="0" indent="0" algn="just" fontAlgn="base">
              <a:buNone/>
            </a:pPr>
            <a:r>
              <a:rPr lang="en-US" sz="1600" dirty="0">
                <a:solidFill>
                  <a:srgbClr val="000000"/>
                </a:solidFill>
              </a:rPr>
              <a:t>Both </a:t>
            </a:r>
            <a:r>
              <a:rPr lang="en-US" sz="1600" b="1" dirty="0">
                <a:solidFill>
                  <a:srgbClr val="002060"/>
                </a:solidFill>
              </a:rPr>
              <a:t>Arrays</a:t>
            </a:r>
            <a:r>
              <a:rPr lang="en-US" sz="1600" dirty="0">
                <a:solidFill>
                  <a:srgbClr val="000000"/>
                </a:solidFill>
              </a:rPr>
              <a:t> and </a:t>
            </a:r>
            <a:r>
              <a:rPr lang="en-US" sz="1600" b="1" dirty="0">
                <a:solidFill>
                  <a:srgbClr val="002060"/>
                </a:solidFill>
              </a:rPr>
              <a:t>Linked List</a:t>
            </a:r>
            <a:r>
              <a:rPr lang="en-US" sz="1600" dirty="0">
                <a:solidFill>
                  <a:srgbClr val="000000"/>
                </a:solidFill>
              </a:rPr>
              <a:t> can be used to store linear data of similar types, but they both have some advantages and disadvantages over each other.</a:t>
            </a:r>
          </a:p>
          <a:p>
            <a:pPr marL="0" indent="0" algn="just" fontAlgn="base">
              <a:buNone/>
            </a:pPr>
            <a:r>
              <a:rPr lang="en-US" sz="1600" dirty="0">
                <a:solidFill>
                  <a:srgbClr val="002060"/>
                </a:solidFill>
              </a:rPr>
              <a:t>Following are the points in favor of Linked Lists.</a:t>
            </a:r>
          </a:p>
          <a:p>
            <a:pPr marL="0" indent="0" algn="just" fontAlgn="base">
              <a:buNone/>
            </a:pPr>
            <a:r>
              <a:rPr lang="en-US" sz="1600" dirty="0">
                <a:solidFill>
                  <a:srgbClr val="000000"/>
                </a:solidFill>
              </a:rPr>
              <a:t>(1) </a:t>
            </a:r>
            <a:r>
              <a:rPr lang="en-US" sz="1600" dirty="0">
                <a:solidFill>
                  <a:srgbClr val="C00000"/>
                </a:solidFill>
              </a:rPr>
              <a:t>The size of the array is fixed</a:t>
            </a:r>
            <a:r>
              <a:rPr lang="en-US" sz="1600" dirty="0">
                <a:solidFill>
                  <a:srgbClr val="000000"/>
                </a:solidFill>
              </a:rPr>
              <a:t>: So we must know the upper limit on the number of elements in advance. Also, generally, the allocated memory is equal to the upper limit irrespective of the usage, and in practical uses, upper limit is rarely reached.</a:t>
            </a:r>
          </a:p>
          <a:p>
            <a:pPr marL="0" indent="0" algn="just" fontAlgn="base">
              <a:buNone/>
            </a:pPr>
            <a:r>
              <a:rPr lang="en-US" sz="1600" dirty="0">
                <a:solidFill>
                  <a:srgbClr val="000000"/>
                </a:solidFill>
              </a:rPr>
              <a:t>(2) Inserting a new element in an array (sorted) of elements is expensive, because room has to be created for the new elements and to create room existing elements have to shifted.</a:t>
            </a:r>
            <a:endParaRPr lang="en-US" sz="1600" dirty="0"/>
          </a:p>
          <a:p>
            <a:pPr marL="0" indent="0">
              <a:buNone/>
            </a:pPr>
            <a:r>
              <a:rPr lang="en-US" sz="1600" dirty="0">
                <a:solidFill>
                  <a:srgbClr val="002060"/>
                </a:solidFill>
              </a:rPr>
              <a:t>Linked lists have following drawbacks</a:t>
            </a:r>
            <a:r>
              <a:rPr lang="en-US" sz="1600" dirty="0"/>
              <a:t/>
            </a:r>
            <a:br>
              <a:rPr lang="en-US" sz="1600" dirty="0"/>
            </a:br>
            <a:r>
              <a:rPr lang="en-US" sz="1600" dirty="0">
                <a:solidFill>
                  <a:schemeClr val="tx1"/>
                </a:solidFill>
              </a:rPr>
              <a:t>1) Random access is not allowed. We have to access elements sequentially starting from the first node. So we cannot do binary search with linked lists.</a:t>
            </a:r>
            <a:br>
              <a:rPr lang="en-US" sz="1600" dirty="0">
                <a:solidFill>
                  <a:schemeClr val="tx1"/>
                </a:solidFill>
              </a:rPr>
            </a:br>
            <a:r>
              <a:rPr lang="en-US" sz="1600" dirty="0">
                <a:solidFill>
                  <a:schemeClr val="tx1"/>
                </a:solidFill>
              </a:rPr>
              <a:t>2) Extra memory space for a pointer is required with each element of the list.</a:t>
            </a:r>
            <a:r>
              <a:rPr lang="en-US" sz="1600" dirty="0"/>
              <a:t/>
            </a:r>
            <a:br>
              <a:rPr lang="en-US" sz="1600" dirty="0"/>
            </a:br>
            <a:endParaRPr lang="en-US" sz="1600" dirty="0"/>
          </a:p>
        </p:txBody>
      </p:sp>
      <p:pic>
        <p:nvPicPr>
          <p:cNvPr id="4" name="Picture 3"/>
          <p:cNvPicPr>
            <a:picLocks noChangeAspect="1"/>
          </p:cNvPicPr>
          <p:nvPr/>
        </p:nvPicPr>
        <p:blipFill>
          <a:blip r:embed="rId2"/>
          <a:stretch>
            <a:fillRect/>
          </a:stretch>
        </p:blipFill>
        <p:spPr>
          <a:xfrm>
            <a:off x="6675120" y="382384"/>
            <a:ext cx="4310743" cy="1537855"/>
          </a:xfrm>
          <a:prstGeom prst="rect">
            <a:avLst/>
          </a:prstGeom>
        </p:spPr>
      </p:pic>
      <p:sp>
        <p:nvSpPr>
          <p:cNvPr id="6" name="Rectangle 5"/>
          <p:cNvSpPr/>
          <p:nvPr/>
        </p:nvSpPr>
        <p:spPr>
          <a:xfrm>
            <a:off x="1251678" y="182880"/>
            <a:ext cx="4049486" cy="2207623"/>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Logical representation of linked list.  Each node stores the data and address to the next node. First node also called as head node and the only information about the list that we keep all the time is address of the first node. The address of the last node is null.</a:t>
            </a:r>
          </a:p>
        </p:txBody>
      </p:sp>
      <p:sp>
        <p:nvSpPr>
          <p:cNvPr id="7" name="Right Arrow 6"/>
          <p:cNvSpPr/>
          <p:nvPr/>
        </p:nvSpPr>
        <p:spPr>
          <a:xfrm>
            <a:off x="5421086" y="848015"/>
            <a:ext cx="1071154" cy="5758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16253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accent6">
                <a:lumMod val="75000"/>
              </a:schemeClr>
            </a:solidFill>
          </a:ln>
        </p:spPr>
        <p:txBody>
          <a:bodyPr/>
          <a:lstStyle/>
          <a:p>
            <a:r>
              <a:rPr lang="en-US" dirty="0"/>
              <a:t>linked list vs array</a:t>
            </a:r>
          </a:p>
        </p:txBody>
      </p:sp>
      <p:sp>
        <p:nvSpPr>
          <p:cNvPr id="3" name="Content Placeholder 2"/>
          <p:cNvSpPr>
            <a:spLocks noGrp="1"/>
          </p:cNvSpPr>
          <p:nvPr>
            <p:ph idx="1"/>
          </p:nvPr>
        </p:nvSpPr>
        <p:spPr>
          <a:ln>
            <a:solidFill>
              <a:schemeClr val="accent6">
                <a:lumMod val="75000"/>
              </a:schemeClr>
            </a:solidFill>
          </a:ln>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Rectangle 3"/>
          <p:cNvSpPr/>
          <p:nvPr/>
        </p:nvSpPr>
        <p:spPr>
          <a:xfrm>
            <a:off x="1619573" y="1847073"/>
            <a:ext cx="758196" cy="465821"/>
          </a:xfrm>
          <a:prstGeom prst="rect">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2347569" y="1837948"/>
            <a:ext cx="758196" cy="465821"/>
          </a:xfrm>
          <a:prstGeom prst="rect">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102562" y="1846911"/>
            <a:ext cx="758196" cy="465821"/>
          </a:xfrm>
          <a:prstGeom prst="rect">
            <a:avLst/>
          </a:prstGeom>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615751" y="2289800"/>
            <a:ext cx="758196" cy="465821"/>
          </a:xfrm>
          <a:prstGeom prst="rect">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860758" y="1836685"/>
            <a:ext cx="758196" cy="465821"/>
          </a:xfrm>
          <a:prstGeom prst="rect">
            <a:avLst/>
          </a:prstGeom>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615827" y="2319080"/>
            <a:ext cx="758196" cy="465821"/>
          </a:xfrm>
          <a:prstGeom prst="rect">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358256" y="2305633"/>
            <a:ext cx="758196" cy="465821"/>
          </a:xfrm>
          <a:prstGeom prst="rect">
            <a:avLst/>
          </a:prstGeom>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101563" y="2784901"/>
            <a:ext cx="758196" cy="465821"/>
          </a:xfrm>
          <a:prstGeom prst="rect">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3861844" y="2317182"/>
            <a:ext cx="758196" cy="4658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116552" y="2312613"/>
            <a:ext cx="758196" cy="465821"/>
          </a:xfrm>
          <a:prstGeom prst="rect">
            <a:avLst/>
          </a:prstGeom>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3873147" y="3250722"/>
            <a:ext cx="758196" cy="465821"/>
          </a:xfrm>
          <a:prstGeom prst="rect">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2372693" y="2785072"/>
            <a:ext cx="758196" cy="465821"/>
          </a:xfrm>
          <a:prstGeom prst="rect">
            <a:avLst/>
          </a:prstGeom>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3114951" y="3251171"/>
            <a:ext cx="758196" cy="465821"/>
          </a:xfrm>
          <a:prstGeom prst="rect">
            <a:avLst/>
          </a:prstGeom>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3873147" y="2792880"/>
            <a:ext cx="758196" cy="465821"/>
          </a:xfrm>
          <a:prstGeom prst="rect">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4645734" y="3240523"/>
            <a:ext cx="758196" cy="465821"/>
          </a:xfrm>
          <a:prstGeom prst="rect">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4615751" y="1827718"/>
            <a:ext cx="758196" cy="465821"/>
          </a:xfrm>
          <a:prstGeom prst="rect">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4623547" y="2764807"/>
            <a:ext cx="758196" cy="465821"/>
          </a:xfrm>
          <a:prstGeom prst="rect">
            <a:avLst/>
          </a:prstGeom>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1613404" y="3252449"/>
            <a:ext cx="758196" cy="465821"/>
          </a:xfrm>
          <a:prstGeom prst="rect">
            <a:avLst/>
          </a:prstGeom>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2358256" y="3263998"/>
            <a:ext cx="758196" cy="465821"/>
          </a:xfrm>
          <a:prstGeom prst="rect">
            <a:avLst/>
          </a:prstGeom>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1613404" y="2768258"/>
            <a:ext cx="758196" cy="482464"/>
          </a:xfrm>
          <a:prstGeom prst="rect">
            <a:avLst/>
          </a:prstGeom>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588385" y="1719494"/>
            <a:ext cx="3469341" cy="2394658"/>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Dynamically allocating an array of size 4 to this heap area will not be possible because contiguous block of 16 bytes is not available here.</a:t>
            </a:r>
          </a:p>
        </p:txBody>
      </p:sp>
      <p:sp>
        <p:nvSpPr>
          <p:cNvPr id="20" name="Rectangle 19"/>
          <p:cNvSpPr/>
          <p:nvPr/>
        </p:nvSpPr>
        <p:spPr>
          <a:xfrm>
            <a:off x="1613404" y="3720376"/>
            <a:ext cx="3760543" cy="9448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ln w="0"/>
              <a:solidFill>
                <a:schemeClr val="tx1"/>
              </a:solidFill>
              <a:effectLst>
                <a:outerShdw blurRad="38100" dist="19050" dir="2700000" algn="tl" rotWithShape="0">
                  <a:schemeClr val="dk1">
                    <a:alpha val="40000"/>
                  </a:schemeClr>
                </a:outerShdw>
              </a:effectLst>
            </a:endParaRPr>
          </a:p>
          <a:p>
            <a:r>
              <a:rPr lang="en-US" dirty="0">
                <a:ln w="0"/>
                <a:solidFill>
                  <a:schemeClr val="tx1"/>
                </a:solidFill>
                <a:effectLst>
                  <a:outerShdw blurRad="38100" dist="19050" dir="2700000" algn="tl" rotWithShape="0">
                    <a:schemeClr val="dk1">
                      <a:alpha val="40000"/>
                    </a:schemeClr>
                  </a:outerShdw>
                </a:effectLst>
              </a:rPr>
              <a:t>HEAP MEMORY(every block represents 4 byte and white color block represents free space)</a:t>
            </a:r>
          </a:p>
          <a:p>
            <a:endParaRPr lang="en-US" dirty="0">
              <a:ln w="0"/>
              <a:solidFill>
                <a:schemeClr val="tx1"/>
              </a:solidFill>
              <a:effectLst>
                <a:outerShdw blurRad="38100" dist="19050" dir="2700000" algn="tl" rotWithShape="0">
                  <a:schemeClr val="dk1">
                    <a:alpha val="40000"/>
                  </a:schemeClr>
                </a:outerShdw>
              </a:effectLst>
            </a:endParaRPr>
          </a:p>
        </p:txBody>
      </p:sp>
      <p:sp>
        <p:nvSpPr>
          <p:cNvPr id="32" name="Oval 31"/>
          <p:cNvSpPr/>
          <p:nvPr/>
        </p:nvSpPr>
        <p:spPr>
          <a:xfrm>
            <a:off x="6588385" y="1707776"/>
            <a:ext cx="3469341" cy="2394658"/>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Dynamically allocating an array of size 4 to this heap area will not be possible because contiguous block of 16 bytes is not available here.</a:t>
            </a:r>
          </a:p>
        </p:txBody>
      </p:sp>
      <p:sp>
        <p:nvSpPr>
          <p:cNvPr id="33" name="Oval 32"/>
          <p:cNvSpPr/>
          <p:nvPr/>
        </p:nvSpPr>
        <p:spPr>
          <a:xfrm>
            <a:off x="6776564" y="4827493"/>
            <a:ext cx="3469341" cy="1816051"/>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But, Allocating a linked list of size 4 to this heap area will be possible</a:t>
            </a:r>
          </a:p>
        </p:txBody>
      </p:sp>
    </p:spTree>
    <p:extLst>
      <p:ext uri="{BB962C8B-B14F-4D97-AF65-F5344CB8AC3E}">
        <p14:creationId xmlns:p14="http://schemas.microsoft.com/office/powerpoint/2010/main" val="10594668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descr="C:\Users\sanwarul\Desktop\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3223" y="339635"/>
            <a:ext cx="9810206" cy="5803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08154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8194" name="Picture 2" descr="C:\Users\sanwarul\Desktop\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0971" y="457200"/>
            <a:ext cx="10280469" cy="61264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23096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descr="C:\Users\sanwarul\Desktop\4.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40970" y="444137"/>
            <a:ext cx="10398035" cy="5779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70804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42" name="Picture 2" descr="C:\Users\sanwarul\Desktop\5.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4846" y="418011"/>
            <a:ext cx="10280468" cy="6177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45446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1266" name="Picture 2" descr="C:\Users\sanwarul\Desktop\6.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5657" y="496390"/>
            <a:ext cx="10267406" cy="6225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339747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2290" name="Picture 2" descr="C:\Users\sanwarul\Desktop\7.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19350" y="496390"/>
            <a:ext cx="10228216" cy="6225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94778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3314" name="Picture 2" descr="C:\Users\sanwarul\Desktop\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4035" y="404949"/>
            <a:ext cx="10189028" cy="6074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835275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Linked list operations</a:t>
            </a:r>
          </a:p>
        </p:txBody>
      </p:sp>
      <p:sp>
        <p:nvSpPr>
          <p:cNvPr id="3" name="Content Placeholder 2"/>
          <p:cNvSpPr>
            <a:spLocks noGrp="1"/>
          </p:cNvSpPr>
          <p:nvPr>
            <p:ph idx="1"/>
          </p:nvPr>
        </p:nvSpPr>
        <p:spPr/>
        <p:txBody>
          <a:bodyPr/>
          <a:lstStyle/>
          <a:p>
            <a:r>
              <a:rPr lang="en-US" dirty="0"/>
              <a:t>Insert at the beginning of the linked list</a:t>
            </a:r>
          </a:p>
          <a:p>
            <a:r>
              <a:rPr lang="en-US" dirty="0"/>
              <a:t>Insert at the end of the linked list</a:t>
            </a:r>
          </a:p>
          <a:p>
            <a:r>
              <a:rPr lang="en-US" dirty="0"/>
              <a:t>Insert at the given position of the linked list</a:t>
            </a:r>
          </a:p>
          <a:p>
            <a:r>
              <a:rPr lang="en-US" dirty="0"/>
              <a:t>Delete from the beginning of the linked list</a:t>
            </a:r>
          </a:p>
          <a:p>
            <a:r>
              <a:rPr lang="en-US" dirty="0"/>
              <a:t>Delete from the end of the linked list</a:t>
            </a:r>
          </a:p>
          <a:p>
            <a:r>
              <a:rPr lang="en-US" dirty="0"/>
              <a:t>Delete from the given position of the linked list</a:t>
            </a:r>
          </a:p>
          <a:p>
            <a:r>
              <a:rPr lang="en-US" dirty="0"/>
              <a:t>Search an element in a given linked list</a:t>
            </a:r>
          </a:p>
          <a:p>
            <a:r>
              <a:rPr lang="en-US" dirty="0"/>
              <a:t>Reversing a linked list</a:t>
            </a:r>
          </a:p>
          <a:p>
            <a:r>
              <a:rPr lang="en-US" b="1" dirty="0"/>
              <a:t>Merging two linked list</a:t>
            </a:r>
          </a:p>
          <a:p>
            <a:r>
              <a:rPr lang="en-US" dirty="0"/>
              <a:t>Traversing of linked list</a:t>
            </a:r>
          </a:p>
          <a:p>
            <a:endParaRPr lang="en-US" dirty="0"/>
          </a:p>
          <a:p>
            <a:endParaRPr lang="en-US" dirty="0"/>
          </a:p>
        </p:txBody>
      </p:sp>
    </p:spTree>
    <p:extLst>
      <p:ext uri="{BB962C8B-B14F-4D97-AF65-F5344CB8AC3E}">
        <p14:creationId xmlns:p14="http://schemas.microsoft.com/office/powerpoint/2010/main" val="8171172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4338" name="Picture 2" descr="C:\Users\sanwarul\Desktop\o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71154" y="300446"/>
            <a:ext cx="10175966" cy="6421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08629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5362" name="Picture 2" descr="C:\Users\sanwarul\Desktop\o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3962" y="483326"/>
            <a:ext cx="10067478" cy="5954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95361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6386" name="Picture 2" descr="C:\Users\sanwarul\Desktop\o3.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97726" y="535577"/>
            <a:ext cx="9734715" cy="5871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00423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Algorithm to Display the content</a:t>
            </a:r>
          </a:p>
        </p:txBody>
      </p:sp>
      <p:pic>
        <p:nvPicPr>
          <p:cNvPr id="17410" name="Picture 2" descr="C:\Users\sanwarul\Desktop\o5.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40971" y="1802674"/>
            <a:ext cx="9862458" cy="4918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151318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8434" name="Picture 2" descr="C:\Users\sanwarul\Desktop\o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349" y="574766"/>
            <a:ext cx="9849394" cy="5995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118324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9458" name="Picture 2" descr="C:\Users\sanwarul\Desktop\o7.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4846" y="574766"/>
            <a:ext cx="10241279" cy="5863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76060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482" name="Picture 2" descr="C:\Users\sanwarul\Desktop\o8.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06286" y="548640"/>
            <a:ext cx="10332720" cy="6132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76746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1506" name="Picture 2" descr="C:\Users\sanwarul\Desktop\o9.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88721" y="483327"/>
            <a:ext cx="10293530" cy="5845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305790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2530" name="Picture 2" descr="C:\Users\sanwarul\Desktop\l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8538" y="488950"/>
            <a:ext cx="10293532" cy="5878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036089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3554" name="Picture 2" descr="C:\Users\sanwarul\Desktop\l10.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71154" y="418012"/>
            <a:ext cx="10293532" cy="630346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648995" y="404949"/>
            <a:ext cx="653142" cy="40494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20</a:t>
            </a:r>
          </a:p>
        </p:txBody>
      </p:sp>
      <p:sp>
        <p:nvSpPr>
          <p:cNvPr id="6" name="Rectangle 5"/>
          <p:cNvSpPr/>
          <p:nvPr/>
        </p:nvSpPr>
        <p:spPr>
          <a:xfrm>
            <a:off x="8068492" y="962297"/>
            <a:ext cx="653142" cy="40494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20</a:t>
            </a:r>
          </a:p>
        </p:txBody>
      </p:sp>
    </p:spTree>
    <p:extLst>
      <p:ext uri="{BB962C8B-B14F-4D97-AF65-F5344CB8AC3E}">
        <p14:creationId xmlns:p14="http://schemas.microsoft.com/office/powerpoint/2010/main" val="220775670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4578" name="Picture 2" descr="C:\Users\sanwarul\Desktop\l1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1" y="365760"/>
            <a:ext cx="9953896" cy="6177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684134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to search an item</a:t>
            </a:r>
          </a:p>
        </p:txBody>
      </p:sp>
      <p:pic>
        <p:nvPicPr>
          <p:cNvPr id="25602" name="Picture 2" descr="C:\Users\sanwarul\Desktop\l1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15291" y="1506538"/>
            <a:ext cx="9313818" cy="5214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84244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6626" name="Picture 2" descr="C:\Users\sanwarul\Desktop\l13.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97727" y="156754"/>
            <a:ext cx="9888582" cy="58339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727325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Linked list operations</a:t>
            </a:r>
          </a:p>
        </p:txBody>
      </p:sp>
      <p:sp>
        <p:nvSpPr>
          <p:cNvPr id="3" name="Content Placeholder 2"/>
          <p:cNvSpPr>
            <a:spLocks noGrp="1"/>
          </p:cNvSpPr>
          <p:nvPr>
            <p:ph idx="1"/>
          </p:nvPr>
        </p:nvSpPr>
        <p:spPr/>
        <p:txBody>
          <a:bodyPr/>
          <a:lstStyle/>
          <a:p>
            <a:pPr marL="0" indent="0">
              <a:buNone/>
            </a:pPr>
            <a:r>
              <a:rPr lang="en-US" b="1" dirty="0">
                <a:solidFill>
                  <a:srgbClr val="FF0000"/>
                </a:solidFill>
              </a:rPr>
              <a:t>Operations on Linked Lists  </a:t>
            </a:r>
          </a:p>
          <a:p>
            <a:pPr marL="0" indent="0">
              <a:buNone/>
            </a:pPr>
            <a:endParaRPr lang="en-US" b="1" dirty="0">
              <a:solidFill>
                <a:srgbClr val="FF0000"/>
              </a:solidFill>
            </a:endParaRPr>
          </a:p>
          <a:p>
            <a:pPr marL="0" indent="0">
              <a:buNone/>
            </a:pPr>
            <a:endParaRPr lang="en-US" dirty="0"/>
          </a:p>
          <a:p>
            <a:pPr marL="0" indent="0">
              <a:buNone/>
            </a:pPr>
            <a:endParaRPr lang="en-US" dirty="0">
              <a:solidFill>
                <a:schemeClr val="tx1"/>
              </a:solidFill>
            </a:endParaRPr>
          </a:p>
          <a:p>
            <a:endParaRPr lang="en-US" dirty="0">
              <a:solidFill>
                <a:schemeClr val="tx1"/>
              </a:solidFill>
            </a:endParaRPr>
          </a:p>
        </p:txBody>
      </p:sp>
      <p:sp>
        <p:nvSpPr>
          <p:cNvPr id="5" name="Right Arrow 4"/>
          <p:cNvSpPr/>
          <p:nvPr/>
        </p:nvSpPr>
        <p:spPr>
          <a:xfrm>
            <a:off x="1984786" y="3041725"/>
            <a:ext cx="3254188" cy="64545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Refer Program here</a:t>
            </a:r>
          </a:p>
        </p:txBody>
      </p:sp>
      <p:graphicFrame>
        <p:nvGraphicFramePr>
          <p:cNvPr id="4" name="Object 3"/>
          <p:cNvGraphicFramePr>
            <a:graphicFrameLocks noChangeAspect="1"/>
          </p:cNvGraphicFramePr>
          <p:nvPr>
            <p:extLst>
              <p:ext uri="{D42A27DB-BD31-4B8C-83A1-F6EECF244321}">
                <p14:modId xmlns:p14="http://schemas.microsoft.com/office/powerpoint/2010/main" val="1170511839"/>
              </p:ext>
            </p:extLst>
          </p:nvPr>
        </p:nvGraphicFramePr>
        <p:xfrm>
          <a:off x="6015038" y="2979738"/>
          <a:ext cx="647700" cy="527050"/>
        </p:xfrm>
        <a:graphic>
          <a:graphicData uri="http://schemas.openxmlformats.org/presentationml/2006/ole">
            <mc:AlternateContent xmlns:mc="http://schemas.openxmlformats.org/markup-compatibility/2006">
              <mc:Choice xmlns:v="urn:schemas-microsoft-com:vml" Requires="v">
                <p:oleObj spid="_x0000_s1251" name="Packager Shell Object" showAsIcon="1" r:id="rId4" imgW="647873" imgH="526962" progId="Package">
                  <p:embed/>
                </p:oleObj>
              </mc:Choice>
              <mc:Fallback>
                <p:oleObj name="Packager Shell Object" showAsIcon="1" r:id="rId4" imgW="647873" imgH="526962" progId="Package">
                  <p:embed/>
                  <p:pic>
                    <p:nvPicPr>
                      <p:cNvPr id="0" name=""/>
                      <p:cNvPicPr/>
                      <p:nvPr/>
                    </p:nvPicPr>
                    <p:blipFill>
                      <a:blip r:embed="rId5"/>
                      <a:stretch>
                        <a:fillRect/>
                      </a:stretch>
                    </p:blipFill>
                    <p:spPr>
                      <a:xfrm>
                        <a:off x="6015038" y="2979738"/>
                        <a:ext cx="647700" cy="527050"/>
                      </a:xfrm>
                      <a:prstGeom prst="rect">
                        <a:avLst/>
                      </a:prstGeom>
                    </p:spPr>
                  </p:pic>
                </p:oleObj>
              </mc:Fallback>
            </mc:AlternateContent>
          </a:graphicData>
        </a:graphic>
      </p:graphicFrame>
    </p:spTree>
    <p:extLst>
      <p:ext uri="{BB962C8B-B14F-4D97-AF65-F5344CB8AC3E}">
        <p14:creationId xmlns:p14="http://schemas.microsoft.com/office/powerpoint/2010/main" val="329207211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Doubly linked list</a:t>
            </a:r>
          </a:p>
        </p:txBody>
      </p:sp>
      <p:pic>
        <p:nvPicPr>
          <p:cNvPr id="4" name="Content Placeholder 3"/>
          <p:cNvPicPr>
            <a:picLocks noGrp="1" noChangeAspect="1"/>
          </p:cNvPicPr>
          <p:nvPr>
            <p:ph idx="1"/>
          </p:nvPr>
        </p:nvPicPr>
        <p:blipFill>
          <a:blip r:embed="rId2"/>
          <a:stretch>
            <a:fillRect/>
          </a:stretch>
        </p:blipFill>
        <p:spPr>
          <a:xfrm>
            <a:off x="1359254" y="4234634"/>
            <a:ext cx="6352428" cy="2293798"/>
          </a:xfrm>
          <a:prstGeom prst="rect">
            <a:avLst/>
          </a:prstGeom>
        </p:spPr>
      </p:pic>
      <p:sp>
        <p:nvSpPr>
          <p:cNvPr id="5" name="Rectangle 4"/>
          <p:cNvSpPr/>
          <p:nvPr/>
        </p:nvSpPr>
        <p:spPr>
          <a:xfrm>
            <a:off x="1251678" y="1480101"/>
            <a:ext cx="10178322" cy="646331"/>
          </a:xfrm>
          <a:prstGeom prst="rect">
            <a:avLst/>
          </a:prstGeom>
        </p:spPr>
        <p:txBody>
          <a:bodyPr wrap="square">
            <a:spAutoFit/>
          </a:bodyPr>
          <a:lstStyle/>
          <a:p>
            <a:pPr algn="just" fontAlgn="base"/>
            <a:r>
              <a:rPr lang="en-US" dirty="0">
                <a:solidFill>
                  <a:srgbClr val="000000"/>
                </a:solidFill>
                <a:latin typeface="Open Sans"/>
              </a:rPr>
              <a:t>A </a:t>
            </a:r>
            <a:r>
              <a:rPr lang="en-US" b="1" dirty="0">
                <a:solidFill>
                  <a:srgbClr val="000000"/>
                </a:solidFill>
                <a:latin typeface="Open Sans"/>
              </a:rPr>
              <a:t>D</a:t>
            </a:r>
            <a:r>
              <a:rPr lang="en-US" dirty="0">
                <a:solidFill>
                  <a:srgbClr val="000000"/>
                </a:solidFill>
                <a:latin typeface="Open Sans"/>
              </a:rPr>
              <a:t>oubly </a:t>
            </a:r>
            <a:r>
              <a:rPr lang="en-US" b="1" dirty="0">
                <a:solidFill>
                  <a:srgbClr val="000000"/>
                </a:solidFill>
                <a:latin typeface="Open Sans"/>
              </a:rPr>
              <a:t>L</a:t>
            </a:r>
            <a:r>
              <a:rPr lang="en-US" dirty="0">
                <a:solidFill>
                  <a:srgbClr val="000000"/>
                </a:solidFill>
                <a:latin typeface="Open Sans"/>
              </a:rPr>
              <a:t>inked </a:t>
            </a:r>
            <a:r>
              <a:rPr lang="en-US" b="1" dirty="0">
                <a:solidFill>
                  <a:srgbClr val="000000"/>
                </a:solidFill>
                <a:latin typeface="Open Sans"/>
              </a:rPr>
              <a:t>L</a:t>
            </a:r>
            <a:r>
              <a:rPr lang="en-US" dirty="0">
                <a:solidFill>
                  <a:srgbClr val="000000"/>
                </a:solidFill>
                <a:latin typeface="Open Sans"/>
              </a:rPr>
              <a:t>ist (DLL) contains an extra pointer, typically called </a:t>
            </a:r>
            <a:r>
              <a:rPr lang="en-US" i="1" dirty="0">
                <a:solidFill>
                  <a:srgbClr val="000000"/>
                </a:solidFill>
                <a:latin typeface="Open Sans"/>
              </a:rPr>
              <a:t>previous pointer</a:t>
            </a:r>
            <a:r>
              <a:rPr lang="en-US" dirty="0">
                <a:solidFill>
                  <a:srgbClr val="000000"/>
                </a:solidFill>
                <a:latin typeface="Open Sans"/>
              </a:rPr>
              <a:t>, together with next pointer and data which are there in singly linked list.</a:t>
            </a:r>
            <a:endParaRPr lang="en-US" b="0" i="0" dirty="0">
              <a:solidFill>
                <a:srgbClr val="000000"/>
              </a:solidFill>
              <a:effectLst/>
              <a:latin typeface="Open Sans"/>
            </a:endParaRPr>
          </a:p>
        </p:txBody>
      </p:sp>
      <p:pic>
        <p:nvPicPr>
          <p:cNvPr id="6" name="Picture 5"/>
          <p:cNvPicPr>
            <a:picLocks noChangeAspect="1"/>
          </p:cNvPicPr>
          <p:nvPr/>
        </p:nvPicPr>
        <p:blipFill>
          <a:blip r:embed="rId3"/>
          <a:stretch>
            <a:fillRect/>
          </a:stretch>
        </p:blipFill>
        <p:spPr>
          <a:xfrm>
            <a:off x="1251678" y="2214140"/>
            <a:ext cx="7296356" cy="2020493"/>
          </a:xfrm>
          <a:prstGeom prst="rect">
            <a:avLst/>
          </a:prstGeom>
        </p:spPr>
      </p:pic>
    </p:spTree>
    <p:extLst>
      <p:ext uri="{BB962C8B-B14F-4D97-AF65-F5344CB8AC3E}">
        <p14:creationId xmlns:p14="http://schemas.microsoft.com/office/powerpoint/2010/main" val="81607196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Doubly linked list</a:t>
            </a:r>
          </a:p>
        </p:txBody>
      </p:sp>
      <p:sp>
        <p:nvSpPr>
          <p:cNvPr id="3" name="Content Placeholder 2"/>
          <p:cNvSpPr>
            <a:spLocks noGrp="1"/>
          </p:cNvSpPr>
          <p:nvPr>
            <p:ph idx="1"/>
          </p:nvPr>
        </p:nvSpPr>
        <p:spPr/>
        <p:txBody>
          <a:bodyPr/>
          <a:lstStyle/>
          <a:p>
            <a:pPr marL="0" indent="0" fontAlgn="base">
              <a:buNone/>
            </a:pPr>
            <a:r>
              <a:rPr lang="en-US" b="1" dirty="0">
                <a:solidFill>
                  <a:schemeClr val="tx1"/>
                </a:solidFill>
              </a:rPr>
              <a:t>Advantages over singly linked list</a:t>
            </a:r>
            <a:r>
              <a:rPr lang="en-US" dirty="0">
                <a:solidFill>
                  <a:schemeClr val="tx1"/>
                </a:solidFill>
              </a:rPr>
              <a:t/>
            </a:r>
            <a:br>
              <a:rPr lang="en-US" dirty="0">
                <a:solidFill>
                  <a:schemeClr val="tx1"/>
                </a:solidFill>
              </a:rPr>
            </a:br>
            <a:r>
              <a:rPr lang="en-US" b="1" dirty="0">
                <a:solidFill>
                  <a:schemeClr val="tx1"/>
                </a:solidFill>
              </a:rPr>
              <a:t>1)</a:t>
            </a:r>
            <a:r>
              <a:rPr lang="en-US" dirty="0">
                <a:solidFill>
                  <a:schemeClr val="tx1"/>
                </a:solidFill>
              </a:rPr>
              <a:t> A DLL can be traversed in both forward and backward direction.</a:t>
            </a:r>
            <a:br>
              <a:rPr lang="en-US" dirty="0">
                <a:solidFill>
                  <a:schemeClr val="tx1"/>
                </a:solidFill>
              </a:rPr>
            </a:br>
            <a:r>
              <a:rPr lang="en-US" b="1" dirty="0">
                <a:solidFill>
                  <a:schemeClr val="tx1"/>
                </a:solidFill>
              </a:rPr>
              <a:t>2)</a:t>
            </a:r>
            <a:r>
              <a:rPr lang="en-US" dirty="0">
                <a:solidFill>
                  <a:schemeClr val="tx1"/>
                </a:solidFill>
              </a:rPr>
              <a:t> The delete operation in DLL is more efficient if pointer to the node to be deleted is given.</a:t>
            </a:r>
            <a:br>
              <a:rPr lang="en-US" dirty="0">
                <a:solidFill>
                  <a:schemeClr val="tx1"/>
                </a:solidFill>
              </a:rPr>
            </a:br>
            <a:r>
              <a:rPr lang="en-US" dirty="0">
                <a:solidFill>
                  <a:schemeClr val="tx1"/>
                </a:solidFill>
              </a:rPr>
              <a:t>In singly linked list, to delete a node, pointer to the previous node is needed. To get this previous node, sometimes the list is traversed. In DLL, we can get the previous node using previous pointer.</a:t>
            </a:r>
          </a:p>
          <a:p>
            <a:pPr marL="0" indent="0" fontAlgn="base">
              <a:buNone/>
            </a:pPr>
            <a:r>
              <a:rPr lang="en-US" b="1" dirty="0">
                <a:solidFill>
                  <a:schemeClr val="tx1"/>
                </a:solidFill>
              </a:rPr>
              <a:t>Disadvantages over singly linked list</a:t>
            </a:r>
            <a:r>
              <a:rPr lang="en-US" dirty="0">
                <a:solidFill>
                  <a:schemeClr val="tx1"/>
                </a:solidFill>
              </a:rPr>
              <a:t/>
            </a:r>
            <a:br>
              <a:rPr lang="en-US" dirty="0">
                <a:solidFill>
                  <a:schemeClr val="tx1"/>
                </a:solidFill>
              </a:rPr>
            </a:br>
            <a:r>
              <a:rPr lang="en-US" b="1" dirty="0">
                <a:solidFill>
                  <a:schemeClr val="tx1"/>
                </a:solidFill>
              </a:rPr>
              <a:t>1)</a:t>
            </a:r>
            <a:r>
              <a:rPr lang="en-US" dirty="0">
                <a:solidFill>
                  <a:schemeClr val="tx1"/>
                </a:solidFill>
              </a:rPr>
              <a:t> Every node of DLL Require extra space for a previous pointer. </a:t>
            </a:r>
            <a:br>
              <a:rPr lang="en-US" dirty="0">
                <a:solidFill>
                  <a:schemeClr val="tx1"/>
                </a:solidFill>
              </a:rPr>
            </a:br>
            <a:r>
              <a:rPr lang="en-US" b="1" dirty="0">
                <a:solidFill>
                  <a:schemeClr val="tx1"/>
                </a:solidFill>
              </a:rPr>
              <a:t>2)</a:t>
            </a:r>
            <a:r>
              <a:rPr lang="en-US" dirty="0">
                <a:solidFill>
                  <a:schemeClr val="tx1"/>
                </a:solidFill>
              </a:rPr>
              <a:t> All operations require an extra pointer previous to be maintained. For example, in insertion, we need to modify previous pointers together with next pointers. For example in following functions for insertions at different positions, we need 1 or 2 extra steps to set previous pointer.</a:t>
            </a:r>
          </a:p>
        </p:txBody>
      </p:sp>
    </p:spTree>
    <p:extLst>
      <p:ext uri="{BB962C8B-B14F-4D97-AF65-F5344CB8AC3E}">
        <p14:creationId xmlns:p14="http://schemas.microsoft.com/office/powerpoint/2010/main" val="377969602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7C443A-C55B-7D10-29AB-50A6A3DE7C14}"/>
              </a:ext>
            </a:extLst>
          </p:cNvPr>
          <p:cNvSpPr>
            <a:spLocks noGrp="1"/>
          </p:cNvSpPr>
          <p:nvPr>
            <p:ph idx="1"/>
          </p:nvPr>
        </p:nvSpPr>
        <p:spPr>
          <a:xfrm>
            <a:off x="762000" y="918981"/>
            <a:ext cx="10972800" cy="5359583"/>
          </a:xfrm>
        </p:spPr>
        <p:txBody>
          <a:bodyPr>
            <a:normAutofit/>
          </a:bodyPr>
          <a:lstStyle/>
          <a:p>
            <a:pPr marL="0" indent="0">
              <a:buNone/>
            </a:pPr>
            <a:r>
              <a:rPr lang="en-US" sz="2000" b="1" dirty="0"/>
              <a:t>Insert a node at the front in a Doubly Linked List:</a:t>
            </a:r>
          </a:p>
          <a:p>
            <a:pPr marL="0" indent="0">
              <a:buNone/>
            </a:pPr>
            <a:r>
              <a:rPr lang="en-US" sz="2000" dirty="0"/>
              <a:t>A new node is always added before the header of the given linked list. The task can be completed using the following 5 steps:</a:t>
            </a:r>
          </a:p>
          <a:p>
            <a:pPr indent="7938"/>
            <a:r>
              <a:rPr lang="en-US" sz="2000" dirty="0"/>
              <a:t>Firstly, allocate a new node (say </a:t>
            </a:r>
            <a:r>
              <a:rPr lang="en-US" sz="2000" dirty="0" err="1"/>
              <a:t>new_node</a:t>
            </a:r>
            <a:r>
              <a:rPr lang="en-US" sz="2000" dirty="0"/>
              <a:t>).</a:t>
            </a:r>
          </a:p>
          <a:p>
            <a:pPr indent="52388"/>
            <a:r>
              <a:rPr lang="en-US" sz="2000" dirty="0"/>
              <a:t>Now put the required data in the new node.</a:t>
            </a:r>
          </a:p>
          <a:p>
            <a:pPr indent="52388"/>
            <a:r>
              <a:rPr lang="en-US" sz="2000" dirty="0"/>
              <a:t>Make the next of </a:t>
            </a:r>
            <a:r>
              <a:rPr lang="en-US" sz="2000" dirty="0" err="1"/>
              <a:t>new_node</a:t>
            </a:r>
            <a:r>
              <a:rPr lang="en-US" sz="2000" dirty="0"/>
              <a:t> point to the current head of the doubly linked list.</a:t>
            </a:r>
          </a:p>
          <a:p>
            <a:pPr indent="52388"/>
            <a:r>
              <a:rPr lang="en-US" sz="2000" dirty="0"/>
              <a:t>Make the previous of the current head point to </a:t>
            </a:r>
            <a:r>
              <a:rPr lang="en-US" sz="2000" dirty="0" err="1"/>
              <a:t>new_node</a:t>
            </a:r>
            <a:r>
              <a:rPr lang="en-US" sz="2000" dirty="0"/>
              <a:t>.</a:t>
            </a:r>
          </a:p>
          <a:p>
            <a:pPr indent="52388"/>
            <a:r>
              <a:rPr lang="en-US" sz="2000" dirty="0"/>
              <a:t>Lastly, point head to </a:t>
            </a:r>
            <a:r>
              <a:rPr lang="en-US" sz="2000" dirty="0" err="1"/>
              <a:t>new_node</a:t>
            </a:r>
            <a:r>
              <a:rPr lang="en-US" sz="2000" dirty="0"/>
              <a:t>.</a:t>
            </a:r>
          </a:p>
        </p:txBody>
      </p:sp>
      <p:sp>
        <p:nvSpPr>
          <p:cNvPr id="4" name="Title 1">
            <a:extLst>
              <a:ext uri="{FF2B5EF4-FFF2-40B4-BE49-F238E27FC236}">
                <a16:creationId xmlns:a16="http://schemas.microsoft.com/office/drawing/2014/main" id="{2C9C0567-D5D7-52BD-60A3-D07C75E18D5B}"/>
              </a:ext>
            </a:extLst>
          </p:cNvPr>
          <p:cNvSpPr>
            <a:spLocks noGrp="1"/>
          </p:cNvSpPr>
          <p:nvPr>
            <p:ph type="title"/>
          </p:nvPr>
        </p:nvSpPr>
        <p:spPr>
          <a:xfrm>
            <a:off x="762000" y="239891"/>
            <a:ext cx="10972800" cy="679090"/>
          </a:xfrm>
        </p:spPr>
        <p:txBody>
          <a:bodyPr>
            <a:normAutofit fontScale="90000"/>
          </a:bodyPr>
          <a:lstStyle/>
          <a:p>
            <a:pPr algn="ctr"/>
            <a:r>
              <a:rPr lang="en-US" b="1" dirty="0"/>
              <a:t>Insertion in doubly linked list</a:t>
            </a:r>
          </a:p>
        </p:txBody>
      </p:sp>
      <p:sp>
        <p:nvSpPr>
          <p:cNvPr id="5" name="TextBox 4">
            <a:extLst>
              <a:ext uri="{FF2B5EF4-FFF2-40B4-BE49-F238E27FC236}">
                <a16:creationId xmlns:a16="http://schemas.microsoft.com/office/drawing/2014/main" id="{31F613AF-B92D-46FD-8432-8F90E5B7A1B3}"/>
              </a:ext>
            </a:extLst>
          </p:cNvPr>
          <p:cNvSpPr txBox="1"/>
          <p:nvPr/>
        </p:nvSpPr>
        <p:spPr>
          <a:xfrm>
            <a:off x="766917" y="6371302"/>
            <a:ext cx="10500851" cy="277000"/>
          </a:xfrm>
          <a:prstGeom prst="rect">
            <a:avLst/>
          </a:prstGeom>
          <a:noFill/>
        </p:spPr>
        <p:txBody>
          <a:bodyPr wrap="square" rtlCol="0">
            <a:spAutoFit/>
          </a:bodyPr>
          <a:lstStyle/>
          <a:p>
            <a:r>
              <a:rPr lang="en-US" sz="1200"/>
              <a:t>https://www.geeksforgeeks.org/introduction-and-insertion-in-a-doubly-linked-list/</a:t>
            </a:r>
            <a:endParaRPr lang="en-US" sz="1200" dirty="0"/>
          </a:p>
        </p:txBody>
      </p:sp>
      <p:pic>
        <p:nvPicPr>
          <p:cNvPr id="6" name="Picture 5">
            <a:extLst>
              <a:ext uri="{FF2B5EF4-FFF2-40B4-BE49-F238E27FC236}">
                <a16:creationId xmlns:a16="http://schemas.microsoft.com/office/drawing/2014/main" id="{A0CB9ABE-DBD4-E50D-81C5-8A2F39E77B14}"/>
              </a:ext>
            </a:extLst>
          </p:cNvPr>
          <p:cNvPicPr>
            <a:picLocks noChangeAspect="1"/>
          </p:cNvPicPr>
          <p:nvPr/>
        </p:nvPicPr>
        <p:blipFill rotWithShape="1">
          <a:blip r:embed="rId2"/>
          <a:srcRect l="5851" t="12009" r="12773" b="25372"/>
          <a:stretch/>
        </p:blipFill>
        <p:spPr>
          <a:xfrm>
            <a:off x="1445341" y="4191000"/>
            <a:ext cx="9822427" cy="2180302"/>
          </a:xfrm>
          <a:prstGeom prst="rect">
            <a:avLst/>
          </a:prstGeom>
        </p:spPr>
      </p:pic>
    </p:spTree>
    <p:extLst>
      <p:ext uri="{BB962C8B-B14F-4D97-AF65-F5344CB8AC3E}">
        <p14:creationId xmlns:p14="http://schemas.microsoft.com/office/powerpoint/2010/main" val="7838931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600919-A9E6-EEBD-CFB1-534ABB93AEE0}"/>
              </a:ext>
            </a:extLst>
          </p:cNvPr>
          <p:cNvSpPr>
            <a:spLocks noGrp="1"/>
          </p:cNvSpPr>
          <p:nvPr>
            <p:ph idx="1"/>
          </p:nvPr>
        </p:nvSpPr>
        <p:spPr>
          <a:xfrm>
            <a:off x="575187" y="918981"/>
            <a:ext cx="11159613" cy="5699128"/>
          </a:xfrm>
        </p:spPr>
        <p:txBody>
          <a:bodyPr>
            <a:normAutofit fontScale="85000" lnSpcReduction="20000"/>
          </a:bodyPr>
          <a:lstStyle/>
          <a:p>
            <a:pPr marL="0" indent="0">
              <a:buNone/>
            </a:pPr>
            <a:r>
              <a:rPr lang="en-US" b="1" dirty="0"/>
              <a:t>// Given a reference (pointer to pointer) to the head of a list and an int, inserts a new node  on the front of the list.</a:t>
            </a:r>
          </a:p>
          <a:p>
            <a:pPr marL="0" indent="0">
              <a:buNone/>
            </a:pPr>
            <a:r>
              <a:rPr lang="en-US" dirty="0"/>
              <a:t>void push(struct Node** </a:t>
            </a:r>
            <a:r>
              <a:rPr lang="en-US" dirty="0" err="1"/>
              <a:t>head_ref</a:t>
            </a:r>
            <a:r>
              <a:rPr lang="en-US" dirty="0"/>
              <a:t>, int </a:t>
            </a:r>
            <a:r>
              <a:rPr lang="en-US" dirty="0" err="1"/>
              <a:t>new_data</a:t>
            </a:r>
            <a:r>
              <a:rPr lang="en-US" dirty="0"/>
              <a:t>)</a:t>
            </a:r>
          </a:p>
          <a:p>
            <a:pPr marL="0" indent="0">
              <a:buNone/>
            </a:pPr>
            <a:r>
              <a:rPr lang="en-US" dirty="0"/>
              <a:t>{</a:t>
            </a:r>
          </a:p>
          <a:p>
            <a:pPr marL="0" indent="0">
              <a:buNone/>
            </a:pPr>
            <a:r>
              <a:rPr lang="en-US" dirty="0"/>
              <a:t>    // 1. allocate node</a:t>
            </a:r>
          </a:p>
          <a:p>
            <a:pPr marL="0" indent="0">
              <a:buNone/>
            </a:pPr>
            <a:r>
              <a:rPr lang="en-US" dirty="0"/>
              <a:t>    struct Node* </a:t>
            </a:r>
            <a:r>
              <a:rPr lang="en-US" dirty="0" err="1"/>
              <a:t>new_node</a:t>
            </a:r>
            <a:endParaRPr lang="en-US" dirty="0"/>
          </a:p>
          <a:p>
            <a:pPr marL="0" indent="0">
              <a:buNone/>
            </a:pPr>
            <a:r>
              <a:rPr lang="en-US" dirty="0"/>
              <a:t>        = (struct Node*)malloc(</a:t>
            </a:r>
            <a:r>
              <a:rPr lang="en-US" dirty="0" err="1"/>
              <a:t>sizeof</a:t>
            </a:r>
            <a:r>
              <a:rPr lang="en-US" dirty="0"/>
              <a:t>(struct Node));</a:t>
            </a:r>
          </a:p>
          <a:p>
            <a:pPr marL="0" indent="0">
              <a:buNone/>
            </a:pPr>
            <a:r>
              <a:rPr lang="en-US" dirty="0"/>
              <a:t>     // 2. put in the data</a:t>
            </a:r>
          </a:p>
          <a:p>
            <a:pPr marL="0" indent="0">
              <a:buNone/>
            </a:pPr>
            <a:r>
              <a:rPr lang="en-US" dirty="0"/>
              <a:t>    </a:t>
            </a:r>
            <a:r>
              <a:rPr lang="en-US" dirty="0" err="1"/>
              <a:t>new_node</a:t>
            </a:r>
            <a:r>
              <a:rPr lang="en-US" dirty="0"/>
              <a:t>-&gt;data = </a:t>
            </a:r>
            <a:r>
              <a:rPr lang="en-US" dirty="0" err="1"/>
              <a:t>new_data</a:t>
            </a:r>
            <a:r>
              <a:rPr lang="en-US" dirty="0"/>
              <a:t>;</a:t>
            </a:r>
          </a:p>
          <a:p>
            <a:pPr marL="0" indent="0">
              <a:buNone/>
            </a:pPr>
            <a:r>
              <a:rPr lang="en-US" dirty="0"/>
              <a:t>     // 3. Make next of new node as head and previous as NULL</a:t>
            </a:r>
          </a:p>
          <a:p>
            <a:pPr marL="0" indent="0">
              <a:buNone/>
            </a:pPr>
            <a:r>
              <a:rPr lang="en-US" dirty="0"/>
              <a:t>    </a:t>
            </a:r>
            <a:r>
              <a:rPr lang="en-US" dirty="0" err="1"/>
              <a:t>new_node</a:t>
            </a:r>
            <a:r>
              <a:rPr lang="en-US" dirty="0"/>
              <a:t>-&gt;next = (*</a:t>
            </a:r>
            <a:r>
              <a:rPr lang="en-US" dirty="0" err="1"/>
              <a:t>head_ref</a:t>
            </a:r>
            <a:r>
              <a:rPr lang="en-US" dirty="0"/>
              <a:t>);</a:t>
            </a:r>
          </a:p>
          <a:p>
            <a:pPr marL="0" indent="0">
              <a:buNone/>
            </a:pPr>
            <a:r>
              <a:rPr lang="en-US" dirty="0"/>
              <a:t>    </a:t>
            </a:r>
            <a:r>
              <a:rPr lang="en-US" dirty="0" err="1"/>
              <a:t>new_node</a:t>
            </a:r>
            <a:r>
              <a:rPr lang="en-US" dirty="0"/>
              <a:t>-&gt;</a:t>
            </a:r>
            <a:r>
              <a:rPr lang="en-US" dirty="0" err="1"/>
              <a:t>prev</a:t>
            </a:r>
            <a:r>
              <a:rPr lang="en-US" dirty="0"/>
              <a:t> = NULL;</a:t>
            </a:r>
          </a:p>
          <a:p>
            <a:pPr marL="0" indent="0">
              <a:buNone/>
            </a:pPr>
            <a:r>
              <a:rPr lang="en-US" dirty="0"/>
              <a:t>     // 4. change </a:t>
            </a:r>
            <a:r>
              <a:rPr lang="en-US" dirty="0" err="1"/>
              <a:t>prev</a:t>
            </a:r>
            <a:r>
              <a:rPr lang="en-US" dirty="0"/>
              <a:t> of head node to new node</a:t>
            </a:r>
          </a:p>
          <a:p>
            <a:pPr marL="0" indent="0">
              <a:buNone/>
            </a:pPr>
            <a:r>
              <a:rPr lang="en-US" dirty="0"/>
              <a:t>    if ((*</a:t>
            </a:r>
            <a:r>
              <a:rPr lang="en-US" dirty="0" err="1"/>
              <a:t>head_ref</a:t>
            </a:r>
            <a:r>
              <a:rPr lang="en-US" dirty="0"/>
              <a:t>) != NULL)</a:t>
            </a:r>
          </a:p>
          <a:p>
            <a:pPr marL="0" indent="0">
              <a:buNone/>
            </a:pPr>
            <a:r>
              <a:rPr lang="en-US" dirty="0"/>
              <a:t>        (*</a:t>
            </a:r>
            <a:r>
              <a:rPr lang="en-US" dirty="0" err="1"/>
              <a:t>head_ref</a:t>
            </a:r>
            <a:r>
              <a:rPr lang="en-US" dirty="0"/>
              <a:t>)-&gt;</a:t>
            </a:r>
            <a:r>
              <a:rPr lang="en-US" dirty="0" err="1"/>
              <a:t>prev</a:t>
            </a:r>
            <a:r>
              <a:rPr lang="en-US" dirty="0"/>
              <a:t> = </a:t>
            </a:r>
            <a:r>
              <a:rPr lang="en-US" dirty="0" err="1"/>
              <a:t>new_node</a:t>
            </a:r>
            <a:r>
              <a:rPr lang="en-US" dirty="0"/>
              <a:t>;</a:t>
            </a:r>
          </a:p>
          <a:p>
            <a:pPr marL="0" indent="0">
              <a:buNone/>
            </a:pPr>
            <a:r>
              <a:rPr lang="en-US" dirty="0"/>
              <a:t>     // 5. move the head to point to the new node</a:t>
            </a:r>
          </a:p>
          <a:p>
            <a:pPr marL="0" indent="0">
              <a:buNone/>
            </a:pPr>
            <a:r>
              <a:rPr lang="en-US" dirty="0"/>
              <a:t>    (*</a:t>
            </a:r>
            <a:r>
              <a:rPr lang="en-US" dirty="0" err="1"/>
              <a:t>head_ref</a:t>
            </a:r>
            <a:r>
              <a:rPr lang="en-US" dirty="0"/>
              <a:t>) = </a:t>
            </a:r>
            <a:r>
              <a:rPr lang="en-US" dirty="0" err="1"/>
              <a:t>new_node</a:t>
            </a:r>
            <a:r>
              <a:rPr lang="en-US" dirty="0"/>
              <a:t>;</a:t>
            </a:r>
          </a:p>
          <a:p>
            <a:pPr marL="0" indent="0">
              <a:buNone/>
            </a:pPr>
            <a:r>
              <a:rPr lang="en-US" dirty="0"/>
              <a:t>}</a:t>
            </a:r>
          </a:p>
        </p:txBody>
      </p:sp>
      <p:sp>
        <p:nvSpPr>
          <p:cNvPr id="4" name="Title 1">
            <a:extLst>
              <a:ext uri="{FF2B5EF4-FFF2-40B4-BE49-F238E27FC236}">
                <a16:creationId xmlns:a16="http://schemas.microsoft.com/office/drawing/2014/main" id="{911B5B32-AFC9-29AE-463E-FAFC5EFA7A17}"/>
              </a:ext>
            </a:extLst>
          </p:cNvPr>
          <p:cNvSpPr>
            <a:spLocks noGrp="1"/>
          </p:cNvSpPr>
          <p:nvPr>
            <p:ph type="title"/>
          </p:nvPr>
        </p:nvSpPr>
        <p:spPr>
          <a:xfrm>
            <a:off x="762000" y="136655"/>
            <a:ext cx="10972800" cy="679090"/>
          </a:xfrm>
        </p:spPr>
        <p:txBody>
          <a:bodyPr>
            <a:normAutofit fontScale="90000"/>
          </a:bodyPr>
          <a:lstStyle/>
          <a:p>
            <a:pPr algn="ctr"/>
            <a:r>
              <a:rPr lang="en-US" b="1" dirty="0"/>
              <a:t>Insertion in doubly linked list</a:t>
            </a:r>
          </a:p>
        </p:txBody>
      </p:sp>
    </p:spTree>
    <p:extLst>
      <p:ext uri="{BB962C8B-B14F-4D97-AF65-F5344CB8AC3E}">
        <p14:creationId xmlns:p14="http://schemas.microsoft.com/office/powerpoint/2010/main" val="278554062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C35BAF-C75B-4EE3-5A0B-D45897324287}"/>
              </a:ext>
            </a:extLst>
          </p:cNvPr>
          <p:cNvSpPr>
            <a:spLocks noGrp="1"/>
          </p:cNvSpPr>
          <p:nvPr>
            <p:ph idx="1"/>
          </p:nvPr>
        </p:nvSpPr>
        <p:spPr>
          <a:xfrm>
            <a:off x="762000" y="943897"/>
            <a:ext cx="10972800" cy="5334668"/>
          </a:xfrm>
        </p:spPr>
        <p:txBody>
          <a:bodyPr>
            <a:normAutofit/>
          </a:bodyPr>
          <a:lstStyle/>
          <a:p>
            <a:pPr marL="0" indent="0">
              <a:spcBef>
                <a:spcPts val="600"/>
              </a:spcBef>
              <a:buNone/>
            </a:pPr>
            <a:r>
              <a:rPr lang="en-US" sz="1600" dirty="0"/>
              <a:t>Add a node in between two nodes:</a:t>
            </a:r>
          </a:p>
          <a:p>
            <a:pPr marL="0" indent="0">
              <a:spcBef>
                <a:spcPts val="600"/>
              </a:spcBef>
              <a:buNone/>
            </a:pPr>
            <a:r>
              <a:rPr lang="en-US" sz="1600" dirty="0"/>
              <a:t>It is further classified into the following two parts:</a:t>
            </a:r>
          </a:p>
          <a:p>
            <a:pPr marL="0" indent="0">
              <a:spcBef>
                <a:spcPts val="600"/>
              </a:spcBef>
              <a:buNone/>
            </a:pPr>
            <a:r>
              <a:rPr lang="en-US" sz="1600" dirty="0"/>
              <a:t>Add a node after a given node in a Doubly Linked List:</a:t>
            </a:r>
          </a:p>
          <a:p>
            <a:pPr marL="0" indent="0">
              <a:buNone/>
            </a:pPr>
            <a:r>
              <a:rPr lang="en-US" sz="1600" dirty="0"/>
              <a:t>We are given a pointer to a node as </a:t>
            </a:r>
            <a:r>
              <a:rPr lang="en-US" sz="1600" dirty="0" err="1"/>
              <a:t>prev_node</a:t>
            </a:r>
            <a:r>
              <a:rPr lang="en-US" sz="1600" dirty="0"/>
              <a:t>, and the new node is inserted after the given node. This can be done using the following 6 steps:</a:t>
            </a:r>
          </a:p>
          <a:p>
            <a:pPr marL="457200" indent="509588"/>
            <a:r>
              <a:rPr lang="en-US" sz="1600" dirty="0"/>
              <a:t>Firstly create a new node (say </a:t>
            </a:r>
            <a:r>
              <a:rPr lang="en-US" sz="1600" dirty="0" err="1"/>
              <a:t>new_node</a:t>
            </a:r>
            <a:r>
              <a:rPr lang="en-US" sz="1600" dirty="0"/>
              <a:t>).</a:t>
            </a:r>
          </a:p>
          <a:p>
            <a:pPr marL="457200" indent="509588"/>
            <a:r>
              <a:rPr lang="en-US" sz="1600" dirty="0"/>
              <a:t>Now insert the data in the new node.</a:t>
            </a:r>
          </a:p>
          <a:p>
            <a:pPr marL="457200" indent="509588"/>
            <a:r>
              <a:rPr lang="en-US" sz="1600" dirty="0"/>
              <a:t>Point the next of </a:t>
            </a:r>
            <a:r>
              <a:rPr lang="en-US" sz="1600" dirty="0" err="1"/>
              <a:t>new_node</a:t>
            </a:r>
            <a:r>
              <a:rPr lang="en-US" sz="1600" dirty="0"/>
              <a:t> to the next of </a:t>
            </a:r>
            <a:r>
              <a:rPr lang="en-US" sz="1600" dirty="0" err="1"/>
              <a:t>prev_node</a:t>
            </a:r>
            <a:r>
              <a:rPr lang="en-US" sz="1600" dirty="0"/>
              <a:t>.</a:t>
            </a:r>
          </a:p>
          <a:p>
            <a:pPr marL="457200" indent="509588"/>
            <a:r>
              <a:rPr lang="en-US" sz="1600" dirty="0"/>
              <a:t>Point the next of </a:t>
            </a:r>
            <a:r>
              <a:rPr lang="en-US" sz="1600" dirty="0" err="1"/>
              <a:t>prev_node</a:t>
            </a:r>
            <a:r>
              <a:rPr lang="en-US" sz="1600" dirty="0"/>
              <a:t> to </a:t>
            </a:r>
            <a:r>
              <a:rPr lang="en-US" sz="1600" dirty="0" err="1"/>
              <a:t>new_node</a:t>
            </a:r>
            <a:r>
              <a:rPr lang="en-US" sz="1600" dirty="0"/>
              <a:t>.</a:t>
            </a:r>
          </a:p>
          <a:p>
            <a:pPr marL="457200" indent="509588"/>
            <a:r>
              <a:rPr lang="en-US" sz="1600" dirty="0"/>
              <a:t>Point the previous of </a:t>
            </a:r>
            <a:r>
              <a:rPr lang="en-US" sz="1600" dirty="0" err="1"/>
              <a:t>new_node</a:t>
            </a:r>
            <a:r>
              <a:rPr lang="en-US" sz="1600" dirty="0"/>
              <a:t> to </a:t>
            </a:r>
            <a:r>
              <a:rPr lang="en-US" sz="1600" dirty="0" err="1"/>
              <a:t>prev_node</a:t>
            </a:r>
            <a:r>
              <a:rPr lang="en-US" sz="1600" dirty="0"/>
              <a:t>.</a:t>
            </a:r>
          </a:p>
          <a:p>
            <a:pPr marL="457200" indent="509588"/>
            <a:r>
              <a:rPr lang="en-US" sz="1600" dirty="0"/>
              <a:t>Change the pointer of the new node’s previous pointer to </a:t>
            </a:r>
            <a:r>
              <a:rPr lang="en-US" sz="1600" dirty="0" err="1"/>
              <a:t>new_node</a:t>
            </a:r>
            <a:r>
              <a:rPr lang="en-US" sz="1600" dirty="0"/>
              <a:t>.</a:t>
            </a:r>
          </a:p>
        </p:txBody>
      </p:sp>
      <p:sp>
        <p:nvSpPr>
          <p:cNvPr id="4" name="Title 1">
            <a:extLst>
              <a:ext uri="{FF2B5EF4-FFF2-40B4-BE49-F238E27FC236}">
                <a16:creationId xmlns:a16="http://schemas.microsoft.com/office/drawing/2014/main" id="{7C09EE78-9E99-765B-F961-C8BC4CB61965}"/>
              </a:ext>
            </a:extLst>
          </p:cNvPr>
          <p:cNvSpPr>
            <a:spLocks noGrp="1"/>
          </p:cNvSpPr>
          <p:nvPr>
            <p:ph type="title"/>
          </p:nvPr>
        </p:nvSpPr>
        <p:spPr>
          <a:xfrm>
            <a:off x="762000" y="136655"/>
            <a:ext cx="10972800" cy="679090"/>
          </a:xfrm>
        </p:spPr>
        <p:txBody>
          <a:bodyPr>
            <a:normAutofit fontScale="90000"/>
          </a:bodyPr>
          <a:lstStyle/>
          <a:p>
            <a:pPr algn="ctr"/>
            <a:r>
              <a:rPr lang="en-US" b="1" dirty="0"/>
              <a:t>Insertion in doubly linked list</a:t>
            </a:r>
          </a:p>
        </p:txBody>
      </p:sp>
      <p:pic>
        <p:nvPicPr>
          <p:cNvPr id="5" name="Picture 4">
            <a:extLst>
              <a:ext uri="{FF2B5EF4-FFF2-40B4-BE49-F238E27FC236}">
                <a16:creationId xmlns:a16="http://schemas.microsoft.com/office/drawing/2014/main" id="{A0EFFF67-67ED-296D-E502-D34E4E23CACE}"/>
              </a:ext>
            </a:extLst>
          </p:cNvPr>
          <p:cNvPicPr>
            <a:picLocks noChangeAspect="1"/>
          </p:cNvPicPr>
          <p:nvPr/>
        </p:nvPicPr>
        <p:blipFill rotWithShape="1">
          <a:blip r:embed="rId2"/>
          <a:srcRect l="3634" t="7886" r="19930" b="30582"/>
          <a:stretch/>
        </p:blipFill>
        <p:spPr>
          <a:xfrm>
            <a:off x="1769805" y="4483510"/>
            <a:ext cx="8716297" cy="2123767"/>
          </a:xfrm>
          <a:prstGeom prst="rect">
            <a:avLst/>
          </a:prstGeom>
        </p:spPr>
      </p:pic>
    </p:spTree>
    <p:extLst>
      <p:ext uri="{BB962C8B-B14F-4D97-AF65-F5344CB8AC3E}">
        <p14:creationId xmlns:p14="http://schemas.microsoft.com/office/powerpoint/2010/main" val="214169353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E8EBA1-3821-BBB1-083A-DFB9CCA076BE}"/>
              </a:ext>
            </a:extLst>
          </p:cNvPr>
          <p:cNvSpPr>
            <a:spLocks noGrp="1"/>
          </p:cNvSpPr>
          <p:nvPr>
            <p:ph idx="1"/>
          </p:nvPr>
        </p:nvSpPr>
        <p:spPr>
          <a:xfrm>
            <a:off x="762000" y="815745"/>
            <a:ext cx="10972800" cy="5905600"/>
          </a:xfrm>
        </p:spPr>
        <p:txBody>
          <a:bodyPr>
            <a:normAutofit lnSpcReduction="10000"/>
          </a:bodyPr>
          <a:lstStyle/>
          <a:p>
            <a:pPr marL="0" indent="0">
              <a:lnSpc>
                <a:spcPct val="120000"/>
              </a:lnSpc>
              <a:spcBef>
                <a:spcPts val="0"/>
              </a:spcBef>
              <a:buNone/>
            </a:pPr>
            <a:r>
              <a:rPr lang="en-US" sz="1500" b="1" dirty="0"/>
              <a:t>To insert a node after a given node in the linked list:  (Given a node as </a:t>
            </a:r>
            <a:r>
              <a:rPr lang="en-US" sz="1500" b="1" dirty="0" err="1"/>
              <a:t>prev_node</a:t>
            </a:r>
            <a:r>
              <a:rPr lang="en-US" sz="1500" b="1" dirty="0"/>
              <a:t>, insert a new node   after the given node)</a:t>
            </a:r>
          </a:p>
          <a:p>
            <a:pPr marL="0" indent="0">
              <a:lnSpc>
                <a:spcPct val="120000"/>
              </a:lnSpc>
              <a:spcBef>
                <a:spcPts val="0"/>
              </a:spcBef>
              <a:buNone/>
            </a:pPr>
            <a:r>
              <a:rPr lang="en-US" sz="1500" dirty="0"/>
              <a:t>void </a:t>
            </a:r>
            <a:r>
              <a:rPr lang="en-US" sz="1500" dirty="0" err="1"/>
              <a:t>insertAfter</a:t>
            </a:r>
            <a:r>
              <a:rPr lang="en-US" sz="1500" dirty="0"/>
              <a:t>(struct Node* </a:t>
            </a:r>
            <a:r>
              <a:rPr lang="en-US" sz="1500" dirty="0" err="1"/>
              <a:t>prev_node</a:t>
            </a:r>
            <a:r>
              <a:rPr lang="en-US" sz="1500" dirty="0"/>
              <a:t>, int </a:t>
            </a:r>
            <a:r>
              <a:rPr lang="en-US" sz="1500" dirty="0" err="1"/>
              <a:t>new_data</a:t>
            </a:r>
            <a:r>
              <a:rPr lang="en-US" sz="1500" dirty="0"/>
              <a:t>)</a:t>
            </a:r>
          </a:p>
          <a:p>
            <a:pPr marL="0" indent="0">
              <a:lnSpc>
                <a:spcPct val="120000"/>
              </a:lnSpc>
              <a:spcBef>
                <a:spcPts val="0"/>
              </a:spcBef>
              <a:buNone/>
            </a:pPr>
            <a:r>
              <a:rPr lang="en-US" sz="1500" dirty="0"/>
              <a:t>{</a:t>
            </a:r>
          </a:p>
          <a:p>
            <a:pPr marL="0" indent="0" defTabSz="339725">
              <a:lnSpc>
                <a:spcPct val="120000"/>
              </a:lnSpc>
              <a:spcBef>
                <a:spcPts val="0"/>
              </a:spcBef>
              <a:buNone/>
            </a:pPr>
            <a:r>
              <a:rPr lang="en-US" sz="1500" dirty="0"/>
              <a:t>	// Check if the given </a:t>
            </a:r>
            <a:r>
              <a:rPr lang="en-US" sz="1500" dirty="0" err="1"/>
              <a:t>prev_node</a:t>
            </a:r>
            <a:r>
              <a:rPr lang="en-US" sz="1500" dirty="0"/>
              <a:t> is NULL</a:t>
            </a:r>
          </a:p>
          <a:p>
            <a:pPr marL="0" indent="0" defTabSz="339725">
              <a:lnSpc>
                <a:spcPct val="120000"/>
              </a:lnSpc>
              <a:spcBef>
                <a:spcPts val="0"/>
              </a:spcBef>
              <a:buNone/>
            </a:pPr>
            <a:r>
              <a:rPr lang="en-US" sz="1500" dirty="0"/>
              <a:t>	if (</a:t>
            </a:r>
            <a:r>
              <a:rPr lang="en-US" sz="1500" dirty="0" err="1"/>
              <a:t>prev_node</a:t>
            </a:r>
            <a:r>
              <a:rPr lang="en-US" sz="1500" dirty="0"/>
              <a:t> == NULL) {</a:t>
            </a:r>
          </a:p>
          <a:p>
            <a:pPr marL="0" indent="0" defTabSz="339725">
              <a:lnSpc>
                <a:spcPct val="120000"/>
              </a:lnSpc>
              <a:spcBef>
                <a:spcPts val="0"/>
              </a:spcBef>
              <a:buNone/>
            </a:pPr>
            <a:r>
              <a:rPr lang="en-US" sz="1500" dirty="0"/>
              <a:t>		</a:t>
            </a:r>
            <a:r>
              <a:rPr lang="en-US" sz="1500" dirty="0" err="1"/>
              <a:t>printf</a:t>
            </a:r>
            <a:r>
              <a:rPr lang="en-US" sz="1500" dirty="0"/>
              <a:t>("the given previous node cannot be NULL");</a:t>
            </a:r>
          </a:p>
          <a:p>
            <a:pPr marL="0" indent="0" defTabSz="339725">
              <a:lnSpc>
                <a:spcPct val="120000"/>
              </a:lnSpc>
              <a:spcBef>
                <a:spcPts val="0"/>
              </a:spcBef>
              <a:buNone/>
            </a:pPr>
            <a:r>
              <a:rPr lang="en-US" sz="1500" dirty="0"/>
              <a:t>		return;</a:t>
            </a:r>
          </a:p>
          <a:p>
            <a:pPr marL="0" indent="0" defTabSz="339725">
              <a:lnSpc>
                <a:spcPct val="120000"/>
              </a:lnSpc>
              <a:spcBef>
                <a:spcPts val="0"/>
              </a:spcBef>
              <a:buNone/>
            </a:pPr>
            <a:r>
              <a:rPr lang="en-US" sz="1500" dirty="0"/>
              <a:t>	}</a:t>
            </a:r>
          </a:p>
          <a:p>
            <a:pPr marL="0" indent="0" defTabSz="339725">
              <a:lnSpc>
                <a:spcPct val="120000"/>
              </a:lnSpc>
              <a:spcBef>
                <a:spcPts val="0"/>
              </a:spcBef>
              <a:buNone/>
            </a:pPr>
            <a:r>
              <a:rPr lang="en-US" sz="1500" dirty="0"/>
              <a:t>	// 1. allocate new node</a:t>
            </a:r>
          </a:p>
          <a:p>
            <a:pPr marL="0" indent="0" defTabSz="339725">
              <a:lnSpc>
                <a:spcPct val="120000"/>
              </a:lnSpc>
              <a:spcBef>
                <a:spcPts val="0"/>
              </a:spcBef>
              <a:buNone/>
            </a:pPr>
            <a:r>
              <a:rPr lang="en-US" sz="1500" dirty="0"/>
              <a:t>	struct Node* </a:t>
            </a:r>
            <a:r>
              <a:rPr lang="en-US" sz="1500" dirty="0" err="1"/>
              <a:t>new_node</a:t>
            </a:r>
            <a:endParaRPr lang="en-US" sz="1500" dirty="0"/>
          </a:p>
          <a:p>
            <a:pPr marL="0" indent="0" defTabSz="339725">
              <a:lnSpc>
                <a:spcPct val="120000"/>
              </a:lnSpc>
              <a:spcBef>
                <a:spcPts val="0"/>
              </a:spcBef>
              <a:buNone/>
            </a:pPr>
            <a:r>
              <a:rPr lang="en-US" sz="1500" dirty="0"/>
              <a:t>		= (struct Node*)malloc(</a:t>
            </a:r>
            <a:r>
              <a:rPr lang="en-US" sz="1500" dirty="0" err="1"/>
              <a:t>sizeof</a:t>
            </a:r>
            <a:r>
              <a:rPr lang="en-US" sz="1500" dirty="0"/>
              <a:t>(struct Node));</a:t>
            </a:r>
          </a:p>
          <a:p>
            <a:pPr marL="0" indent="0" defTabSz="339725">
              <a:lnSpc>
                <a:spcPct val="120000"/>
              </a:lnSpc>
              <a:spcBef>
                <a:spcPts val="0"/>
              </a:spcBef>
              <a:buNone/>
            </a:pPr>
            <a:r>
              <a:rPr lang="en-US" sz="1500" dirty="0"/>
              <a:t>	// 2. put in the data</a:t>
            </a:r>
          </a:p>
          <a:p>
            <a:pPr marL="0" indent="0" defTabSz="339725">
              <a:lnSpc>
                <a:spcPct val="120000"/>
              </a:lnSpc>
              <a:spcBef>
                <a:spcPts val="0"/>
              </a:spcBef>
              <a:buNone/>
            </a:pPr>
            <a:r>
              <a:rPr lang="en-US" sz="1500" dirty="0"/>
              <a:t>	</a:t>
            </a:r>
            <a:r>
              <a:rPr lang="en-US" sz="1500" dirty="0" err="1"/>
              <a:t>new_node</a:t>
            </a:r>
            <a:r>
              <a:rPr lang="en-US" sz="1500" dirty="0"/>
              <a:t>-&gt;data = </a:t>
            </a:r>
            <a:r>
              <a:rPr lang="en-US" sz="1500" dirty="0" err="1"/>
              <a:t>new_data</a:t>
            </a:r>
            <a:r>
              <a:rPr lang="en-US" sz="1500" dirty="0"/>
              <a:t>;</a:t>
            </a:r>
          </a:p>
          <a:p>
            <a:pPr marL="0" indent="0" defTabSz="339725">
              <a:lnSpc>
                <a:spcPct val="120000"/>
              </a:lnSpc>
              <a:spcBef>
                <a:spcPts val="0"/>
              </a:spcBef>
              <a:buNone/>
            </a:pPr>
            <a:r>
              <a:rPr lang="en-US" sz="1500" dirty="0"/>
              <a:t>	// 3. Make next of new node as next of </a:t>
            </a:r>
            <a:r>
              <a:rPr lang="en-US" sz="1500" dirty="0" err="1"/>
              <a:t>prev_node</a:t>
            </a:r>
            <a:endParaRPr lang="en-US" sz="1500" dirty="0"/>
          </a:p>
          <a:p>
            <a:pPr marL="0" indent="0" defTabSz="339725">
              <a:lnSpc>
                <a:spcPct val="120000"/>
              </a:lnSpc>
              <a:spcBef>
                <a:spcPts val="0"/>
              </a:spcBef>
              <a:buNone/>
            </a:pPr>
            <a:r>
              <a:rPr lang="en-US" sz="1500" dirty="0"/>
              <a:t>	</a:t>
            </a:r>
            <a:r>
              <a:rPr lang="en-US" sz="1500" dirty="0" err="1"/>
              <a:t>new_node</a:t>
            </a:r>
            <a:r>
              <a:rPr lang="en-US" sz="1500" dirty="0"/>
              <a:t>-&gt;next = </a:t>
            </a:r>
            <a:r>
              <a:rPr lang="en-US" sz="1500" dirty="0" err="1"/>
              <a:t>prev_node</a:t>
            </a:r>
            <a:r>
              <a:rPr lang="en-US" sz="1500" dirty="0"/>
              <a:t>-&gt;next;</a:t>
            </a:r>
          </a:p>
          <a:p>
            <a:pPr marL="0" indent="0" defTabSz="339725">
              <a:lnSpc>
                <a:spcPct val="120000"/>
              </a:lnSpc>
              <a:spcBef>
                <a:spcPts val="0"/>
              </a:spcBef>
              <a:buNone/>
            </a:pPr>
            <a:r>
              <a:rPr lang="en-US" sz="1500" dirty="0"/>
              <a:t>	// 4. Make the next of </a:t>
            </a:r>
            <a:r>
              <a:rPr lang="en-US" sz="1500" dirty="0" err="1"/>
              <a:t>prev_node</a:t>
            </a:r>
            <a:r>
              <a:rPr lang="en-US" sz="1500" dirty="0"/>
              <a:t> as </a:t>
            </a:r>
            <a:r>
              <a:rPr lang="en-US" sz="1500" dirty="0" err="1"/>
              <a:t>new_node</a:t>
            </a:r>
            <a:endParaRPr lang="en-US" sz="1500" dirty="0"/>
          </a:p>
          <a:p>
            <a:pPr marL="0" indent="0" defTabSz="339725">
              <a:lnSpc>
                <a:spcPct val="120000"/>
              </a:lnSpc>
              <a:spcBef>
                <a:spcPts val="0"/>
              </a:spcBef>
              <a:buNone/>
            </a:pPr>
            <a:r>
              <a:rPr lang="en-US" sz="1500" dirty="0"/>
              <a:t>	</a:t>
            </a:r>
            <a:r>
              <a:rPr lang="en-US" sz="1500" dirty="0" err="1"/>
              <a:t>prev_node</a:t>
            </a:r>
            <a:r>
              <a:rPr lang="en-US" sz="1500" dirty="0"/>
              <a:t>-&gt;next = </a:t>
            </a:r>
            <a:r>
              <a:rPr lang="en-US" sz="1500" dirty="0" err="1"/>
              <a:t>new_node</a:t>
            </a:r>
            <a:r>
              <a:rPr lang="en-US" sz="1500" dirty="0"/>
              <a:t>;</a:t>
            </a:r>
          </a:p>
          <a:p>
            <a:pPr marL="0" indent="0" defTabSz="339725">
              <a:lnSpc>
                <a:spcPct val="120000"/>
              </a:lnSpc>
              <a:spcBef>
                <a:spcPts val="0"/>
              </a:spcBef>
              <a:buNone/>
            </a:pPr>
            <a:r>
              <a:rPr lang="en-US" sz="1500" dirty="0"/>
              <a:t>	// 5. Make </a:t>
            </a:r>
            <a:r>
              <a:rPr lang="en-US" sz="1500" dirty="0" err="1"/>
              <a:t>prev_node</a:t>
            </a:r>
            <a:r>
              <a:rPr lang="en-US" sz="1500" dirty="0"/>
              <a:t> as previous of </a:t>
            </a:r>
            <a:r>
              <a:rPr lang="en-US" sz="1500" dirty="0" err="1"/>
              <a:t>new_node</a:t>
            </a:r>
            <a:endParaRPr lang="en-US" sz="1500" dirty="0"/>
          </a:p>
          <a:p>
            <a:pPr marL="0" indent="0" defTabSz="339725">
              <a:lnSpc>
                <a:spcPct val="120000"/>
              </a:lnSpc>
              <a:spcBef>
                <a:spcPts val="0"/>
              </a:spcBef>
              <a:buNone/>
            </a:pPr>
            <a:r>
              <a:rPr lang="en-US" sz="1500" dirty="0"/>
              <a:t>	</a:t>
            </a:r>
            <a:r>
              <a:rPr lang="en-US" sz="1500" dirty="0" err="1"/>
              <a:t>new_node</a:t>
            </a:r>
            <a:r>
              <a:rPr lang="en-US" sz="1500" dirty="0"/>
              <a:t>-&gt;</a:t>
            </a:r>
            <a:r>
              <a:rPr lang="en-US" sz="1500" dirty="0" err="1"/>
              <a:t>prev</a:t>
            </a:r>
            <a:r>
              <a:rPr lang="en-US" sz="1500" dirty="0"/>
              <a:t> = </a:t>
            </a:r>
            <a:r>
              <a:rPr lang="en-US" sz="1500" dirty="0" err="1"/>
              <a:t>prev_node</a:t>
            </a:r>
            <a:r>
              <a:rPr lang="en-US" sz="1500" dirty="0"/>
              <a:t>;</a:t>
            </a:r>
          </a:p>
          <a:p>
            <a:pPr marL="0" indent="0" defTabSz="339725">
              <a:lnSpc>
                <a:spcPct val="120000"/>
              </a:lnSpc>
              <a:spcBef>
                <a:spcPts val="0"/>
              </a:spcBef>
              <a:buNone/>
            </a:pPr>
            <a:r>
              <a:rPr lang="en-US" sz="1500" dirty="0"/>
              <a:t>	// 6. Change previous of </a:t>
            </a:r>
            <a:r>
              <a:rPr lang="en-US" sz="1500" dirty="0" err="1"/>
              <a:t>new_node's</a:t>
            </a:r>
            <a:r>
              <a:rPr lang="en-US" sz="1500" dirty="0"/>
              <a:t> next node</a:t>
            </a:r>
          </a:p>
          <a:p>
            <a:pPr marL="0" indent="0" defTabSz="339725">
              <a:lnSpc>
                <a:spcPct val="120000"/>
              </a:lnSpc>
              <a:spcBef>
                <a:spcPts val="0"/>
              </a:spcBef>
              <a:buNone/>
            </a:pPr>
            <a:r>
              <a:rPr lang="en-US" sz="1500" dirty="0"/>
              <a:t>	if (</a:t>
            </a:r>
            <a:r>
              <a:rPr lang="en-US" sz="1500" dirty="0" err="1"/>
              <a:t>new_node</a:t>
            </a:r>
            <a:r>
              <a:rPr lang="en-US" sz="1500" dirty="0"/>
              <a:t>-&gt;next != NULL)</a:t>
            </a:r>
          </a:p>
          <a:p>
            <a:pPr marL="0" indent="0" defTabSz="339725">
              <a:lnSpc>
                <a:spcPct val="120000"/>
              </a:lnSpc>
              <a:spcBef>
                <a:spcPts val="0"/>
              </a:spcBef>
              <a:buNone/>
            </a:pPr>
            <a:r>
              <a:rPr lang="en-US" sz="1500" dirty="0"/>
              <a:t>		</a:t>
            </a:r>
            <a:r>
              <a:rPr lang="en-US" sz="1500" dirty="0" err="1"/>
              <a:t>new_node</a:t>
            </a:r>
            <a:r>
              <a:rPr lang="en-US" sz="1500" dirty="0"/>
              <a:t>-&gt;next-&gt;</a:t>
            </a:r>
            <a:r>
              <a:rPr lang="en-US" sz="1500" dirty="0" err="1"/>
              <a:t>prev</a:t>
            </a:r>
            <a:r>
              <a:rPr lang="en-US" sz="1500" dirty="0"/>
              <a:t> = </a:t>
            </a:r>
            <a:r>
              <a:rPr lang="en-US" sz="1500" dirty="0" err="1"/>
              <a:t>new_node</a:t>
            </a:r>
            <a:r>
              <a:rPr lang="en-US" sz="1500" dirty="0"/>
              <a:t>;</a:t>
            </a:r>
          </a:p>
          <a:p>
            <a:pPr marL="0" indent="0">
              <a:lnSpc>
                <a:spcPct val="120000"/>
              </a:lnSpc>
              <a:spcBef>
                <a:spcPts val="0"/>
              </a:spcBef>
              <a:buNone/>
            </a:pPr>
            <a:r>
              <a:rPr lang="en-US" sz="1500" dirty="0"/>
              <a:t>}</a:t>
            </a:r>
          </a:p>
          <a:p>
            <a:pPr marL="0" indent="0">
              <a:lnSpc>
                <a:spcPct val="120000"/>
              </a:lnSpc>
              <a:spcBef>
                <a:spcPts val="0"/>
              </a:spcBef>
              <a:buNone/>
            </a:pPr>
            <a:endParaRPr lang="en-US" sz="1000" dirty="0"/>
          </a:p>
        </p:txBody>
      </p:sp>
      <p:sp>
        <p:nvSpPr>
          <p:cNvPr id="4" name="Title 1">
            <a:extLst>
              <a:ext uri="{FF2B5EF4-FFF2-40B4-BE49-F238E27FC236}">
                <a16:creationId xmlns:a16="http://schemas.microsoft.com/office/drawing/2014/main" id="{C3C34221-0C1E-4A4B-B5F2-B83A28C00142}"/>
              </a:ext>
            </a:extLst>
          </p:cNvPr>
          <p:cNvSpPr>
            <a:spLocks noGrp="1"/>
          </p:cNvSpPr>
          <p:nvPr>
            <p:ph type="title"/>
          </p:nvPr>
        </p:nvSpPr>
        <p:spPr>
          <a:xfrm>
            <a:off x="762000" y="136655"/>
            <a:ext cx="10972800" cy="679090"/>
          </a:xfrm>
        </p:spPr>
        <p:txBody>
          <a:bodyPr>
            <a:normAutofit fontScale="90000"/>
          </a:bodyPr>
          <a:lstStyle/>
          <a:p>
            <a:pPr algn="ctr"/>
            <a:r>
              <a:rPr lang="en-US" b="1" dirty="0"/>
              <a:t>Insertion in doubly linked list</a:t>
            </a:r>
          </a:p>
        </p:txBody>
      </p:sp>
    </p:spTree>
    <p:extLst>
      <p:ext uri="{BB962C8B-B14F-4D97-AF65-F5344CB8AC3E}">
        <p14:creationId xmlns:p14="http://schemas.microsoft.com/office/powerpoint/2010/main" val="328632748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01F901-109A-E427-FE55-9DDA43B768F4}"/>
              </a:ext>
            </a:extLst>
          </p:cNvPr>
          <p:cNvSpPr>
            <a:spLocks noGrp="1"/>
          </p:cNvSpPr>
          <p:nvPr>
            <p:ph idx="1"/>
          </p:nvPr>
        </p:nvSpPr>
        <p:spPr>
          <a:xfrm>
            <a:off x="457200" y="958645"/>
            <a:ext cx="11277600" cy="5319919"/>
          </a:xfrm>
        </p:spPr>
        <p:txBody>
          <a:bodyPr>
            <a:normAutofit/>
          </a:bodyPr>
          <a:lstStyle/>
          <a:p>
            <a:pPr marL="0" indent="0">
              <a:buNone/>
            </a:pPr>
            <a:r>
              <a:rPr lang="en-US" sz="1600" dirty="0"/>
              <a:t>Add a node before a given node in a Doubly Linked List: </a:t>
            </a:r>
          </a:p>
          <a:p>
            <a:pPr marL="0" indent="0">
              <a:buNone/>
            </a:pPr>
            <a:r>
              <a:rPr lang="en-US" sz="1600" dirty="0"/>
              <a:t>Let the pointer to this given node be </a:t>
            </a:r>
            <a:r>
              <a:rPr lang="en-US" sz="1600" dirty="0" err="1"/>
              <a:t>next_node</a:t>
            </a:r>
            <a:r>
              <a:rPr lang="en-US" sz="1600" dirty="0"/>
              <a:t>. This can be done using the following 6 steps. </a:t>
            </a:r>
          </a:p>
          <a:p>
            <a:pPr marL="633413" indent="-234950"/>
            <a:r>
              <a:rPr lang="en-US" sz="1600" dirty="0"/>
              <a:t>Allocate memory for the new node, let it be called </a:t>
            </a:r>
            <a:r>
              <a:rPr lang="en-US" sz="1600" dirty="0" err="1"/>
              <a:t>new_node</a:t>
            </a:r>
            <a:r>
              <a:rPr lang="en-US" sz="1600" dirty="0"/>
              <a:t>.</a:t>
            </a:r>
          </a:p>
          <a:p>
            <a:pPr marL="633413" indent="-234950"/>
            <a:r>
              <a:rPr lang="en-US" sz="1600" dirty="0"/>
              <a:t>Put the data in </a:t>
            </a:r>
            <a:r>
              <a:rPr lang="en-US" sz="1600" dirty="0" err="1"/>
              <a:t>new_node</a:t>
            </a:r>
            <a:r>
              <a:rPr lang="en-US" sz="1600" dirty="0"/>
              <a:t>.</a:t>
            </a:r>
          </a:p>
          <a:p>
            <a:pPr marL="633413" indent="-234950"/>
            <a:r>
              <a:rPr lang="en-US" sz="1600" dirty="0"/>
              <a:t>Set the previous pointer of this </a:t>
            </a:r>
            <a:r>
              <a:rPr lang="en-US" sz="1600" dirty="0" err="1"/>
              <a:t>new_node</a:t>
            </a:r>
            <a:r>
              <a:rPr lang="en-US" sz="1600" dirty="0"/>
              <a:t> as the previous node of the </a:t>
            </a:r>
            <a:r>
              <a:rPr lang="en-US" sz="1600" dirty="0" err="1"/>
              <a:t>next_node</a:t>
            </a:r>
            <a:r>
              <a:rPr lang="en-US" sz="1600" dirty="0"/>
              <a:t>.</a:t>
            </a:r>
          </a:p>
          <a:p>
            <a:pPr marL="633413" indent="-234950"/>
            <a:r>
              <a:rPr lang="en-US" sz="1600" dirty="0"/>
              <a:t>Set the previous pointer of the </a:t>
            </a:r>
            <a:r>
              <a:rPr lang="en-US" sz="1600" dirty="0" err="1"/>
              <a:t>next_node</a:t>
            </a:r>
            <a:r>
              <a:rPr lang="en-US" sz="1600" dirty="0"/>
              <a:t> as the </a:t>
            </a:r>
            <a:r>
              <a:rPr lang="en-US" sz="1600" dirty="0" err="1"/>
              <a:t>new_node</a:t>
            </a:r>
            <a:r>
              <a:rPr lang="en-US" sz="1600" dirty="0"/>
              <a:t>.</a:t>
            </a:r>
          </a:p>
          <a:p>
            <a:pPr marL="633413" indent="-234950"/>
            <a:r>
              <a:rPr lang="en-US" sz="1600" dirty="0"/>
              <a:t>Set the next pointer of this </a:t>
            </a:r>
            <a:r>
              <a:rPr lang="en-US" sz="1600" dirty="0" err="1"/>
              <a:t>new_node</a:t>
            </a:r>
            <a:r>
              <a:rPr lang="en-US" sz="1600" dirty="0"/>
              <a:t> as the </a:t>
            </a:r>
            <a:r>
              <a:rPr lang="en-US" sz="1600" dirty="0" err="1"/>
              <a:t>next_node</a:t>
            </a:r>
            <a:r>
              <a:rPr lang="en-US" sz="1600" dirty="0"/>
              <a:t>.</a:t>
            </a:r>
          </a:p>
          <a:p>
            <a:pPr marL="633413" indent="-234950"/>
            <a:r>
              <a:rPr lang="en-US" sz="1600" dirty="0"/>
              <a:t>Now set the previous pointer of </a:t>
            </a:r>
            <a:r>
              <a:rPr lang="en-US" sz="1600" dirty="0" err="1"/>
              <a:t>new_node</a:t>
            </a:r>
            <a:r>
              <a:rPr lang="en-US" sz="1600" dirty="0"/>
              <a:t>.</a:t>
            </a:r>
          </a:p>
          <a:p>
            <a:pPr marL="633413" indent="-234950"/>
            <a:r>
              <a:rPr lang="en-US" sz="1600" dirty="0"/>
              <a:t>If the previous node of the </a:t>
            </a:r>
            <a:r>
              <a:rPr lang="en-US" sz="1600" dirty="0" err="1"/>
              <a:t>new_node</a:t>
            </a:r>
            <a:r>
              <a:rPr lang="en-US" sz="1600" dirty="0"/>
              <a:t> is not NULL, then set the next pointer of this previous node as </a:t>
            </a:r>
            <a:r>
              <a:rPr lang="en-US" sz="1600" dirty="0" err="1"/>
              <a:t>new_node</a:t>
            </a:r>
            <a:r>
              <a:rPr lang="en-US" sz="1600" dirty="0"/>
              <a:t>.</a:t>
            </a:r>
          </a:p>
          <a:p>
            <a:pPr marL="633413" indent="-234950"/>
            <a:r>
              <a:rPr lang="en-US" sz="1600" dirty="0"/>
              <a:t>Else, if the </a:t>
            </a:r>
            <a:r>
              <a:rPr lang="en-US" sz="1600" dirty="0" err="1"/>
              <a:t>prev</a:t>
            </a:r>
            <a:r>
              <a:rPr lang="en-US" sz="1600" dirty="0"/>
              <a:t> of </a:t>
            </a:r>
            <a:r>
              <a:rPr lang="en-US" sz="1600" dirty="0" err="1"/>
              <a:t>new_node</a:t>
            </a:r>
            <a:r>
              <a:rPr lang="en-US" sz="1600" dirty="0"/>
              <a:t> is NULL, it will be the new head node.</a:t>
            </a:r>
          </a:p>
        </p:txBody>
      </p:sp>
      <p:sp>
        <p:nvSpPr>
          <p:cNvPr id="4" name="Title 1">
            <a:extLst>
              <a:ext uri="{FF2B5EF4-FFF2-40B4-BE49-F238E27FC236}">
                <a16:creationId xmlns:a16="http://schemas.microsoft.com/office/drawing/2014/main" id="{9607CEB0-1E42-E2A1-4C26-1456A24FD16E}"/>
              </a:ext>
            </a:extLst>
          </p:cNvPr>
          <p:cNvSpPr>
            <a:spLocks noGrp="1"/>
          </p:cNvSpPr>
          <p:nvPr>
            <p:ph type="title"/>
          </p:nvPr>
        </p:nvSpPr>
        <p:spPr>
          <a:xfrm>
            <a:off x="762000" y="136655"/>
            <a:ext cx="10972800" cy="679090"/>
          </a:xfrm>
        </p:spPr>
        <p:txBody>
          <a:bodyPr>
            <a:normAutofit fontScale="90000"/>
          </a:bodyPr>
          <a:lstStyle/>
          <a:p>
            <a:pPr algn="ctr"/>
            <a:r>
              <a:rPr lang="en-US" b="1" dirty="0"/>
              <a:t>Insertion in doubly linked list</a:t>
            </a:r>
          </a:p>
        </p:txBody>
      </p:sp>
      <p:pic>
        <p:nvPicPr>
          <p:cNvPr id="5" name="Picture 4">
            <a:extLst>
              <a:ext uri="{FF2B5EF4-FFF2-40B4-BE49-F238E27FC236}">
                <a16:creationId xmlns:a16="http://schemas.microsoft.com/office/drawing/2014/main" id="{517C7C9D-D3A6-1A11-2D2F-5BEA7D6B17A8}"/>
              </a:ext>
            </a:extLst>
          </p:cNvPr>
          <p:cNvPicPr>
            <a:picLocks noChangeAspect="1"/>
          </p:cNvPicPr>
          <p:nvPr/>
        </p:nvPicPr>
        <p:blipFill>
          <a:blip r:embed="rId2"/>
          <a:stretch>
            <a:fillRect/>
          </a:stretch>
        </p:blipFill>
        <p:spPr>
          <a:xfrm>
            <a:off x="3465871" y="4640829"/>
            <a:ext cx="5565058" cy="1780635"/>
          </a:xfrm>
          <a:prstGeom prst="rect">
            <a:avLst/>
          </a:prstGeom>
        </p:spPr>
      </p:pic>
    </p:spTree>
    <p:extLst>
      <p:ext uri="{BB962C8B-B14F-4D97-AF65-F5344CB8AC3E}">
        <p14:creationId xmlns:p14="http://schemas.microsoft.com/office/powerpoint/2010/main" val="201820952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23C39E-4EEC-692D-739D-B0B70ADF84F1}"/>
              </a:ext>
            </a:extLst>
          </p:cNvPr>
          <p:cNvSpPr>
            <a:spLocks noGrp="1"/>
          </p:cNvSpPr>
          <p:nvPr>
            <p:ph idx="1"/>
          </p:nvPr>
        </p:nvSpPr>
        <p:spPr>
          <a:xfrm>
            <a:off x="762000" y="707924"/>
            <a:ext cx="10972800" cy="6013422"/>
          </a:xfrm>
        </p:spPr>
        <p:txBody>
          <a:bodyPr>
            <a:normAutofit lnSpcReduction="10000"/>
          </a:bodyPr>
          <a:lstStyle/>
          <a:p>
            <a:pPr marL="0" indent="0">
              <a:lnSpc>
                <a:spcPct val="120000"/>
              </a:lnSpc>
              <a:spcBef>
                <a:spcPts val="0"/>
              </a:spcBef>
              <a:buNone/>
            </a:pPr>
            <a:r>
              <a:rPr lang="en-US" sz="1400" b="1" dirty="0"/>
              <a:t>// Given a node as </a:t>
            </a:r>
            <a:r>
              <a:rPr lang="en-US" sz="1400" b="1" dirty="0" err="1"/>
              <a:t>prev_node</a:t>
            </a:r>
            <a:r>
              <a:rPr lang="en-US" sz="1400" b="1" dirty="0"/>
              <a:t>, insert a new node   after the given node</a:t>
            </a:r>
          </a:p>
          <a:p>
            <a:pPr marL="0" indent="0">
              <a:lnSpc>
                <a:spcPct val="120000"/>
              </a:lnSpc>
              <a:spcBef>
                <a:spcPts val="0"/>
              </a:spcBef>
              <a:buNone/>
            </a:pPr>
            <a:r>
              <a:rPr lang="en-US" sz="1400" dirty="0"/>
              <a:t>void </a:t>
            </a:r>
            <a:r>
              <a:rPr lang="en-US" sz="1400" dirty="0" err="1"/>
              <a:t>insertBefore</a:t>
            </a:r>
            <a:r>
              <a:rPr lang="en-US" sz="1400" dirty="0"/>
              <a:t>(struct Node* </a:t>
            </a:r>
            <a:r>
              <a:rPr lang="en-US" sz="1400" dirty="0" err="1"/>
              <a:t>next_node</a:t>
            </a:r>
            <a:r>
              <a:rPr lang="en-US" sz="1400" dirty="0"/>
              <a:t>, int </a:t>
            </a:r>
            <a:r>
              <a:rPr lang="en-US" sz="1400" dirty="0" err="1"/>
              <a:t>new_data</a:t>
            </a:r>
            <a:r>
              <a:rPr lang="en-US" sz="1400" dirty="0"/>
              <a:t>)</a:t>
            </a:r>
          </a:p>
          <a:p>
            <a:pPr marL="0" indent="0">
              <a:lnSpc>
                <a:spcPct val="120000"/>
              </a:lnSpc>
              <a:spcBef>
                <a:spcPts val="0"/>
              </a:spcBef>
              <a:buNone/>
            </a:pPr>
            <a:r>
              <a:rPr lang="en-US" sz="1400" dirty="0"/>
              <a:t>{</a:t>
            </a:r>
          </a:p>
          <a:p>
            <a:pPr marL="0" indent="0">
              <a:lnSpc>
                <a:spcPct val="120000"/>
              </a:lnSpc>
              <a:spcBef>
                <a:spcPts val="0"/>
              </a:spcBef>
              <a:buNone/>
            </a:pPr>
            <a:r>
              <a:rPr lang="en-US" sz="1400" dirty="0"/>
              <a:t>    // Check if the given </a:t>
            </a:r>
            <a:r>
              <a:rPr lang="en-US" sz="1400" dirty="0" err="1"/>
              <a:t>next_node</a:t>
            </a:r>
            <a:r>
              <a:rPr lang="en-US" sz="1400" dirty="0"/>
              <a:t> is NULL</a:t>
            </a:r>
          </a:p>
          <a:p>
            <a:pPr marL="0" indent="0">
              <a:lnSpc>
                <a:spcPct val="120000"/>
              </a:lnSpc>
              <a:spcBef>
                <a:spcPts val="0"/>
              </a:spcBef>
              <a:buNone/>
            </a:pPr>
            <a:r>
              <a:rPr lang="en-US" sz="1400" dirty="0"/>
              <a:t>    if (</a:t>
            </a:r>
            <a:r>
              <a:rPr lang="en-US" sz="1400" dirty="0" err="1"/>
              <a:t>next_node</a:t>
            </a:r>
            <a:r>
              <a:rPr lang="en-US" sz="1400" dirty="0"/>
              <a:t> == NULL) {</a:t>
            </a:r>
          </a:p>
          <a:p>
            <a:pPr marL="0" indent="0">
              <a:lnSpc>
                <a:spcPct val="120000"/>
              </a:lnSpc>
              <a:spcBef>
                <a:spcPts val="0"/>
              </a:spcBef>
              <a:buNone/>
            </a:pPr>
            <a:r>
              <a:rPr lang="en-US" sz="1400" dirty="0"/>
              <a:t>        </a:t>
            </a:r>
            <a:r>
              <a:rPr lang="en-US" sz="1400" dirty="0" err="1"/>
              <a:t>printf</a:t>
            </a:r>
            <a:r>
              <a:rPr lang="en-US" sz="1400" dirty="0"/>
              <a:t>("the given next node cannot be NULL");</a:t>
            </a:r>
          </a:p>
          <a:p>
            <a:pPr marL="0" indent="0">
              <a:lnSpc>
                <a:spcPct val="120000"/>
              </a:lnSpc>
              <a:spcBef>
                <a:spcPts val="0"/>
              </a:spcBef>
              <a:buNone/>
            </a:pPr>
            <a:r>
              <a:rPr lang="en-US" sz="1400" dirty="0"/>
              <a:t>        return;</a:t>
            </a:r>
          </a:p>
          <a:p>
            <a:pPr marL="0" indent="0">
              <a:lnSpc>
                <a:spcPct val="120000"/>
              </a:lnSpc>
              <a:spcBef>
                <a:spcPts val="0"/>
              </a:spcBef>
              <a:buNone/>
            </a:pPr>
            <a:r>
              <a:rPr lang="en-US" sz="1400" dirty="0"/>
              <a:t>    }</a:t>
            </a:r>
          </a:p>
          <a:p>
            <a:pPr marL="0" indent="0">
              <a:lnSpc>
                <a:spcPct val="120000"/>
              </a:lnSpc>
              <a:spcBef>
                <a:spcPts val="0"/>
              </a:spcBef>
              <a:buNone/>
            </a:pPr>
            <a:r>
              <a:rPr lang="en-US" sz="1400" dirty="0"/>
              <a:t>     // 1. Allocate new node</a:t>
            </a:r>
          </a:p>
          <a:p>
            <a:pPr marL="0" indent="0">
              <a:lnSpc>
                <a:spcPct val="120000"/>
              </a:lnSpc>
              <a:spcBef>
                <a:spcPts val="0"/>
              </a:spcBef>
              <a:buNone/>
            </a:pPr>
            <a:r>
              <a:rPr lang="en-US" sz="1400" dirty="0"/>
              <a:t>    struct Node* </a:t>
            </a:r>
            <a:r>
              <a:rPr lang="en-US" sz="1400" dirty="0" err="1"/>
              <a:t>new_node</a:t>
            </a:r>
            <a:endParaRPr lang="en-US" sz="1400" dirty="0"/>
          </a:p>
          <a:p>
            <a:pPr marL="0" indent="0">
              <a:lnSpc>
                <a:spcPct val="120000"/>
              </a:lnSpc>
              <a:spcBef>
                <a:spcPts val="0"/>
              </a:spcBef>
              <a:buNone/>
            </a:pPr>
            <a:r>
              <a:rPr lang="en-US" sz="1400" dirty="0"/>
              <a:t>        = (struct Node*)malloc(</a:t>
            </a:r>
            <a:r>
              <a:rPr lang="en-US" sz="1400" dirty="0" err="1"/>
              <a:t>sizeof</a:t>
            </a:r>
            <a:r>
              <a:rPr lang="en-US" sz="1400" dirty="0"/>
              <a:t>(struct Node));</a:t>
            </a:r>
          </a:p>
          <a:p>
            <a:pPr marL="0" indent="0">
              <a:lnSpc>
                <a:spcPct val="120000"/>
              </a:lnSpc>
              <a:spcBef>
                <a:spcPts val="0"/>
              </a:spcBef>
              <a:buNone/>
            </a:pPr>
            <a:r>
              <a:rPr lang="en-US" sz="1400" dirty="0"/>
              <a:t>     // 2. Put in the data</a:t>
            </a:r>
          </a:p>
          <a:p>
            <a:pPr marL="0" indent="0">
              <a:lnSpc>
                <a:spcPct val="120000"/>
              </a:lnSpc>
              <a:spcBef>
                <a:spcPts val="0"/>
              </a:spcBef>
              <a:buNone/>
            </a:pPr>
            <a:r>
              <a:rPr lang="en-US" sz="1400" dirty="0"/>
              <a:t>    </a:t>
            </a:r>
            <a:r>
              <a:rPr lang="en-US" sz="1400" dirty="0" err="1"/>
              <a:t>new_node</a:t>
            </a:r>
            <a:r>
              <a:rPr lang="en-US" sz="1400" dirty="0"/>
              <a:t>-&gt;data = </a:t>
            </a:r>
            <a:r>
              <a:rPr lang="en-US" sz="1400" dirty="0" err="1"/>
              <a:t>new_data</a:t>
            </a:r>
            <a:r>
              <a:rPr lang="en-US" sz="1400" dirty="0"/>
              <a:t>;</a:t>
            </a:r>
          </a:p>
          <a:p>
            <a:pPr marL="0" indent="0">
              <a:lnSpc>
                <a:spcPct val="120000"/>
              </a:lnSpc>
              <a:spcBef>
                <a:spcPts val="0"/>
              </a:spcBef>
              <a:buNone/>
            </a:pPr>
            <a:r>
              <a:rPr lang="en-US" sz="1400" dirty="0"/>
              <a:t>     // 3. Make previous of new node as previous of </a:t>
            </a:r>
            <a:r>
              <a:rPr lang="en-US" sz="1400" dirty="0" err="1"/>
              <a:t>next_node</a:t>
            </a:r>
            <a:endParaRPr lang="en-US" sz="1400" dirty="0"/>
          </a:p>
          <a:p>
            <a:pPr marL="0" indent="0">
              <a:lnSpc>
                <a:spcPct val="120000"/>
              </a:lnSpc>
              <a:spcBef>
                <a:spcPts val="0"/>
              </a:spcBef>
              <a:buNone/>
            </a:pPr>
            <a:r>
              <a:rPr lang="en-US" sz="1400" dirty="0"/>
              <a:t>    </a:t>
            </a:r>
            <a:r>
              <a:rPr lang="en-US" sz="1400" dirty="0" err="1"/>
              <a:t>new_node</a:t>
            </a:r>
            <a:r>
              <a:rPr lang="en-US" sz="1400" dirty="0"/>
              <a:t>-&gt;</a:t>
            </a:r>
            <a:r>
              <a:rPr lang="en-US" sz="1400" dirty="0" err="1"/>
              <a:t>prev</a:t>
            </a:r>
            <a:r>
              <a:rPr lang="en-US" sz="1400" dirty="0"/>
              <a:t> = </a:t>
            </a:r>
            <a:r>
              <a:rPr lang="en-US" sz="1400" dirty="0" err="1"/>
              <a:t>next_node</a:t>
            </a:r>
            <a:r>
              <a:rPr lang="en-US" sz="1400" dirty="0"/>
              <a:t>-&gt;</a:t>
            </a:r>
            <a:r>
              <a:rPr lang="en-US" sz="1400" dirty="0" err="1"/>
              <a:t>prev</a:t>
            </a:r>
            <a:r>
              <a:rPr lang="en-US" sz="1400" dirty="0"/>
              <a:t>;</a:t>
            </a:r>
          </a:p>
          <a:p>
            <a:pPr marL="0" indent="0">
              <a:lnSpc>
                <a:spcPct val="120000"/>
              </a:lnSpc>
              <a:spcBef>
                <a:spcPts val="0"/>
              </a:spcBef>
              <a:buNone/>
            </a:pPr>
            <a:r>
              <a:rPr lang="en-US" sz="1400" dirty="0"/>
              <a:t>     // 4. Make the previous of </a:t>
            </a:r>
            <a:r>
              <a:rPr lang="en-US" sz="1400" dirty="0" err="1"/>
              <a:t>next_node</a:t>
            </a:r>
            <a:r>
              <a:rPr lang="en-US" sz="1400" dirty="0"/>
              <a:t> as </a:t>
            </a:r>
            <a:r>
              <a:rPr lang="en-US" sz="1400" dirty="0" err="1"/>
              <a:t>new_node</a:t>
            </a:r>
            <a:endParaRPr lang="en-US" sz="1400" dirty="0"/>
          </a:p>
          <a:p>
            <a:pPr marL="0" indent="0">
              <a:lnSpc>
                <a:spcPct val="120000"/>
              </a:lnSpc>
              <a:spcBef>
                <a:spcPts val="0"/>
              </a:spcBef>
              <a:buNone/>
            </a:pPr>
            <a:r>
              <a:rPr lang="en-US" sz="1400" dirty="0"/>
              <a:t>    </a:t>
            </a:r>
            <a:r>
              <a:rPr lang="en-US" sz="1400" dirty="0" err="1"/>
              <a:t>next_node</a:t>
            </a:r>
            <a:r>
              <a:rPr lang="en-US" sz="1400" dirty="0"/>
              <a:t>-&gt;</a:t>
            </a:r>
            <a:r>
              <a:rPr lang="en-US" sz="1400" dirty="0" err="1"/>
              <a:t>prev</a:t>
            </a:r>
            <a:r>
              <a:rPr lang="en-US" sz="1400" dirty="0"/>
              <a:t> = </a:t>
            </a:r>
            <a:r>
              <a:rPr lang="en-US" sz="1400" dirty="0" err="1"/>
              <a:t>new_node</a:t>
            </a:r>
            <a:r>
              <a:rPr lang="en-US" sz="1400" dirty="0"/>
              <a:t>;</a:t>
            </a:r>
          </a:p>
          <a:p>
            <a:pPr marL="0" indent="0">
              <a:lnSpc>
                <a:spcPct val="120000"/>
              </a:lnSpc>
              <a:spcBef>
                <a:spcPts val="0"/>
              </a:spcBef>
              <a:buNone/>
            </a:pPr>
            <a:r>
              <a:rPr lang="en-US" sz="1400" dirty="0"/>
              <a:t>     // 5. Make </a:t>
            </a:r>
            <a:r>
              <a:rPr lang="en-US" sz="1400" dirty="0" err="1"/>
              <a:t>next_node</a:t>
            </a:r>
            <a:r>
              <a:rPr lang="en-US" sz="1400" dirty="0"/>
              <a:t> as next of </a:t>
            </a:r>
            <a:r>
              <a:rPr lang="en-US" sz="1400" dirty="0" err="1"/>
              <a:t>new_node</a:t>
            </a:r>
            <a:endParaRPr lang="en-US" sz="1400" dirty="0"/>
          </a:p>
          <a:p>
            <a:pPr marL="0" indent="0">
              <a:lnSpc>
                <a:spcPct val="120000"/>
              </a:lnSpc>
              <a:spcBef>
                <a:spcPts val="0"/>
              </a:spcBef>
              <a:buNone/>
            </a:pPr>
            <a:r>
              <a:rPr lang="en-US" sz="1400" dirty="0"/>
              <a:t>    </a:t>
            </a:r>
            <a:r>
              <a:rPr lang="en-US" sz="1400" dirty="0" err="1"/>
              <a:t>new_node</a:t>
            </a:r>
            <a:r>
              <a:rPr lang="en-US" sz="1400" dirty="0"/>
              <a:t>-&gt;next = </a:t>
            </a:r>
            <a:r>
              <a:rPr lang="en-US" sz="1400" dirty="0" err="1"/>
              <a:t>next_node</a:t>
            </a:r>
            <a:r>
              <a:rPr lang="en-US" sz="1400" dirty="0"/>
              <a:t>;</a:t>
            </a:r>
          </a:p>
          <a:p>
            <a:pPr marL="0" indent="0">
              <a:lnSpc>
                <a:spcPct val="120000"/>
              </a:lnSpc>
              <a:spcBef>
                <a:spcPts val="0"/>
              </a:spcBef>
              <a:buNone/>
            </a:pPr>
            <a:r>
              <a:rPr lang="en-US" sz="1400" dirty="0"/>
              <a:t>     // 6. Change next of </a:t>
            </a:r>
            <a:r>
              <a:rPr lang="en-US" sz="1400" dirty="0" err="1"/>
              <a:t>new_node's</a:t>
            </a:r>
            <a:r>
              <a:rPr lang="en-US" sz="1400" dirty="0"/>
              <a:t> previous node</a:t>
            </a:r>
          </a:p>
          <a:p>
            <a:pPr marL="0" indent="0">
              <a:lnSpc>
                <a:spcPct val="120000"/>
              </a:lnSpc>
              <a:spcBef>
                <a:spcPts val="0"/>
              </a:spcBef>
              <a:buNone/>
            </a:pPr>
            <a:r>
              <a:rPr lang="en-US" sz="1400" dirty="0"/>
              <a:t>    if (</a:t>
            </a:r>
            <a:r>
              <a:rPr lang="en-US" sz="1400" dirty="0" err="1"/>
              <a:t>new_node</a:t>
            </a:r>
            <a:r>
              <a:rPr lang="en-US" sz="1400" dirty="0"/>
              <a:t>-&gt;</a:t>
            </a:r>
            <a:r>
              <a:rPr lang="en-US" sz="1400" dirty="0" err="1"/>
              <a:t>prev</a:t>
            </a:r>
            <a:r>
              <a:rPr lang="en-US" sz="1400" dirty="0"/>
              <a:t> != NULL)</a:t>
            </a:r>
          </a:p>
          <a:p>
            <a:pPr marL="0" indent="0">
              <a:lnSpc>
                <a:spcPct val="120000"/>
              </a:lnSpc>
              <a:spcBef>
                <a:spcPts val="0"/>
              </a:spcBef>
              <a:buNone/>
            </a:pPr>
            <a:r>
              <a:rPr lang="en-US" sz="1400" dirty="0"/>
              <a:t>        </a:t>
            </a:r>
            <a:r>
              <a:rPr lang="en-US" sz="1400" dirty="0" err="1"/>
              <a:t>new_node</a:t>
            </a:r>
            <a:r>
              <a:rPr lang="en-US" sz="1400" dirty="0"/>
              <a:t>-&gt;</a:t>
            </a:r>
            <a:r>
              <a:rPr lang="en-US" sz="1400" dirty="0" err="1"/>
              <a:t>prev</a:t>
            </a:r>
            <a:r>
              <a:rPr lang="en-US" sz="1400" dirty="0"/>
              <a:t>-&gt;next = </a:t>
            </a:r>
            <a:r>
              <a:rPr lang="en-US" sz="1400" dirty="0" err="1"/>
              <a:t>new_node</a:t>
            </a:r>
            <a:r>
              <a:rPr lang="en-US" sz="1400" dirty="0"/>
              <a:t>;</a:t>
            </a:r>
          </a:p>
          <a:p>
            <a:pPr marL="0" indent="0">
              <a:lnSpc>
                <a:spcPct val="120000"/>
              </a:lnSpc>
              <a:spcBef>
                <a:spcPts val="0"/>
              </a:spcBef>
              <a:buNone/>
            </a:pPr>
            <a:r>
              <a:rPr lang="en-US" sz="1400" dirty="0"/>
              <a:t>    else</a:t>
            </a:r>
          </a:p>
          <a:p>
            <a:pPr marL="0" indent="0">
              <a:lnSpc>
                <a:spcPct val="120000"/>
              </a:lnSpc>
              <a:spcBef>
                <a:spcPts val="0"/>
              </a:spcBef>
              <a:buNone/>
            </a:pPr>
            <a:r>
              <a:rPr lang="en-US" sz="1400" dirty="0"/>
              <a:t>        head = </a:t>
            </a:r>
            <a:r>
              <a:rPr lang="en-US" sz="1400" dirty="0" err="1"/>
              <a:t>new_node</a:t>
            </a:r>
            <a:r>
              <a:rPr lang="en-US" sz="1400" dirty="0"/>
              <a:t>;}</a:t>
            </a:r>
          </a:p>
        </p:txBody>
      </p:sp>
      <p:sp>
        <p:nvSpPr>
          <p:cNvPr id="4" name="Title 1">
            <a:extLst>
              <a:ext uri="{FF2B5EF4-FFF2-40B4-BE49-F238E27FC236}">
                <a16:creationId xmlns:a16="http://schemas.microsoft.com/office/drawing/2014/main" id="{DA12D303-C979-259D-8909-68B36080224A}"/>
              </a:ext>
            </a:extLst>
          </p:cNvPr>
          <p:cNvSpPr>
            <a:spLocks noGrp="1"/>
          </p:cNvSpPr>
          <p:nvPr>
            <p:ph type="title"/>
          </p:nvPr>
        </p:nvSpPr>
        <p:spPr>
          <a:xfrm>
            <a:off x="762000" y="136655"/>
            <a:ext cx="10972800" cy="571268"/>
          </a:xfrm>
        </p:spPr>
        <p:txBody>
          <a:bodyPr>
            <a:normAutofit fontScale="90000"/>
          </a:bodyPr>
          <a:lstStyle/>
          <a:p>
            <a:pPr algn="ctr"/>
            <a:r>
              <a:rPr lang="en-US" b="1" dirty="0"/>
              <a:t>Insertion in doubly linked list</a:t>
            </a:r>
          </a:p>
        </p:txBody>
      </p:sp>
    </p:spTree>
    <p:extLst>
      <p:ext uri="{BB962C8B-B14F-4D97-AF65-F5344CB8AC3E}">
        <p14:creationId xmlns:p14="http://schemas.microsoft.com/office/powerpoint/2010/main" val="423063869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014337-1D23-0A55-A310-E35FFB80345D}"/>
              </a:ext>
            </a:extLst>
          </p:cNvPr>
          <p:cNvSpPr>
            <a:spLocks noGrp="1"/>
          </p:cNvSpPr>
          <p:nvPr>
            <p:ph idx="1"/>
          </p:nvPr>
        </p:nvSpPr>
        <p:spPr>
          <a:xfrm>
            <a:off x="762000" y="707923"/>
            <a:ext cx="10972800" cy="5884606"/>
          </a:xfrm>
        </p:spPr>
        <p:txBody>
          <a:bodyPr>
            <a:normAutofit/>
          </a:bodyPr>
          <a:lstStyle/>
          <a:p>
            <a:pPr marL="0" indent="0">
              <a:buNone/>
            </a:pPr>
            <a:r>
              <a:rPr lang="en-US" sz="2000" dirty="0"/>
              <a:t>Insert a node at the end in a Doubly Linked List:</a:t>
            </a:r>
          </a:p>
          <a:p>
            <a:pPr marL="0" indent="0">
              <a:buNone/>
            </a:pPr>
            <a:r>
              <a:rPr lang="en-US" sz="2000" dirty="0"/>
              <a:t>The new node is always added after the last node of the given Linked List. It can be done using the following 7 steps:</a:t>
            </a:r>
          </a:p>
          <a:p>
            <a:pPr marL="693738" indent="-295275"/>
            <a:r>
              <a:rPr lang="en-US" sz="2000" dirty="0"/>
              <a:t>Create a new node (say </a:t>
            </a:r>
            <a:r>
              <a:rPr lang="en-US" sz="2000" dirty="0" err="1"/>
              <a:t>new_node</a:t>
            </a:r>
            <a:r>
              <a:rPr lang="en-US" sz="2000" dirty="0"/>
              <a:t>).</a:t>
            </a:r>
          </a:p>
          <a:p>
            <a:pPr marL="693738" indent="-295275"/>
            <a:r>
              <a:rPr lang="en-US" sz="2000" dirty="0"/>
              <a:t>Put the value in the new node.</a:t>
            </a:r>
          </a:p>
          <a:p>
            <a:pPr marL="693738" indent="-295275"/>
            <a:r>
              <a:rPr lang="en-US" sz="2000" dirty="0"/>
              <a:t>Make the next pointer of </a:t>
            </a:r>
            <a:r>
              <a:rPr lang="en-US" sz="2000" dirty="0" err="1"/>
              <a:t>new_node</a:t>
            </a:r>
            <a:r>
              <a:rPr lang="en-US" sz="2000" dirty="0"/>
              <a:t> as null.</a:t>
            </a:r>
          </a:p>
          <a:p>
            <a:pPr marL="693738" indent="-295275"/>
            <a:r>
              <a:rPr lang="en-US" sz="2000" dirty="0"/>
              <a:t>If the list is empty, make </a:t>
            </a:r>
            <a:r>
              <a:rPr lang="en-US" sz="2000" dirty="0" err="1"/>
              <a:t>new_node</a:t>
            </a:r>
            <a:r>
              <a:rPr lang="en-US" sz="2000" dirty="0"/>
              <a:t> as the head.</a:t>
            </a:r>
          </a:p>
          <a:p>
            <a:pPr marL="693738" indent="-295275"/>
            <a:r>
              <a:rPr lang="en-US" sz="2000" dirty="0"/>
              <a:t>Otherwise, travel to the end of the linked list.</a:t>
            </a:r>
          </a:p>
          <a:p>
            <a:pPr marL="693738" indent="-295275"/>
            <a:r>
              <a:rPr lang="en-US" sz="2000" dirty="0"/>
              <a:t>Now make the next pointer of last node point to </a:t>
            </a:r>
            <a:r>
              <a:rPr lang="en-US" sz="2000" dirty="0" err="1"/>
              <a:t>new_node</a:t>
            </a:r>
            <a:r>
              <a:rPr lang="en-US" sz="2000" dirty="0"/>
              <a:t>.</a:t>
            </a:r>
          </a:p>
          <a:p>
            <a:pPr marL="693738" indent="-295275"/>
            <a:r>
              <a:rPr lang="en-US" sz="2000" dirty="0"/>
              <a:t>Change the previous pointer of </a:t>
            </a:r>
            <a:r>
              <a:rPr lang="en-US" sz="2000" dirty="0" err="1"/>
              <a:t>new_node</a:t>
            </a:r>
            <a:r>
              <a:rPr lang="en-US" sz="2000" dirty="0"/>
              <a:t> to the last node of the list.</a:t>
            </a:r>
          </a:p>
        </p:txBody>
      </p:sp>
      <p:sp>
        <p:nvSpPr>
          <p:cNvPr id="4" name="Title 1">
            <a:extLst>
              <a:ext uri="{FF2B5EF4-FFF2-40B4-BE49-F238E27FC236}">
                <a16:creationId xmlns:a16="http://schemas.microsoft.com/office/drawing/2014/main" id="{322610D9-5699-0D17-F55D-6ACC0D3F8D3C}"/>
              </a:ext>
            </a:extLst>
          </p:cNvPr>
          <p:cNvSpPr>
            <a:spLocks noGrp="1"/>
          </p:cNvSpPr>
          <p:nvPr>
            <p:ph type="title"/>
          </p:nvPr>
        </p:nvSpPr>
        <p:spPr>
          <a:xfrm>
            <a:off x="762000" y="136655"/>
            <a:ext cx="10972800" cy="571268"/>
          </a:xfrm>
        </p:spPr>
        <p:txBody>
          <a:bodyPr>
            <a:normAutofit fontScale="90000"/>
          </a:bodyPr>
          <a:lstStyle/>
          <a:p>
            <a:pPr algn="ctr"/>
            <a:r>
              <a:rPr lang="en-US" b="1" dirty="0"/>
              <a:t>Insertion in doubly linked list</a:t>
            </a:r>
          </a:p>
        </p:txBody>
      </p:sp>
      <p:pic>
        <p:nvPicPr>
          <p:cNvPr id="5" name="Picture 4">
            <a:extLst>
              <a:ext uri="{FF2B5EF4-FFF2-40B4-BE49-F238E27FC236}">
                <a16:creationId xmlns:a16="http://schemas.microsoft.com/office/drawing/2014/main" id="{C4609DC4-20C7-C830-3326-D4D54E973E25}"/>
              </a:ext>
            </a:extLst>
          </p:cNvPr>
          <p:cNvPicPr>
            <a:picLocks noChangeAspect="1"/>
          </p:cNvPicPr>
          <p:nvPr/>
        </p:nvPicPr>
        <p:blipFill rotWithShape="1">
          <a:blip r:embed="rId2"/>
          <a:srcRect l="2704" t="9996" r="13105" b="20355"/>
          <a:stretch/>
        </p:blipFill>
        <p:spPr>
          <a:xfrm>
            <a:off x="1877961" y="4630994"/>
            <a:ext cx="8947355" cy="1961535"/>
          </a:xfrm>
          <a:prstGeom prst="rect">
            <a:avLst/>
          </a:prstGeom>
        </p:spPr>
      </p:pic>
    </p:spTree>
    <p:extLst>
      <p:ext uri="{BB962C8B-B14F-4D97-AF65-F5344CB8AC3E}">
        <p14:creationId xmlns:p14="http://schemas.microsoft.com/office/powerpoint/2010/main" val="333240253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DC3787-F89C-0905-DCD8-5577BB0AF899}"/>
              </a:ext>
            </a:extLst>
          </p:cNvPr>
          <p:cNvSpPr>
            <a:spLocks noGrp="1"/>
          </p:cNvSpPr>
          <p:nvPr>
            <p:ph idx="1"/>
          </p:nvPr>
        </p:nvSpPr>
        <p:spPr>
          <a:xfrm>
            <a:off x="762000" y="707923"/>
            <a:ext cx="10972800" cy="6013422"/>
          </a:xfrm>
        </p:spPr>
        <p:txBody>
          <a:bodyPr>
            <a:normAutofit lnSpcReduction="10000"/>
          </a:bodyPr>
          <a:lstStyle/>
          <a:p>
            <a:pPr marL="0" indent="0">
              <a:lnSpc>
                <a:spcPct val="120000"/>
              </a:lnSpc>
              <a:spcBef>
                <a:spcPts val="0"/>
              </a:spcBef>
              <a:buNone/>
            </a:pPr>
            <a:r>
              <a:rPr lang="en-US" sz="1200" dirty="0"/>
              <a:t>// Given a reference (pointer to pointer) to the head  of a DLL and an int, appends a new node at the end</a:t>
            </a:r>
          </a:p>
          <a:p>
            <a:pPr marL="0" indent="0">
              <a:lnSpc>
                <a:spcPct val="120000"/>
              </a:lnSpc>
              <a:spcBef>
                <a:spcPts val="0"/>
              </a:spcBef>
              <a:buNone/>
            </a:pPr>
            <a:r>
              <a:rPr lang="en-US" sz="1200" dirty="0"/>
              <a:t>void append(struct Node** </a:t>
            </a:r>
            <a:r>
              <a:rPr lang="en-US" sz="1200" dirty="0" err="1"/>
              <a:t>head_ref</a:t>
            </a:r>
            <a:r>
              <a:rPr lang="en-US" sz="1200" dirty="0"/>
              <a:t>, int </a:t>
            </a:r>
            <a:r>
              <a:rPr lang="en-US" sz="1200" dirty="0" err="1"/>
              <a:t>new_data</a:t>
            </a:r>
            <a:r>
              <a:rPr lang="en-US" sz="1200" dirty="0"/>
              <a:t>)</a:t>
            </a:r>
          </a:p>
          <a:p>
            <a:pPr marL="0" indent="0">
              <a:lnSpc>
                <a:spcPct val="120000"/>
              </a:lnSpc>
              <a:spcBef>
                <a:spcPts val="0"/>
              </a:spcBef>
              <a:buNone/>
            </a:pPr>
            <a:r>
              <a:rPr lang="en-US" sz="1200" dirty="0"/>
              <a:t>{</a:t>
            </a:r>
          </a:p>
          <a:p>
            <a:pPr marL="0" indent="0" defTabSz="574675">
              <a:lnSpc>
                <a:spcPct val="120000"/>
              </a:lnSpc>
              <a:spcBef>
                <a:spcPts val="0"/>
              </a:spcBef>
              <a:buNone/>
            </a:pPr>
            <a:r>
              <a:rPr lang="en-US" sz="1200" dirty="0"/>
              <a:t>	// 1. allocate node</a:t>
            </a:r>
          </a:p>
          <a:p>
            <a:pPr marL="0" indent="0" defTabSz="574675">
              <a:lnSpc>
                <a:spcPct val="120000"/>
              </a:lnSpc>
              <a:spcBef>
                <a:spcPts val="0"/>
              </a:spcBef>
              <a:buNone/>
            </a:pPr>
            <a:r>
              <a:rPr lang="en-US" sz="1200" dirty="0"/>
              <a:t>	struct Node* </a:t>
            </a:r>
            <a:r>
              <a:rPr lang="en-US" sz="1200" dirty="0" err="1"/>
              <a:t>new_node</a:t>
            </a:r>
            <a:endParaRPr lang="en-US" sz="1200" dirty="0"/>
          </a:p>
          <a:p>
            <a:pPr marL="0" indent="0" defTabSz="574675">
              <a:lnSpc>
                <a:spcPct val="120000"/>
              </a:lnSpc>
              <a:spcBef>
                <a:spcPts val="0"/>
              </a:spcBef>
              <a:buNone/>
            </a:pPr>
            <a:r>
              <a:rPr lang="en-US" sz="1200" dirty="0"/>
              <a:t>		= (struct Node*)malloc(</a:t>
            </a:r>
            <a:r>
              <a:rPr lang="en-US" sz="1200" dirty="0" err="1"/>
              <a:t>sizeof</a:t>
            </a:r>
            <a:r>
              <a:rPr lang="en-US" sz="1200" dirty="0"/>
              <a:t>(struct Node));</a:t>
            </a:r>
          </a:p>
          <a:p>
            <a:pPr marL="0" indent="0" defTabSz="574675">
              <a:lnSpc>
                <a:spcPct val="120000"/>
              </a:lnSpc>
              <a:spcBef>
                <a:spcPts val="0"/>
              </a:spcBef>
              <a:buNone/>
            </a:pPr>
            <a:r>
              <a:rPr lang="en-US" sz="1200" dirty="0"/>
              <a:t>	struct Node* last = *</a:t>
            </a:r>
            <a:r>
              <a:rPr lang="en-US" sz="1200" dirty="0" err="1"/>
              <a:t>head_ref</a:t>
            </a:r>
            <a:r>
              <a:rPr lang="en-US" sz="1200" dirty="0"/>
              <a:t>; /* used in step 5*/</a:t>
            </a:r>
          </a:p>
          <a:p>
            <a:pPr marL="0" indent="0" defTabSz="574675">
              <a:lnSpc>
                <a:spcPct val="120000"/>
              </a:lnSpc>
              <a:spcBef>
                <a:spcPts val="0"/>
              </a:spcBef>
              <a:buNone/>
            </a:pPr>
            <a:r>
              <a:rPr lang="en-US" sz="1200" dirty="0"/>
              <a:t>	// 2. put in the data</a:t>
            </a:r>
          </a:p>
          <a:p>
            <a:pPr marL="0" indent="0" defTabSz="574675">
              <a:lnSpc>
                <a:spcPct val="120000"/>
              </a:lnSpc>
              <a:spcBef>
                <a:spcPts val="0"/>
              </a:spcBef>
              <a:buNone/>
            </a:pPr>
            <a:r>
              <a:rPr lang="en-US" sz="1200" dirty="0"/>
              <a:t>	</a:t>
            </a:r>
            <a:r>
              <a:rPr lang="en-US" sz="1200" dirty="0" err="1"/>
              <a:t>new_node</a:t>
            </a:r>
            <a:r>
              <a:rPr lang="en-US" sz="1200" dirty="0"/>
              <a:t>-&gt;data = </a:t>
            </a:r>
            <a:r>
              <a:rPr lang="en-US" sz="1200" dirty="0" err="1"/>
              <a:t>new_data</a:t>
            </a:r>
            <a:r>
              <a:rPr lang="en-US" sz="1200" dirty="0"/>
              <a:t>;</a:t>
            </a:r>
          </a:p>
          <a:p>
            <a:pPr marL="0" indent="0" defTabSz="574675">
              <a:lnSpc>
                <a:spcPct val="120000"/>
              </a:lnSpc>
              <a:spcBef>
                <a:spcPts val="0"/>
              </a:spcBef>
              <a:buNone/>
            </a:pPr>
            <a:r>
              <a:rPr lang="en-US" sz="1200" dirty="0"/>
              <a:t>	// 3. This new node is going to be the last node, so</a:t>
            </a:r>
          </a:p>
          <a:p>
            <a:pPr marL="0" indent="0" defTabSz="574675">
              <a:lnSpc>
                <a:spcPct val="120000"/>
              </a:lnSpc>
              <a:spcBef>
                <a:spcPts val="0"/>
              </a:spcBef>
              <a:buNone/>
            </a:pPr>
            <a:r>
              <a:rPr lang="en-US" sz="1200" dirty="0"/>
              <a:t>	// make next of it as NULL</a:t>
            </a:r>
          </a:p>
          <a:p>
            <a:pPr marL="0" indent="0" defTabSz="574675">
              <a:lnSpc>
                <a:spcPct val="120000"/>
              </a:lnSpc>
              <a:spcBef>
                <a:spcPts val="0"/>
              </a:spcBef>
              <a:buNone/>
            </a:pPr>
            <a:r>
              <a:rPr lang="en-US" sz="1200" dirty="0"/>
              <a:t>	</a:t>
            </a:r>
            <a:r>
              <a:rPr lang="en-US" sz="1200" dirty="0" err="1"/>
              <a:t>new_node</a:t>
            </a:r>
            <a:r>
              <a:rPr lang="en-US" sz="1200" dirty="0"/>
              <a:t>-&gt;next = NULL;</a:t>
            </a:r>
          </a:p>
          <a:p>
            <a:pPr marL="0" indent="0" defTabSz="574675">
              <a:lnSpc>
                <a:spcPct val="120000"/>
              </a:lnSpc>
              <a:spcBef>
                <a:spcPts val="0"/>
              </a:spcBef>
              <a:buNone/>
            </a:pPr>
            <a:r>
              <a:rPr lang="en-US" sz="1200" dirty="0"/>
              <a:t>	// 4. If the Linked List is empty, then make the new</a:t>
            </a:r>
          </a:p>
          <a:p>
            <a:pPr marL="0" indent="0" defTabSz="574675">
              <a:lnSpc>
                <a:spcPct val="120000"/>
              </a:lnSpc>
              <a:spcBef>
                <a:spcPts val="0"/>
              </a:spcBef>
              <a:buNone/>
            </a:pPr>
            <a:r>
              <a:rPr lang="en-US" sz="1200" dirty="0"/>
              <a:t>	// node as head</a:t>
            </a:r>
          </a:p>
          <a:p>
            <a:pPr marL="0" indent="0" defTabSz="574675">
              <a:lnSpc>
                <a:spcPct val="120000"/>
              </a:lnSpc>
              <a:spcBef>
                <a:spcPts val="0"/>
              </a:spcBef>
              <a:buNone/>
            </a:pPr>
            <a:r>
              <a:rPr lang="en-US" sz="1200" dirty="0"/>
              <a:t>	if (*</a:t>
            </a:r>
            <a:r>
              <a:rPr lang="en-US" sz="1200" dirty="0" err="1"/>
              <a:t>head_ref</a:t>
            </a:r>
            <a:r>
              <a:rPr lang="en-US" sz="1200" dirty="0"/>
              <a:t> == NULL) {</a:t>
            </a:r>
          </a:p>
          <a:p>
            <a:pPr marL="0" indent="0" defTabSz="574675">
              <a:lnSpc>
                <a:spcPct val="120000"/>
              </a:lnSpc>
              <a:spcBef>
                <a:spcPts val="0"/>
              </a:spcBef>
              <a:buNone/>
            </a:pPr>
            <a:r>
              <a:rPr lang="en-US" sz="1200" dirty="0"/>
              <a:t>		</a:t>
            </a:r>
            <a:r>
              <a:rPr lang="en-US" sz="1200" dirty="0" err="1"/>
              <a:t>new_node</a:t>
            </a:r>
            <a:r>
              <a:rPr lang="en-US" sz="1200" dirty="0"/>
              <a:t>-&gt;</a:t>
            </a:r>
            <a:r>
              <a:rPr lang="en-US" sz="1200" dirty="0" err="1"/>
              <a:t>prev</a:t>
            </a:r>
            <a:r>
              <a:rPr lang="en-US" sz="1200" dirty="0"/>
              <a:t> = NULL;</a:t>
            </a:r>
          </a:p>
          <a:p>
            <a:pPr marL="0" indent="0" defTabSz="574675">
              <a:lnSpc>
                <a:spcPct val="120000"/>
              </a:lnSpc>
              <a:spcBef>
                <a:spcPts val="0"/>
              </a:spcBef>
              <a:buNone/>
            </a:pPr>
            <a:r>
              <a:rPr lang="en-US" sz="1200" dirty="0"/>
              <a:t>		*</a:t>
            </a:r>
            <a:r>
              <a:rPr lang="en-US" sz="1200" dirty="0" err="1"/>
              <a:t>head_ref</a:t>
            </a:r>
            <a:r>
              <a:rPr lang="en-US" sz="1200" dirty="0"/>
              <a:t> = </a:t>
            </a:r>
            <a:r>
              <a:rPr lang="en-US" sz="1200" dirty="0" err="1"/>
              <a:t>new_node</a:t>
            </a:r>
            <a:r>
              <a:rPr lang="en-US" sz="1200" dirty="0"/>
              <a:t>;</a:t>
            </a:r>
          </a:p>
          <a:p>
            <a:pPr marL="0" indent="0" defTabSz="574675">
              <a:lnSpc>
                <a:spcPct val="120000"/>
              </a:lnSpc>
              <a:spcBef>
                <a:spcPts val="0"/>
              </a:spcBef>
              <a:buNone/>
            </a:pPr>
            <a:r>
              <a:rPr lang="en-US" sz="1200" dirty="0"/>
              <a:t>		return;</a:t>
            </a:r>
          </a:p>
          <a:p>
            <a:pPr marL="0" indent="0" defTabSz="574675">
              <a:lnSpc>
                <a:spcPct val="120000"/>
              </a:lnSpc>
              <a:spcBef>
                <a:spcPts val="0"/>
              </a:spcBef>
              <a:buNone/>
            </a:pPr>
            <a:r>
              <a:rPr lang="en-US" sz="1200" dirty="0"/>
              <a:t>	}</a:t>
            </a:r>
          </a:p>
          <a:p>
            <a:pPr marL="0" indent="0" defTabSz="574675">
              <a:lnSpc>
                <a:spcPct val="120000"/>
              </a:lnSpc>
              <a:spcBef>
                <a:spcPts val="0"/>
              </a:spcBef>
              <a:buNone/>
            </a:pPr>
            <a:r>
              <a:rPr lang="en-US" sz="1200" dirty="0"/>
              <a:t>	// 5. Else traverse till the last node</a:t>
            </a:r>
          </a:p>
          <a:p>
            <a:pPr marL="0" indent="0" defTabSz="574675">
              <a:lnSpc>
                <a:spcPct val="120000"/>
              </a:lnSpc>
              <a:spcBef>
                <a:spcPts val="0"/>
              </a:spcBef>
              <a:buNone/>
            </a:pPr>
            <a:r>
              <a:rPr lang="en-US" sz="1200" dirty="0"/>
              <a:t>	while (last-&gt;next != NULL)</a:t>
            </a:r>
          </a:p>
          <a:p>
            <a:pPr marL="0" indent="0" defTabSz="574675">
              <a:lnSpc>
                <a:spcPct val="120000"/>
              </a:lnSpc>
              <a:spcBef>
                <a:spcPts val="0"/>
              </a:spcBef>
              <a:buNone/>
            </a:pPr>
            <a:r>
              <a:rPr lang="en-US" sz="1200" dirty="0"/>
              <a:t>		last = last-&gt;next;</a:t>
            </a:r>
          </a:p>
          <a:p>
            <a:pPr marL="0" indent="0" defTabSz="574675">
              <a:lnSpc>
                <a:spcPct val="120000"/>
              </a:lnSpc>
              <a:spcBef>
                <a:spcPts val="0"/>
              </a:spcBef>
              <a:buNone/>
            </a:pPr>
            <a:r>
              <a:rPr lang="en-US" sz="1200" dirty="0"/>
              <a:t>	// 6. Change the next of last node</a:t>
            </a:r>
          </a:p>
          <a:p>
            <a:pPr marL="0" indent="0" defTabSz="574675">
              <a:lnSpc>
                <a:spcPct val="120000"/>
              </a:lnSpc>
              <a:spcBef>
                <a:spcPts val="0"/>
              </a:spcBef>
              <a:buNone/>
            </a:pPr>
            <a:r>
              <a:rPr lang="en-US" sz="1200" dirty="0"/>
              <a:t>	last-&gt;next = </a:t>
            </a:r>
            <a:r>
              <a:rPr lang="en-US" sz="1200" dirty="0" err="1"/>
              <a:t>new_node</a:t>
            </a:r>
            <a:r>
              <a:rPr lang="en-US" sz="1200" dirty="0"/>
              <a:t>;</a:t>
            </a:r>
          </a:p>
          <a:p>
            <a:pPr marL="0" indent="0" defTabSz="574675">
              <a:lnSpc>
                <a:spcPct val="120000"/>
              </a:lnSpc>
              <a:spcBef>
                <a:spcPts val="0"/>
              </a:spcBef>
              <a:buNone/>
            </a:pPr>
            <a:r>
              <a:rPr lang="en-US" sz="1200" dirty="0"/>
              <a:t>	// 7. Make last node as previous of new node</a:t>
            </a:r>
          </a:p>
          <a:p>
            <a:pPr marL="0" indent="0" defTabSz="574675">
              <a:lnSpc>
                <a:spcPct val="120000"/>
              </a:lnSpc>
              <a:spcBef>
                <a:spcPts val="0"/>
              </a:spcBef>
              <a:buNone/>
            </a:pPr>
            <a:r>
              <a:rPr lang="en-US" sz="1200" dirty="0"/>
              <a:t>	</a:t>
            </a:r>
            <a:r>
              <a:rPr lang="en-US" sz="1200" dirty="0" err="1"/>
              <a:t>new_node</a:t>
            </a:r>
            <a:r>
              <a:rPr lang="en-US" sz="1200" dirty="0"/>
              <a:t>-&gt;</a:t>
            </a:r>
            <a:r>
              <a:rPr lang="en-US" sz="1200" dirty="0" err="1"/>
              <a:t>prev</a:t>
            </a:r>
            <a:r>
              <a:rPr lang="en-US" sz="1200" dirty="0"/>
              <a:t> = last;</a:t>
            </a:r>
          </a:p>
          <a:p>
            <a:pPr marL="0" indent="0" defTabSz="574675">
              <a:lnSpc>
                <a:spcPct val="120000"/>
              </a:lnSpc>
              <a:spcBef>
                <a:spcPts val="0"/>
              </a:spcBef>
              <a:buNone/>
            </a:pPr>
            <a:r>
              <a:rPr lang="en-US" sz="1200" dirty="0"/>
              <a:t>	return;}</a:t>
            </a:r>
          </a:p>
        </p:txBody>
      </p:sp>
      <p:sp>
        <p:nvSpPr>
          <p:cNvPr id="4" name="Title 1">
            <a:extLst>
              <a:ext uri="{FF2B5EF4-FFF2-40B4-BE49-F238E27FC236}">
                <a16:creationId xmlns:a16="http://schemas.microsoft.com/office/drawing/2014/main" id="{58C5F11F-FF1C-3F67-4803-4047F050C61D}"/>
              </a:ext>
            </a:extLst>
          </p:cNvPr>
          <p:cNvSpPr>
            <a:spLocks noGrp="1"/>
          </p:cNvSpPr>
          <p:nvPr>
            <p:ph type="title"/>
          </p:nvPr>
        </p:nvSpPr>
        <p:spPr>
          <a:xfrm>
            <a:off x="762000" y="136655"/>
            <a:ext cx="10972800" cy="571268"/>
          </a:xfrm>
        </p:spPr>
        <p:txBody>
          <a:bodyPr>
            <a:noAutofit/>
          </a:bodyPr>
          <a:lstStyle/>
          <a:p>
            <a:pPr algn="ctr"/>
            <a:r>
              <a:rPr lang="en-US" sz="3200" b="1" dirty="0"/>
              <a:t>Insertion in doubly linked list</a:t>
            </a:r>
          </a:p>
        </p:txBody>
      </p:sp>
    </p:spTree>
    <p:extLst>
      <p:ext uri="{BB962C8B-B14F-4D97-AF65-F5344CB8AC3E}">
        <p14:creationId xmlns:p14="http://schemas.microsoft.com/office/powerpoint/2010/main" val="123747464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C51BAC-391A-CE66-7FA2-3F3CC642379E}"/>
              </a:ext>
            </a:extLst>
          </p:cNvPr>
          <p:cNvSpPr>
            <a:spLocks noGrp="1"/>
          </p:cNvSpPr>
          <p:nvPr>
            <p:ph idx="1"/>
          </p:nvPr>
        </p:nvSpPr>
        <p:spPr>
          <a:xfrm>
            <a:off x="609600" y="707923"/>
            <a:ext cx="10972800" cy="5570641"/>
          </a:xfrm>
        </p:spPr>
        <p:txBody>
          <a:bodyPr/>
          <a:lstStyle/>
          <a:p>
            <a:pPr marL="0" indent="0">
              <a:buNone/>
            </a:pPr>
            <a:r>
              <a:rPr lang="en-US" dirty="0"/>
              <a:t>We can delete an element in a list from:</a:t>
            </a:r>
          </a:p>
          <a:p>
            <a:pPr>
              <a:lnSpc>
                <a:spcPct val="100000"/>
              </a:lnSpc>
              <a:spcBef>
                <a:spcPts val="0"/>
              </a:spcBef>
            </a:pPr>
            <a:r>
              <a:rPr lang="en-US" dirty="0"/>
              <a:t>From beginning</a:t>
            </a:r>
          </a:p>
          <a:p>
            <a:pPr>
              <a:lnSpc>
                <a:spcPct val="100000"/>
              </a:lnSpc>
              <a:spcBef>
                <a:spcPts val="0"/>
              </a:spcBef>
            </a:pPr>
            <a:r>
              <a:rPr lang="en-US" dirty="0"/>
              <a:t>From end</a:t>
            </a:r>
          </a:p>
          <a:p>
            <a:pPr>
              <a:lnSpc>
                <a:spcPct val="100000"/>
              </a:lnSpc>
              <a:spcBef>
                <a:spcPts val="0"/>
              </a:spcBef>
            </a:pPr>
            <a:r>
              <a:rPr lang="en-US" dirty="0"/>
              <a:t>From middle</a:t>
            </a:r>
          </a:p>
          <a:p>
            <a:pPr>
              <a:lnSpc>
                <a:spcPct val="100000"/>
              </a:lnSpc>
              <a:spcBef>
                <a:spcPts val="0"/>
              </a:spcBef>
            </a:pPr>
            <a:endParaRPr lang="en-US" dirty="0"/>
          </a:p>
          <a:p>
            <a:pPr marL="0" indent="0">
              <a:lnSpc>
                <a:spcPct val="100000"/>
              </a:lnSpc>
              <a:spcBef>
                <a:spcPts val="0"/>
              </a:spcBef>
              <a:buNone/>
            </a:pPr>
            <a:endParaRPr lang="en-US" dirty="0"/>
          </a:p>
        </p:txBody>
      </p:sp>
      <p:sp>
        <p:nvSpPr>
          <p:cNvPr id="4" name="Title 1">
            <a:extLst>
              <a:ext uri="{FF2B5EF4-FFF2-40B4-BE49-F238E27FC236}">
                <a16:creationId xmlns:a16="http://schemas.microsoft.com/office/drawing/2014/main" id="{2519091F-3839-A9FF-1AC5-04EC6F44C567}"/>
              </a:ext>
            </a:extLst>
          </p:cNvPr>
          <p:cNvSpPr>
            <a:spLocks noGrp="1"/>
          </p:cNvSpPr>
          <p:nvPr>
            <p:ph type="title"/>
          </p:nvPr>
        </p:nvSpPr>
        <p:spPr>
          <a:xfrm>
            <a:off x="762000" y="136655"/>
            <a:ext cx="10972800" cy="571268"/>
          </a:xfrm>
        </p:spPr>
        <p:txBody>
          <a:bodyPr>
            <a:noAutofit/>
          </a:bodyPr>
          <a:lstStyle/>
          <a:p>
            <a:pPr algn="ctr"/>
            <a:r>
              <a:rPr lang="en-US" sz="3200" b="1" dirty="0"/>
              <a:t>Deletion in doubly linked list</a:t>
            </a:r>
          </a:p>
        </p:txBody>
      </p:sp>
      <p:sp>
        <p:nvSpPr>
          <p:cNvPr id="5" name="TextBox 4">
            <a:extLst>
              <a:ext uri="{FF2B5EF4-FFF2-40B4-BE49-F238E27FC236}">
                <a16:creationId xmlns:a16="http://schemas.microsoft.com/office/drawing/2014/main" id="{0002EBAC-FD51-65FC-12AF-1B1A6CDE2D05}"/>
              </a:ext>
            </a:extLst>
          </p:cNvPr>
          <p:cNvSpPr txBox="1"/>
          <p:nvPr/>
        </p:nvSpPr>
        <p:spPr>
          <a:xfrm>
            <a:off x="943897" y="2853812"/>
            <a:ext cx="4372897" cy="20313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 Delete from Beginning:</a:t>
            </a:r>
          </a:p>
          <a:p>
            <a:r>
              <a:rPr lang="en-US" dirty="0"/>
              <a:t>Point head to the next node i.e. second node</a:t>
            </a:r>
          </a:p>
          <a:p>
            <a:r>
              <a:rPr lang="en-US" dirty="0"/>
              <a:t>    temp = head</a:t>
            </a:r>
          </a:p>
          <a:p>
            <a:r>
              <a:rPr lang="en-US" dirty="0"/>
              <a:t>    head = head-&gt;next</a:t>
            </a:r>
          </a:p>
          <a:p>
            <a:r>
              <a:rPr lang="en-US" dirty="0"/>
              <a:t>    </a:t>
            </a:r>
          </a:p>
          <a:p>
            <a:r>
              <a:rPr lang="en-US" dirty="0"/>
              <a:t>Make sure to free unused memory</a:t>
            </a:r>
          </a:p>
          <a:p>
            <a:r>
              <a:rPr lang="en-US" dirty="0"/>
              <a:t>    free(temp); or delete temp;</a:t>
            </a:r>
          </a:p>
        </p:txBody>
      </p:sp>
      <p:sp>
        <p:nvSpPr>
          <p:cNvPr id="6" name="TextBox 5">
            <a:extLst>
              <a:ext uri="{FF2B5EF4-FFF2-40B4-BE49-F238E27FC236}">
                <a16:creationId xmlns:a16="http://schemas.microsoft.com/office/drawing/2014/main" id="{91CD5DFE-7A82-EAC9-71B5-675A32DE2741}"/>
              </a:ext>
            </a:extLst>
          </p:cNvPr>
          <p:cNvSpPr txBox="1"/>
          <p:nvPr/>
        </p:nvSpPr>
        <p:spPr>
          <a:xfrm>
            <a:off x="7064478" y="1902760"/>
            <a:ext cx="4412226" cy="424731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Delete from End:</a:t>
            </a:r>
          </a:p>
          <a:p>
            <a:r>
              <a:rPr lang="en-US" dirty="0"/>
              <a:t>Point head to the previous element i.e. last second element</a:t>
            </a:r>
          </a:p>
          <a:p>
            <a:r>
              <a:rPr lang="en-US" dirty="0"/>
              <a:t>    Change next pointer to null</a:t>
            </a:r>
          </a:p>
          <a:p>
            <a:r>
              <a:rPr lang="en-US" dirty="0"/>
              <a:t>    struct node *end = head;</a:t>
            </a:r>
          </a:p>
          <a:p>
            <a:r>
              <a:rPr lang="en-US" dirty="0"/>
              <a:t>    struct node *</a:t>
            </a:r>
            <a:r>
              <a:rPr lang="en-US" dirty="0" err="1"/>
              <a:t>prev</a:t>
            </a:r>
            <a:r>
              <a:rPr lang="en-US" dirty="0"/>
              <a:t> = NULL;</a:t>
            </a:r>
          </a:p>
          <a:p>
            <a:r>
              <a:rPr lang="en-US" dirty="0"/>
              <a:t>    while(end-&gt;next)</a:t>
            </a:r>
          </a:p>
          <a:p>
            <a:r>
              <a:rPr lang="en-US" dirty="0"/>
              <a:t>    {</a:t>
            </a:r>
          </a:p>
          <a:p>
            <a:r>
              <a:rPr lang="en-US" dirty="0"/>
              <a:t>        </a:t>
            </a:r>
            <a:r>
              <a:rPr lang="en-US" dirty="0" err="1"/>
              <a:t>prev</a:t>
            </a:r>
            <a:r>
              <a:rPr lang="en-US" dirty="0"/>
              <a:t> = end;</a:t>
            </a:r>
          </a:p>
          <a:p>
            <a:r>
              <a:rPr lang="en-US" dirty="0"/>
              <a:t>        end = end-&gt;next;</a:t>
            </a:r>
          </a:p>
          <a:p>
            <a:r>
              <a:rPr lang="en-US" dirty="0"/>
              <a:t>    }</a:t>
            </a:r>
          </a:p>
          <a:p>
            <a:r>
              <a:rPr lang="en-US" dirty="0"/>
              <a:t>    </a:t>
            </a:r>
            <a:r>
              <a:rPr lang="en-US" dirty="0" err="1"/>
              <a:t>prev</a:t>
            </a:r>
            <a:r>
              <a:rPr lang="en-US" dirty="0"/>
              <a:t>-&gt;next = NULL;</a:t>
            </a:r>
          </a:p>
          <a:p>
            <a:r>
              <a:rPr lang="en-US" dirty="0"/>
              <a:t>    </a:t>
            </a:r>
          </a:p>
          <a:p>
            <a:r>
              <a:rPr lang="en-US" dirty="0"/>
              <a:t>Make sure to free unused memory</a:t>
            </a:r>
          </a:p>
          <a:p>
            <a:r>
              <a:rPr lang="en-US" dirty="0"/>
              <a:t>    free(end); or delete end;</a:t>
            </a:r>
          </a:p>
        </p:txBody>
      </p:sp>
    </p:spTree>
    <p:extLst>
      <p:ext uri="{BB962C8B-B14F-4D97-AF65-F5344CB8AC3E}">
        <p14:creationId xmlns:p14="http://schemas.microsoft.com/office/powerpoint/2010/main" val="54379513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829AF35-F97E-6F16-133E-7410B386D39B}"/>
              </a:ext>
            </a:extLst>
          </p:cNvPr>
          <p:cNvSpPr txBox="1"/>
          <p:nvPr/>
        </p:nvSpPr>
        <p:spPr>
          <a:xfrm>
            <a:off x="1295400" y="929149"/>
            <a:ext cx="9601200" cy="569386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600" dirty="0"/>
              <a:t>Delete from Middle:</a:t>
            </a:r>
          </a:p>
          <a:p>
            <a:r>
              <a:rPr lang="en-US" sz="1600" dirty="0"/>
              <a:t>Keeps track of pointer before node to delete and pointer to node to delete</a:t>
            </a:r>
          </a:p>
          <a:p>
            <a:r>
              <a:rPr lang="en-US" sz="1600" dirty="0"/>
              <a:t>    temp = head;</a:t>
            </a:r>
          </a:p>
          <a:p>
            <a:r>
              <a:rPr lang="en-US" sz="1600" dirty="0"/>
              <a:t>    </a:t>
            </a:r>
            <a:r>
              <a:rPr lang="en-US" sz="1600" dirty="0" err="1"/>
              <a:t>prev</a:t>
            </a:r>
            <a:r>
              <a:rPr lang="en-US" sz="1600" dirty="0"/>
              <a:t> = head;</a:t>
            </a:r>
          </a:p>
          <a:p>
            <a:r>
              <a:rPr lang="en-US" sz="1600" dirty="0"/>
              <a:t>    for(int </a:t>
            </a:r>
            <a:r>
              <a:rPr lang="en-US" sz="1600" dirty="0" err="1"/>
              <a:t>i</a:t>
            </a:r>
            <a:r>
              <a:rPr lang="en-US" sz="1600" dirty="0"/>
              <a:t> = 0; </a:t>
            </a:r>
            <a:r>
              <a:rPr lang="en-US" sz="1600" dirty="0" err="1"/>
              <a:t>i</a:t>
            </a:r>
            <a:r>
              <a:rPr lang="en-US" sz="1600" dirty="0"/>
              <a:t> &lt; position; </a:t>
            </a:r>
            <a:r>
              <a:rPr lang="en-US" sz="1600" dirty="0" err="1"/>
              <a:t>i</a:t>
            </a:r>
            <a:r>
              <a:rPr lang="en-US" sz="1600" dirty="0"/>
              <a:t>++)</a:t>
            </a:r>
          </a:p>
          <a:p>
            <a:r>
              <a:rPr lang="en-US" sz="1600" dirty="0"/>
              <a:t>    {</a:t>
            </a:r>
          </a:p>
          <a:p>
            <a:r>
              <a:rPr lang="en-US" sz="1600" dirty="0"/>
              <a:t>        if(</a:t>
            </a:r>
            <a:r>
              <a:rPr lang="en-US" sz="1600" dirty="0" err="1"/>
              <a:t>i</a:t>
            </a:r>
            <a:r>
              <a:rPr lang="en-US" sz="1600" dirty="0"/>
              <a:t> == 0 &amp;&amp; position == 1)</a:t>
            </a:r>
          </a:p>
          <a:p>
            <a:r>
              <a:rPr lang="en-US" sz="1600" dirty="0"/>
              <a:t>            head = head-&gt;next;</a:t>
            </a:r>
          </a:p>
          <a:p>
            <a:r>
              <a:rPr lang="en-US" sz="1600" dirty="0"/>
              <a:t>            free(temp)</a:t>
            </a:r>
          </a:p>
          <a:p>
            <a:r>
              <a:rPr lang="en-US" sz="1600" dirty="0"/>
              <a:t>        else</a:t>
            </a:r>
          </a:p>
          <a:p>
            <a:r>
              <a:rPr lang="en-US" sz="1600" dirty="0"/>
              <a:t>        {</a:t>
            </a:r>
          </a:p>
          <a:p>
            <a:r>
              <a:rPr lang="en-US" sz="1600" dirty="0"/>
              <a:t>            if (</a:t>
            </a:r>
            <a:r>
              <a:rPr lang="en-US" sz="1600" dirty="0" err="1"/>
              <a:t>i</a:t>
            </a:r>
            <a:r>
              <a:rPr lang="en-US" sz="1600" dirty="0"/>
              <a:t> == position - 1 &amp;&amp; temp)</a:t>
            </a:r>
          </a:p>
          <a:p>
            <a:r>
              <a:rPr lang="en-US" sz="1600" dirty="0"/>
              <a:t>            {</a:t>
            </a:r>
          </a:p>
          <a:p>
            <a:r>
              <a:rPr lang="en-US" sz="1600" dirty="0"/>
              <a:t>                </a:t>
            </a:r>
            <a:r>
              <a:rPr lang="en-US" sz="1600" dirty="0" err="1"/>
              <a:t>prev</a:t>
            </a:r>
            <a:r>
              <a:rPr lang="en-US" sz="1600" dirty="0"/>
              <a:t>-&gt;next = temp-&gt;next;</a:t>
            </a:r>
          </a:p>
          <a:p>
            <a:r>
              <a:rPr lang="en-US" sz="1600" dirty="0"/>
              <a:t>                free(temp);</a:t>
            </a:r>
          </a:p>
          <a:p>
            <a:r>
              <a:rPr lang="en-US" sz="1600" dirty="0"/>
              <a:t>            }</a:t>
            </a:r>
          </a:p>
          <a:p>
            <a:r>
              <a:rPr lang="en-US" sz="1600" dirty="0"/>
              <a:t>            else</a:t>
            </a:r>
          </a:p>
          <a:p>
            <a:r>
              <a:rPr lang="en-US" sz="1600" dirty="0"/>
              <a:t>            {</a:t>
            </a:r>
          </a:p>
          <a:p>
            <a:r>
              <a:rPr lang="en-US" sz="1600" dirty="0"/>
              <a:t>                </a:t>
            </a:r>
            <a:r>
              <a:rPr lang="en-US" sz="1600" dirty="0" err="1"/>
              <a:t>prev</a:t>
            </a:r>
            <a:r>
              <a:rPr lang="en-US" sz="1600" dirty="0"/>
              <a:t> = temp;</a:t>
            </a:r>
          </a:p>
          <a:p>
            <a:r>
              <a:rPr lang="en-US" sz="1600" dirty="0"/>
              <a:t>                if(</a:t>
            </a:r>
            <a:r>
              <a:rPr lang="en-US" sz="1600" dirty="0" err="1"/>
              <a:t>prev</a:t>
            </a:r>
            <a:r>
              <a:rPr lang="en-US" sz="1600" dirty="0"/>
              <a:t> == NULL) // position was greater than number of nodes in the list</a:t>
            </a:r>
          </a:p>
          <a:p>
            <a:r>
              <a:rPr lang="en-US" sz="1600" dirty="0"/>
              <a:t>                    break;</a:t>
            </a:r>
          </a:p>
          <a:p>
            <a:r>
              <a:rPr lang="en-US" sz="1600" dirty="0"/>
              <a:t>                temp = temp-&gt;next; }}}</a:t>
            </a:r>
          </a:p>
        </p:txBody>
      </p:sp>
      <p:sp>
        <p:nvSpPr>
          <p:cNvPr id="6" name="Title 1">
            <a:extLst>
              <a:ext uri="{FF2B5EF4-FFF2-40B4-BE49-F238E27FC236}">
                <a16:creationId xmlns:a16="http://schemas.microsoft.com/office/drawing/2014/main" id="{E1055027-DA06-6165-2D15-C3CA0E04BBF3}"/>
              </a:ext>
            </a:extLst>
          </p:cNvPr>
          <p:cNvSpPr>
            <a:spLocks noGrp="1"/>
          </p:cNvSpPr>
          <p:nvPr>
            <p:ph type="title"/>
          </p:nvPr>
        </p:nvSpPr>
        <p:spPr>
          <a:xfrm>
            <a:off x="762000" y="136655"/>
            <a:ext cx="10972800" cy="571268"/>
          </a:xfrm>
        </p:spPr>
        <p:txBody>
          <a:bodyPr>
            <a:noAutofit/>
          </a:bodyPr>
          <a:lstStyle/>
          <a:p>
            <a:pPr algn="ctr"/>
            <a:r>
              <a:rPr lang="en-US" sz="3200" b="1" dirty="0"/>
              <a:t>Deletion in doubly linked list</a:t>
            </a:r>
          </a:p>
        </p:txBody>
      </p:sp>
    </p:spTree>
    <p:extLst>
      <p:ext uri="{BB962C8B-B14F-4D97-AF65-F5344CB8AC3E}">
        <p14:creationId xmlns:p14="http://schemas.microsoft.com/office/powerpoint/2010/main" val="188055291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Doubly linked list operations</a:t>
            </a:r>
          </a:p>
        </p:txBody>
      </p:sp>
      <p:sp>
        <p:nvSpPr>
          <p:cNvPr id="4" name="Content Placeholder 3"/>
          <p:cNvSpPr>
            <a:spLocks noGrp="1"/>
          </p:cNvSpPr>
          <p:nvPr>
            <p:ph idx="1"/>
          </p:nvPr>
        </p:nvSpPr>
        <p:spPr>
          <a:xfrm>
            <a:off x="1251678" y="1506829"/>
            <a:ext cx="3643051" cy="1343947"/>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Refer Program here</a:t>
            </a:r>
          </a:p>
        </p:txBody>
      </p:sp>
      <p:graphicFrame>
        <p:nvGraphicFramePr>
          <p:cNvPr id="6" name="Object 5"/>
          <p:cNvGraphicFramePr>
            <a:graphicFrameLocks noChangeAspect="1"/>
          </p:cNvGraphicFramePr>
          <p:nvPr>
            <p:extLst>
              <p:ext uri="{D42A27DB-BD31-4B8C-83A1-F6EECF244321}">
                <p14:modId xmlns:p14="http://schemas.microsoft.com/office/powerpoint/2010/main" val="1749681128"/>
              </p:ext>
            </p:extLst>
          </p:nvPr>
        </p:nvGraphicFramePr>
        <p:xfrm>
          <a:off x="5500688" y="1925638"/>
          <a:ext cx="546100" cy="527050"/>
        </p:xfrm>
        <a:graphic>
          <a:graphicData uri="http://schemas.openxmlformats.org/presentationml/2006/ole">
            <mc:AlternateContent xmlns:mc="http://schemas.openxmlformats.org/markup-compatibility/2006">
              <mc:Choice xmlns:v="urn:schemas-microsoft-com:vml" Requires="v">
                <p:oleObj spid="_x0000_s2275" name="Packager Shell Object" showAsIcon="1" r:id="rId3" imgW="546075" imgH="526962" progId="Package">
                  <p:embed/>
                </p:oleObj>
              </mc:Choice>
              <mc:Fallback>
                <p:oleObj name="Packager Shell Object" showAsIcon="1" r:id="rId3" imgW="546075" imgH="526962" progId="Package">
                  <p:embed/>
                  <p:pic>
                    <p:nvPicPr>
                      <p:cNvPr id="0" name=""/>
                      <p:cNvPicPr/>
                      <p:nvPr/>
                    </p:nvPicPr>
                    <p:blipFill>
                      <a:blip r:embed="rId4"/>
                      <a:stretch>
                        <a:fillRect/>
                      </a:stretch>
                    </p:blipFill>
                    <p:spPr>
                      <a:xfrm>
                        <a:off x="5500688" y="1925638"/>
                        <a:ext cx="546100" cy="527050"/>
                      </a:xfrm>
                      <a:prstGeom prst="rect">
                        <a:avLst/>
                      </a:prstGeom>
                    </p:spPr>
                  </p:pic>
                </p:oleObj>
              </mc:Fallback>
            </mc:AlternateContent>
          </a:graphicData>
        </a:graphic>
      </p:graphicFrame>
      <p:sp>
        <p:nvSpPr>
          <p:cNvPr id="7" name="TextBox 6"/>
          <p:cNvSpPr txBox="1"/>
          <p:nvPr/>
        </p:nvSpPr>
        <p:spPr>
          <a:xfrm>
            <a:off x="6340839" y="1506829"/>
            <a:ext cx="3173506" cy="2585323"/>
          </a:xfrm>
          <a:prstGeom prst="rect">
            <a:avLst/>
          </a:prstGeom>
          <a:noFill/>
        </p:spPr>
        <p:txBody>
          <a:bodyPr wrap="square" rtlCol="0">
            <a:spAutoFit/>
          </a:bodyPr>
          <a:lstStyle/>
          <a:p>
            <a:r>
              <a:rPr lang="en-US" b="1" dirty="0"/>
              <a:t>Note</a:t>
            </a:r>
            <a:r>
              <a:rPr lang="en-US" dirty="0"/>
              <a:t>: </a:t>
            </a:r>
            <a:r>
              <a:rPr lang="en-US" dirty="0">
                <a:solidFill>
                  <a:srgbClr val="FF0000"/>
                </a:solidFill>
              </a:rPr>
              <a:t>Doubly linked list operations like insertion at begin, insertion at end and insertion at middle are present  in the attached code. You need to complete deletion at beginning, deletion at end and deletion at a position on your own</a:t>
            </a:r>
          </a:p>
        </p:txBody>
      </p:sp>
    </p:spTree>
    <p:extLst>
      <p:ext uri="{BB962C8B-B14F-4D97-AF65-F5344CB8AC3E}">
        <p14:creationId xmlns:p14="http://schemas.microsoft.com/office/powerpoint/2010/main" val="357175066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D4458-3F32-E860-F547-A22A6B39C811}"/>
              </a:ext>
            </a:extLst>
          </p:cNvPr>
          <p:cNvSpPr>
            <a:spLocks noGrp="1"/>
          </p:cNvSpPr>
          <p:nvPr>
            <p:ph type="title"/>
          </p:nvPr>
        </p:nvSpPr>
        <p:spPr>
          <a:xfrm>
            <a:off x="762000" y="262013"/>
            <a:ext cx="10972800" cy="634845"/>
          </a:xfrm>
        </p:spPr>
        <p:txBody>
          <a:bodyPr>
            <a:normAutofit fontScale="90000"/>
          </a:bodyPr>
          <a:lstStyle/>
          <a:p>
            <a:pPr algn="ctr"/>
            <a:r>
              <a:rPr lang="en-US" altLang="en-US" sz="4400" b="1" dirty="0">
                <a:latin typeface="Times New Roman" panose="02020603050405020304" pitchFamily="18" charset="0"/>
                <a:cs typeface="Times New Roman" panose="02020603050405020304" pitchFamily="18" charset="0"/>
              </a:rPr>
              <a:t>Circular linked list</a:t>
            </a:r>
            <a:endParaRPr lang="en-US" dirty="0"/>
          </a:p>
        </p:txBody>
      </p:sp>
      <p:sp>
        <p:nvSpPr>
          <p:cNvPr id="3" name="Content Placeholder 2">
            <a:extLst>
              <a:ext uri="{FF2B5EF4-FFF2-40B4-BE49-F238E27FC236}">
                <a16:creationId xmlns:a16="http://schemas.microsoft.com/office/drawing/2014/main" id="{312181A3-59FE-3FB1-017A-5AF4008220BD}"/>
              </a:ext>
            </a:extLst>
          </p:cNvPr>
          <p:cNvSpPr>
            <a:spLocks noGrp="1"/>
          </p:cNvSpPr>
          <p:nvPr>
            <p:ph idx="1"/>
          </p:nvPr>
        </p:nvSpPr>
        <p:spPr>
          <a:xfrm>
            <a:off x="762000" y="896859"/>
            <a:ext cx="10972800" cy="5699128"/>
          </a:xfrm>
        </p:spPr>
        <p:txBody>
          <a:bodyPr>
            <a:normAutofit fontScale="77500" lnSpcReduction="20000"/>
          </a:bodyPr>
          <a:lstStyle/>
          <a:p>
            <a:pPr marL="0" indent="0">
              <a:buNone/>
            </a:pPr>
            <a:r>
              <a:rPr lang="en-US" sz="2000" dirty="0"/>
              <a:t>In a circular linked list, the first node and the last node are linked together to form a circle. There is no NULL at the end.</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b="1" dirty="0"/>
              <a:t>Advantages of a Circular linked list</a:t>
            </a:r>
          </a:p>
          <a:p>
            <a:r>
              <a:rPr lang="en-US" sz="2000" dirty="0"/>
              <a:t>Entire list can be traversed from any node.</a:t>
            </a:r>
          </a:p>
          <a:p>
            <a:r>
              <a:rPr lang="en-US" sz="2000" dirty="0"/>
              <a:t>Circular lists are the required data structure when we want a list to be accessed in a circle or loop.</a:t>
            </a:r>
          </a:p>
          <a:p>
            <a:r>
              <a:rPr lang="en-US" sz="2000" dirty="0"/>
              <a:t>Despite of being singly circular linked list we can easily traverse to its previous node, which is not possible in singly linked list.</a:t>
            </a:r>
          </a:p>
          <a:p>
            <a:pPr marL="0" indent="0">
              <a:buNone/>
            </a:pPr>
            <a:r>
              <a:rPr lang="en-US" sz="2000" b="1" dirty="0"/>
              <a:t>Disadvantages of Circular linked list</a:t>
            </a:r>
          </a:p>
          <a:p>
            <a:r>
              <a:rPr lang="en-US" sz="2000" dirty="0"/>
              <a:t>Circular list are complex as compared to singly linked lists.</a:t>
            </a:r>
          </a:p>
          <a:p>
            <a:r>
              <a:rPr lang="en-US" sz="2000" dirty="0"/>
              <a:t>Reversing of circular list is a complex as compared to singly or doubly lists.</a:t>
            </a:r>
          </a:p>
          <a:p>
            <a:r>
              <a:rPr lang="en-US" sz="2000" dirty="0"/>
              <a:t>If not traversed carefully, then we could end up in an infinite loop.</a:t>
            </a:r>
          </a:p>
          <a:p>
            <a:r>
              <a:rPr lang="en-US" sz="2000" dirty="0"/>
              <a:t>Like singly and doubly lists circular linked lists also doesn’t support direct accessing of elements.</a:t>
            </a:r>
          </a:p>
          <a:p>
            <a:pPr marL="0" indent="0">
              <a:buNone/>
            </a:pPr>
            <a:endParaRPr lang="en-US" sz="2000" dirty="0"/>
          </a:p>
          <a:p>
            <a:pPr marL="0" indent="0">
              <a:buNone/>
            </a:pPr>
            <a:endParaRPr lang="en-US" sz="2000" dirty="0"/>
          </a:p>
        </p:txBody>
      </p:sp>
      <p:pic>
        <p:nvPicPr>
          <p:cNvPr id="4" name="Picture 3">
            <a:extLst>
              <a:ext uri="{FF2B5EF4-FFF2-40B4-BE49-F238E27FC236}">
                <a16:creationId xmlns:a16="http://schemas.microsoft.com/office/drawing/2014/main" id="{6C0A2BD6-9372-4E12-D2A3-E8C66ECE4FBA}"/>
              </a:ext>
            </a:extLst>
          </p:cNvPr>
          <p:cNvPicPr>
            <a:picLocks noChangeAspect="1"/>
          </p:cNvPicPr>
          <p:nvPr/>
        </p:nvPicPr>
        <p:blipFill>
          <a:blip r:embed="rId2"/>
          <a:stretch>
            <a:fillRect/>
          </a:stretch>
        </p:blipFill>
        <p:spPr>
          <a:xfrm>
            <a:off x="1799303" y="1326399"/>
            <a:ext cx="8067368" cy="1763388"/>
          </a:xfrm>
          <a:prstGeom prst="rect">
            <a:avLst/>
          </a:prstGeom>
        </p:spPr>
      </p:pic>
    </p:spTree>
    <p:extLst>
      <p:ext uri="{BB962C8B-B14F-4D97-AF65-F5344CB8AC3E}">
        <p14:creationId xmlns:p14="http://schemas.microsoft.com/office/powerpoint/2010/main" val="11359780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1E3217-12AC-F1AC-B7EC-4070D48364DD}"/>
              </a:ext>
            </a:extLst>
          </p:cNvPr>
          <p:cNvSpPr>
            <a:spLocks noGrp="1"/>
          </p:cNvSpPr>
          <p:nvPr>
            <p:ph idx="1"/>
          </p:nvPr>
        </p:nvSpPr>
        <p:spPr>
          <a:xfrm>
            <a:off x="762000" y="896859"/>
            <a:ext cx="10972800" cy="5381706"/>
          </a:xfrm>
        </p:spPr>
        <p:txBody>
          <a:bodyPr>
            <a:normAutofit lnSpcReduction="10000"/>
          </a:bodyPr>
          <a:lstStyle/>
          <a:p>
            <a:pPr marL="0" indent="0">
              <a:buNone/>
            </a:pPr>
            <a:r>
              <a:rPr lang="en-US" sz="2400" dirty="0"/>
              <a:t>Creation of list</a:t>
            </a:r>
          </a:p>
          <a:p>
            <a:pPr marL="0" indent="0">
              <a:buNone/>
            </a:pPr>
            <a:r>
              <a:rPr lang="en-US" sz="2400" dirty="0"/>
              <a:t>Traversal of list</a:t>
            </a:r>
          </a:p>
          <a:p>
            <a:pPr marL="0" indent="0">
              <a:buNone/>
            </a:pPr>
            <a:r>
              <a:rPr lang="en-US" sz="2400" dirty="0"/>
              <a:t>Insertion of node</a:t>
            </a:r>
          </a:p>
          <a:p>
            <a:r>
              <a:rPr lang="en-US" sz="2400" dirty="0"/>
              <a:t>At the beginning of list</a:t>
            </a:r>
          </a:p>
          <a:p>
            <a:r>
              <a:rPr lang="en-US" sz="2400" dirty="0"/>
              <a:t>At any position in the list</a:t>
            </a:r>
          </a:p>
          <a:p>
            <a:pPr marL="0" indent="0">
              <a:buNone/>
            </a:pPr>
            <a:r>
              <a:rPr lang="en-US" sz="2400" dirty="0"/>
              <a:t>Deletion of node</a:t>
            </a:r>
          </a:p>
          <a:p>
            <a:r>
              <a:rPr lang="en-US" sz="2400" dirty="0"/>
              <a:t>Deletion of first node</a:t>
            </a:r>
          </a:p>
          <a:p>
            <a:r>
              <a:rPr lang="en-US" sz="2400" dirty="0"/>
              <a:t>Deletion of node from middle of the list</a:t>
            </a:r>
          </a:p>
          <a:p>
            <a:r>
              <a:rPr lang="en-US" sz="2400" dirty="0"/>
              <a:t>Deletion of last node</a:t>
            </a:r>
          </a:p>
          <a:p>
            <a:pPr marL="0" indent="0">
              <a:buNone/>
            </a:pPr>
            <a:r>
              <a:rPr lang="en-US" sz="2400" dirty="0"/>
              <a:t>Counting total number of nodes</a:t>
            </a:r>
          </a:p>
          <a:p>
            <a:pPr marL="0" indent="0">
              <a:buNone/>
            </a:pPr>
            <a:r>
              <a:rPr lang="en-US" sz="2400" dirty="0"/>
              <a:t>Reversing of list</a:t>
            </a:r>
          </a:p>
          <a:p>
            <a:pPr marL="0" indent="0">
              <a:buNone/>
            </a:pPr>
            <a:endParaRPr lang="en-US" sz="2400" dirty="0"/>
          </a:p>
        </p:txBody>
      </p:sp>
      <p:sp>
        <p:nvSpPr>
          <p:cNvPr id="4" name="Title 1">
            <a:extLst>
              <a:ext uri="{FF2B5EF4-FFF2-40B4-BE49-F238E27FC236}">
                <a16:creationId xmlns:a16="http://schemas.microsoft.com/office/drawing/2014/main" id="{52388FC3-66AB-B2F8-8E2A-0FB1E02C7F14}"/>
              </a:ext>
            </a:extLst>
          </p:cNvPr>
          <p:cNvSpPr>
            <a:spLocks noGrp="1"/>
          </p:cNvSpPr>
          <p:nvPr>
            <p:ph type="title"/>
          </p:nvPr>
        </p:nvSpPr>
        <p:spPr>
          <a:xfrm>
            <a:off x="762000" y="262013"/>
            <a:ext cx="10972800" cy="634845"/>
          </a:xfrm>
        </p:spPr>
        <p:txBody>
          <a:bodyPr>
            <a:normAutofit fontScale="90000"/>
          </a:bodyPr>
          <a:lstStyle/>
          <a:p>
            <a:pPr algn="ctr"/>
            <a:r>
              <a:rPr lang="en-US" altLang="en-US" sz="4400" dirty="0">
                <a:latin typeface="+mn-lt"/>
                <a:cs typeface="Times New Roman" panose="02020603050405020304" pitchFamily="18" charset="0"/>
              </a:rPr>
              <a:t>Operations on circular linked list</a:t>
            </a:r>
            <a:endParaRPr lang="en-US" dirty="0"/>
          </a:p>
        </p:txBody>
      </p:sp>
    </p:spTree>
    <p:extLst>
      <p:ext uri="{BB962C8B-B14F-4D97-AF65-F5344CB8AC3E}">
        <p14:creationId xmlns:p14="http://schemas.microsoft.com/office/powerpoint/2010/main" val="86146848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ED50F-DD71-2C95-27EB-947E6D062145}"/>
              </a:ext>
            </a:extLst>
          </p:cNvPr>
          <p:cNvSpPr>
            <a:spLocks noGrp="1"/>
          </p:cNvSpPr>
          <p:nvPr>
            <p:ph type="title"/>
          </p:nvPr>
        </p:nvSpPr>
        <p:spPr>
          <a:xfrm>
            <a:off x="762000" y="239891"/>
            <a:ext cx="10972800" cy="679090"/>
          </a:xfrm>
        </p:spPr>
        <p:txBody>
          <a:bodyPr>
            <a:normAutofit fontScale="90000"/>
          </a:bodyPr>
          <a:lstStyle/>
          <a:p>
            <a:pPr algn="ctr"/>
            <a:r>
              <a:rPr lang="en-US" b="1" dirty="0"/>
              <a:t>Creation and Traversal of a Circular List</a:t>
            </a:r>
          </a:p>
        </p:txBody>
      </p:sp>
      <p:sp>
        <p:nvSpPr>
          <p:cNvPr id="3" name="Content Placeholder 2">
            <a:extLst>
              <a:ext uri="{FF2B5EF4-FFF2-40B4-BE49-F238E27FC236}">
                <a16:creationId xmlns:a16="http://schemas.microsoft.com/office/drawing/2014/main" id="{4419A570-EAA9-1ACC-20F4-4E616764E23B}"/>
              </a:ext>
            </a:extLst>
          </p:cNvPr>
          <p:cNvSpPr>
            <a:spLocks noGrp="1"/>
          </p:cNvSpPr>
          <p:nvPr>
            <p:ph idx="1"/>
          </p:nvPr>
        </p:nvSpPr>
        <p:spPr>
          <a:xfrm>
            <a:off x="762000" y="1091381"/>
            <a:ext cx="10972800" cy="5526728"/>
          </a:xfrm>
        </p:spPr>
        <p:txBody>
          <a:bodyPr>
            <a:normAutofit fontScale="85000" lnSpcReduction="20000"/>
          </a:bodyPr>
          <a:lstStyle/>
          <a:p>
            <a:pPr marL="0" indent="0">
              <a:lnSpc>
                <a:spcPct val="120000"/>
              </a:lnSpc>
              <a:spcBef>
                <a:spcPts val="0"/>
              </a:spcBef>
              <a:buNone/>
            </a:pPr>
            <a:r>
              <a:rPr lang="en-US" sz="2000" dirty="0"/>
              <a:t>#include &lt;</a:t>
            </a:r>
            <a:r>
              <a:rPr lang="en-US" sz="2000" dirty="0" err="1"/>
              <a:t>stdio.h</a:t>
            </a:r>
            <a:r>
              <a:rPr lang="en-US" sz="2000" dirty="0"/>
              <a:t>&gt;</a:t>
            </a:r>
          </a:p>
          <a:p>
            <a:pPr marL="0" indent="0">
              <a:lnSpc>
                <a:spcPct val="120000"/>
              </a:lnSpc>
              <a:spcBef>
                <a:spcPts val="0"/>
              </a:spcBef>
              <a:buNone/>
            </a:pPr>
            <a:r>
              <a:rPr lang="en-US" sz="2000" dirty="0"/>
              <a:t>#include &lt;</a:t>
            </a:r>
            <a:r>
              <a:rPr lang="en-US" sz="2000" dirty="0" err="1"/>
              <a:t>stdlib.h</a:t>
            </a:r>
            <a:r>
              <a:rPr lang="en-US" sz="2000" dirty="0"/>
              <a:t>&gt;</a:t>
            </a:r>
          </a:p>
          <a:p>
            <a:pPr marL="0" indent="0">
              <a:lnSpc>
                <a:spcPct val="120000"/>
              </a:lnSpc>
              <a:spcBef>
                <a:spcPts val="0"/>
              </a:spcBef>
              <a:buNone/>
            </a:pPr>
            <a:r>
              <a:rPr lang="en-US" sz="2000" dirty="0"/>
              <a:t>/* Basic structure of Node */</a:t>
            </a:r>
          </a:p>
          <a:p>
            <a:pPr marL="0" indent="0">
              <a:lnSpc>
                <a:spcPct val="120000"/>
              </a:lnSpc>
              <a:spcBef>
                <a:spcPts val="0"/>
              </a:spcBef>
              <a:buNone/>
            </a:pPr>
            <a:endParaRPr lang="en-US" sz="2000" dirty="0"/>
          </a:p>
          <a:p>
            <a:pPr marL="0" indent="0">
              <a:lnSpc>
                <a:spcPct val="120000"/>
              </a:lnSpc>
              <a:spcBef>
                <a:spcPts val="0"/>
              </a:spcBef>
              <a:buNone/>
            </a:pPr>
            <a:r>
              <a:rPr lang="en-US" sz="2000" dirty="0"/>
              <a:t>struct node {</a:t>
            </a:r>
          </a:p>
          <a:p>
            <a:pPr marL="0" indent="0">
              <a:lnSpc>
                <a:spcPct val="120000"/>
              </a:lnSpc>
              <a:spcBef>
                <a:spcPts val="0"/>
              </a:spcBef>
              <a:buNone/>
            </a:pPr>
            <a:r>
              <a:rPr lang="en-US" sz="2000" dirty="0"/>
              <a:t>    int data;</a:t>
            </a:r>
          </a:p>
          <a:p>
            <a:pPr marL="0" indent="0">
              <a:lnSpc>
                <a:spcPct val="120000"/>
              </a:lnSpc>
              <a:spcBef>
                <a:spcPts val="0"/>
              </a:spcBef>
              <a:buNone/>
            </a:pPr>
            <a:r>
              <a:rPr lang="en-US" sz="2000" dirty="0"/>
              <a:t>    struct node * next;</a:t>
            </a:r>
          </a:p>
          <a:p>
            <a:pPr marL="0" indent="0">
              <a:lnSpc>
                <a:spcPct val="120000"/>
              </a:lnSpc>
              <a:spcBef>
                <a:spcPts val="0"/>
              </a:spcBef>
              <a:buNone/>
            </a:pPr>
            <a:r>
              <a:rPr lang="en-US" sz="2000" dirty="0"/>
              <a:t>}*head;</a:t>
            </a:r>
          </a:p>
          <a:p>
            <a:pPr marL="0" indent="0">
              <a:lnSpc>
                <a:spcPct val="120000"/>
              </a:lnSpc>
              <a:spcBef>
                <a:spcPts val="0"/>
              </a:spcBef>
              <a:buNone/>
            </a:pPr>
            <a:r>
              <a:rPr lang="en-US" sz="2000" dirty="0"/>
              <a:t>int main()</a:t>
            </a:r>
          </a:p>
          <a:p>
            <a:pPr marL="0" indent="0">
              <a:lnSpc>
                <a:spcPct val="120000"/>
              </a:lnSpc>
              <a:spcBef>
                <a:spcPts val="0"/>
              </a:spcBef>
              <a:buNone/>
            </a:pPr>
            <a:r>
              <a:rPr lang="en-US" sz="2000" dirty="0"/>
              <a:t>{</a:t>
            </a:r>
          </a:p>
          <a:p>
            <a:pPr marL="0" indent="0">
              <a:lnSpc>
                <a:spcPct val="120000"/>
              </a:lnSpc>
              <a:spcBef>
                <a:spcPts val="0"/>
              </a:spcBef>
              <a:buNone/>
            </a:pPr>
            <a:r>
              <a:rPr lang="en-US" sz="2000" dirty="0"/>
              <a:t>    int n, data;</a:t>
            </a:r>
          </a:p>
          <a:p>
            <a:pPr marL="0" indent="0">
              <a:lnSpc>
                <a:spcPct val="120000"/>
              </a:lnSpc>
              <a:spcBef>
                <a:spcPts val="0"/>
              </a:spcBef>
              <a:buNone/>
            </a:pPr>
            <a:r>
              <a:rPr lang="en-US" sz="2000" dirty="0"/>
              <a:t>    head = NULL;</a:t>
            </a:r>
          </a:p>
          <a:p>
            <a:pPr marL="0" indent="0">
              <a:lnSpc>
                <a:spcPct val="120000"/>
              </a:lnSpc>
              <a:spcBef>
                <a:spcPts val="0"/>
              </a:spcBef>
              <a:buNone/>
            </a:pPr>
            <a:r>
              <a:rPr lang="en-US" sz="2000" dirty="0"/>
              <a:t>   </a:t>
            </a:r>
          </a:p>
          <a:p>
            <a:pPr marL="0" indent="0">
              <a:lnSpc>
                <a:spcPct val="120000"/>
              </a:lnSpc>
              <a:spcBef>
                <a:spcPts val="0"/>
              </a:spcBef>
              <a:buNone/>
            </a:pPr>
            <a:r>
              <a:rPr lang="en-US" sz="2000" dirty="0"/>
              <a:t>    </a:t>
            </a:r>
            <a:r>
              <a:rPr lang="en-US" sz="2000" dirty="0" err="1"/>
              <a:t>printf</a:t>
            </a:r>
            <a:r>
              <a:rPr lang="en-US" sz="2000" dirty="0"/>
              <a:t>("Enter the total number of nodes in list: ");</a:t>
            </a:r>
          </a:p>
          <a:p>
            <a:pPr marL="0" indent="0">
              <a:lnSpc>
                <a:spcPct val="120000"/>
              </a:lnSpc>
              <a:spcBef>
                <a:spcPts val="0"/>
              </a:spcBef>
              <a:buNone/>
            </a:pPr>
            <a:r>
              <a:rPr lang="en-US" sz="2000" dirty="0"/>
              <a:t>    </a:t>
            </a:r>
            <a:r>
              <a:rPr lang="en-US" sz="2000" dirty="0" err="1"/>
              <a:t>scanf</a:t>
            </a:r>
            <a:r>
              <a:rPr lang="en-US" sz="2000" dirty="0"/>
              <a:t>("%d", &amp;n);</a:t>
            </a:r>
          </a:p>
          <a:p>
            <a:pPr marL="0" indent="0">
              <a:lnSpc>
                <a:spcPct val="120000"/>
              </a:lnSpc>
              <a:spcBef>
                <a:spcPts val="0"/>
              </a:spcBef>
              <a:buNone/>
            </a:pPr>
            <a:r>
              <a:rPr lang="en-US" sz="2000" dirty="0"/>
              <a:t>    </a:t>
            </a:r>
            <a:r>
              <a:rPr lang="en-US" sz="2000" dirty="0" err="1"/>
              <a:t>createList</a:t>
            </a:r>
            <a:r>
              <a:rPr lang="en-US" sz="2000" dirty="0"/>
              <a:t>(n);   		</a:t>
            </a:r>
            <a:r>
              <a:rPr lang="en-US" sz="2000" b="1" dirty="0"/>
              <a:t>// function to create circular linked list</a:t>
            </a:r>
          </a:p>
          <a:p>
            <a:pPr marL="0" indent="0">
              <a:lnSpc>
                <a:spcPct val="120000"/>
              </a:lnSpc>
              <a:spcBef>
                <a:spcPts val="0"/>
              </a:spcBef>
              <a:buNone/>
            </a:pPr>
            <a:r>
              <a:rPr lang="en-US" sz="2000" dirty="0"/>
              <a:t>    </a:t>
            </a:r>
            <a:r>
              <a:rPr lang="en-US" sz="2000" dirty="0" err="1"/>
              <a:t>displayList</a:t>
            </a:r>
            <a:r>
              <a:rPr lang="en-US" sz="2000" dirty="0"/>
              <a:t>();		</a:t>
            </a:r>
            <a:r>
              <a:rPr lang="en-US" sz="2000" b="1" dirty="0"/>
              <a:t>// function to display the list</a:t>
            </a:r>
          </a:p>
          <a:p>
            <a:pPr marL="0" indent="0">
              <a:lnSpc>
                <a:spcPct val="120000"/>
              </a:lnSpc>
              <a:spcBef>
                <a:spcPts val="0"/>
              </a:spcBef>
              <a:buNone/>
            </a:pPr>
            <a:r>
              <a:rPr lang="en-US" sz="2000" dirty="0"/>
              <a:t>    </a:t>
            </a:r>
          </a:p>
          <a:p>
            <a:pPr marL="0" indent="0">
              <a:lnSpc>
                <a:spcPct val="120000"/>
              </a:lnSpc>
              <a:spcBef>
                <a:spcPts val="0"/>
              </a:spcBef>
              <a:buNone/>
            </a:pPr>
            <a:r>
              <a:rPr lang="en-US" sz="2000" dirty="0"/>
              <a:t>    return 0;</a:t>
            </a:r>
          </a:p>
          <a:p>
            <a:pPr marL="0" indent="0">
              <a:lnSpc>
                <a:spcPct val="120000"/>
              </a:lnSpc>
              <a:spcBef>
                <a:spcPts val="0"/>
              </a:spcBef>
              <a:buNone/>
            </a:pPr>
            <a:r>
              <a:rPr lang="en-US" sz="2000" dirty="0"/>
              <a:t>}</a:t>
            </a:r>
          </a:p>
        </p:txBody>
      </p:sp>
    </p:spTree>
    <p:extLst>
      <p:ext uri="{BB962C8B-B14F-4D97-AF65-F5344CB8AC3E}">
        <p14:creationId xmlns:p14="http://schemas.microsoft.com/office/powerpoint/2010/main" val="334782354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E463B1-698C-B596-BBC0-D20D67092D20}"/>
              </a:ext>
            </a:extLst>
          </p:cNvPr>
          <p:cNvSpPr>
            <a:spLocks noGrp="1"/>
          </p:cNvSpPr>
          <p:nvPr>
            <p:ph idx="1"/>
          </p:nvPr>
        </p:nvSpPr>
        <p:spPr>
          <a:xfrm>
            <a:off x="486697" y="545690"/>
            <a:ext cx="11218606" cy="6071754"/>
          </a:xfrm>
        </p:spPr>
        <p:txBody>
          <a:bodyPr>
            <a:noAutofit/>
          </a:bodyPr>
          <a:lstStyle/>
          <a:p>
            <a:pPr marL="0" indent="0">
              <a:lnSpc>
                <a:spcPct val="120000"/>
              </a:lnSpc>
              <a:spcBef>
                <a:spcPts val="0"/>
              </a:spcBef>
              <a:buNone/>
            </a:pPr>
            <a:r>
              <a:rPr lang="en-US" sz="1400" dirty="0"/>
              <a:t>void </a:t>
            </a:r>
            <a:r>
              <a:rPr lang="en-US" sz="1400" dirty="0" err="1"/>
              <a:t>createList</a:t>
            </a:r>
            <a:r>
              <a:rPr lang="en-US" sz="1400" dirty="0"/>
              <a:t>(int n)</a:t>
            </a:r>
          </a:p>
          <a:p>
            <a:pPr marL="0" indent="0">
              <a:lnSpc>
                <a:spcPct val="120000"/>
              </a:lnSpc>
              <a:spcBef>
                <a:spcPts val="0"/>
              </a:spcBef>
              <a:buNone/>
            </a:pPr>
            <a:r>
              <a:rPr lang="en-US" sz="1400" dirty="0"/>
              <a:t>{</a:t>
            </a:r>
          </a:p>
          <a:p>
            <a:pPr marL="0" indent="0">
              <a:lnSpc>
                <a:spcPct val="120000"/>
              </a:lnSpc>
              <a:spcBef>
                <a:spcPts val="0"/>
              </a:spcBef>
              <a:buNone/>
            </a:pPr>
            <a:r>
              <a:rPr lang="en-US" sz="1400" dirty="0"/>
              <a:t>    int </a:t>
            </a:r>
            <a:r>
              <a:rPr lang="en-US" sz="1400" dirty="0" err="1"/>
              <a:t>i</a:t>
            </a:r>
            <a:r>
              <a:rPr lang="en-US" sz="1400" dirty="0"/>
              <a:t>, data;</a:t>
            </a:r>
          </a:p>
          <a:p>
            <a:pPr marL="0" indent="0">
              <a:lnSpc>
                <a:spcPct val="120000"/>
              </a:lnSpc>
              <a:spcBef>
                <a:spcPts val="0"/>
              </a:spcBef>
              <a:buNone/>
            </a:pPr>
            <a:r>
              <a:rPr lang="en-US" sz="1400" dirty="0"/>
              <a:t>    struct node *</a:t>
            </a:r>
            <a:r>
              <a:rPr lang="en-US" sz="1400" dirty="0" err="1"/>
              <a:t>prevNode</a:t>
            </a:r>
            <a:r>
              <a:rPr lang="en-US" sz="1400" dirty="0"/>
              <a:t>, *</a:t>
            </a:r>
            <a:r>
              <a:rPr lang="en-US" sz="1400" dirty="0" err="1"/>
              <a:t>newNode</a:t>
            </a:r>
            <a:r>
              <a:rPr lang="en-US" sz="1400" dirty="0"/>
              <a:t>; </a:t>
            </a:r>
          </a:p>
          <a:p>
            <a:pPr marL="0" indent="0">
              <a:lnSpc>
                <a:spcPct val="120000"/>
              </a:lnSpc>
              <a:spcBef>
                <a:spcPts val="0"/>
              </a:spcBef>
              <a:buNone/>
            </a:pPr>
            <a:r>
              <a:rPr lang="en-US" sz="1400" dirty="0"/>
              <a:t>    if(n &gt;= 1){                       /* Creates and links the head node */</a:t>
            </a:r>
          </a:p>
          <a:p>
            <a:pPr marL="0" indent="0">
              <a:lnSpc>
                <a:spcPct val="120000"/>
              </a:lnSpc>
              <a:spcBef>
                <a:spcPts val="0"/>
              </a:spcBef>
              <a:buNone/>
            </a:pPr>
            <a:r>
              <a:rPr lang="en-US" sz="1400" dirty="0"/>
              <a:t>        head = (struct node *)malloc(</a:t>
            </a:r>
            <a:r>
              <a:rPr lang="en-US" sz="1400" dirty="0" err="1"/>
              <a:t>sizeof</a:t>
            </a:r>
            <a:r>
              <a:rPr lang="en-US" sz="1400" dirty="0"/>
              <a:t>(struct node));</a:t>
            </a:r>
          </a:p>
          <a:p>
            <a:pPr marL="0" indent="0">
              <a:lnSpc>
                <a:spcPct val="120000"/>
              </a:lnSpc>
              <a:spcBef>
                <a:spcPts val="0"/>
              </a:spcBef>
              <a:buNone/>
            </a:pPr>
            <a:r>
              <a:rPr lang="en-US" sz="1400" dirty="0"/>
              <a:t>        </a:t>
            </a:r>
            <a:r>
              <a:rPr lang="en-US" sz="1400" dirty="0" err="1"/>
              <a:t>printf</a:t>
            </a:r>
            <a:r>
              <a:rPr lang="en-US" sz="1400" dirty="0"/>
              <a:t>("Enter data of 1 node: ");</a:t>
            </a:r>
          </a:p>
          <a:p>
            <a:pPr marL="0" indent="0">
              <a:lnSpc>
                <a:spcPct val="120000"/>
              </a:lnSpc>
              <a:spcBef>
                <a:spcPts val="0"/>
              </a:spcBef>
              <a:buNone/>
            </a:pPr>
            <a:r>
              <a:rPr lang="en-US" sz="1400" dirty="0"/>
              <a:t>        </a:t>
            </a:r>
            <a:r>
              <a:rPr lang="en-US" sz="1400" dirty="0" err="1"/>
              <a:t>scanf</a:t>
            </a:r>
            <a:r>
              <a:rPr lang="en-US" sz="1400" dirty="0"/>
              <a:t>("%d", &amp;data);</a:t>
            </a:r>
          </a:p>
          <a:p>
            <a:pPr marL="0" indent="0">
              <a:lnSpc>
                <a:spcPct val="120000"/>
              </a:lnSpc>
              <a:spcBef>
                <a:spcPts val="0"/>
              </a:spcBef>
              <a:buNone/>
            </a:pPr>
            <a:r>
              <a:rPr lang="en-US" sz="1400" dirty="0"/>
              <a:t>        head-&gt;data = data;</a:t>
            </a:r>
          </a:p>
          <a:p>
            <a:pPr marL="0" indent="0">
              <a:lnSpc>
                <a:spcPct val="120000"/>
              </a:lnSpc>
              <a:spcBef>
                <a:spcPts val="0"/>
              </a:spcBef>
              <a:buNone/>
            </a:pPr>
            <a:r>
              <a:rPr lang="en-US" sz="1400" dirty="0"/>
              <a:t>        head-&gt;next = NULL; </a:t>
            </a:r>
          </a:p>
          <a:p>
            <a:pPr marL="0" indent="0">
              <a:lnSpc>
                <a:spcPct val="120000"/>
              </a:lnSpc>
              <a:spcBef>
                <a:spcPts val="0"/>
              </a:spcBef>
              <a:buNone/>
            </a:pPr>
            <a:r>
              <a:rPr lang="en-US" sz="1400" dirty="0"/>
              <a:t>        </a:t>
            </a:r>
            <a:r>
              <a:rPr lang="en-US" sz="1400" dirty="0" err="1"/>
              <a:t>prevNode</a:t>
            </a:r>
            <a:r>
              <a:rPr lang="en-US" sz="1400" dirty="0"/>
              <a:t> = head;</a:t>
            </a:r>
          </a:p>
          <a:p>
            <a:pPr marL="0" indent="0">
              <a:lnSpc>
                <a:spcPct val="120000"/>
              </a:lnSpc>
              <a:spcBef>
                <a:spcPts val="0"/>
              </a:spcBef>
              <a:buNone/>
            </a:pPr>
            <a:r>
              <a:rPr lang="en-US" sz="1400" dirty="0"/>
              <a:t>        for(</a:t>
            </a:r>
            <a:r>
              <a:rPr lang="en-US" sz="1400" dirty="0" err="1"/>
              <a:t>i</a:t>
            </a:r>
            <a:r>
              <a:rPr lang="en-US" sz="1400" dirty="0"/>
              <a:t>=2; </a:t>
            </a:r>
            <a:r>
              <a:rPr lang="en-US" sz="1400" dirty="0" err="1"/>
              <a:t>i</a:t>
            </a:r>
            <a:r>
              <a:rPr lang="en-US" sz="1400" dirty="0"/>
              <a:t>&lt;=n; </a:t>
            </a:r>
            <a:r>
              <a:rPr lang="en-US" sz="1400" dirty="0" err="1"/>
              <a:t>i</a:t>
            </a:r>
            <a:r>
              <a:rPr lang="en-US" sz="1400" dirty="0"/>
              <a:t>++){       /* Creates and links rest of the n-1 nodes */</a:t>
            </a:r>
          </a:p>
          <a:p>
            <a:pPr marL="0" indent="0">
              <a:lnSpc>
                <a:spcPct val="120000"/>
              </a:lnSpc>
              <a:spcBef>
                <a:spcPts val="0"/>
              </a:spcBef>
              <a:buNone/>
            </a:pPr>
            <a:r>
              <a:rPr lang="en-US" sz="1400" dirty="0"/>
              <a:t>            </a:t>
            </a:r>
            <a:r>
              <a:rPr lang="en-US" sz="1400" dirty="0" err="1"/>
              <a:t>newNode</a:t>
            </a:r>
            <a:r>
              <a:rPr lang="en-US" sz="1400" dirty="0"/>
              <a:t> = (struct node *)malloc(</a:t>
            </a:r>
            <a:r>
              <a:rPr lang="en-US" sz="1400" dirty="0" err="1"/>
              <a:t>sizeof</a:t>
            </a:r>
            <a:r>
              <a:rPr lang="en-US" sz="1400" dirty="0"/>
              <a:t>(struct node));</a:t>
            </a:r>
          </a:p>
          <a:p>
            <a:pPr marL="0" indent="0">
              <a:lnSpc>
                <a:spcPct val="120000"/>
              </a:lnSpc>
              <a:spcBef>
                <a:spcPts val="0"/>
              </a:spcBef>
              <a:buNone/>
            </a:pPr>
            <a:r>
              <a:rPr lang="en-US" sz="1400" dirty="0"/>
              <a:t>            </a:t>
            </a:r>
            <a:r>
              <a:rPr lang="en-US" sz="1400" dirty="0" err="1"/>
              <a:t>printf</a:t>
            </a:r>
            <a:r>
              <a:rPr lang="en-US" sz="1400" dirty="0"/>
              <a:t>("Enter data of %d node: ", </a:t>
            </a:r>
            <a:r>
              <a:rPr lang="en-US" sz="1400" dirty="0" err="1"/>
              <a:t>i</a:t>
            </a:r>
            <a:r>
              <a:rPr lang="en-US" sz="1400" dirty="0"/>
              <a:t>);</a:t>
            </a:r>
          </a:p>
          <a:p>
            <a:pPr marL="0" indent="0">
              <a:lnSpc>
                <a:spcPct val="120000"/>
              </a:lnSpc>
              <a:spcBef>
                <a:spcPts val="0"/>
              </a:spcBef>
              <a:buNone/>
            </a:pPr>
            <a:r>
              <a:rPr lang="en-US" sz="1400" dirty="0"/>
              <a:t>            </a:t>
            </a:r>
            <a:r>
              <a:rPr lang="en-US" sz="1400" dirty="0" err="1"/>
              <a:t>scanf</a:t>
            </a:r>
            <a:r>
              <a:rPr lang="en-US" sz="1400" dirty="0"/>
              <a:t>("%d", &amp;data);</a:t>
            </a:r>
          </a:p>
          <a:p>
            <a:pPr marL="0" indent="0">
              <a:lnSpc>
                <a:spcPct val="120000"/>
              </a:lnSpc>
              <a:spcBef>
                <a:spcPts val="0"/>
              </a:spcBef>
              <a:buNone/>
            </a:pPr>
            <a:r>
              <a:rPr lang="en-US" sz="1400" dirty="0"/>
              <a:t>            </a:t>
            </a:r>
            <a:r>
              <a:rPr lang="en-US" sz="1400" dirty="0" err="1"/>
              <a:t>newNode</a:t>
            </a:r>
            <a:r>
              <a:rPr lang="en-US" sz="1400" dirty="0"/>
              <a:t>-&gt;data = data;</a:t>
            </a:r>
          </a:p>
          <a:p>
            <a:pPr marL="0" indent="0">
              <a:lnSpc>
                <a:spcPct val="120000"/>
              </a:lnSpc>
              <a:spcBef>
                <a:spcPts val="0"/>
              </a:spcBef>
              <a:buNone/>
            </a:pPr>
            <a:r>
              <a:rPr lang="en-US" sz="1400" dirty="0"/>
              <a:t>            </a:t>
            </a:r>
            <a:r>
              <a:rPr lang="en-US" sz="1400" dirty="0" err="1"/>
              <a:t>newNode</a:t>
            </a:r>
            <a:r>
              <a:rPr lang="en-US" sz="1400" dirty="0"/>
              <a:t>-&gt;next = NULL; </a:t>
            </a:r>
          </a:p>
          <a:p>
            <a:pPr marL="0" indent="0">
              <a:lnSpc>
                <a:spcPct val="120000"/>
              </a:lnSpc>
              <a:spcBef>
                <a:spcPts val="0"/>
              </a:spcBef>
              <a:buNone/>
            </a:pPr>
            <a:r>
              <a:rPr lang="en-US" sz="1400" dirty="0"/>
              <a:t>            </a:t>
            </a:r>
            <a:r>
              <a:rPr lang="en-US" sz="1400" dirty="0" err="1"/>
              <a:t>prevNode</a:t>
            </a:r>
            <a:r>
              <a:rPr lang="en-US" sz="1400" dirty="0"/>
              <a:t>-&gt;next = </a:t>
            </a:r>
            <a:r>
              <a:rPr lang="en-US" sz="1400" dirty="0" err="1"/>
              <a:t>newNode</a:t>
            </a:r>
            <a:r>
              <a:rPr lang="en-US" sz="1400" dirty="0"/>
              <a:t>; //Links the previous node with newly created node</a:t>
            </a:r>
          </a:p>
          <a:p>
            <a:pPr marL="0" indent="0">
              <a:lnSpc>
                <a:spcPct val="120000"/>
              </a:lnSpc>
              <a:spcBef>
                <a:spcPts val="0"/>
              </a:spcBef>
              <a:buNone/>
            </a:pPr>
            <a:r>
              <a:rPr lang="en-US" sz="1400" dirty="0"/>
              <a:t>            </a:t>
            </a:r>
            <a:r>
              <a:rPr lang="en-US" sz="1400" dirty="0" err="1"/>
              <a:t>prevNode</a:t>
            </a:r>
            <a:r>
              <a:rPr lang="en-US" sz="1400" dirty="0"/>
              <a:t> = </a:t>
            </a:r>
            <a:r>
              <a:rPr lang="en-US" sz="1400" dirty="0" err="1"/>
              <a:t>newNode</a:t>
            </a:r>
            <a:r>
              <a:rPr lang="en-US" sz="1400" dirty="0"/>
              <a:t>;      //Moves the previous node ahead</a:t>
            </a:r>
          </a:p>
          <a:p>
            <a:pPr marL="0" indent="0">
              <a:lnSpc>
                <a:spcPct val="120000"/>
              </a:lnSpc>
              <a:spcBef>
                <a:spcPts val="0"/>
              </a:spcBef>
              <a:buNone/>
            </a:pPr>
            <a:r>
              <a:rPr lang="en-US" sz="1400" dirty="0"/>
              <a:t>        }</a:t>
            </a:r>
          </a:p>
          <a:p>
            <a:pPr marL="0" indent="0">
              <a:lnSpc>
                <a:spcPct val="120000"/>
              </a:lnSpc>
              <a:spcBef>
                <a:spcPts val="0"/>
              </a:spcBef>
              <a:buNone/>
            </a:pPr>
            <a:r>
              <a:rPr lang="en-US" sz="1400" dirty="0"/>
              <a:t>            </a:t>
            </a:r>
            <a:r>
              <a:rPr lang="en-US" sz="1400" dirty="0" err="1"/>
              <a:t>prevNode</a:t>
            </a:r>
            <a:r>
              <a:rPr lang="en-US" sz="1400" dirty="0"/>
              <a:t>-&gt;next = head; //Links the last node with first node </a:t>
            </a:r>
          </a:p>
          <a:p>
            <a:pPr marL="0" indent="0">
              <a:lnSpc>
                <a:spcPct val="120000"/>
              </a:lnSpc>
              <a:spcBef>
                <a:spcPts val="0"/>
              </a:spcBef>
              <a:buNone/>
            </a:pPr>
            <a:r>
              <a:rPr lang="en-US" sz="1400" dirty="0"/>
              <a:t>           </a:t>
            </a:r>
            <a:r>
              <a:rPr lang="en-US" sz="1400" dirty="0" err="1"/>
              <a:t>printf</a:t>
            </a:r>
            <a:r>
              <a:rPr lang="en-US" sz="1400" dirty="0"/>
              <a:t>("\</a:t>
            </a:r>
            <a:r>
              <a:rPr lang="en-US" sz="1400" dirty="0" err="1"/>
              <a:t>nCIRCULAR</a:t>
            </a:r>
            <a:r>
              <a:rPr lang="en-US" sz="1400" dirty="0"/>
              <a:t> LINKED LIST CREATED SUCCESSFULLY\n");</a:t>
            </a:r>
          </a:p>
          <a:p>
            <a:pPr marL="0" indent="0">
              <a:lnSpc>
                <a:spcPct val="120000"/>
              </a:lnSpc>
              <a:spcBef>
                <a:spcPts val="0"/>
              </a:spcBef>
              <a:buNone/>
            </a:pPr>
            <a:r>
              <a:rPr lang="en-US" sz="1400" dirty="0"/>
              <a:t>    }}</a:t>
            </a:r>
          </a:p>
          <a:p>
            <a:pPr marL="0" indent="0">
              <a:lnSpc>
                <a:spcPct val="120000"/>
              </a:lnSpc>
              <a:spcBef>
                <a:spcPts val="0"/>
              </a:spcBef>
              <a:buNone/>
            </a:pPr>
            <a:endParaRPr lang="en-US" sz="1400" dirty="0"/>
          </a:p>
        </p:txBody>
      </p:sp>
      <p:sp>
        <p:nvSpPr>
          <p:cNvPr id="4" name="Title 1">
            <a:extLst>
              <a:ext uri="{FF2B5EF4-FFF2-40B4-BE49-F238E27FC236}">
                <a16:creationId xmlns:a16="http://schemas.microsoft.com/office/drawing/2014/main" id="{861AD42B-9A95-5233-F670-C2AD4A818023}"/>
              </a:ext>
            </a:extLst>
          </p:cNvPr>
          <p:cNvSpPr>
            <a:spLocks noGrp="1"/>
          </p:cNvSpPr>
          <p:nvPr>
            <p:ph type="title"/>
          </p:nvPr>
        </p:nvSpPr>
        <p:spPr>
          <a:xfrm>
            <a:off x="762000" y="107156"/>
            <a:ext cx="10972800" cy="438534"/>
          </a:xfrm>
        </p:spPr>
        <p:txBody>
          <a:bodyPr>
            <a:normAutofit fontScale="90000"/>
          </a:bodyPr>
          <a:lstStyle/>
          <a:p>
            <a:pPr algn="ctr"/>
            <a:r>
              <a:rPr lang="en-US" sz="2800" b="1" dirty="0"/>
              <a:t>Creation and Traversal of a Circular List</a:t>
            </a:r>
          </a:p>
        </p:txBody>
      </p:sp>
    </p:spTree>
    <p:extLst>
      <p:ext uri="{BB962C8B-B14F-4D97-AF65-F5344CB8AC3E}">
        <p14:creationId xmlns:p14="http://schemas.microsoft.com/office/powerpoint/2010/main" val="108861870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9A358-0881-7AEE-A538-003DA8A99A56}"/>
              </a:ext>
            </a:extLst>
          </p:cNvPr>
          <p:cNvSpPr>
            <a:spLocks noGrp="1"/>
          </p:cNvSpPr>
          <p:nvPr>
            <p:ph type="title"/>
          </p:nvPr>
        </p:nvSpPr>
        <p:spPr>
          <a:xfrm>
            <a:off x="762000" y="147484"/>
            <a:ext cx="10972800" cy="575851"/>
          </a:xfrm>
        </p:spPr>
        <p:txBody>
          <a:bodyPr>
            <a:noAutofit/>
          </a:bodyPr>
          <a:lstStyle/>
          <a:p>
            <a:pPr algn="ctr"/>
            <a:r>
              <a:rPr lang="en-US" altLang="en-US" sz="2800" dirty="0">
                <a:latin typeface="+mn-lt"/>
                <a:cs typeface="Times New Roman" panose="02020603050405020304" pitchFamily="18" charset="0"/>
              </a:rPr>
              <a:t>Circular Linked List: Traversal of List</a:t>
            </a:r>
            <a:endParaRPr lang="en-US" sz="2800" dirty="0"/>
          </a:p>
        </p:txBody>
      </p:sp>
      <p:sp>
        <p:nvSpPr>
          <p:cNvPr id="3" name="Content Placeholder 2">
            <a:extLst>
              <a:ext uri="{FF2B5EF4-FFF2-40B4-BE49-F238E27FC236}">
                <a16:creationId xmlns:a16="http://schemas.microsoft.com/office/drawing/2014/main" id="{E87143D8-2C94-15D8-D57E-538922F4BE13}"/>
              </a:ext>
            </a:extLst>
          </p:cNvPr>
          <p:cNvSpPr>
            <a:spLocks noGrp="1"/>
          </p:cNvSpPr>
          <p:nvPr>
            <p:ph idx="1"/>
          </p:nvPr>
        </p:nvSpPr>
        <p:spPr>
          <a:xfrm>
            <a:off x="762000" y="723335"/>
            <a:ext cx="10972800" cy="5987181"/>
          </a:xfrm>
        </p:spPr>
        <p:txBody>
          <a:bodyPr>
            <a:noAutofit/>
          </a:bodyPr>
          <a:lstStyle/>
          <a:p>
            <a:pPr marL="0" indent="0">
              <a:lnSpc>
                <a:spcPct val="120000"/>
              </a:lnSpc>
              <a:spcBef>
                <a:spcPts val="0"/>
              </a:spcBef>
              <a:buNone/>
            </a:pPr>
            <a:r>
              <a:rPr lang="en-US" sz="1600" dirty="0"/>
              <a:t>void </a:t>
            </a:r>
            <a:r>
              <a:rPr lang="en-US" sz="1600" dirty="0" err="1"/>
              <a:t>displayList</a:t>
            </a:r>
            <a:r>
              <a:rPr lang="en-US" sz="1600" dirty="0"/>
              <a:t>()</a:t>
            </a:r>
          </a:p>
          <a:p>
            <a:pPr marL="0" indent="0">
              <a:lnSpc>
                <a:spcPct val="120000"/>
              </a:lnSpc>
              <a:spcBef>
                <a:spcPts val="0"/>
              </a:spcBef>
              <a:buNone/>
            </a:pPr>
            <a:r>
              <a:rPr lang="en-US" sz="1600" dirty="0"/>
              <a:t>{</a:t>
            </a:r>
          </a:p>
          <a:p>
            <a:pPr marL="0" indent="0">
              <a:lnSpc>
                <a:spcPct val="120000"/>
              </a:lnSpc>
              <a:spcBef>
                <a:spcPts val="0"/>
              </a:spcBef>
              <a:buNone/>
            </a:pPr>
            <a:r>
              <a:rPr lang="en-US" sz="1600" dirty="0"/>
              <a:t>    struct node *current;</a:t>
            </a:r>
          </a:p>
          <a:p>
            <a:pPr marL="0" indent="0">
              <a:lnSpc>
                <a:spcPct val="120000"/>
              </a:lnSpc>
              <a:spcBef>
                <a:spcPts val="0"/>
              </a:spcBef>
              <a:buNone/>
            </a:pPr>
            <a:r>
              <a:rPr lang="en-US" sz="1600" dirty="0"/>
              <a:t>    int n = 1;</a:t>
            </a:r>
          </a:p>
          <a:p>
            <a:pPr marL="0" indent="0">
              <a:lnSpc>
                <a:spcPct val="120000"/>
              </a:lnSpc>
              <a:spcBef>
                <a:spcPts val="0"/>
              </a:spcBef>
              <a:buNone/>
            </a:pPr>
            <a:r>
              <a:rPr lang="en-US" sz="1600" dirty="0"/>
              <a:t>     if(head == NULL)</a:t>
            </a:r>
          </a:p>
          <a:p>
            <a:pPr marL="0" indent="0">
              <a:lnSpc>
                <a:spcPct val="120000"/>
              </a:lnSpc>
              <a:spcBef>
                <a:spcPts val="0"/>
              </a:spcBef>
              <a:buNone/>
            </a:pPr>
            <a:r>
              <a:rPr lang="en-US" sz="1600" dirty="0"/>
              <a:t>    {</a:t>
            </a:r>
          </a:p>
          <a:p>
            <a:pPr marL="0" indent="0">
              <a:lnSpc>
                <a:spcPct val="120000"/>
              </a:lnSpc>
              <a:spcBef>
                <a:spcPts val="0"/>
              </a:spcBef>
              <a:buNone/>
            </a:pPr>
            <a:r>
              <a:rPr lang="en-US" sz="1600" dirty="0"/>
              <a:t>        </a:t>
            </a:r>
            <a:r>
              <a:rPr lang="en-US" sz="1600" dirty="0" err="1"/>
              <a:t>printf</a:t>
            </a:r>
            <a:r>
              <a:rPr lang="en-US" sz="1600" dirty="0"/>
              <a:t>("List is empty.\n");</a:t>
            </a:r>
          </a:p>
          <a:p>
            <a:pPr marL="0" indent="0">
              <a:lnSpc>
                <a:spcPct val="120000"/>
              </a:lnSpc>
              <a:spcBef>
                <a:spcPts val="0"/>
              </a:spcBef>
              <a:buNone/>
            </a:pPr>
            <a:r>
              <a:rPr lang="en-US" sz="1600" dirty="0"/>
              <a:t>    }</a:t>
            </a:r>
          </a:p>
          <a:p>
            <a:pPr marL="0" indent="0">
              <a:lnSpc>
                <a:spcPct val="120000"/>
              </a:lnSpc>
              <a:spcBef>
                <a:spcPts val="0"/>
              </a:spcBef>
              <a:buNone/>
            </a:pPr>
            <a:r>
              <a:rPr lang="en-US" sz="1600" dirty="0"/>
              <a:t>    else</a:t>
            </a:r>
          </a:p>
          <a:p>
            <a:pPr marL="0" indent="0">
              <a:lnSpc>
                <a:spcPct val="120000"/>
              </a:lnSpc>
              <a:spcBef>
                <a:spcPts val="0"/>
              </a:spcBef>
              <a:buNone/>
            </a:pPr>
            <a:r>
              <a:rPr lang="en-US" sz="1600" dirty="0"/>
              <a:t>    {</a:t>
            </a:r>
          </a:p>
          <a:p>
            <a:pPr marL="0" indent="0">
              <a:lnSpc>
                <a:spcPct val="120000"/>
              </a:lnSpc>
              <a:spcBef>
                <a:spcPts val="0"/>
              </a:spcBef>
              <a:buNone/>
            </a:pPr>
            <a:r>
              <a:rPr lang="en-US" sz="1600" dirty="0"/>
              <a:t>        current = head;</a:t>
            </a:r>
          </a:p>
          <a:p>
            <a:pPr marL="0" indent="0">
              <a:lnSpc>
                <a:spcPct val="120000"/>
              </a:lnSpc>
              <a:spcBef>
                <a:spcPts val="0"/>
              </a:spcBef>
              <a:buNone/>
            </a:pPr>
            <a:r>
              <a:rPr lang="en-US" sz="1600" dirty="0"/>
              <a:t>        </a:t>
            </a:r>
            <a:r>
              <a:rPr lang="en-US" sz="1600" dirty="0" err="1"/>
              <a:t>printf</a:t>
            </a:r>
            <a:r>
              <a:rPr lang="en-US" sz="1600" dirty="0"/>
              <a:t>("DATA IN THE LIST:\n");</a:t>
            </a:r>
          </a:p>
          <a:p>
            <a:pPr marL="0" indent="0">
              <a:lnSpc>
                <a:spcPct val="120000"/>
              </a:lnSpc>
              <a:spcBef>
                <a:spcPts val="0"/>
              </a:spcBef>
              <a:buNone/>
            </a:pPr>
            <a:r>
              <a:rPr lang="en-US" sz="1600" dirty="0"/>
              <a:t> </a:t>
            </a:r>
          </a:p>
          <a:p>
            <a:pPr marL="0" indent="0">
              <a:lnSpc>
                <a:spcPct val="120000"/>
              </a:lnSpc>
              <a:spcBef>
                <a:spcPts val="0"/>
              </a:spcBef>
              <a:buNone/>
            </a:pPr>
            <a:r>
              <a:rPr lang="en-US" sz="1600" dirty="0"/>
              <a:t>        do {</a:t>
            </a:r>
          </a:p>
          <a:p>
            <a:pPr marL="0" indent="0">
              <a:lnSpc>
                <a:spcPct val="120000"/>
              </a:lnSpc>
              <a:spcBef>
                <a:spcPts val="0"/>
              </a:spcBef>
              <a:buNone/>
            </a:pPr>
            <a:r>
              <a:rPr lang="en-US" sz="1600" dirty="0"/>
              <a:t>            </a:t>
            </a:r>
            <a:r>
              <a:rPr lang="en-US" sz="1600" dirty="0" err="1"/>
              <a:t>printf</a:t>
            </a:r>
            <a:r>
              <a:rPr lang="en-US" sz="1600" dirty="0"/>
              <a:t>("Data %d = %d\n", n, current-&gt;data);</a:t>
            </a:r>
          </a:p>
          <a:p>
            <a:pPr marL="0" indent="0">
              <a:lnSpc>
                <a:spcPct val="120000"/>
              </a:lnSpc>
              <a:spcBef>
                <a:spcPts val="0"/>
              </a:spcBef>
              <a:buNone/>
            </a:pPr>
            <a:r>
              <a:rPr lang="en-US" sz="1600" dirty="0"/>
              <a:t> </a:t>
            </a:r>
          </a:p>
          <a:p>
            <a:pPr marL="0" indent="0">
              <a:lnSpc>
                <a:spcPct val="120000"/>
              </a:lnSpc>
              <a:spcBef>
                <a:spcPts val="0"/>
              </a:spcBef>
              <a:buNone/>
            </a:pPr>
            <a:r>
              <a:rPr lang="en-US" sz="1600" dirty="0"/>
              <a:t>            current = current-&gt;next;</a:t>
            </a:r>
          </a:p>
          <a:p>
            <a:pPr marL="0" indent="0">
              <a:lnSpc>
                <a:spcPct val="120000"/>
              </a:lnSpc>
              <a:spcBef>
                <a:spcPts val="0"/>
              </a:spcBef>
              <a:buNone/>
            </a:pPr>
            <a:r>
              <a:rPr lang="en-US" sz="1600" dirty="0"/>
              <a:t>            n++;</a:t>
            </a:r>
          </a:p>
          <a:p>
            <a:pPr marL="0" indent="0">
              <a:lnSpc>
                <a:spcPct val="120000"/>
              </a:lnSpc>
              <a:spcBef>
                <a:spcPts val="0"/>
              </a:spcBef>
              <a:buNone/>
            </a:pPr>
            <a:r>
              <a:rPr lang="en-US" sz="1600" dirty="0"/>
              <a:t>        }while(current != head);</a:t>
            </a:r>
          </a:p>
          <a:p>
            <a:pPr marL="0" indent="0">
              <a:lnSpc>
                <a:spcPct val="120000"/>
              </a:lnSpc>
              <a:spcBef>
                <a:spcPts val="0"/>
              </a:spcBef>
              <a:buNone/>
            </a:pPr>
            <a:r>
              <a:rPr lang="en-US" sz="1600" dirty="0"/>
              <a:t>    }}</a:t>
            </a:r>
          </a:p>
          <a:p>
            <a:pPr marL="0" indent="0">
              <a:lnSpc>
                <a:spcPct val="120000"/>
              </a:lnSpc>
              <a:spcBef>
                <a:spcPts val="0"/>
              </a:spcBef>
              <a:buNone/>
            </a:pPr>
            <a:endParaRPr lang="en-US" sz="1600" dirty="0"/>
          </a:p>
        </p:txBody>
      </p:sp>
    </p:spTree>
    <p:extLst>
      <p:ext uri="{BB962C8B-B14F-4D97-AF65-F5344CB8AC3E}">
        <p14:creationId xmlns:p14="http://schemas.microsoft.com/office/powerpoint/2010/main" val="298599238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Representing a polynomial using a linked list</a:t>
            </a:r>
            <a:endParaRPr lang="en-US" dirty="0"/>
          </a:p>
        </p:txBody>
      </p:sp>
      <p:sp>
        <p:nvSpPr>
          <p:cNvPr id="3" name="Content Placeholder 2"/>
          <p:cNvSpPr>
            <a:spLocks noGrp="1"/>
          </p:cNvSpPr>
          <p:nvPr>
            <p:ph idx="1"/>
          </p:nvPr>
        </p:nvSpPr>
        <p:spPr/>
        <p:txBody>
          <a:bodyPr/>
          <a:lstStyle/>
          <a:p>
            <a:r>
              <a:rPr lang="en-US" dirty="0"/>
              <a:t>Store the coefficient and exponent of each term in nodes</a:t>
            </a:r>
          </a:p>
          <a:p>
            <a:pPr lvl="1"/>
            <a:r>
              <a:rPr lang="en-US" dirty="0" err="1"/>
              <a:t>int</a:t>
            </a:r>
            <a:r>
              <a:rPr lang="en-US" dirty="0"/>
              <a:t> [] item1 = {5, 12}</a:t>
            </a:r>
          </a:p>
          <a:p>
            <a:pPr lvl="1"/>
            <a:r>
              <a:rPr lang="en-US" dirty="0" err="1"/>
              <a:t>int</a:t>
            </a:r>
            <a:r>
              <a:rPr lang="en-US" dirty="0"/>
              <a:t> [] item2 = {2, 9}</a:t>
            </a:r>
          </a:p>
          <a:p>
            <a:pPr lvl="1"/>
            <a:r>
              <a:rPr lang="en-US" dirty="0" err="1"/>
              <a:t>int</a:t>
            </a:r>
            <a:r>
              <a:rPr lang="en-US" dirty="0"/>
              <a:t> [] item3 = {-1, 3}</a:t>
            </a:r>
          </a:p>
          <a:p>
            <a:pPr lvl="1"/>
            <a:endParaRPr lang="en-US" dirty="0"/>
          </a:p>
          <a:p>
            <a:endParaRPr lang="en-US" dirty="0"/>
          </a:p>
          <a:p>
            <a:pPr lvl="1">
              <a:buNone/>
            </a:pPr>
            <a:r>
              <a:rPr lang="en-US" dirty="0"/>
              <a:t>                </a:t>
            </a:r>
          </a:p>
        </p:txBody>
      </p:sp>
      <p:graphicFrame>
        <p:nvGraphicFramePr>
          <p:cNvPr id="4" name="Table 3"/>
          <p:cNvGraphicFramePr>
            <a:graphicFrameLocks noGrp="1"/>
          </p:cNvGraphicFramePr>
          <p:nvPr>
            <p:extLst>
              <p:ext uri="{D42A27DB-BD31-4B8C-83A1-F6EECF244321}">
                <p14:modId xmlns:p14="http://schemas.microsoft.com/office/powerpoint/2010/main" val="2277045259"/>
              </p:ext>
            </p:extLst>
          </p:nvPr>
        </p:nvGraphicFramePr>
        <p:xfrm>
          <a:off x="2133600" y="5987118"/>
          <a:ext cx="859814" cy="370840"/>
        </p:xfrm>
        <a:graphic>
          <a:graphicData uri="http://schemas.openxmlformats.org/drawingml/2006/table">
            <a:tbl>
              <a:tblPr firstRow="1" bandRow="1">
                <a:tableStyleId>{5C22544A-7EE6-4342-B048-85BDC9FD1C3A}</a:tableStyleId>
              </a:tblPr>
              <a:tblGrid>
                <a:gridCol w="277707">
                  <a:extLst>
                    <a:ext uri="{9D8B030D-6E8A-4147-A177-3AD203B41FA5}">
                      <a16:colId xmlns:a16="http://schemas.microsoft.com/office/drawing/2014/main" val="20000"/>
                    </a:ext>
                  </a:extLst>
                </a:gridCol>
                <a:gridCol w="582107">
                  <a:extLst>
                    <a:ext uri="{9D8B030D-6E8A-4147-A177-3AD203B41FA5}">
                      <a16:colId xmlns:a16="http://schemas.microsoft.com/office/drawing/2014/main" val="20001"/>
                    </a:ext>
                  </a:extLst>
                </a:gridCol>
              </a:tblGrid>
              <a:tr h="370840">
                <a:tc>
                  <a:txBody>
                    <a:bodyPr/>
                    <a:lstStyle/>
                    <a:p>
                      <a:r>
                        <a:rPr lang="en-US" dirty="0"/>
                        <a:t>5</a:t>
                      </a:r>
                    </a:p>
                  </a:txBody>
                  <a:tcPr marL="121920" marR="121920"/>
                </a:tc>
                <a:tc>
                  <a:txBody>
                    <a:bodyPr/>
                    <a:lstStyle/>
                    <a:p>
                      <a:r>
                        <a:rPr lang="en-US" dirty="0"/>
                        <a:t>12</a:t>
                      </a:r>
                    </a:p>
                  </a:txBody>
                  <a:tcPr marL="121920" marR="121920"/>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02558642"/>
              </p:ext>
            </p:extLst>
          </p:nvPr>
        </p:nvGraphicFramePr>
        <p:xfrm>
          <a:off x="4165600" y="5987118"/>
          <a:ext cx="859814" cy="370840"/>
        </p:xfrm>
        <a:graphic>
          <a:graphicData uri="http://schemas.openxmlformats.org/drawingml/2006/table">
            <a:tbl>
              <a:tblPr firstRow="1" bandRow="1">
                <a:tableStyleId>{5C22544A-7EE6-4342-B048-85BDC9FD1C3A}</a:tableStyleId>
              </a:tblPr>
              <a:tblGrid>
                <a:gridCol w="277707">
                  <a:extLst>
                    <a:ext uri="{9D8B030D-6E8A-4147-A177-3AD203B41FA5}">
                      <a16:colId xmlns:a16="http://schemas.microsoft.com/office/drawing/2014/main" val="20000"/>
                    </a:ext>
                  </a:extLst>
                </a:gridCol>
                <a:gridCol w="582107">
                  <a:extLst>
                    <a:ext uri="{9D8B030D-6E8A-4147-A177-3AD203B41FA5}">
                      <a16:colId xmlns:a16="http://schemas.microsoft.com/office/drawing/2014/main" val="20001"/>
                    </a:ext>
                  </a:extLst>
                </a:gridCol>
              </a:tblGrid>
              <a:tr h="370840">
                <a:tc>
                  <a:txBody>
                    <a:bodyPr/>
                    <a:lstStyle/>
                    <a:p>
                      <a:r>
                        <a:rPr lang="en-US" dirty="0"/>
                        <a:t>2</a:t>
                      </a:r>
                    </a:p>
                  </a:txBody>
                  <a:tcPr marL="121920" marR="121920"/>
                </a:tc>
                <a:tc>
                  <a:txBody>
                    <a:bodyPr/>
                    <a:lstStyle/>
                    <a:p>
                      <a:r>
                        <a:rPr lang="en-US" dirty="0"/>
                        <a:t>9</a:t>
                      </a:r>
                    </a:p>
                  </a:txBody>
                  <a:tcPr marL="121920" marR="121920"/>
                </a:tc>
                <a:extLst>
                  <a:ext uri="{0D108BD9-81ED-4DB2-BD59-A6C34878D82A}">
                    <a16:rowId xmlns:a16="http://schemas.microsoft.com/office/drawing/2014/main" val="10000"/>
                  </a:ext>
                </a:extLst>
              </a:tr>
            </a:tbl>
          </a:graphicData>
        </a:graphic>
      </p:graphicFrame>
      <p:cxnSp>
        <p:nvCxnSpPr>
          <p:cNvPr id="8" name="Straight Arrow Connector 7"/>
          <p:cNvCxnSpPr/>
          <p:nvPr/>
        </p:nvCxnSpPr>
        <p:spPr>
          <a:xfrm>
            <a:off x="3047979" y="6142056"/>
            <a:ext cx="104775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12" name="Table 11"/>
          <p:cNvGraphicFramePr>
            <a:graphicFrameLocks noGrp="1"/>
          </p:cNvGraphicFramePr>
          <p:nvPr>
            <p:extLst>
              <p:ext uri="{D42A27DB-BD31-4B8C-83A1-F6EECF244321}">
                <p14:modId xmlns:p14="http://schemas.microsoft.com/office/powerpoint/2010/main" val="530193216"/>
              </p:ext>
            </p:extLst>
          </p:nvPr>
        </p:nvGraphicFramePr>
        <p:xfrm>
          <a:off x="6191251" y="6000768"/>
          <a:ext cx="1428760" cy="365760"/>
        </p:xfrm>
        <a:graphic>
          <a:graphicData uri="http://schemas.openxmlformats.org/drawingml/2006/table">
            <a:tbl>
              <a:tblPr firstRow="1" bandRow="1">
                <a:tableStyleId>{5C22544A-7EE6-4342-B048-85BDC9FD1C3A}</a:tableStyleId>
              </a:tblPr>
              <a:tblGrid>
                <a:gridCol w="762005">
                  <a:extLst>
                    <a:ext uri="{9D8B030D-6E8A-4147-A177-3AD203B41FA5}">
                      <a16:colId xmlns:a16="http://schemas.microsoft.com/office/drawing/2014/main" val="20000"/>
                    </a:ext>
                  </a:extLst>
                </a:gridCol>
                <a:gridCol w="666755">
                  <a:extLst>
                    <a:ext uri="{9D8B030D-6E8A-4147-A177-3AD203B41FA5}">
                      <a16:colId xmlns:a16="http://schemas.microsoft.com/office/drawing/2014/main" val="20001"/>
                    </a:ext>
                  </a:extLst>
                </a:gridCol>
              </a:tblGrid>
              <a:tr h="357190">
                <a:tc>
                  <a:txBody>
                    <a:bodyPr/>
                    <a:lstStyle/>
                    <a:p>
                      <a:r>
                        <a:rPr lang="en-US" dirty="0"/>
                        <a:t>-1</a:t>
                      </a:r>
                    </a:p>
                  </a:txBody>
                  <a:tcPr marL="121920" marR="121920"/>
                </a:tc>
                <a:tc>
                  <a:txBody>
                    <a:bodyPr/>
                    <a:lstStyle/>
                    <a:p>
                      <a:r>
                        <a:rPr lang="en-US" dirty="0"/>
                        <a:t>3</a:t>
                      </a:r>
                    </a:p>
                  </a:txBody>
                  <a:tcPr marL="121920" marR="121920"/>
                </a:tc>
                <a:extLst>
                  <a:ext uri="{0D108BD9-81ED-4DB2-BD59-A6C34878D82A}">
                    <a16:rowId xmlns:a16="http://schemas.microsoft.com/office/drawing/2014/main" val="10000"/>
                  </a:ext>
                </a:extLst>
              </a:tr>
            </a:tbl>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3814080568"/>
              </p:ext>
            </p:extLst>
          </p:nvPr>
        </p:nvGraphicFramePr>
        <p:xfrm>
          <a:off x="2000221" y="5214950"/>
          <a:ext cx="5810291" cy="428628"/>
        </p:xfrm>
        <a:graphic>
          <a:graphicData uri="http://schemas.openxmlformats.org/presentationml/2006/ole">
            <mc:AlternateContent xmlns:mc="http://schemas.openxmlformats.org/markup-compatibility/2006">
              <mc:Choice xmlns:v="urn:schemas-microsoft-com:vml" Requires="v">
                <p:oleObj spid="_x0000_s27782" name="Equation" r:id="rId3" imgW="914400" imgH="203200" progId="Equation.3">
                  <p:embed/>
                </p:oleObj>
              </mc:Choice>
              <mc:Fallback>
                <p:oleObj name="Equation" r:id="rId3" imgW="914400" imgH="203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0221" y="5214950"/>
                        <a:ext cx="5810291" cy="4286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4" name="Straight Arrow Connector 13"/>
          <p:cNvCxnSpPr/>
          <p:nvPr/>
        </p:nvCxnSpPr>
        <p:spPr>
          <a:xfrm>
            <a:off x="5048243" y="6142056"/>
            <a:ext cx="104775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37004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Addition of two polynomials</a:t>
            </a:r>
            <a:endParaRPr lang="en-US" dirty="0"/>
          </a:p>
        </p:txBody>
      </p:sp>
      <p:sp>
        <p:nvSpPr>
          <p:cNvPr id="3" name="Content Placeholder 2"/>
          <p:cNvSpPr>
            <a:spLocks noGrp="1"/>
          </p:cNvSpPr>
          <p:nvPr>
            <p:ph idx="1"/>
          </p:nvPr>
        </p:nvSpPr>
        <p:spPr/>
        <p:txBody>
          <a:bodyPr/>
          <a:lstStyle/>
          <a:p>
            <a:pPr>
              <a:buNone/>
            </a:pPr>
            <a:r>
              <a:rPr lang="en-US" dirty="0"/>
              <a:t>Example: </a:t>
            </a:r>
          </a:p>
          <a:p>
            <a:pPr>
              <a:buNone/>
            </a:pPr>
            <a:r>
              <a:rPr lang="en-US" dirty="0"/>
              <a:t>Addition of the following polynomials</a:t>
            </a:r>
          </a:p>
          <a:p>
            <a:pPr>
              <a:buNone/>
            </a:pPr>
            <a:endParaRPr lang="en-US" dirty="0"/>
          </a:p>
          <a:p>
            <a:pPr>
              <a:buNone/>
            </a:pPr>
            <a:endParaRPr lang="en-US" dirty="0"/>
          </a:p>
          <a:p>
            <a:pPr>
              <a:buNone/>
            </a:pPr>
            <a:endParaRPr lang="en-US" dirty="0"/>
          </a:p>
          <a:p>
            <a:pPr>
              <a:buNone/>
            </a:pPr>
            <a:r>
              <a:rPr lang="en-US" dirty="0"/>
              <a:t>The results should be :</a:t>
            </a:r>
          </a:p>
          <a:p>
            <a:pPr lvl="1"/>
            <a:endParaRPr lang="en-US" dirty="0"/>
          </a:p>
        </p:txBody>
      </p:sp>
      <p:graphicFrame>
        <p:nvGraphicFramePr>
          <p:cNvPr id="3075" name="Object 3"/>
          <p:cNvGraphicFramePr>
            <a:graphicFrameLocks noChangeAspect="1"/>
          </p:cNvGraphicFramePr>
          <p:nvPr/>
        </p:nvGraphicFramePr>
        <p:xfrm>
          <a:off x="2095472" y="3071811"/>
          <a:ext cx="5810251" cy="428625"/>
        </p:xfrm>
        <a:graphic>
          <a:graphicData uri="http://schemas.openxmlformats.org/presentationml/2006/ole">
            <mc:AlternateContent xmlns:mc="http://schemas.openxmlformats.org/markup-compatibility/2006">
              <mc:Choice xmlns:v="urn:schemas-microsoft-com:vml" Requires="v">
                <p:oleObj spid="_x0000_s29070" name="Equation" r:id="rId3" imgW="914400" imgH="203200" progId="Equation.3">
                  <p:embed/>
                </p:oleObj>
              </mc:Choice>
              <mc:Fallback>
                <p:oleObj name="Equation" r:id="rId3" imgW="914400" imgH="203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5472" y="3071811"/>
                        <a:ext cx="5810251"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7" name="Object 5"/>
          <p:cNvGraphicFramePr>
            <a:graphicFrameLocks noChangeAspect="1"/>
          </p:cNvGraphicFramePr>
          <p:nvPr/>
        </p:nvGraphicFramePr>
        <p:xfrm>
          <a:off x="2063776" y="3643314"/>
          <a:ext cx="7747000" cy="428625"/>
        </p:xfrm>
        <a:graphic>
          <a:graphicData uri="http://schemas.openxmlformats.org/presentationml/2006/ole">
            <mc:AlternateContent xmlns:mc="http://schemas.openxmlformats.org/markup-compatibility/2006">
              <mc:Choice xmlns:v="urn:schemas-microsoft-com:vml" Requires="v">
                <p:oleObj spid="_x0000_s29071" name="Equation" r:id="rId5" imgW="1218671" imgH="203112" progId="Equation.3">
                  <p:embed/>
                </p:oleObj>
              </mc:Choice>
              <mc:Fallback>
                <p:oleObj name="Equation" r:id="rId5" imgW="1218671" imgH="203112"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3776" y="3643314"/>
                        <a:ext cx="7747000"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8" name="Object 6"/>
          <p:cNvGraphicFramePr>
            <a:graphicFrameLocks noChangeAspect="1"/>
          </p:cNvGraphicFramePr>
          <p:nvPr/>
        </p:nvGraphicFramePr>
        <p:xfrm>
          <a:off x="1223434" y="5000626"/>
          <a:ext cx="9683751" cy="428625"/>
        </p:xfrm>
        <a:graphic>
          <a:graphicData uri="http://schemas.openxmlformats.org/presentationml/2006/ole">
            <mc:AlternateContent xmlns:mc="http://schemas.openxmlformats.org/markup-compatibility/2006">
              <mc:Choice xmlns:v="urn:schemas-microsoft-com:vml" Requires="v">
                <p:oleObj spid="_x0000_s29072" name="Equation" r:id="rId7" imgW="1524000" imgH="203200" progId="Equation.3">
                  <p:embed/>
                </p:oleObj>
              </mc:Choice>
              <mc:Fallback>
                <p:oleObj name="Equation" r:id="rId7" imgW="1524000" imgH="203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23434" y="5000626"/>
                        <a:ext cx="9683751"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4492669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Addition of two Polynomials</a:t>
            </a:r>
            <a:endParaRPr lang="zh-CN" altLang="en-US" dirty="0"/>
          </a:p>
        </p:txBody>
      </p:sp>
      <p:sp>
        <p:nvSpPr>
          <p:cNvPr id="3" name="Content Placeholder 2"/>
          <p:cNvSpPr>
            <a:spLocks noGrp="1"/>
          </p:cNvSpPr>
          <p:nvPr>
            <p:ph idx="1"/>
          </p:nvPr>
        </p:nvSpPr>
        <p:spPr/>
        <p:txBody>
          <a:bodyPr>
            <a:normAutofit/>
          </a:bodyPr>
          <a:lstStyle/>
          <a:p>
            <a:r>
              <a:rPr lang="en-US" altLang="zh-CN" dirty="0"/>
              <a:t>Represent two polynomials in two linked lists l1 and l2 </a:t>
            </a:r>
          </a:p>
          <a:p>
            <a:r>
              <a:rPr lang="en-US" altLang="zh-CN" dirty="0"/>
              <a:t>Create a third empty linked list l3</a:t>
            </a:r>
          </a:p>
          <a:p>
            <a:r>
              <a:rPr lang="en-US" altLang="zh-CN" dirty="0"/>
              <a:t>Compare the items in l1 with the items in l2, If there is no item having the same exponent, append these items to the third list. If there are two items with the same exponent </a:t>
            </a:r>
            <a:r>
              <a:rPr lang="en-US" altLang="zh-CN" i="1" dirty="0"/>
              <a:t>exp</a:t>
            </a:r>
            <a:r>
              <a:rPr lang="en-US" altLang="zh-CN" dirty="0"/>
              <a:t> and coefficient coff1 and coff2,  append an item with exponent </a:t>
            </a:r>
            <a:r>
              <a:rPr lang="en-US" altLang="zh-CN" i="1" dirty="0"/>
              <a:t>exp</a:t>
            </a:r>
            <a:r>
              <a:rPr lang="en-US" altLang="zh-CN" dirty="0"/>
              <a:t> and coefficient </a:t>
            </a:r>
            <a:r>
              <a:rPr lang="en-US" altLang="zh-CN" i="1" dirty="0"/>
              <a:t>coff1+coff2</a:t>
            </a:r>
            <a:r>
              <a:rPr lang="en-US" altLang="zh-CN" dirty="0"/>
              <a:t> to l3</a:t>
            </a:r>
          </a:p>
          <a:p>
            <a:pPr marL="0" indent="0">
              <a:buNone/>
            </a:pPr>
            <a:endParaRPr lang="en-US" altLang="zh-CN" dirty="0"/>
          </a:p>
          <a:p>
            <a:endParaRPr lang="zh-CN" alt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3917754205"/>
              </p:ext>
            </p:extLst>
          </p:nvPr>
        </p:nvGraphicFramePr>
        <p:xfrm>
          <a:off x="3257550" y="3994150"/>
          <a:ext cx="381000" cy="527050"/>
        </p:xfrm>
        <a:graphic>
          <a:graphicData uri="http://schemas.openxmlformats.org/presentationml/2006/ole">
            <mc:AlternateContent xmlns:mc="http://schemas.openxmlformats.org/markup-compatibility/2006">
              <mc:Choice xmlns:v="urn:schemas-microsoft-com:vml" Requires="v">
                <p:oleObj spid="_x0000_s30768" name="Packager Shell Object" showAsIcon="1" r:id="rId3" imgW="381148" imgH="526962" progId="Package">
                  <p:embed/>
                </p:oleObj>
              </mc:Choice>
              <mc:Fallback>
                <p:oleObj name="Packager Shell Object" showAsIcon="1" r:id="rId3" imgW="381148" imgH="526962" progId="Package">
                  <p:embed/>
                  <p:pic>
                    <p:nvPicPr>
                      <p:cNvPr id="0" name=""/>
                      <p:cNvPicPr/>
                      <p:nvPr/>
                    </p:nvPicPr>
                    <p:blipFill>
                      <a:blip r:embed="rId4"/>
                      <a:stretch>
                        <a:fillRect/>
                      </a:stretch>
                    </p:blipFill>
                    <p:spPr>
                      <a:xfrm>
                        <a:off x="3257550" y="3994150"/>
                        <a:ext cx="381000" cy="527050"/>
                      </a:xfrm>
                      <a:prstGeom prst="rect">
                        <a:avLst/>
                      </a:prstGeom>
                    </p:spPr>
                  </p:pic>
                </p:oleObj>
              </mc:Fallback>
            </mc:AlternateContent>
          </a:graphicData>
        </a:graphic>
      </p:graphicFrame>
    </p:spTree>
    <p:extLst>
      <p:ext uri="{BB962C8B-B14F-4D97-AF65-F5344CB8AC3E}">
        <p14:creationId xmlns:p14="http://schemas.microsoft.com/office/powerpoint/2010/main" val="375546906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Subtraction of two polynomials</a:t>
            </a:r>
            <a:endParaRPr lang="en-US" dirty="0"/>
          </a:p>
        </p:txBody>
      </p:sp>
      <p:sp>
        <p:nvSpPr>
          <p:cNvPr id="3" name="Content Placeholder 2"/>
          <p:cNvSpPr>
            <a:spLocks noGrp="1"/>
          </p:cNvSpPr>
          <p:nvPr>
            <p:ph idx="1"/>
          </p:nvPr>
        </p:nvSpPr>
        <p:spPr/>
        <p:txBody>
          <a:bodyPr/>
          <a:lstStyle/>
          <a:p>
            <a:pPr>
              <a:buNone/>
            </a:pPr>
            <a:r>
              <a:rPr lang="en-US" dirty="0"/>
              <a:t>Example: </a:t>
            </a:r>
          </a:p>
          <a:p>
            <a:pPr>
              <a:buNone/>
            </a:pPr>
            <a:r>
              <a:rPr lang="en-US" dirty="0"/>
              <a:t>Subtraction of the following polynomials</a:t>
            </a:r>
          </a:p>
          <a:p>
            <a:pPr>
              <a:buNone/>
            </a:pPr>
            <a:endParaRPr lang="en-US" dirty="0"/>
          </a:p>
          <a:p>
            <a:pPr>
              <a:buNone/>
            </a:pPr>
            <a:endParaRPr lang="en-US" dirty="0"/>
          </a:p>
          <a:p>
            <a:pPr>
              <a:buNone/>
            </a:pPr>
            <a:endParaRPr lang="en-US" dirty="0"/>
          </a:p>
          <a:p>
            <a:pPr>
              <a:buNone/>
            </a:pPr>
            <a:r>
              <a:rPr lang="en-US" dirty="0"/>
              <a:t>The results should be :</a:t>
            </a:r>
          </a:p>
          <a:p>
            <a:pPr lvl="1"/>
            <a:endParaRPr lang="en-US" dirty="0"/>
          </a:p>
        </p:txBody>
      </p:sp>
      <p:graphicFrame>
        <p:nvGraphicFramePr>
          <p:cNvPr id="3075" name="Object 3"/>
          <p:cNvGraphicFramePr>
            <a:graphicFrameLocks noChangeAspect="1"/>
          </p:cNvGraphicFramePr>
          <p:nvPr/>
        </p:nvGraphicFramePr>
        <p:xfrm>
          <a:off x="2095472" y="3071811"/>
          <a:ext cx="5810251" cy="428625"/>
        </p:xfrm>
        <a:graphic>
          <a:graphicData uri="http://schemas.openxmlformats.org/presentationml/2006/ole">
            <mc:AlternateContent xmlns:mc="http://schemas.openxmlformats.org/markup-compatibility/2006">
              <mc:Choice xmlns:v="urn:schemas-microsoft-com:vml" Requires="v">
                <p:oleObj spid="_x0000_s30094" name="Equation" r:id="rId3" imgW="914400" imgH="203200" progId="Equation.3">
                  <p:embed/>
                </p:oleObj>
              </mc:Choice>
              <mc:Fallback>
                <p:oleObj name="Equation" r:id="rId3" imgW="914400" imgH="203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5472" y="3071811"/>
                        <a:ext cx="5810251"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7" name="Object 5"/>
          <p:cNvGraphicFramePr>
            <a:graphicFrameLocks noChangeAspect="1"/>
          </p:cNvGraphicFramePr>
          <p:nvPr/>
        </p:nvGraphicFramePr>
        <p:xfrm>
          <a:off x="2063776" y="3643314"/>
          <a:ext cx="7747000" cy="428625"/>
        </p:xfrm>
        <a:graphic>
          <a:graphicData uri="http://schemas.openxmlformats.org/presentationml/2006/ole">
            <mc:AlternateContent xmlns:mc="http://schemas.openxmlformats.org/markup-compatibility/2006">
              <mc:Choice xmlns:v="urn:schemas-microsoft-com:vml" Requires="v">
                <p:oleObj spid="_x0000_s30095" name="Equation" r:id="rId5" imgW="1218671" imgH="203112" progId="Equation.3">
                  <p:embed/>
                </p:oleObj>
              </mc:Choice>
              <mc:Fallback>
                <p:oleObj name="Equation" r:id="rId5" imgW="1218671" imgH="203112"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3776" y="3643314"/>
                        <a:ext cx="7747000"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8" name="Object 6"/>
          <p:cNvGraphicFramePr>
            <a:graphicFrameLocks noChangeAspect="1"/>
          </p:cNvGraphicFramePr>
          <p:nvPr>
            <p:extLst>
              <p:ext uri="{D42A27DB-BD31-4B8C-83A1-F6EECF244321}">
                <p14:modId xmlns:p14="http://schemas.microsoft.com/office/powerpoint/2010/main" val="2179686403"/>
              </p:ext>
            </p:extLst>
          </p:nvPr>
        </p:nvGraphicFramePr>
        <p:xfrm>
          <a:off x="1022352" y="5000626"/>
          <a:ext cx="10088033" cy="428625"/>
        </p:xfrm>
        <a:graphic>
          <a:graphicData uri="http://schemas.openxmlformats.org/presentationml/2006/ole">
            <mc:AlternateContent xmlns:mc="http://schemas.openxmlformats.org/markup-compatibility/2006">
              <mc:Choice xmlns:v="urn:schemas-microsoft-com:vml" Requires="v">
                <p:oleObj spid="_x0000_s30096" name="Equation" r:id="rId7" imgW="1587240" imgH="203040" progId="Equation.3">
                  <p:embed/>
                </p:oleObj>
              </mc:Choice>
              <mc:Fallback>
                <p:oleObj name="Equation" r:id="rId7" imgW="1587240" imgH="2030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2352" y="5000626"/>
                        <a:ext cx="10088033"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0443499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dirty="0"/>
              <a:t>Subtraction of two polynomials</a:t>
            </a:r>
            <a:endParaRPr lang="zh-CN" altLang="en-US" dirty="0"/>
          </a:p>
        </p:txBody>
      </p:sp>
      <p:sp>
        <p:nvSpPr>
          <p:cNvPr id="3" name="Content Placeholder 2"/>
          <p:cNvSpPr>
            <a:spLocks noGrp="1"/>
          </p:cNvSpPr>
          <p:nvPr>
            <p:ph idx="1"/>
          </p:nvPr>
        </p:nvSpPr>
        <p:spPr>
          <a:xfrm>
            <a:off x="1251678" y="1541417"/>
            <a:ext cx="10178322" cy="5180057"/>
          </a:xfrm>
        </p:spPr>
        <p:txBody>
          <a:bodyPr/>
          <a:lstStyle/>
          <a:p>
            <a:pPr marL="0" indent="0">
              <a:buNone/>
            </a:pPr>
            <a:r>
              <a:rPr lang="en-US" altLang="zh-CN" dirty="0"/>
              <a:t>f(x) and g(x) are two polynomials. In order to solve f(x)-g(x):</a:t>
            </a:r>
          </a:p>
          <a:p>
            <a:r>
              <a:rPr lang="en-US" altLang="zh-CN" dirty="0"/>
              <a:t>Represent two polynomials in two linked lists (l1 for f(x) and l2 for g(x)) </a:t>
            </a:r>
          </a:p>
          <a:p>
            <a:r>
              <a:rPr lang="en-US" altLang="zh-CN" dirty="0"/>
              <a:t>Create an empty linked lists l3 Negate the coefficient of all items in l2 and append these items to l3</a:t>
            </a:r>
          </a:p>
          <a:p>
            <a:r>
              <a:rPr lang="en-US" altLang="zh-CN" dirty="0"/>
              <a:t>Add l1 to l3 (Use algorithm: Addition of two polynomials)</a:t>
            </a:r>
          </a:p>
          <a:p>
            <a:endParaRPr lang="en-US" altLang="zh-CN" dirty="0"/>
          </a:p>
          <a:p>
            <a:endParaRPr lang="en-US" altLang="zh-CN" dirty="0"/>
          </a:p>
          <a:p>
            <a:endParaRPr lang="en-US" altLang="zh-CN" dirty="0"/>
          </a:p>
          <a:p>
            <a:pPr marL="0" indent="0">
              <a:buNone/>
            </a:pPr>
            <a:r>
              <a:rPr lang="en-US" b="1" dirty="0">
                <a:solidFill>
                  <a:srgbClr val="FF0000"/>
                </a:solidFill>
              </a:rPr>
              <a:t>Note: Write program for addition and subtraction of polynomials by your own</a:t>
            </a:r>
          </a:p>
          <a:p>
            <a:endParaRPr lang="zh-CN" altLang="en-US" dirty="0"/>
          </a:p>
        </p:txBody>
      </p:sp>
    </p:spTree>
    <p:extLst>
      <p:ext uri="{BB962C8B-B14F-4D97-AF65-F5344CB8AC3E}">
        <p14:creationId xmlns:p14="http://schemas.microsoft.com/office/powerpoint/2010/main" val="99985969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dirty="0"/>
              <a:t>Multiplication of two Polynomials</a:t>
            </a:r>
            <a:endParaRPr lang="zh-CN" altLang="en-US" dirty="0"/>
          </a:p>
        </p:txBody>
      </p:sp>
      <p:sp>
        <p:nvSpPr>
          <p:cNvPr id="3" name="Content Placeholder 2"/>
          <p:cNvSpPr>
            <a:spLocks noGrp="1"/>
          </p:cNvSpPr>
          <p:nvPr>
            <p:ph idx="1"/>
          </p:nvPr>
        </p:nvSpPr>
        <p:spPr/>
        <p:txBody>
          <a:bodyPr/>
          <a:lstStyle/>
          <a:p>
            <a:pPr marL="0" indent="0">
              <a:buNone/>
            </a:pPr>
            <a:r>
              <a:rPr lang="en-US" altLang="zh-CN" dirty="0"/>
              <a:t>f(x) and g(x) are two polynomials. In order to solve f(x)*g(x):</a:t>
            </a:r>
          </a:p>
          <a:p>
            <a:r>
              <a:rPr lang="en-US" altLang="zh-CN" dirty="0"/>
              <a:t>Represent two polynomials in two linked lists (l1 for f(x) and l2 for g(x)) </a:t>
            </a:r>
          </a:p>
          <a:p>
            <a:r>
              <a:rPr lang="en-US" altLang="zh-CN" dirty="0"/>
              <a:t>For each item i in l1, multiply i with l2 and store the result in a new list. Add all the new lists together. </a:t>
            </a:r>
          </a:p>
          <a:p>
            <a:r>
              <a:rPr lang="en-US" altLang="zh-CN" dirty="0"/>
              <a:t>To multiply an item i with a list l. You need to multiply i with each item in l and  store the results in a new list.</a:t>
            </a:r>
          </a:p>
          <a:p>
            <a:r>
              <a:rPr lang="en-US" altLang="zh-CN" dirty="0"/>
              <a:t>Multiply an item i (exp1, coff1)with an item j(exp2, coff2),  you get an item k (exp1+exp2, coff1*coff2)</a:t>
            </a:r>
          </a:p>
        </p:txBody>
      </p:sp>
    </p:spTree>
    <p:extLst>
      <p:ext uri="{BB962C8B-B14F-4D97-AF65-F5344CB8AC3E}">
        <p14:creationId xmlns:p14="http://schemas.microsoft.com/office/powerpoint/2010/main" val="296189978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11171" y="-296792"/>
            <a:ext cx="10972800" cy="1150374"/>
          </a:xfrm>
        </p:spPr>
        <p:txBody>
          <a:bodyPr>
            <a:noAutofit/>
          </a:bodyPr>
          <a:lstStyle/>
          <a:p>
            <a:r>
              <a:rPr lang="en-US" sz="3500" b="1" dirty="0"/>
              <a:t/>
            </a:r>
            <a:br>
              <a:rPr lang="en-US" sz="3500" b="1" dirty="0"/>
            </a:br>
            <a:r>
              <a:rPr lang="en-US" sz="3500" b="1" dirty="0"/>
              <a:t> </a:t>
            </a:r>
            <a:r>
              <a:rPr lang="en-US" sz="3500" b="1" dirty="0" smtClean="0"/>
              <a:t>Application of Linked list: Polynomial Manipulation. </a:t>
            </a:r>
            <a:r>
              <a:rPr lang="en-US" sz="3500" b="1" dirty="0"/>
              <a:t>	</a:t>
            </a:r>
          </a:p>
        </p:txBody>
      </p:sp>
      <p:sp>
        <p:nvSpPr>
          <p:cNvPr id="4" name="Content Placeholder 3"/>
          <p:cNvSpPr>
            <a:spLocks noGrp="1"/>
          </p:cNvSpPr>
          <p:nvPr>
            <p:ph idx="1"/>
          </p:nvPr>
        </p:nvSpPr>
        <p:spPr>
          <a:xfrm>
            <a:off x="762000" y="1268361"/>
            <a:ext cx="10972800" cy="4896466"/>
          </a:xfrm>
        </p:spPr>
        <p:txBody>
          <a:bodyPr>
            <a:normAutofit/>
          </a:bodyPr>
          <a:lstStyle/>
          <a:p>
            <a:r>
              <a:rPr lang="en-US" sz="2400" dirty="0" smtClean="0"/>
              <a:t>Polynomial Manipulation is one of the common application of linked list.</a:t>
            </a:r>
          </a:p>
          <a:p>
            <a:r>
              <a:rPr lang="en-US" sz="2400" dirty="0" smtClean="0">
                <a:effectLst/>
              </a:rPr>
              <a:t>Representing and performing various basic operations on polynomials.</a:t>
            </a:r>
          </a:p>
          <a:p>
            <a:r>
              <a:rPr lang="en-US" sz="2400" dirty="0" smtClean="0"/>
              <a:t>The basic structure of the linked list for polynomial manipulation is </a:t>
            </a:r>
          </a:p>
          <a:p>
            <a:endParaRPr lang="en-US" sz="2400" dirty="0" smtClean="0">
              <a:effectLst/>
            </a:endParaRPr>
          </a:p>
          <a:p>
            <a:pPr marL="0" indent="0">
              <a:buNone/>
            </a:pPr>
            <a:endParaRPr lang="en-US" sz="2400" dirty="0" smtClean="0"/>
          </a:p>
          <a:p>
            <a:pPr marL="0" indent="0">
              <a:buNone/>
            </a:pPr>
            <a:endParaRPr lang="en-US" sz="2400" dirty="0" smtClean="0">
              <a:effectLst/>
            </a:endParaRPr>
          </a:p>
          <a:p>
            <a:pPr marL="0" indent="0">
              <a:buNone/>
            </a:pPr>
            <a:endParaRPr lang="en-US" sz="2400" dirty="0"/>
          </a:p>
          <a:p>
            <a:pPr marL="0" indent="0">
              <a:buNone/>
            </a:pPr>
            <a:endParaRPr lang="en-US" sz="2400" dirty="0" smtClean="0">
              <a:effectLst/>
            </a:endParaRPr>
          </a:p>
          <a:p>
            <a:pPr marL="0" indent="0">
              <a:buNone/>
            </a:pPr>
            <a:endParaRPr lang="en-US" sz="2400" dirty="0" smtClean="0">
              <a:effectLst/>
            </a:endParaRPr>
          </a:p>
        </p:txBody>
      </p:sp>
      <p:sp>
        <p:nvSpPr>
          <p:cNvPr id="5" name="Rectangle 4"/>
          <p:cNvSpPr/>
          <p:nvPr/>
        </p:nvSpPr>
        <p:spPr>
          <a:xfrm>
            <a:off x="1011811" y="2759227"/>
            <a:ext cx="6096000" cy="1754326"/>
          </a:xfrm>
          <a:prstGeom prst="rect">
            <a:avLst/>
          </a:prstGeom>
        </p:spPr>
        <p:txBody>
          <a:bodyPr>
            <a:spAutoFit/>
          </a:bodyPr>
          <a:lstStyle/>
          <a:p>
            <a:r>
              <a:rPr lang="en-US" b="1" dirty="0"/>
              <a:t>// Structure representing a term in a polynomial</a:t>
            </a:r>
          </a:p>
          <a:p>
            <a:r>
              <a:rPr lang="en-US" b="1" dirty="0" err="1"/>
              <a:t>struct</a:t>
            </a:r>
            <a:r>
              <a:rPr lang="en-US" b="1" dirty="0"/>
              <a:t> Term {</a:t>
            </a:r>
          </a:p>
          <a:p>
            <a:r>
              <a:rPr lang="en-US" b="1" dirty="0"/>
              <a:t>    </a:t>
            </a:r>
            <a:r>
              <a:rPr lang="en-US" b="1" dirty="0" err="1"/>
              <a:t>int</a:t>
            </a:r>
            <a:r>
              <a:rPr lang="en-US" b="1" dirty="0"/>
              <a:t> coefficient;</a:t>
            </a:r>
          </a:p>
          <a:p>
            <a:r>
              <a:rPr lang="en-US" b="1" dirty="0"/>
              <a:t>    </a:t>
            </a:r>
            <a:r>
              <a:rPr lang="en-US" b="1" dirty="0" err="1"/>
              <a:t>int</a:t>
            </a:r>
            <a:r>
              <a:rPr lang="en-US" b="1" dirty="0"/>
              <a:t> exponent;</a:t>
            </a:r>
          </a:p>
          <a:p>
            <a:r>
              <a:rPr lang="en-US" b="1" dirty="0"/>
              <a:t>    </a:t>
            </a:r>
            <a:r>
              <a:rPr lang="en-US" b="1" dirty="0" err="1"/>
              <a:t>struct</a:t>
            </a:r>
            <a:r>
              <a:rPr lang="en-US" b="1" dirty="0"/>
              <a:t> Term* next;</a:t>
            </a:r>
          </a:p>
          <a:p>
            <a:r>
              <a:rPr lang="en-US" b="1" dirty="0"/>
              <a:t>};</a:t>
            </a:r>
          </a:p>
        </p:txBody>
      </p:sp>
    </p:spTree>
    <p:extLst>
      <p:ext uri="{BB962C8B-B14F-4D97-AF65-F5344CB8AC3E}">
        <p14:creationId xmlns:p14="http://schemas.microsoft.com/office/powerpoint/2010/main" val="53989265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11171" y="-296792"/>
            <a:ext cx="10972800" cy="1150374"/>
          </a:xfrm>
        </p:spPr>
        <p:txBody>
          <a:bodyPr>
            <a:noAutofit/>
          </a:bodyPr>
          <a:lstStyle/>
          <a:p>
            <a:r>
              <a:rPr lang="en-US" sz="3500" b="1" dirty="0"/>
              <a:t/>
            </a:r>
            <a:br>
              <a:rPr lang="en-US" sz="3500" b="1" dirty="0"/>
            </a:br>
            <a:r>
              <a:rPr lang="en-US" sz="3500" b="1" dirty="0"/>
              <a:t> </a:t>
            </a:r>
            <a:r>
              <a:rPr lang="en-US" sz="3500" b="1" dirty="0" smtClean="0"/>
              <a:t>Functions : Polynomial Manipulation . </a:t>
            </a:r>
            <a:r>
              <a:rPr lang="en-US" sz="3500" b="1" dirty="0"/>
              <a:t>	</a:t>
            </a:r>
          </a:p>
        </p:txBody>
      </p:sp>
      <p:sp>
        <p:nvSpPr>
          <p:cNvPr id="8" name="Rectangle 7"/>
          <p:cNvSpPr/>
          <p:nvPr/>
        </p:nvSpPr>
        <p:spPr>
          <a:xfrm>
            <a:off x="323654" y="691854"/>
            <a:ext cx="9781880" cy="2012859"/>
          </a:xfrm>
          <a:prstGeom prst="rect">
            <a:avLst/>
          </a:prstGeom>
        </p:spPr>
        <p:txBody>
          <a:bodyPr vert="horz" lIns="91438" tIns="45719" rIns="91438" bIns="45719" rtlCol="0">
            <a:normAutofit/>
          </a:bodyPr>
          <a:lstStyle/>
          <a:p>
            <a:pPr defTabSz="457189">
              <a:spcBef>
                <a:spcPct val="20000"/>
              </a:spcBef>
              <a:buFont typeface="Arial"/>
              <a:buNone/>
            </a:pPr>
            <a:r>
              <a:rPr lang="en-US" sz="2400" b="1" dirty="0"/>
              <a:t>Create node: </a:t>
            </a:r>
          </a:p>
          <a:p>
            <a:pPr marL="742932" lvl="1" indent="-285744" defTabSz="457189">
              <a:spcBef>
                <a:spcPct val="20000"/>
              </a:spcBef>
              <a:buFont typeface="Arial"/>
              <a:buChar char="–"/>
            </a:pPr>
            <a:r>
              <a:rPr lang="en-US" sz="2000" dirty="0"/>
              <a:t>Allocates memory for a new term using </a:t>
            </a:r>
            <a:r>
              <a:rPr lang="en-US" sz="2000" dirty="0" err="1"/>
              <a:t>malloc</a:t>
            </a:r>
            <a:r>
              <a:rPr lang="en-US" sz="2000" dirty="0"/>
              <a:t>.</a:t>
            </a:r>
          </a:p>
          <a:p>
            <a:pPr marL="742932" lvl="1" indent="-285744" defTabSz="457189">
              <a:spcBef>
                <a:spcPct val="20000"/>
              </a:spcBef>
              <a:buFont typeface="Arial"/>
              <a:buChar char="–"/>
            </a:pPr>
            <a:r>
              <a:rPr lang="en-US" sz="2000" dirty="0"/>
              <a:t>Initializes the coefficient and exponent fields with the provided data.</a:t>
            </a:r>
          </a:p>
          <a:p>
            <a:pPr marL="742932" lvl="1" indent="-285744" defTabSz="457189">
              <a:spcBef>
                <a:spcPct val="20000"/>
              </a:spcBef>
              <a:buFont typeface="Arial"/>
              <a:buChar char="–"/>
            </a:pPr>
            <a:r>
              <a:rPr lang="en-US" sz="2000" dirty="0"/>
              <a:t>Sets the next pointer to NULL.</a:t>
            </a:r>
          </a:p>
          <a:p>
            <a:pPr marL="742932" lvl="1" indent="-285744" defTabSz="457189">
              <a:spcBef>
                <a:spcPct val="20000"/>
              </a:spcBef>
              <a:buFont typeface="Arial"/>
              <a:buChar char="–"/>
            </a:pPr>
            <a:r>
              <a:rPr lang="en-US" sz="2000" dirty="0"/>
              <a:t>Returns a pointer to the newly created term.</a:t>
            </a:r>
          </a:p>
        </p:txBody>
      </p:sp>
      <p:sp>
        <p:nvSpPr>
          <p:cNvPr id="9" name="Rectangle 8"/>
          <p:cNvSpPr/>
          <p:nvPr/>
        </p:nvSpPr>
        <p:spPr>
          <a:xfrm>
            <a:off x="738433" y="2617926"/>
            <a:ext cx="6096000" cy="3693319"/>
          </a:xfrm>
          <a:prstGeom prst="rect">
            <a:avLst/>
          </a:prstGeom>
        </p:spPr>
        <p:txBody>
          <a:bodyPr>
            <a:spAutoFit/>
          </a:bodyPr>
          <a:lstStyle/>
          <a:p>
            <a:r>
              <a:rPr lang="en-US" b="1" dirty="0" err="1"/>
              <a:t>struct</a:t>
            </a:r>
            <a:r>
              <a:rPr lang="en-US" b="1" dirty="0"/>
              <a:t> Term* </a:t>
            </a:r>
            <a:r>
              <a:rPr lang="en-US" b="1" dirty="0" err="1"/>
              <a:t>createTerm</a:t>
            </a:r>
            <a:r>
              <a:rPr lang="en-US" b="1" dirty="0"/>
              <a:t>(</a:t>
            </a:r>
            <a:r>
              <a:rPr lang="en-US" b="1" dirty="0" err="1"/>
              <a:t>int</a:t>
            </a:r>
            <a:r>
              <a:rPr lang="en-US" b="1" dirty="0"/>
              <a:t> coefficient, </a:t>
            </a:r>
            <a:r>
              <a:rPr lang="en-US" b="1" dirty="0" err="1"/>
              <a:t>int</a:t>
            </a:r>
            <a:r>
              <a:rPr lang="en-US" b="1" dirty="0"/>
              <a:t> exponent) {</a:t>
            </a:r>
          </a:p>
          <a:p>
            <a:r>
              <a:rPr lang="en-US" b="1" dirty="0"/>
              <a:t>    </a:t>
            </a:r>
            <a:r>
              <a:rPr lang="en-US" b="1" dirty="0" err="1"/>
              <a:t>struct</a:t>
            </a:r>
            <a:r>
              <a:rPr lang="en-US" b="1" dirty="0"/>
              <a:t> Term* </a:t>
            </a:r>
            <a:r>
              <a:rPr lang="en-US" b="1" dirty="0" err="1"/>
              <a:t>newTerm</a:t>
            </a:r>
            <a:r>
              <a:rPr lang="en-US" b="1" dirty="0"/>
              <a:t> = (</a:t>
            </a:r>
            <a:r>
              <a:rPr lang="en-US" b="1" dirty="0" err="1"/>
              <a:t>struct</a:t>
            </a:r>
            <a:r>
              <a:rPr lang="en-US" b="1" dirty="0"/>
              <a:t> Term*)</a:t>
            </a:r>
            <a:r>
              <a:rPr lang="en-US" b="1" dirty="0" err="1"/>
              <a:t>malloc</a:t>
            </a:r>
            <a:r>
              <a:rPr lang="en-US" b="1" dirty="0"/>
              <a:t>(</a:t>
            </a:r>
            <a:r>
              <a:rPr lang="en-US" b="1" dirty="0" err="1"/>
              <a:t>sizeof</a:t>
            </a:r>
            <a:r>
              <a:rPr lang="en-US" b="1" dirty="0"/>
              <a:t>(</a:t>
            </a:r>
            <a:r>
              <a:rPr lang="en-US" b="1" dirty="0" err="1"/>
              <a:t>struct</a:t>
            </a:r>
            <a:r>
              <a:rPr lang="en-US" b="1" dirty="0"/>
              <a:t> Term));</a:t>
            </a:r>
          </a:p>
          <a:p>
            <a:r>
              <a:rPr lang="en-US" b="1" dirty="0"/>
              <a:t>    if (</a:t>
            </a:r>
            <a:r>
              <a:rPr lang="en-US" b="1" dirty="0" err="1"/>
              <a:t>newTerm</a:t>
            </a:r>
            <a:r>
              <a:rPr lang="en-US" b="1" dirty="0"/>
              <a:t> == NULL) {</a:t>
            </a:r>
          </a:p>
          <a:p>
            <a:r>
              <a:rPr lang="en-US" b="1" dirty="0"/>
              <a:t>        // Handle memory allocation failure</a:t>
            </a:r>
          </a:p>
          <a:p>
            <a:r>
              <a:rPr lang="en-US" b="1" dirty="0"/>
              <a:t>        </a:t>
            </a:r>
            <a:r>
              <a:rPr lang="en-US" b="1" dirty="0" err="1"/>
              <a:t>printf</a:t>
            </a:r>
            <a:r>
              <a:rPr lang="en-US" b="1" dirty="0"/>
              <a:t>("Memory allocation failed.\n");</a:t>
            </a:r>
          </a:p>
          <a:p>
            <a:r>
              <a:rPr lang="en-US" b="1" dirty="0"/>
              <a:t>        exit(EXIT_FAILURE);</a:t>
            </a:r>
          </a:p>
          <a:p>
            <a:r>
              <a:rPr lang="en-US" b="1" dirty="0"/>
              <a:t>    }</a:t>
            </a:r>
          </a:p>
          <a:p>
            <a:r>
              <a:rPr lang="en-US" b="1" dirty="0"/>
              <a:t>    </a:t>
            </a:r>
            <a:r>
              <a:rPr lang="en-US" b="1" dirty="0" err="1"/>
              <a:t>newTerm</a:t>
            </a:r>
            <a:r>
              <a:rPr lang="en-US" b="1" dirty="0"/>
              <a:t>-&gt;coefficient = coefficient;</a:t>
            </a:r>
          </a:p>
          <a:p>
            <a:r>
              <a:rPr lang="en-US" b="1" dirty="0"/>
              <a:t>    </a:t>
            </a:r>
            <a:r>
              <a:rPr lang="en-US" b="1" dirty="0" err="1"/>
              <a:t>newTerm</a:t>
            </a:r>
            <a:r>
              <a:rPr lang="en-US" b="1" dirty="0"/>
              <a:t>-&gt;exponent = exponent;</a:t>
            </a:r>
          </a:p>
          <a:p>
            <a:r>
              <a:rPr lang="en-US" b="1" dirty="0"/>
              <a:t>    </a:t>
            </a:r>
            <a:r>
              <a:rPr lang="en-US" b="1" dirty="0" err="1"/>
              <a:t>newTerm</a:t>
            </a:r>
            <a:r>
              <a:rPr lang="en-US" b="1" dirty="0"/>
              <a:t>-&gt;next = NULL;</a:t>
            </a:r>
          </a:p>
          <a:p>
            <a:r>
              <a:rPr lang="en-US" b="1" dirty="0"/>
              <a:t>    return </a:t>
            </a:r>
            <a:r>
              <a:rPr lang="en-US" b="1" dirty="0" err="1"/>
              <a:t>newTerm</a:t>
            </a:r>
            <a:r>
              <a:rPr lang="en-US" b="1" dirty="0"/>
              <a:t>;</a:t>
            </a:r>
          </a:p>
          <a:p>
            <a:r>
              <a:rPr lang="en-US" b="1" dirty="0"/>
              <a:t>}</a:t>
            </a:r>
          </a:p>
        </p:txBody>
      </p:sp>
    </p:spTree>
    <p:extLst>
      <p:ext uri="{BB962C8B-B14F-4D97-AF65-F5344CB8AC3E}">
        <p14:creationId xmlns:p14="http://schemas.microsoft.com/office/powerpoint/2010/main" val="412810910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11171" y="-296792"/>
            <a:ext cx="10972800" cy="1150374"/>
          </a:xfrm>
        </p:spPr>
        <p:txBody>
          <a:bodyPr>
            <a:noAutofit/>
          </a:bodyPr>
          <a:lstStyle/>
          <a:p>
            <a:r>
              <a:rPr lang="en-US" sz="3500" b="1" dirty="0"/>
              <a:t/>
            </a:r>
            <a:br>
              <a:rPr lang="en-US" sz="3500" b="1" dirty="0"/>
            </a:br>
            <a:r>
              <a:rPr lang="en-US" sz="3500" b="1" dirty="0"/>
              <a:t> </a:t>
            </a:r>
            <a:r>
              <a:rPr lang="en-US" sz="3500" b="1" dirty="0" smtClean="0"/>
              <a:t>Functions : Polynomial Manipulation . </a:t>
            </a:r>
            <a:r>
              <a:rPr lang="en-US" sz="3500" b="1" dirty="0"/>
              <a:t>	</a:t>
            </a:r>
          </a:p>
        </p:txBody>
      </p:sp>
      <p:sp>
        <p:nvSpPr>
          <p:cNvPr id="2" name="Rectangle 1"/>
          <p:cNvSpPr/>
          <p:nvPr/>
        </p:nvSpPr>
        <p:spPr>
          <a:xfrm>
            <a:off x="611171" y="853582"/>
            <a:ext cx="6096000" cy="1415772"/>
          </a:xfrm>
          <a:prstGeom prst="rect">
            <a:avLst/>
          </a:prstGeom>
        </p:spPr>
        <p:txBody>
          <a:bodyPr>
            <a:spAutoFit/>
          </a:bodyPr>
          <a:lstStyle/>
          <a:p>
            <a:pPr marL="285750" indent="-285750">
              <a:buFont typeface="Arial" panose="020B0604020202020204" pitchFamily="34" charset="0"/>
              <a:buChar char="•"/>
            </a:pPr>
            <a:r>
              <a:rPr lang="en-US" b="1" dirty="0">
                <a:solidFill>
                  <a:srgbClr val="374151"/>
                </a:solidFill>
                <a:latin typeface="Söhne"/>
              </a:rPr>
              <a:t>Add Term:</a:t>
            </a:r>
            <a:endParaRPr lang="en-US" dirty="0">
              <a:solidFill>
                <a:srgbClr val="374151"/>
              </a:solidFill>
              <a:latin typeface="Söhne"/>
            </a:endParaRPr>
          </a:p>
          <a:p>
            <a:pPr marL="742932" lvl="1" indent="-285744" defTabSz="457189">
              <a:spcBef>
                <a:spcPct val="20000"/>
              </a:spcBef>
              <a:buFont typeface="Arial"/>
              <a:buChar char="–"/>
            </a:pPr>
            <a:r>
              <a:rPr lang="en-US" sz="2000" dirty="0"/>
              <a:t> Adds a new term to a polynomial.</a:t>
            </a:r>
          </a:p>
          <a:p>
            <a:pPr marL="742932" lvl="1" indent="-285744" defTabSz="457189">
              <a:spcBef>
                <a:spcPct val="20000"/>
              </a:spcBef>
              <a:buFont typeface="Arial"/>
              <a:buChar char="–"/>
            </a:pPr>
            <a:r>
              <a:rPr lang="en-US" sz="2000" dirty="0"/>
              <a:t>If the polynomial is empty, sets the new term as the head.</a:t>
            </a:r>
          </a:p>
        </p:txBody>
      </p:sp>
      <p:sp>
        <p:nvSpPr>
          <p:cNvPr id="4" name="Rectangle 3"/>
          <p:cNvSpPr/>
          <p:nvPr/>
        </p:nvSpPr>
        <p:spPr>
          <a:xfrm>
            <a:off x="766714" y="2269354"/>
            <a:ext cx="6096000" cy="3970318"/>
          </a:xfrm>
          <a:prstGeom prst="rect">
            <a:avLst/>
          </a:prstGeom>
        </p:spPr>
        <p:txBody>
          <a:bodyPr>
            <a:spAutoFit/>
          </a:bodyPr>
          <a:lstStyle/>
          <a:p>
            <a:r>
              <a:rPr lang="en-US" b="1" dirty="0"/>
              <a:t>void </a:t>
            </a:r>
            <a:r>
              <a:rPr lang="en-US" b="1" dirty="0" err="1"/>
              <a:t>addTerm</a:t>
            </a:r>
            <a:r>
              <a:rPr lang="en-US" b="1" dirty="0"/>
              <a:t>(</a:t>
            </a:r>
            <a:r>
              <a:rPr lang="en-US" b="1" dirty="0" err="1"/>
              <a:t>struct</a:t>
            </a:r>
            <a:r>
              <a:rPr lang="en-US" b="1" dirty="0"/>
              <a:t> Term** poly, </a:t>
            </a:r>
            <a:r>
              <a:rPr lang="en-US" b="1" dirty="0" err="1"/>
              <a:t>int</a:t>
            </a:r>
            <a:r>
              <a:rPr lang="en-US" b="1" dirty="0"/>
              <a:t> coefficient, </a:t>
            </a:r>
            <a:r>
              <a:rPr lang="en-US" b="1" dirty="0" err="1"/>
              <a:t>int</a:t>
            </a:r>
            <a:r>
              <a:rPr lang="en-US" b="1" dirty="0"/>
              <a:t> exponent) {</a:t>
            </a:r>
          </a:p>
          <a:p>
            <a:r>
              <a:rPr lang="en-US" b="1" dirty="0"/>
              <a:t>    </a:t>
            </a:r>
            <a:r>
              <a:rPr lang="en-US" b="1" dirty="0" err="1"/>
              <a:t>struct</a:t>
            </a:r>
            <a:r>
              <a:rPr lang="en-US" b="1" dirty="0"/>
              <a:t> Term* </a:t>
            </a:r>
            <a:r>
              <a:rPr lang="en-US" b="1" dirty="0" err="1"/>
              <a:t>newTerm</a:t>
            </a:r>
            <a:r>
              <a:rPr lang="en-US" b="1" dirty="0"/>
              <a:t> = </a:t>
            </a:r>
            <a:r>
              <a:rPr lang="en-US" b="1" dirty="0" err="1"/>
              <a:t>createTerm</a:t>
            </a:r>
            <a:r>
              <a:rPr lang="en-US" b="1" dirty="0"/>
              <a:t>(coefficient, exponent);</a:t>
            </a:r>
          </a:p>
          <a:p>
            <a:endParaRPr lang="en-US" b="1" dirty="0"/>
          </a:p>
          <a:p>
            <a:r>
              <a:rPr lang="en-US" b="1" dirty="0"/>
              <a:t>    if (*poly == NULL) {</a:t>
            </a:r>
          </a:p>
          <a:p>
            <a:r>
              <a:rPr lang="en-US" b="1" dirty="0"/>
              <a:t>        *poly = </a:t>
            </a:r>
            <a:r>
              <a:rPr lang="en-US" b="1" dirty="0" err="1"/>
              <a:t>newTerm</a:t>
            </a:r>
            <a:r>
              <a:rPr lang="en-US" b="1" dirty="0"/>
              <a:t>;</a:t>
            </a:r>
          </a:p>
          <a:p>
            <a:r>
              <a:rPr lang="en-US" b="1" dirty="0"/>
              <a:t>    } else {</a:t>
            </a:r>
          </a:p>
          <a:p>
            <a:r>
              <a:rPr lang="en-US" b="1" dirty="0"/>
              <a:t>        </a:t>
            </a:r>
            <a:r>
              <a:rPr lang="en-US" b="1" dirty="0" err="1"/>
              <a:t>struct</a:t>
            </a:r>
            <a:r>
              <a:rPr lang="en-US" b="1" dirty="0"/>
              <a:t> Term* temp = *poly;</a:t>
            </a:r>
          </a:p>
          <a:p>
            <a:r>
              <a:rPr lang="en-US" b="1" dirty="0"/>
              <a:t>        while (temp-&gt;next != NULL) {</a:t>
            </a:r>
          </a:p>
          <a:p>
            <a:r>
              <a:rPr lang="en-US" b="1" dirty="0"/>
              <a:t>            temp = temp-&gt;next;</a:t>
            </a:r>
          </a:p>
          <a:p>
            <a:r>
              <a:rPr lang="en-US" b="1" dirty="0"/>
              <a:t>        }</a:t>
            </a:r>
          </a:p>
          <a:p>
            <a:r>
              <a:rPr lang="en-US" b="1" dirty="0"/>
              <a:t>        temp-&gt;next = </a:t>
            </a:r>
            <a:r>
              <a:rPr lang="en-US" b="1" dirty="0" err="1"/>
              <a:t>newTerm</a:t>
            </a:r>
            <a:r>
              <a:rPr lang="en-US" b="1" dirty="0"/>
              <a:t>;</a:t>
            </a:r>
          </a:p>
          <a:p>
            <a:r>
              <a:rPr lang="en-US" b="1" dirty="0"/>
              <a:t>    }</a:t>
            </a:r>
          </a:p>
          <a:p>
            <a:r>
              <a:rPr lang="en-US" b="1" dirty="0"/>
              <a:t>}</a:t>
            </a:r>
          </a:p>
        </p:txBody>
      </p:sp>
    </p:spTree>
    <p:extLst>
      <p:ext uri="{BB962C8B-B14F-4D97-AF65-F5344CB8AC3E}">
        <p14:creationId xmlns:p14="http://schemas.microsoft.com/office/powerpoint/2010/main" val="392883504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11171" y="-296792"/>
            <a:ext cx="10972800" cy="1150374"/>
          </a:xfrm>
        </p:spPr>
        <p:txBody>
          <a:bodyPr>
            <a:noAutofit/>
          </a:bodyPr>
          <a:lstStyle/>
          <a:p>
            <a:r>
              <a:rPr lang="en-US" sz="3500" b="1" dirty="0"/>
              <a:t/>
            </a:r>
            <a:br>
              <a:rPr lang="en-US" sz="3500" b="1" dirty="0"/>
            </a:br>
            <a:r>
              <a:rPr lang="en-US" sz="3500" b="1" dirty="0"/>
              <a:t> </a:t>
            </a:r>
            <a:r>
              <a:rPr lang="en-US" sz="3500" b="1" dirty="0" smtClean="0"/>
              <a:t>Functions : Polynomial Manipulation . </a:t>
            </a:r>
            <a:r>
              <a:rPr lang="en-US" sz="3500" b="1" dirty="0"/>
              <a:t>	</a:t>
            </a:r>
          </a:p>
        </p:txBody>
      </p:sp>
      <p:sp>
        <p:nvSpPr>
          <p:cNvPr id="5" name="Rectangle 4"/>
          <p:cNvSpPr/>
          <p:nvPr/>
        </p:nvSpPr>
        <p:spPr>
          <a:xfrm>
            <a:off x="0" y="853582"/>
            <a:ext cx="6096000" cy="1415772"/>
          </a:xfrm>
          <a:prstGeom prst="rect">
            <a:avLst/>
          </a:prstGeom>
        </p:spPr>
        <p:txBody>
          <a:bodyPr>
            <a:spAutoFit/>
          </a:bodyPr>
          <a:lstStyle/>
          <a:p>
            <a:pPr marL="285750" indent="-285750">
              <a:buFont typeface="Arial" panose="020B0604020202020204" pitchFamily="34" charset="0"/>
              <a:buChar char="•"/>
            </a:pPr>
            <a:r>
              <a:rPr lang="en-US" b="1" dirty="0">
                <a:solidFill>
                  <a:srgbClr val="374151"/>
                </a:solidFill>
                <a:latin typeface="Söhne"/>
              </a:rPr>
              <a:t>Add Polynomials:</a:t>
            </a:r>
            <a:endParaRPr lang="en-US" dirty="0">
              <a:solidFill>
                <a:srgbClr val="374151"/>
              </a:solidFill>
              <a:latin typeface="Söhne"/>
            </a:endParaRPr>
          </a:p>
          <a:p>
            <a:pPr marL="742932" lvl="1" indent="-285744" defTabSz="457189">
              <a:spcBef>
                <a:spcPct val="20000"/>
              </a:spcBef>
              <a:buFont typeface="Arial"/>
              <a:buChar char="–"/>
            </a:pPr>
            <a:r>
              <a:rPr lang="en-US" sz="2000" dirty="0"/>
              <a:t>Adds two polynomials and returns the result.</a:t>
            </a:r>
          </a:p>
          <a:p>
            <a:pPr marL="742932" lvl="1" indent="-285744" defTabSz="457189">
              <a:spcBef>
                <a:spcPct val="20000"/>
              </a:spcBef>
              <a:buFont typeface="Arial"/>
              <a:buChar char="–"/>
            </a:pPr>
            <a:r>
              <a:rPr lang="en-US" sz="2000" dirty="0"/>
              <a:t>Iterates through both polynomials, adding corresponding terms.</a:t>
            </a:r>
          </a:p>
        </p:txBody>
      </p:sp>
      <p:sp>
        <p:nvSpPr>
          <p:cNvPr id="6" name="Rectangle 5"/>
          <p:cNvSpPr/>
          <p:nvPr/>
        </p:nvSpPr>
        <p:spPr>
          <a:xfrm>
            <a:off x="5668651" y="1145812"/>
            <a:ext cx="6096000" cy="5355312"/>
          </a:xfrm>
          <a:prstGeom prst="rect">
            <a:avLst/>
          </a:prstGeom>
        </p:spPr>
        <p:txBody>
          <a:bodyPr>
            <a:spAutoFit/>
          </a:bodyPr>
          <a:lstStyle/>
          <a:p>
            <a:r>
              <a:rPr lang="en-US" b="1" dirty="0" err="1"/>
              <a:t>struct</a:t>
            </a:r>
            <a:r>
              <a:rPr lang="en-US" b="1" dirty="0"/>
              <a:t> Term* </a:t>
            </a:r>
            <a:r>
              <a:rPr lang="en-US" b="1" dirty="0" err="1"/>
              <a:t>addPolynomials</a:t>
            </a:r>
            <a:r>
              <a:rPr lang="en-US" b="1" dirty="0"/>
              <a:t>(</a:t>
            </a:r>
            <a:r>
              <a:rPr lang="en-US" b="1" dirty="0" err="1"/>
              <a:t>struct</a:t>
            </a:r>
            <a:r>
              <a:rPr lang="en-US" b="1" dirty="0"/>
              <a:t> Term* poly1, </a:t>
            </a:r>
            <a:r>
              <a:rPr lang="en-US" b="1" dirty="0" err="1"/>
              <a:t>struct</a:t>
            </a:r>
            <a:r>
              <a:rPr lang="en-US" b="1" dirty="0"/>
              <a:t> Term* poly2) {</a:t>
            </a:r>
          </a:p>
          <a:p>
            <a:r>
              <a:rPr lang="en-US" b="1" dirty="0"/>
              <a:t>    </a:t>
            </a:r>
            <a:r>
              <a:rPr lang="en-US" b="1" dirty="0" err="1"/>
              <a:t>struct</a:t>
            </a:r>
            <a:r>
              <a:rPr lang="en-US" b="1" dirty="0"/>
              <a:t> Term* result = NULL;</a:t>
            </a:r>
          </a:p>
          <a:p>
            <a:endParaRPr lang="en-US" b="1" dirty="0"/>
          </a:p>
          <a:p>
            <a:r>
              <a:rPr lang="en-US" b="1" dirty="0"/>
              <a:t>    while (poly1 != NULL || poly2 != NULL) {</a:t>
            </a:r>
          </a:p>
          <a:p>
            <a:r>
              <a:rPr lang="en-US" b="1" dirty="0"/>
              <a:t>        </a:t>
            </a:r>
            <a:r>
              <a:rPr lang="en-US" b="1" dirty="0" err="1"/>
              <a:t>int</a:t>
            </a:r>
            <a:r>
              <a:rPr lang="en-US" b="1" dirty="0"/>
              <a:t> coef1 = (poly1 != NULL) ? poly1-&gt;coefficient : 0;</a:t>
            </a:r>
          </a:p>
          <a:p>
            <a:r>
              <a:rPr lang="en-US" b="1" dirty="0"/>
              <a:t>        </a:t>
            </a:r>
            <a:r>
              <a:rPr lang="en-US" b="1" dirty="0" err="1"/>
              <a:t>int</a:t>
            </a:r>
            <a:r>
              <a:rPr lang="en-US" b="1" dirty="0"/>
              <a:t> coef2 = (poly2 != NULL) ? poly2-&gt;coefficient : 0;</a:t>
            </a:r>
          </a:p>
          <a:p>
            <a:r>
              <a:rPr lang="en-US" b="1" dirty="0"/>
              <a:t>        </a:t>
            </a:r>
            <a:r>
              <a:rPr lang="en-US" b="1" dirty="0" err="1"/>
              <a:t>int</a:t>
            </a:r>
            <a:r>
              <a:rPr lang="en-US" b="1" dirty="0"/>
              <a:t> exp1 = (poly1 != NULL) ? poly1-&gt;exponent : 0;</a:t>
            </a:r>
          </a:p>
          <a:p>
            <a:r>
              <a:rPr lang="en-US" b="1" dirty="0"/>
              <a:t>        </a:t>
            </a:r>
            <a:r>
              <a:rPr lang="en-US" b="1" dirty="0" err="1"/>
              <a:t>int</a:t>
            </a:r>
            <a:r>
              <a:rPr lang="en-US" b="1" dirty="0"/>
              <a:t> exp2 = (poly2 != NULL) ? poly2-&gt;exponent : 0;</a:t>
            </a:r>
          </a:p>
          <a:p>
            <a:endParaRPr lang="en-US" b="1" dirty="0"/>
          </a:p>
          <a:p>
            <a:r>
              <a:rPr lang="en-US" b="1" dirty="0"/>
              <a:t>        </a:t>
            </a:r>
            <a:r>
              <a:rPr lang="en-US" b="1" dirty="0" err="1"/>
              <a:t>int</a:t>
            </a:r>
            <a:r>
              <a:rPr lang="en-US" b="1" dirty="0"/>
              <a:t> </a:t>
            </a:r>
            <a:r>
              <a:rPr lang="en-US" b="1" dirty="0" err="1"/>
              <a:t>sum_coef</a:t>
            </a:r>
            <a:r>
              <a:rPr lang="en-US" b="1" dirty="0"/>
              <a:t> = coef1 + coef2;</a:t>
            </a:r>
          </a:p>
          <a:p>
            <a:r>
              <a:rPr lang="en-US" b="1" dirty="0"/>
              <a:t>        </a:t>
            </a:r>
            <a:r>
              <a:rPr lang="en-US" b="1" dirty="0" err="1"/>
              <a:t>addTerm</a:t>
            </a:r>
            <a:r>
              <a:rPr lang="en-US" b="1" dirty="0"/>
              <a:t>(&amp;result, </a:t>
            </a:r>
            <a:r>
              <a:rPr lang="en-US" b="1" dirty="0" err="1"/>
              <a:t>sum_coef</a:t>
            </a:r>
            <a:r>
              <a:rPr lang="en-US" b="1" dirty="0"/>
              <a:t>, exp1);</a:t>
            </a:r>
          </a:p>
          <a:p>
            <a:endParaRPr lang="en-US" b="1" dirty="0"/>
          </a:p>
          <a:p>
            <a:r>
              <a:rPr lang="en-US" b="1" dirty="0"/>
              <a:t>        if (poly1 != NULL) poly1 = poly1-&gt;next;</a:t>
            </a:r>
          </a:p>
          <a:p>
            <a:r>
              <a:rPr lang="en-US" b="1" dirty="0"/>
              <a:t>        if (poly2 != NULL) poly2 = poly2-&gt;next;</a:t>
            </a:r>
          </a:p>
          <a:p>
            <a:r>
              <a:rPr lang="en-US" b="1" dirty="0"/>
              <a:t>    }</a:t>
            </a:r>
          </a:p>
          <a:p>
            <a:endParaRPr lang="en-US" b="1" dirty="0"/>
          </a:p>
          <a:p>
            <a:r>
              <a:rPr lang="en-US" b="1" dirty="0"/>
              <a:t>    return result;</a:t>
            </a:r>
          </a:p>
          <a:p>
            <a:r>
              <a:rPr lang="en-US" b="1" dirty="0"/>
              <a:t>}</a:t>
            </a:r>
          </a:p>
        </p:txBody>
      </p:sp>
    </p:spTree>
    <p:extLst>
      <p:ext uri="{BB962C8B-B14F-4D97-AF65-F5344CB8AC3E}">
        <p14:creationId xmlns:p14="http://schemas.microsoft.com/office/powerpoint/2010/main" val="419364999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11171" y="-296792"/>
            <a:ext cx="10972800" cy="1150374"/>
          </a:xfrm>
        </p:spPr>
        <p:txBody>
          <a:bodyPr>
            <a:noAutofit/>
          </a:bodyPr>
          <a:lstStyle/>
          <a:p>
            <a:r>
              <a:rPr lang="en-US" sz="3500" b="1" dirty="0"/>
              <a:t/>
            </a:r>
            <a:br>
              <a:rPr lang="en-US" sz="3500" b="1" dirty="0"/>
            </a:br>
            <a:r>
              <a:rPr lang="en-US" sz="3500" b="1" dirty="0"/>
              <a:t> </a:t>
            </a:r>
            <a:r>
              <a:rPr lang="en-US" sz="3500" b="1" dirty="0" smtClean="0"/>
              <a:t>Functions : Polynomial Manipulation . </a:t>
            </a:r>
            <a:r>
              <a:rPr lang="en-US" sz="3500" b="1" dirty="0"/>
              <a:t>	</a:t>
            </a:r>
          </a:p>
        </p:txBody>
      </p:sp>
      <p:sp>
        <p:nvSpPr>
          <p:cNvPr id="5" name="Rectangle 4"/>
          <p:cNvSpPr/>
          <p:nvPr/>
        </p:nvSpPr>
        <p:spPr>
          <a:xfrm>
            <a:off x="83270" y="853582"/>
            <a:ext cx="9343534" cy="1846659"/>
          </a:xfrm>
          <a:prstGeom prst="rect">
            <a:avLst/>
          </a:prstGeom>
        </p:spPr>
        <p:txBody>
          <a:bodyPr wrap="square">
            <a:spAutoFit/>
          </a:bodyPr>
          <a:lstStyle/>
          <a:p>
            <a:pPr marL="285750" indent="-285750">
              <a:buFont typeface="Arial" panose="020B0604020202020204" pitchFamily="34" charset="0"/>
              <a:buChar char="•"/>
            </a:pPr>
            <a:r>
              <a:rPr lang="en-US" b="1" dirty="0">
                <a:solidFill>
                  <a:srgbClr val="374151"/>
                </a:solidFill>
                <a:latin typeface="Söhne"/>
              </a:rPr>
              <a:t>Display </a:t>
            </a:r>
            <a:r>
              <a:rPr lang="en-US" b="1" dirty="0" smtClean="0">
                <a:solidFill>
                  <a:srgbClr val="374151"/>
                </a:solidFill>
                <a:latin typeface="Söhne"/>
              </a:rPr>
              <a:t>Polynomial:</a:t>
            </a:r>
          </a:p>
          <a:p>
            <a:pPr marL="742932" lvl="1" indent="-285744" defTabSz="457189">
              <a:spcBef>
                <a:spcPct val="20000"/>
              </a:spcBef>
              <a:buFont typeface="Arial"/>
              <a:buChar char="–"/>
            </a:pPr>
            <a:r>
              <a:rPr lang="en-US" sz="2000" dirty="0"/>
              <a:t>Displays the elements of a polynomial.</a:t>
            </a:r>
          </a:p>
          <a:p>
            <a:pPr marL="742932" lvl="1" indent="-285744" defTabSz="457189">
              <a:spcBef>
                <a:spcPct val="20000"/>
              </a:spcBef>
              <a:buFont typeface="Arial"/>
              <a:buChar char="–"/>
            </a:pPr>
            <a:r>
              <a:rPr lang="en-US" sz="2000" dirty="0"/>
              <a:t>Prints each term's coefficient and exponent.</a:t>
            </a:r>
          </a:p>
          <a:p>
            <a:pPr marL="742932" lvl="1" indent="-285744" defTabSz="457189">
              <a:spcBef>
                <a:spcPct val="20000"/>
              </a:spcBef>
              <a:buFont typeface="Arial"/>
              <a:buChar char="–"/>
            </a:pPr>
            <a:r>
              <a:rPr lang="en-US" sz="2000" dirty="0"/>
              <a:t>Adds a plus sign between </a:t>
            </a:r>
            <a:endParaRPr lang="en-US" sz="2000" dirty="0" smtClean="0"/>
          </a:p>
          <a:p>
            <a:pPr marL="457188" lvl="1" defTabSz="457189">
              <a:spcBef>
                <a:spcPct val="20000"/>
              </a:spcBef>
            </a:pPr>
            <a:r>
              <a:rPr lang="en-US" sz="2000" dirty="0" smtClean="0"/>
              <a:t>terms </a:t>
            </a:r>
            <a:r>
              <a:rPr lang="en-US" sz="2000" dirty="0"/>
              <a:t>for better readability.</a:t>
            </a:r>
          </a:p>
        </p:txBody>
      </p:sp>
      <p:sp>
        <p:nvSpPr>
          <p:cNvPr id="6" name="Rectangle 5"/>
          <p:cNvSpPr/>
          <p:nvPr/>
        </p:nvSpPr>
        <p:spPr>
          <a:xfrm>
            <a:off x="5649798" y="1155240"/>
            <a:ext cx="6096000" cy="5078313"/>
          </a:xfrm>
          <a:prstGeom prst="rect">
            <a:avLst/>
          </a:prstGeom>
        </p:spPr>
        <p:txBody>
          <a:bodyPr>
            <a:spAutoFit/>
          </a:bodyPr>
          <a:lstStyle/>
          <a:p>
            <a:r>
              <a:rPr lang="en-US" b="1" dirty="0"/>
              <a:t>void </a:t>
            </a:r>
            <a:r>
              <a:rPr lang="en-US" b="1" dirty="0" err="1"/>
              <a:t>displayPolynomial</a:t>
            </a:r>
            <a:r>
              <a:rPr lang="en-US" b="1" dirty="0"/>
              <a:t>(</a:t>
            </a:r>
            <a:r>
              <a:rPr lang="en-US" b="1" dirty="0" err="1"/>
              <a:t>struct</a:t>
            </a:r>
            <a:r>
              <a:rPr lang="en-US" b="1" dirty="0"/>
              <a:t> Term* poly) {</a:t>
            </a:r>
          </a:p>
          <a:p>
            <a:r>
              <a:rPr lang="en-US" b="1" dirty="0"/>
              <a:t>    if (poly == NULL) {</a:t>
            </a:r>
          </a:p>
          <a:p>
            <a:r>
              <a:rPr lang="en-US" b="1" dirty="0"/>
              <a:t>        </a:t>
            </a:r>
            <a:r>
              <a:rPr lang="en-US" b="1" dirty="0" err="1"/>
              <a:t>printf</a:t>
            </a:r>
            <a:r>
              <a:rPr lang="en-US" b="1" dirty="0"/>
              <a:t>("Polynomial is empty.\n");</a:t>
            </a:r>
          </a:p>
          <a:p>
            <a:r>
              <a:rPr lang="en-US" b="1" dirty="0"/>
              <a:t>        return;</a:t>
            </a:r>
          </a:p>
          <a:p>
            <a:r>
              <a:rPr lang="en-US" b="1" dirty="0"/>
              <a:t>    }</a:t>
            </a:r>
          </a:p>
          <a:p>
            <a:endParaRPr lang="en-US" b="1" dirty="0"/>
          </a:p>
          <a:p>
            <a:r>
              <a:rPr lang="en-US" b="1" dirty="0"/>
              <a:t>    while (poly != NULL) {</a:t>
            </a:r>
          </a:p>
          <a:p>
            <a:r>
              <a:rPr lang="en-US" b="1" dirty="0"/>
              <a:t>        </a:t>
            </a:r>
            <a:r>
              <a:rPr lang="en-US" b="1" dirty="0" err="1"/>
              <a:t>printf</a:t>
            </a:r>
            <a:r>
              <a:rPr lang="en-US" b="1" dirty="0"/>
              <a:t>("%dx^%d", poly-&gt;coefficient, poly-&gt;exponent);</a:t>
            </a:r>
          </a:p>
          <a:p>
            <a:endParaRPr lang="en-US" b="1" dirty="0"/>
          </a:p>
          <a:p>
            <a:r>
              <a:rPr lang="en-US" b="1" dirty="0"/>
              <a:t>        if (poly-&gt;next != NULL) {</a:t>
            </a:r>
          </a:p>
          <a:p>
            <a:r>
              <a:rPr lang="en-US" b="1" dirty="0"/>
              <a:t>            </a:t>
            </a:r>
            <a:r>
              <a:rPr lang="en-US" b="1" dirty="0" err="1"/>
              <a:t>printf</a:t>
            </a:r>
            <a:r>
              <a:rPr lang="en-US" b="1" dirty="0"/>
              <a:t>(" + ");</a:t>
            </a:r>
          </a:p>
          <a:p>
            <a:r>
              <a:rPr lang="en-US" b="1" dirty="0"/>
              <a:t>        }</a:t>
            </a:r>
          </a:p>
          <a:p>
            <a:endParaRPr lang="en-US" b="1" dirty="0"/>
          </a:p>
          <a:p>
            <a:r>
              <a:rPr lang="en-US" b="1" dirty="0"/>
              <a:t>        poly = poly-&gt;next;</a:t>
            </a:r>
          </a:p>
          <a:p>
            <a:r>
              <a:rPr lang="en-US" b="1" dirty="0"/>
              <a:t>    }</a:t>
            </a:r>
          </a:p>
          <a:p>
            <a:endParaRPr lang="en-US" b="1" dirty="0"/>
          </a:p>
          <a:p>
            <a:r>
              <a:rPr lang="en-US" b="1" dirty="0"/>
              <a:t>    </a:t>
            </a:r>
            <a:r>
              <a:rPr lang="en-US" b="1" dirty="0" err="1"/>
              <a:t>printf</a:t>
            </a:r>
            <a:r>
              <a:rPr lang="en-US" b="1" dirty="0"/>
              <a:t>("\n");</a:t>
            </a:r>
          </a:p>
          <a:p>
            <a:r>
              <a:rPr lang="en-US" b="1" dirty="0"/>
              <a:t>}</a:t>
            </a:r>
          </a:p>
        </p:txBody>
      </p:sp>
    </p:spTree>
    <p:extLst>
      <p:ext uri="{BB962C8B-B14F-4D97-AF65-F5344CB8AC3E}">
        <p14:creationId xmlns:p14="http://schemas.microsoft.com/office/powerpoint/2010/main" val="50131129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Merging of two sorted linked list</a:t>
            </a:r>
            <a:endParaRPr lang="en-US" dirty="0"/>
          </a:p>
        </p:txBody>
      </p:sp>
      <p:sp>
        <p:nvSpPr>
          <p:cNvPr id="3" name="Content Placeholder 2"/>
          <p:cNvSpPr>
            <a:spLocks noGrp="1"/>
          </p:cNvSpPr>
          <p:nvPr>
            <p:ph idx="1"/>
          </p:nvPr>
        </p:nvSpPr>
        <p:spPr>
          <a:xfrm>
            <a:off x="1251678" y="1895475"/>
            <a:ext cx="10178322" cy="4826000"/>
          </a:xfrm>
        </p:spPr>
        <p:txBody>
          <a:bodyPr/>
          <a:lstStyle/>
          <a:p>
            <a:endParaRPr lang="en-US" dirty="0" smtClean="0"/>
          </a:p>
          <a:p>
            <a:r>
              <a:rPr lang="en-US" dirty="0"/>
              <a:t>https://www.geeksforgeeks.org/dsa/merge-two-sorted-linked-lists/</a:t>
            </a:r>
          </a:p>
          <a:p>
            <a:r>
              <a:rPr lang="en-US" dirty="0" smtClean="0"/>
              <a:t>https</a:t>
            </a:r>
            <a:r>
              <a:rPr lang="en-US" dirty="0"/>
              <a:t>://dotnettutorials.net/lesson/how-to-merge-two-linked-lists/</a:t>
            </a:r>
          </a:p>
        </p:txBody>
      </p:sp>
    </p:spTree>
    <p:extLst>
      <p:ext uri="{BB962C8B-B14F-4D97-AF65-F5344CB8AC3E}">
        <p14:creationId xmlns:p14="http://schemas.microsoft.com/office/powerpoint/2010/main" val="349952010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Lab Experiments</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Write a menu driven program for all the operations in case of singly linked list, circular singly linked list, doubly linked list, circular doubly linked list.</a:t>
            </a:r>
          </a:p>
          <a:p>
            <a:r>
              <a:rPr lang="en-US" dirty="0"/>
              <a:t>Insert at the beginning of the linked list</a:t>
            </a:r>
          </a:p>
          <a:p>
            <a:r>
              <a:rPr lang="en-US" dirty="0"/>
              <a:t>Insert at the end of the linked list</a:t>
            </a:r>
          </a:p>
          <a:p>
            <a:r>
              <a:rPr lang="en-US" dirty="0"/>
              <a:t>Insert at the given position of the linked list</a:t>
            </a:r>
          </a:p>
          <a:p>
            <a:r>
              <a:rPr lang="en-US" dirty="0"/>
              <a:t>Delete from the beginning of the linked list</a:t>
            </a:r>
          </a:p>
          <a:p>
            <a:r>
              <a:rPr lang="en-US" dirty="0"/>
              <a:t>Delete from the end of the linked list</a:t>
            </a:r>
          </a:p>
          <a:p>
            <a:r>
              <a:rPr lang="en-US" dirty="0"/>
              <a:t>Delete from the given position of the linked list</a:t>
            </a:r>
          </a:p>
          <a:p>
            <a:r>
              <a:rPr lang="en-US" dirty="0"/>
              <a:t>Search an element in a given linked list</a:t>
            </a:r>
          </a:p>
          <a:p>
            <a:r>
              <a:rPr lang="en-US" dirty="0"/>
              <a:t>Reversing a linked list</a:t>
            </a:r>
          </a:p>
          <a:p>
            <a:r>
              <a:rPr lang="en-US" dirty="0"/>
              <a:t>Merging two linked list</a:t>
            </a:r>
          </a:p>
          <a:p>
            <a:r>
              <a:rPr lang="en-US" dirty="0" smtClean="0"/>
              <a:t>Traversing/ Display </a:t>
            </a:r>
            <a:r>
              <a:rPr lang="en-US" dirty="0"/>
              <a:t>of linked </a:t>
            </a:r>
            <a:r>
              <a:rPr lang="en-US" dirty="0" smtClean="0"/>
              <a:t>list</a:t>
            </a:r>
            <a:endParaRPr lang="en-US" dirty="0"/>
          </a:p>
          <a:p>
            <a:r>
              <a:rPr lang="en-US" dirty="0" smtClean="0"/>
              <a:t>Detect loop in a linked list (not in case of circular singly and circular doubly)</a:t>
            </a:r>
            <a:endParaRPr lang="en-US" dirty="0"/>
          </a:p>
        </p:txBody>
      </p:sp>
    </p:spTree>
    <p:extLst>
      <p:ext uri="{BB962C8B-B14F-4D97-AF65-F5344CB8AC3E}">
        <p14:creationId xmlns:p14="http://schemas.microsoft.com/office/powerpoint/2010/main" val="356125273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Experiments</a:t>
            </a:r>
          </a:p>
        </p:txBody>
      </p:sp>
      <p:sp>
        <p:nvSpPr>
          <p:cNvPr id="3" name="Content Placeholder 2"/>
          <p:cNvSpPr>
            <a:spLocks noGrp="1"/>
          </p:cNvSpPr>
          <p:nvPr>
            <p:ph idx="1"/>
          </p:nvPr>
        </p:nvSpPr>
        <p:spPr/>
        <p:txBody>
          <a:bodyPr/>
          <a:lstStyle/>
          <a:p>
            <a:pPr marL="0" indent="0">
              <a:buNone/>
            </a:pPr>
            <a:r>
              <a:rPr lang="en-US" dirty="0" smtClean="0"/>
              <a:t>Write programs for the</a:t>
            </a:r>
          </a:p>
          <a:p>
            <a:r>
              <a:rPr lang="en-US" dirty="0" smtClean="0"/>
              <a:t>Addition</a:t>
            </a:r>
          </a:p>
          <a:p>
            <a:r>
              <a:rPr lang="en-US" dirty="0" smtClean="0"/>
              <a:t>Subtraction</a:t>
            </a:r>
          </a:p>
          <a:p>
            <a:r>
              <a:rPr lang="en-US" dirty="0" smtClean="0"/>
              <a:t>Multiplication </a:t>
            </a:r>
          </a:p>
          <a:p>
            <a:pPr marL="0" indent="0">
              <a:buNone/>
            </a:pPr>
            <a:r>
              <a:rPr lang="en-US" dirty="0"/>
              <a:t>o</a:t>
            </a:r>
            <a:r>
              <a:rPr lang="en-US" dirty="0" smtClean="0"/>
              <a:t>f two polynomials using linked lists</a:t>
            </a:r>
          </a:p>
          <a:p>
            <a:endParaRPr lang="en-US" dirty="0"/>
          </a:p>
        </p:txBody>
      </p:sp>
    </p:spTree>
    <p:extLst>
      <p:ext uri="{BB962C8B-B14F-4D97-AF65-F5344CB8AC3E}">
        <p14:creationId xmlns:p14="http://schemas.microsoft.com/office/powerpoint/2010/main" val="322848748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Practice MCQ questions on Linked List</a:t>
            </a:r>
            <a:endParaRPr lang="en-US" dirty="0"/>
          </a:p>
        </p:txBody>
      </p:sp>
      <p:sp>
        <p:nvSpPr>
          <p:cNvPr id="3" name="Content Placeholder 2"/>
          <p:cNvSpPr>
            <a:spLocks noGrp="1"/>
          </p:cNvSpPr>
          <p:nvPr>
            <p:ph idx="1"/>
          </p:nvPr>
        </p:nvSpPr>
        <p:spPr>
          <a:xfrm>
            <a:off x="1251678" y="2400299"/>
            <a:ext cx="10178322" cy="4321175"/>
          </a:xfrm>
        </p:spPr>
        <p:txBody>
          <a:bodyPr/>
          <a:lstStyle/>
          <a:p>
            <a:r>
              <a:rPr lang="en-US" dirty="0"/>
              <a:t>https://www.geeksforgeeks.org/data-structure-gq/top-mcqs-on-linked-list-data-structure-with-answers/</a:t>
            </a:r>
          </a:p>
        </p:txBody>
      </p:sp>
    </p:spTree>
    <p:extLst>
      <p:ext uri="{BB962C8B-B14F-4D97-AF65-F5344CB8AC3E}">
        <p14:creationId xmlns:p14="http://schemas.microsoft.com/office/powerpoint/2010/main" val="47434349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Top 50 Problems on Linked List Data Structure asked in SDE Interviews</a:t>
            </a:r>
            <a:br>
              <a:rPr lang="en-US" b="1" dirty="0"/>
            </a:br>
            <a:endParaRPr lang="en-US" dirty="0"/>
          </a:p>
        </p:txBody>
      </p:sp>
      <p:sp>
        <p:nvSpPr>
          <p:cNvPr id="3" name="Content Placeholder 2"/>
          <p:cNvSpPr>
            <a:spLocks noGrp="1"/>
          </p:cNvSpPr>
          <p:nvPr>
            <p:ph idx="1"/>
          </p:nvPr>
        </p:nvSpPr>
        <p:spPr>
          <a:xfrm>
            <a:off x="1251678" y="2495549"/>
            <a:ext cx="10178322" cy="4225925"/>
          </a:xfrm>
        </p:spPr>
        <p:txBody>
          <a:bodyPr/>
          <a:lstStyle/>
          <a:p>
            <a:r>
              <a:rPr lang="en-US" dirty="0"/>
              <a:t>https://www.geeksforgeeks.org/top-20-linked-list-interview-question/</a:t>
            </a:r>
          </a:p>
        </p:txBody>
      </p:sp>
    </p:spTree>
    <p:extLst>
      <p:ext uri="{BB962C8B-B14F-4D97-AF65-F5344CB8AC3E}">
        <p14:creationId xmlns:p14="http://schemas.microsoft.com/office/powerpoint/2010/main" val="323931733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Real life examples of different types of linked list</a:t>
            </a:r>
            <a:endParaRPr lang="en-US" dirty="0"/>
          </a:p>
        </p:txBody>
      </p:sp>
      <p:sp>
        <p:nvSpPr>
          <p:cNvPr id="3" name="Content Placeholder 2"/>
          <p:cNvSpPr>
            <a:spLocks noGrp="1"/>
          </p:cNvSpPr>
          <p:nvPr>
            <p:ph idx="1"/>
          </p:nvPr>
        </p:nvSpPr>
        <p:spPr>
          <a:xfrm>
            <a:off x="1251678" y="1828799"/>
            <a:ext cx="10178322" cy="4892675"/>
          </a:xfrm>
        </p:spPr>
        <p:txBody>
          <a:bodyPr/>
          <a:lstStyle/>
          <a:p>
            <a:r>
              <a:rPr lang="en-US" b="1" dirty="0"/>
              <a:t>Singly Linked List</a:t>
            </a:r>
            <a:r>
              <a:rPr lang="en-US" b="1" dirty="0" smtClean="0"/>
              <a:t>: </a:t>
            </a:r>
            <a:r>
              <a:rPr lang="en-US" i="1" dirty="0" smtClean="0"/>
              <a:t>Example</a:t>
            </a:r>
            <a:r>
              <a:rPr lang="en-US" i="1" dirty="0"/>
              <a:t>:</a:t>
            </a:r>
            <a:r>
              <a:rPr lang="en-US" dirty="0"/>
              <a:t> Imagine a playlist in a music player. Each song is a node in the singly linked list, and each node contains information about the song and a reference to the next song in the playlist.</a:t>
            </a:r>
          </a:p>
          <a:p>
            <a:r>
              <a:rPr lang="en-US" dirty="0"/>
              <a:t>Node 1         Node 2         Node 3</a:t>
            </a:r>
          </a:p>
          <a:p>
            <a:r>
              <a:rPr lang="en-US" dirty="0"/>
              <a:t>   +---------+    +---------+    +---------+</a:t>
            </a:r>
          </a:p>
          <a:p>
            <a:r>
              <a:rPr lang="en-US" dirty="0"/>
              <a:t>   | Song 1  | -&gt; | Song 2  | -&gt; | Song 3  |</a:t>
            </a:r>
          </a:p>
          <a:p>
            <a:r>
              <a:rPr lang="en-US" dirty="0"/>
              <a:t>   +---------+    +---------+    </a:t>
            </a:r>
            <a:r>
              <a:rPr lang="en-US" dirty="0" smtClean="0"/>
              <a:t>+---------+</a:t>
            </a:r>
          </a:p>
          <a:p>
            <a:endParaRPr lang="en-US" dirty="0"/>
          </a:p>
          <a:p>
            <a:r>
              <a:rPr lang="en-US" b="1" dirty="0"/>
              <a:t>Doubly Linked List</a:t>
            </a:r>
            <a:r>
              <a:rPr lang="en-US" b="1" dirty="0" smtClean="0"/>
              <a:t>: </a:t>
            </a:r>
            <a:r>
              <a:rPr lang="en-US" i="1" dirty="0" smtClean="0"/>
              <a:t>Example</a:t>
            </a:r>
            <a:r>
              <a:rPr lang="en-US" i="1" dirty="0"/>
              <a:t>:</a:t>
            </a:r>
            <a:r>
              <a:rPr lang="en-US" dirty="0"/>
              <a:t> Consider a browser history where each webpage is a node. In a doubly linked list, each node has a reference to the previous and next pages.</a:t>
            </a:r>
          </a:p>
          <a:p>
            <a:r>
              <a:rPr lang="en-US" dirty="0"/>
              <a:t> +---------+    +---------+    +---------+</a:t>
            </a:r>
          </a:p>
          <a:p>
            <a:r>
              <a:rPr lang="en-US" dirty="0"/>
              <a:t>  (null) &lt;- | Page 1  | &lt;-&gt; | Page 2  | &lt;-&gt; | Page 3  | -&gt; (null)</a:t>
            </a:r>
          </a:p>
          <a:p>
            <a:r>
              <a:rPr lang="en-US" dirty="0"/>
              <a:t>            +---------+    +---------+    +---------+</a:t>
            </a:r>
          </a:p>
        </p:txBody>
      </p:sp>
    </p:spTree>
    <p:extLst>
      <p:ext uri="{BB962C8B-B14F-4D97-AF65-F5344CB8AC3E}">
        <p14:creationId xmlns:p14="http://schemas.microsoft.com/office/powerpoint/2010/main" val="111939146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251678" y="1313645"/>
            <a:ext cx="10178322" cy="5214646"/>
          </a:xfrm>
        </p:spPr>
        <p:txBody>
          <a:bodyPr>
            <a:normAutofit fontScale="92500" lnSpcReduction="10000"/>
          </a:bodyPr>
          <a:lstStyle/>
          <a:p>
            <a:r>
              <a:rPr lang="en-US" b="1" dirty="0"/>
              <a:t>Singly Circular Linked List</a:t>
            </a:r>
            <a:r>
              <a:rPr lang="en-US" b="1" dirty="0" smtClean="0"/>
              <a:t>: </a:t>
            </a:r>
            <a:r>
              <a:rPr lang="en-US" i="1" dirty="0" smtClean="0"/>
              <a:t>Example</a:t>
            </a:r>
            <a:r>
              <a:rPr lang="en-US" i="1" dirty="0"/>
              <a:t>:</a:t>
            </a:r>
            <a:r>
              <a:rPr lang="en-US" dirty="0"/>
              <a:t> A round-robin scheduling algorithm in operating systems. The process queue is implemented as a singly circular linked list. After the last process, it cycles back to the first process.</a:t>
            </a:r>
          </a:p>
          <a:p>
            <a:r>
              <a:rPr lang="en-US" dirty="0"/>
              <a:t>+---------+    +---------+    +---------+</a:t>
            </a:r>
          </a:p>
          <a:p>
            <a:r>
              <a:rPr lang="en-US" dirty="0"/>
              <a:t>   | Process1| -&gt; | Process2| -&gt; | Process3|</a:t>
            </a:r>
          </a:p>
          <a:p>
            <a:r>
              <a:rPr lang="en-US" dirty="0"/>
              <a:t>   +---------+    +---------+    +---------+</a:t>
            </a:r>
          </a:p>
          <a:p>
            <a:r>
              <a:rPr lang="en-US" dirty="0"/>
              <a:t>    ^                                   </a:t>
            </a:r>
            <a:r>
              <a:rPr lang="en-US" dirty="0" smtClean="0"/>
              <a:t>                  |</a:t>
            </a:r>
            <a:endParaRPr lang="en-US" dirty="0"/>
          </a:p>
          <a:p>
            <a:r>
              <a:rPr lang="en-US" dirty="0"/>
              <a:t>    </a:t>
            </a:r>
            <a:r>
              <a:rPr lang="en-US" dirty="0" smtClean="0"/>
              <a:t>|-----------------------------------|</a:t>
            </a:r>
          </a:p>
          <a:p>
            <a:r>
              <a:rPr lang="en-US" b="1" dirty="0"/>
              <a:t>Doubly Circular Linked List</a:t>
            </a:r>
            <a:r>
              <a:rPr lang="en-US" b="1" dirty="0" smtClean="0"/>
              <a:t>: </a:t>
            </a:r>
            <a:r>
              <a:rPr lang="en-US" i="1" dirty="0" smtClean="0"/>
              <a:t>Example</a:t>
            </a:r>
            <a:r>
              <a:rPr lang="en-US" i="1" dirty="0"/>
              <a:t>:</a:t>
            </a:r>
            <a:r>
              <a:rPr lang="en-US" dirty="0"/>
              <a:t> A deck of cards in a card game where each card is a node. It's a doubly circular linked list because you can navigate forward and backward through the deck, and after the last card, it cycles back to the first card</a:t>
            </a:r>
            <a:r>
              <a:rPr lang="en-US" dirty="0" smtClean="0"/>
              <a:t>.</a:t>
            </a:r>
          </a:p>
          <a:p>
            <a:r>
              <a:rPr lang="en-US" dirty="0"/>
              <a:t> +---------+    +---------+    +---------+</a:t>
            </a:r>
          </a:p>
          <a:p>
            <a:r>
              <a:rPr lang="en-US" dirty="0"/>
              <a:t> &lt;-&gt;| Card1   | &lt;-&gt;| Card2   | &lt;-&gt;| Card3   | &lt;-&gt;</a:t>
            </a:r>
          </a:p>
          <a:p>
            <a:r>
              <a:rPr lang="en-US" dirty="0"/>
              <a:t>    +---------+    +---------+    +---------+</a:t>
            </a:r>
          </a:p>
          <a:p>
            <a:r>
              <a:rPr lang="en-US" dirty="0"/>
              <a:t>    |                                   |</a:t>
            </a:r>
          </a:p>
          <a:p>
            <a:r>
              <a:rPr lang="en-US" dirty="0"/>
              <a:t>    +-----------------------------------+</a:t>
            </a:r>
          </a:p>
          <a:p>
            <a:endParaRPr lang="en-US" dirty="0"/>
          </a:p>
        </p:txBody>
      </p:sp>
    </p:spTree>
    <p:extLst>
      <p:ext uri="{BB962C8B-B14F-4D97-AF65-F5344CB8AC3E}">
        <p14:creationId xmlns:p14="http://schemas.microsoft.com/office/powerpoint/2010/main" val="236394608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 of linked list</a:t>
            </a:r>
            <a:endParaRPr lang="en-US" dirty="0"/>
          </a:p>
        </p:txBody>
      </p:sp>
      <p:sp>
        <p:nvSpPr>
          <p:cNvPr id="3" name="Content Placeholder 2"/>
          <p:cNvSpPr>
            <a:spLocks noGrp="1"/>
          </p:cNvSpPr>
          <p:nvPr>
            <p:ph idx="1"/>
          </p:nvPr>
        </p:nvSpPr>
        <p:spPr/>
        <p:txBody>
          <a:bodyPr/>
          <a:lstStyle/>
          <a:p>
            <a:pPr algn="just"/>
            <a:r>
              <a:rPr lang="en-US" dirty="0" smtClean="0"/>
              <a:t>Polynomial manipulation</a:t>
            </a:r>
          </a:p>
          <a:p>
            <a:pPr algn="just"/>
            <a:r>
              <a:rPr lang="en-US" dirty="0"/>
              <a:t>Support for other data structures: Some other data structures like stacks, queues, hash tables, graphs can be implemented using a linked list</a:t>
            </a:r>
            <a:r>
              <a:rPr lang="en-US" dirty="0" smtClean="0"/>
              <a:t>.</a:t>
            </a:r>
          </a:p>
          <a:p>
            <a:pPr algn="just"/>
            <a:r>
              <a:rPr lang="en-US" dirty="0" smtClean="0"/>
              <a:t>Memory </a:t>
            </a:r>
            <a:r>
              <a:rPr lang="en-US" dirty="0"/>
              <a:t>Management: Memory management is one of the operating system's key features. It decides how to allocate and reclaim storage for processes running on the system. We can use a linked list to keep track of portions of memory available for allocation</a:t>
            </a:r>
            <a:r>
              <a:rPr lang="en-US" dirty="0" smtClean="0"/>
              <a:t>.</a:t>
            </a:r>
          </a:p>
          <a:p>
            <a:pPr algn="just"/>
            <a:r>
              <a:rPr lang="en-US" dirty="0"/>
              <a:t>Linked allocation of files: A file of large size may not be stored in one place on a disk. So there must be some mechanism to link all the scattered parts of the file together. The use of a linked list allows an efficient file allocation method in which each block of a file contains a pointer to the file's text block. But this method is good only for sequential access.</a:t>
            </a:r>
          </a:p>
        </p:txBody>
      </p:sp>
    </p:spTree>
    <p:extLst>
      <p:ext uri="{BB962C8B-B14F-4D97-AF65-F5344CB8AC3E}">
        <p14:creationId xmlns:p14="http://schemas.microsoft.com/office/powerpoint/2010/main" val="150127404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Header Linked list</a:t>
            </a:r>
            <a:endParaRPr lang="en-US" dirty="0"/>
          </a:p>
        </p:txBody>
      </p:sp>
      <p:sp>
        <p:nvSpPr>
          <p:cNvPr id="3" name="Content Placeholder 2"/>
          <p:cNvSpPr>
            <a:spLocks noGrp="1"/>
          </p:cNvSpPr>
          <p:nvPr>
            <p:ph idx="1"/>
          </p:nvPr>
        </p:nvSpPr>
        <p:spPr/>
        <p:txBody>
          <a:bodyPr/>
          <a:lstStyle/>
          <a:p>
            <a:r>
              <a:rPr lang="en-US" dirty="0"/>
              <a:t>https://www.geeksforgeeks.org/header-linked-list-in-c/</a:t>
            </a:r>
          </a:p>
        </p:txBody>
      </p:sp>
    </p:spTree>
    <p:extLst>
      <p:ext uri="{BB962C8B-B14F-4D97-AF65-F5344CB8AC3E}">
        <p14:creationId xmlns:p14="http://schemas.microsoft.com/office/powerpoint/2010/main" val="291773146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Sentinel Node</a:t>
            </a:r>
            <a:endParaRPr lang="en-US" dirty="0"/>
          </a:p>
        </p:txBody>
      </p:sp>
      <p:sp>
        <p:nvSpPr>
          <p:cNvPr id="3" name="Content Placeholder 2"/>
          <p:cNvSpPr>
            <a:spLocks noGrp="1"/>
          </p:cNvSpPr>
          <p:nvPr>
            <p:ph idx="1"/>
          </p:nvPr>
        </p:nvSpPr>
        <p:spPr/>
        <p:txBody>
          <a:bodyPr/>
          <a:lstStyle/>
          <a:p>
            <a:pPr algn="just"/>
            <a:r>
              <a:rPr lang="en-US" dirty="0"/>
              <a:t>Sentinel nodes are specially designed nodes that do not hold or refer to any data of </a:t>
            </a:r>
            <a:r>
              <a:rPr lang="en-US" dirty="0" smtClean="0"/>
              <a:t>the linked list.</a:t>
            </a:r>
          </a:p>
          <a:p>
            <a:pPr algn="just"/>
            <a:r>
              <a:rPr lang="en-US" dirty="0"/>
              <a:t>To make insertion and deletion operations in a </a:t>
            </a:r>
            <a:r>
              <a:rPr lang="en-US" dirty="0" smtClean="0"/>
              <a:t>linked-linked </a:t>
            </a:r>
            <a:r>
              <a:rPr lang="en-US" dirty="0"/>
              <a:t>list simple, we have to add one sentinel node at the beginning of </a:t>
            </a:r>
            <a:r>
              <a:rPr lang="en-US" dirty="0" smtClean="0"/>
              <a:t>the linked </a:t>
            </a:r>
            <a:r>
              <a:rPr lang="en-US" dirty="0"/>
              <a:t>list and one at the end of </a:t>
            </a:r>
            <a:r>
              <a:rPr lang="en-US" dirty="0" smtClean="0"/>
              <a:t>the linked </a:t>
            </a:r>
            <a:r>
              <a:rPr lang="en-US" dirty="0"/>
              <a:t>list, as shown in the below diagram</a:t>
            </a:r>
            <a:r>
              <a:rPr lang="en-US" dirty="0" smtClean="0"/>
              <a:t>.</a:t>
            </a:r>
          </a:p>
          <a:p>
            <a:pPr marL="0" indent="0" algn="just">
              <a:buNone/>
            </a:pPr>
            <a:endParaRPr lang="en-US" dirty="0"/>
          </a:p>
          <a:p>
            <a:pPr marL="0" indent="0" algn="just">
              <a:buNone/>
            </a:pPr>
            <a:endParaRPr lang="en-US" dirty="0"/>
          </a:p>
        </p:txBody>
      </p:sp>
      <p:pic>
        <p:nvPicPr>
          <p:cNvPr id="32770"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1650" y="3352799"/>
            <a:ext cx="6286500" cy="2790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410172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0B231-6122-B85B-9628-2CC8D0842DBD}"/>
              </a:ext>
            </a:extLst>
          </p:cNvPr>
          <p:cNvSpPr>
            <a:spLocks noGrp="1"/>
          </p:cNvSpPr>
          <p:nvPr>
            <p:ph type="title"/>
          </p:nvPr>
        </p:nvSpPr>
        <p:spPr>
          <a:xfrm>
            <a:off x="762000" y="247265"/>
            <a:ext cx="10972800" cy="664342"/>
          </a:xfrm>
        </p:spPr>
        <p:txBody>
          <a:bodyPr>
            <a:normAutofit fontScale="90000"/>
          </a:bodyPr>
          <a:lstStyle/>
          <a:p>
            <a:pPr algn="ctr"/>
            <a:r>
              <a:rPr lang="en-US" b="1" dirty="0"/>
              <a:t>Doubly Linked List: </a:t>
            </a:r>
            <a:r>
              <a:rPr lang="en-US" altLang="en-US" b="1" dirty="0"/>
              <a:t>Sentinel or “dummy nodes</a:t>
            </a:r>
            <a:endParaRPr lang="en-US" b="1" dirty="0"/>
          </a:p>
        </p:txBody>
      </p:sp>
      <p:sp>
        <p:nvSpPr>
          <p:cNvPr id="3" name="Content Placeholder 2">
            <a:extLst>
              <a:ext uri="{FF2B5EF4-FFF2-40B4-BE49-F238E27FC236}">
                <a16:creationId xmlns:a16="http://schemas.microsoft.com/office/drawing/2014/main" id="{3AEECEAE-53FB-AFC6-2037-F477A11ABA57}"/>
              </a:ext>
            </a:extLst>
          </p:cNvPr>
          <p:cNvSpPr>
            <a:spLocks noGrp="1"/>
          </p:cNvSpPr>
          <p:nvPr>
            <p:ph idx="1"/>
          </p:nvPr>
        </p:nvSpPr>
        <p:spPr>
          <a:xfrm>
            <a:off x="762000" y="1150375"/>
            <a:ext cx="10972800" cy="5128190"/>
          </a:xfrm>
        </p:spPr>
        <p:txBody>
          <a:bodyPr>
            <a:normAutofit/>
          </a:bodyPr>
          <a:lstStyle/>
          <a:p>
            <a:pPr marL="0" indent="0">
              <a:buNone/>
            </a:pPr>
            <a:r>
              <a:rPr lang="en-US" sz="2000" dirty="0"/>
              <a:t>When implementing a doubly linked lists, we add two special nodes to the ends of the lists: the header and trailer nodes. </a:t>
            </a:r>
          </a:p>
          <a:p>
            <a:r>
              <a:rPr lang="en-US" sz="2000" dirty="0"/>
              <a:t>The header node goes before the first list element. It has a valid next link but a null </a:t>
            </a:r>
            <a:r>
              <a:rPr lang="en-US" sz="2000" dirty="0" err="1"/>
              <a:t>prev</a:t>
            </a:r>
            <a:r>
              <a:rPr lang="en-US" sz="2000" dirty="0"/>
              <a:t> link.</a:t>
            </a:r>
          </a:p>
          <a:p>
            <a:r>
              <a:rPr lang="en-US" sz="2000" dirty="0"/>
              <a:t>The trailer node goes after the last element. It has a valid </a:t>
            </a:r>
            <a:r>
              <a:rPr lang="en-US" sz="2000" dirty="0" err="1"/>
              <a:t>prev</a:t>
            </a:r>
            <a:r>
              <a:rPr lang="en-US" sz="2000" dirty="0"/>
              <a:t> reference but a null next reference.</a:t>
            </a:r>
          </a:p>
          <a:p>
            <a:pPr marL="0" indent="0">
              <a:buNone/>
            </a:pPr>
            <a:endParaRPr lang="en-US" sz="1600" dirty="0"/>
          </a:p>
        </p:txBody>
      </p:sp>
      <p:pic>
        <p:nvPicPr>
          <p:cNvPr id="4" name="Picture 4">
            <a:extLst>
              <a:ext uri="{FF2B5EF4-FFF2-40B4-BE49-F238E27FC236}">
                <a16:creationId xmlns:a16="http://schemas.microsoft.com/office/drawing/2014/main" id="{E6F26C2C-ED4E-2478-BD41-2B16118481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3786" y="3260214"/>
            <a:ext cx="6978446" cy="287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5">
            <a:extLst>
              <a:ext uri="{FF2B5EF4-FFF2-40B4-BE49-F238E27FC236}">
                <a16:creationId xmlns:a16="http://schemas.microsoft.com/office/drawing/2014/main" id="{4BF3E26E-945E-4710-90AD-E9E1A5F46834}"/>
              </a:ext>
            </a:extLst>
          </p:cNvPr>
          <p:cNvSpPr txBox="1">
            <a:spLocks noChangeArrowheads="1"/>
          </p:cNvSpPr>
          <p:nvPr/>
        </p:nvSpPr>
        <p:spPr bwMode="auto">
          <a:xfrm>
            <a:off x="1257812" y="3260213"/>
            <a:ext cx="33528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000" b="1" u="sng" dirty="0">
                <a:solidFill>
                  <a:schemeClr val="tx2"/>
                </a:solidFill>
              </a:rPr>
              <a:t>NOTE</a:t>
            </a:r>
            <a:r>
              <a:rPr lang="en-US" altLang="en-US" sz="2000" b="1" i="1" dirty="0">
                <a:solidFill>
                  <a:srgbClr val="9E222D"/>
                </a:solidFill>
              </a:rPr>
              <a:t>: the header and trailer nodes are sentinel or “dummy” nodes because they do not store elements. Here’s a diagram of our doubly </a:t>
            </a:r>
          </a:p>
          <a:p>
            <a:r>
              <a:rPr lang="en-US" altLang="en-US" sz="2000" b="1" i="1" dirty="0">
                <a:solidFill>
                  <a:srgbClr val="9E222D"/>
                </a:solidFill>
              </a:rPr>
              <a:t>linked list:</a:t>
            </a:r>
          </a:p>
        </p:txBody>
      </p:sp>
    </p:spTree>
    <p:extLst>
      <p:ext uri="{BB962C8B-B14F-4D97-AF65-F5344CB8AC3E}">
        <p14:creationId xmlns:p14="http://schemas.microsoft.com/office/powerpoint/2010/main" val="1426367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t>Advantages </a:t>
            </a:r>
            <a:r>
              <a:rPr lang="en-US" b="1" u="sng" dirty="0"/>
              <a:t>of Sentinel node:</a:t>
            </a:r>
            <a:r>
              <a:rPr lang="en-US" b="1" dirty="0"/>
              <a:t/>
            </a:r>
            <a:br>
              <a:rPr lang="en-US" b="1" dirty="0"/>
            </a:br>
            <a:endParaRPr lang="en-US" dirty="0"/>
          </a:p>
        </p:txBody>
      </p:sp>
      <p:sp>
        <p:nvSpPr>
          <p:cNvPr id="3" name="Content Placeholder 2"/>
          <p:cNvSpPr>
            <a:spLocks noGrp="1"/>
          </p:cNvSpPr>
          <p:nvPr>
            <p:ph idx="1"/>
          </p:nvPr>
        </p:nvSpPr>
        <p:spPr/>
        <p:txBody>
          <a:bodyPr/>
          <a:lstStyle/>
          <a:p>
            <a:pPr fontAlgn="base"/>
            <a:r>
              <a:rPr lang="en-US" dirty="0" smtClean="0"/>
              <a:t>The </a:t>
            </a:r>
            <a:r>
              <a:rPr lang="en-US" dirty="0"/>
              <a:t>most significant advantage of using the sentinel nodes in the </a:t>
            </a:r>
            <a:r>
              <a:rPr lang="en-US" dirty="0" smtClean="0"/>
              <a:t>linked </a:t>
            </a:r>
            <a:r>
              <a:rPr lang="en-US" dirty="0"/>
              <a:t>list:</a:t>
            </a:r>
          </a:p>
          <a:p>
            <a:pPr fontAlgn="base"/>
            <a:r>
              <a:rPr lang="en-US" dirty="0"/>
              <a:t>By adding the sentinel nodes to the doubly linked list now for the </a:t>
            </a:r>
            <a:r>
              <a:rPr lang="en-US" b="1" dirty="0"/>
              <a:t>deletion</a:t>
            </a:r>
            <a:r>
              <a:rPr lang="en-US" dirty="0"/>
              <a:t> or </a:t>
            </a:r>
            <a:r>
              <a:rPr lang="en-US" b="1" dirty="0"/>
              <a:t>insertion</a:t>
            </a:r>
            <a:r>
              <a:rPr lang="en-US" dirty="0"/>
              <a:t> at the beginning, end or in between the beginning and end nodes of the linked list, we do not need to write the different conditions for each one. </a:t>
            </a:r>
          </a:p>
          <a:p>
            <a:pPr fontAlgn="base"/>
            <a:r>
              <a:rPr lang="en-US" dirty="0"/>
              <a:t>All these operations can be done as the deletion or insertion between the beginning and end node of a doubly linked list.</a:t>
            </a:r>
          </a:p>
          <a:p>
            <a:endParaRPr lang="en-US" dirty="0"/>
          </a:p>
        </p:txBody>
      </p:sp>
    </p:spTree>
    <p:extLst>
      <p:ext uri="{BB962C8B-B14F-4D97-AF65-F5344CB8AC3E}">
        <p14:creationId xmlns:p14="http://schemas.microsoft.com/office/powerpoint/2010/main" val="377663565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Skip List</a:t>
            </a:r>
            <a:endParaRPr lang="en-US" dirty="0"/>
          </a:p>
        </p:txBody>
      </p:sp>
      <p:sp>
        <p:nvSpPr>
          <p:cNvPr id="3" name="Content Placeholder 2"/>
          <p:cNvSpPr>
            <a:spLocks noGrp="1"/>
          </p:cNvSpPr>
          <p:nvPr>
            <p:ph idx="1"/>
          </p:nvPr>
        </p:nvSpPr>
        <p:spPr/>
        <p:txBody>
          <a:bodyPr>
            <a:normAutofit lnSpcReduction="10000"/>
          </a:bodyPr>
          <a:lstStyle/>
          <a:p>
            <a:r>
              <a:rPr lang="en-US" dirty="0">
                <a:hlinkClick r:id="rId2"/>
              </a:rPr>
              <a:t>https://www.geeksforgeeks.org/skip-list</a:t>
            </a:r>
            <a:r>
              <a:rPr lang="en-US" dirty="0" smtClean="0">
                <a:hlinkClick r:id="rId2"/>
              </a:rPr>
              <a:t>/</a:t>
            </a:r>
            <a:endParaRPr lang="en-US" dirty="0"/>
          </a:p>
          <a:p>
            <a:pPr algn="just" fontAlgn="base"/>
            <a:r>
              <a:rPr lang="en-US" dirty="0"/>
              <a:t>A skip list is a data structure that allows for efficient search, insertion and deletion of elements in a sorted list. It is a probabilistic data structure, meaning that its average time complexity is determined through a probabilistic analysis.</a:t>
            </a:r>
          </a:p>
          <a:p>
            <a:pPr algn="just" fontAlgn="base"/>
            <a:r>
              <a:rPr lang="en-US" dirty="0"/>
              <a:t>In a skip list, elements are organized in layers, with each layer having a smaller number of elements than the one below it. The bottom layer is a regular linked list, while the layers above it contain “skipping” links that allow for fast navigation to elements that are far apart in the bottom layer. The idea behind this is to allow for quick traversal to the desired element, reducing the average number of steps needed to reach it</a:t>
            </a:r>
            <a:r>
              <a:rPr lang="en-US" dirty="0" smtClean="0"/>
              <a:t>.</a:t>
            </a:r>
          </a:p>
          <a:p>
            <a:pPr algn="just" fontAlgn="base"/>
            <a:r>
              <a:rPr lang="en-US" dirty="0"/>
              <a:t>Skip lists are implemented using a technique called “coin flipping.” In this technique, a random number is generated for each insertion to determine the number of layers the new element will occupy. This means that, on average, each element will be in log(n) layers, where n is the number of elements in the bottom layer.</a:t>
            </a:r>
          </a:p>
          <a:p>
            <a:pPr algn="just" fontAlgn="base"/>
            <a:r>
              <a:rPr lang="en-US" dirty="0"/>
              <a:t>Skip lists have an average time complexity of O(log n) for search, insertion and deletion, which is similar to that of balanced trees, such as AVL trees and red-black trees, but with the advantage of simpler implementation and lower overhead.</a:t>
            </a:r>
          </a:p>
          <a:p>
            <a:pPr fontAlgn="base"/>
            <a:endParaRPr lang="en-US" dirty="0"/>
          </a:p>
          <a:p>
            <a:endParaRPr lang="en-US" dirty="0"/>
          </a:p>
        </p:txBody>
      </p:sp>
    </p:spTree>
    <p:extLst>
      <p:ext uri="{BB962C8B-B14F-4D97-AF65-F5344CB8AC3E}">
        <p14:creationId xmlns:p14="http://schemas.microsoft.com/office/powerpoint/2010/main" val="299408390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11171" y="-296792"/>
            <a:ext cx="10972800" cy="1150374"/>
          </a:xfrm>
        </p:spPr>
        <p:txBody>
          <a:bodyPr>
            <a:noAutofit/>
          </a:bodyPr>
          <a:lstStyle/>
          <a:p>
            <a:r>
              <a:rPr lang="en-US" sz="3500" b="1" dirty="0"/>
              <a:t/>
            </a:r>
            <a:br>
              <a:rPr lang="en-US" sz="3500" b="1" dirty="0"/>
            </a:br>
            <a:r>
              <a:rPr lang="en-US" sz="3500" b="1" dirty="0"/>
              <a:t> </a:t>
            </a:r>
            <a:r>
              <a:rPr lang="en-US" sz="3500" b="1" dirty="0" smtClean="0"/>
              <a:t>Skip List</a:t>
            </a:r>
            <a:r>
              <a:rPr lang="en-US" sz="3500" b="1" dirty="0"/>
              <a:t>. 	</a:t>
            </a:r>
          </a:p>
        </p:txBody>
      </p:sp>
      <p:sp>
        <p:nvSpPr>
          <p:cNvPr id="4" name="Content Placeholder 3"/>
          <p:cNvSpPr>
            <a:spLocks noGrp="1"/>
          </p:cNvSpPr>
          <p:nvPr>
            <p:ph idx="1"/>
          </p:nvPr>
        </p:nvSpPr>
        <p:spPr>
          <a:xfrm>
            <a:off x="762000" y="1268361"/>
            <a:ext cx="10972800" cy="4896466"/>
          </a:xfrm>
        </p:spPr>
        <p:txBody>
          <a:bodyPr>
            <a:normAutofit/>
          </a:bodyPr>
          <a:lstStyle/>
          <a:p>
            <a:r>
              <a:rPr lang="en-US" sz="2400" dirty="0" smtClean="0"/>
              <a:t>Based on the concept of simple linked list.</a:t>
            </a:r>
            <a:endParaRPr lang="en-US" sz="2400" dirty="0"/>
          </a:p>
          <a:p>
            <a:r>
              <a:rPr lang="en-US" sz="2400" dirty="0" smtClean="0"/>
              <a:t>Elements are organized in layers.</a:t>
            </a:r>
          </a:p>
          <a:p>
            <a:r>
              <a:rPr lang="en-US" sz="2400" dirty="0" smtClean="0"/>
              <a:t>Bottom layer is the regular linked list.</a:t>
            </a:r>
          </a:p>
          <a:p>
            <a:r>
              <a:rPr lang="en-US" sz="2400" dirty="0" smtClean="0"/>
              <a:t>Rest of the lists having fewer elements than the bottom list.</a:t>
            </a:r>
          </a:p>
          <a:p>
            <a:r>
              <a:rPr lang="en-US" sz="2400" dirty="0" smtClean="0"/>
              <a:t>No new element is added in the list layers.</a:t>
            </a:r>
          </a:p>
          <a:p>
            <a:pPr marL="0" indent="0">
              <a:buNone/>
            </a:pPr>
            <a:r>
              <a:rPr lang="en-US" sz="2400" dirty="0" smtClean="0">
                <a:effectLst/>
              </a:rPr>
              <a:t>Node structure is shown below</a:t>
            </a:r>
          </a:p>
          <a:p>
            <a:pPr marL="0" indent="0">
              <a:buNone/>
            </a:pPr>
            <a:endParaRPr lang="en-US" sz="2400" dirty="0"/>
          </a:p>
          <a:p>
            <a:pPr marL="0" indent="0">
              <a:buNone/>
            </a:pPr>
            <a:endParaRPr lang="en-US" sz="2400" dirty="0" smtClean="0">
              <a:effectLst/>
            </a:endParaRPr>
          </a:p>
          <a:p>
            <a:pPr marL="0" indent="0">
              <a:buNone/>
            </a:pPr>
            <a:endParaRPr lang="en-US" sz="2400" dirty="0"/>
          </a:p>
          <a:p>
            <a:pPr marL="0" indent="0">
              <a:buNone/>
            </a:pPr>
            <a:endParaRPr lang="en-US" sz="2400" dirty="0" smtClean="0">
              <a:effectLst/>
            </a:endParaRPr>
          </a:p>
          <a:p>
            <a:pPr marL="0" indent="0">
              <a:buNone/>
            </a:pPr>
            <a:endParaRPr lang="en-US" sz="2400" dirty="0" smtClean="0">
              <a:effectLst/>
            </a:endParaRPr>
          </a:p>
        </p:txBody>
      </p:sp>
      <p:sp>
        <p:nvSpPr>
          <p:cNvPr id="2" name="Rectangle 1"/>
          <p:cNvSpPr/>
          <p:nvPr/>
        </p:nvSpPr>
        <p:spPr>
          <a:xfrm>
            <a:off x="1228627" y="3997759"/>
            <a:ext cx="6096000" cy="1200329"/>
          </a:xfrm>
          <a:prstGeom prst="rect">
            <a:avLst/>
          </a:prstGeom>
        </p:spPr>
        <p:txBody>
          <a:bodyPr>
            <a:spAutoFit/>
          </a:bodyPr>
          <a:lstStyle/>
          <a:p>
            <a:r>
              <a:rPr lang="en-US" dirty="0" err="1"/>
              <a:t>struct</a:t>
            </a:r>
            <a:r>
              <a:rPr lang="en-US" dirty="0"/>
              <a:t> </a:t>
            </a:r>
            <a:r>
              <a:rPr lang="en-US" dirty="0" smtClean="0"/>
              <a:t> Node </a:t>
            </a:r>
            <a:r>
              <a:rPr lang="en-US" dirty="0"/>
              <a:t>{</a:t>
            </a:r>
          </a:p>
          <a:p>
            <a:r>
              <a:rPr lang="en-US" dirty="0"/>
              <a:t>    </a:t>
            </a:r>
            <a:r>
              <a:rPr lang="en-US" dirty="0" err="1"/>
              <a:t>int</a:t>
            </a:r>
            <a:r>
              <a:rPr lang="en-US" dirty="0"/>
              <a:t> </a:t>
            </a:r>
            <a:r>
              <a:rPr lang="en-US" dirty="0" smtClean="0"/>
              <a:t>data;</a:t>
            </a:r>
            <a:endParaRPr lang="en-US" dirty="0"/>
          </a:p>
          <a:p>
            <a:r>
              <a:rPr lang="en-US" dirty="0"/>
              <a:t>    </a:t>
            </a:r>
            <a:r>
              <a:rPr lang="en-US" dirty="0" err="1"/>
              <a:t>struct</a:t>
            </a:r>
            <a:r>
              <a:rPr lang="en-US" dirty="0"/>
              <a:t> </a:t>
            </a:r>
            <a:r>
              <a:rPr lang="en-US" dirty="0" smtClean="0"/>
              <a:t> Node* next[MAX_LEVEL</a:t>
            </a:r>
            <a:r>
              <a:rPr lang="en-US" dirty="0"/>
              <a:t>];</a:t>
            </a:r>
          </a:p>
          <a:p>
            <a:r>
              <a:rPr lang="en-US" dirty="0" smtClean="0"/>
              <a:t>}; //MAX_LEVEL defining the number of layers</a:t>
            </a:r>
            <a:endParaRPr lang="en-US" dirty="0"/>
          </a:p>
        </p:txBody>
      </p:sp>
    </p:spTree>
    <p:extLst>
      <p:ext uri="{BB962C8B-B14F-4D97-AF65-F5344CB8AC3E}">
        <p14:creationId xmlns:p14="http://schemas.microsoft.com/office/powerpoint/2010/main" val="84201683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22"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63675" y="2038350"/>
            <a:ext cx="9753600" cy="2770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77941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Can we search in a sorted linked list better than O(n) time?</a:t>
            </a:r>
          </a:p>
        </p:txBody>
      </p:sp>
      <p:sp>
        <p:nvSpPr>
          <p:cNvPr id="3" name="Content Placeholder 2"/>
          <p:cNvSpPr>
            <a:spLocks noGrp="1"/>
          </p:cNvSpPr>
          <p:nvPr>
            <p:ph idx="1"/>
          </p:nvPr>
        </p:nvSpPr>
        <p:spPr>
          <a:xfrm>
            <a:off x="1251678" y="2152649"/>
            <a:ext cx="10178322" cy="4568825"/>
          </a:xfrm>
        </p:spPr>
        <p:txBody>
          <a:bodyPr/>
          <a:lstStyle/>
          <a:p>
            <a:pPr algn="just"/>
            <a:r>
              <a:rPr lang="en-US" dirty="0" smtClean="0"/>
              <a:t>The </a:t>
            </a:r>
            <a:r>
              <a:rPr lang="en-US" dirty="0"/>
              <a:t>worst-case search time for a sorted linked list is O(n) as we can only linearly traverse the list and cannot skip nodes while searching. For a Balanced Binary Search Tree, we skip almost half of the nodes after one comparison with the root. For a sorted array, we have random access and we can apply Binary Search on arrays. Can we augment sorted linked lists to search faster? The answer is Skip List. The idea is simple, we create multiple layers so that we can skip some nodes. See the following example list with 16 nodes and two layers. The upper layer works as an “express lane” that connects only the main outer stations, and the lower layer works as a “normal lane” that connects every station. Suppose we want to search for 50, we start from the first node of the “express lane” and keep moving on the “express lane” till we find a node whose next is greater than 50. Once we find such a node (30 is the node in the following example) on “express lane”, we move to “normal lane” using a pointer from this node, and linearly search for 50 on “normal lane”. In the following example, we start from 30 on the “normal lane” and with linear search, we find 50.</a:t>
            </a:r>
          </a:p>
        </p:txBody>
      </p:sp>
    </p:spTree>
    <p:extLst>
      <p:ext uri="{BB962C8B-B14F-4D97-AF65-F5344CB8AC3E}">
        <p14:creationId xmlns:p14="http://schemas.microsoft.com/office/powerpoint/2010/main" val="269889623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Generalized linked list</a:t>
            </a:r>
            <a:endParaRPr lang="en-US" dirty="0"/>
          </a:p>
        </p:txBody>
      </p:sp>
      <p:sp>
        <p:nvSpPr>
          <p:cNvPr id="3" name="Content Placeholder 2"/>
          <p:cNvSpPr>
            <a:spLocks noGrp="1"/>
          </p:cNvSpPr>
          <p:nvPr>
            <p:ph idx="1"/>
          </p:nvPr>
        </p:nvSpPr>
        <p:spPr/>
        <p:txBody>
          <a:bodyPr/>
          <a:lstStyle/>
          <a:p>
            <a:r>
              <a:rPr lang="en-US" dirty="0">
                <a:hlinkClick r:id="rId2"/>
              </a:rPr>
              <a:t>https://www.geeksforgeeks.org/generalized-linked-list</a:t>
            </a:r>
            <a:r>
              <a:rPr lang="en-US" dirty="0" smtClean="0">
                <a:hlinkClick r:id="rId2"/>
              </a:rPr>
              <a:t>/</a:t>
            </a:r>
            <a:endParaRPr lang="en-US" dirty="0" smtClean="0"/>
          </a:p>
          <a:p>
            <a:endParaRPr lang="en-US" dirty="0"/>
          </a:p>
          <a:p>
            <a:r>
              <a:rPr lang="en-US" dirty="0"/>
              <a:t>A Generalized Linked List L, is defined as a finite sequence of </a:t>
            </a:r>
            <a:r>
              <a:rPr lang="en-US"/>
              <a:t>n</a:t>
            </a:r>
            <a:r>
              <a:rPr lang="en-US" smtClean="0"/>
              <a:t>&gt;=0 </a:t>
            </a:r>
            <a:r>
              <a:rPr lang="en-US" dirty="0"/>
              <a:t>elements, l</a:t>
            </a:r>
            <a:r>
              <a:rPr lang="en-US" baseline="-25000" dirty="0"/>
              <a:t>1</a:t>
            </a:r>
            <a:r>
              <a:rPr lang="en-US" dirty="0"/>
              <a:t>, l</a:t>
            </a:r>
            <a:r>
              <a:rPr lang="en-US" baseline="-25000" dirty="0"/>
              <a:t>2</a:t>
            </a:r>
            <a:r>
              <a:rPr lang="en-US" dirty="0"/>
              <a:t>, l</a:t>
            </a:r>
            <a:r>
              <a:rPr lang="en-US" baseline="-25000" dirty="0"/>
              <a:t>3</a:t>
            </a:r>
            <a:r>
              <a:rPr lang="en-US" dirty="0"/>
              <a:t>, l</a:t>
            </a:r>
            <a:r>
              <a:rPr lang="en-US" baseline="-25000" dirty="0"/>
              <a:t>4</a:t>
            </a:r>
            <a:r>
              <a:rPr lang="en-US" dirty="0"/>
              <a:t>, …, l</a:t>
            </a:r>
            <a:r>
              <a:rPr lang="en-US" baseline="-25000" dirty="0"/>
              <a:t>n</a:t>
            </a:r>
            <a:r>
              <a:rPr lang="en-US" dirty="0"/>
              <a:t>, such that l</a:t>
            </a:r>
            <a:r>
              <a:rPr lang="en-US" baseline="-25000" dirty="0"/>
              <a:t>i</a:t>
            </a:r>
            <a:r>
              <a:rPr lang="en-US" dirty="0"/>
              <a:t> are either item or the list of items. Thus </a:t>
            </a:r>
            <a:r>
              <a:rPr lang="en-US" b="1" dirty="0"/>
              <a:t>L = (l</a:t>
            </a:r>
            <a:r>
              <a:rPr lang="en-US" b="1" baseline="-25000" dirty="0"/>
              <a:t>1</a:t>
            </a:r>
            <a:r>
              <a:rPr lang="en-US" b="1" dirty="0"/>
              <a:t>, l</a:t>
            </a:r>
            <a:r>
              <a:rPr lang="en-US" b="1" baseline="-25000" dirty="0"/>
              <a:t>2</a:t>
            </a:r>
            <a:r>
              <a:rPr lang="en-US" b="1" dirty="0"/>
              <a:t>, l</a:t>
            </a:r>
            <a:r>
              <a:rPr lang="en-US" b="1" baseline="-25000" dirty="0"/>
              <a:t>3</a:t>
            </a:r>
            <a:r>
              <a:rPr lang="en-US" b="1" dirty="0"/>
              <a:t>, l</a:t>
            </a:r>
            <a:r>
              <a:rPr lang="en-US" b="1" baseline="-25000" dirty="0"/>
              <a:t>4</a:t>
            </a:r>
            <a:r>
              <a:rPr lang="en-US" b="1" dirty="0"/>
              <a:t>, …, l</a:t>
            </a:r>
            <a:r>
              <a:rPr lang="en-US" b="1" baseline="-25000" dirty="0"/>
              <a:t>n</a:t>
            </a:r>
            <a:r>
              <a:rPr lang="en-US" b="1" dirty="0"/>
              <a:t>)</a:t>
            </a:r>
            <a:r>
              <a:rPr lang="en-US" dirty="0"/>
              <a:t> where n is total number of nodes in the list</a:t>
            </a:r>
            <a:r>
              <a:rPr lang="en-US" dirty="0" smtClean="0"/>
              <a:t>.</a:t>
            </a:r>
          </a:p>
          <a:p>
            <a:endParaRPr lang="en-US" dirty="0"/>
          </a:p>
          <a:p>
            <a:endParaRPr lang="en-US" dirty="0" smtClean="0"/>
          </a:p>
          <a:p>
            <a:endParaRPr lang="en-US" b="1" dirty="0"/>
          </a:p>
        </p:txBody>
      </p:sp>
      <p:pic>
        <p:nvPicPr>
          <p:cNvPr id="5" name="Picture 2" descr="Lightbo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5900" y="3729037"/>
            <a:ext cx="7410450" cy="1857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8547515"/>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dirty="0"/>
              <a:t>To represent a list of items there are certain assumptions about the node structure.</a:t>
            </a:r>
          </a:p>
          <a:p>
            <a:pPr fontAlgn="base"/>
            <a:r>
              <a:rPr lang="en-US" dirty="0"/>
              <a:t>Flag = 1 implies that </a:t>
            </a:r>
            <a:r>
              <a:rPr lang="en-US" i="1" dirty="0"/>
              <a:t>down pointer</a:t>
            </a:r>
            <a:r>
              <a:rPr lang="en-US" dirty="0"/>
              <a:t> exists</a:t>
            </a:r>
          </a:p>
          <a:p>
            <a:pPr fontAlgn="base"/>
            <a:r>
              <a:rPr lang="en-US" dirty="0"/>
              <a:t>Flag = 0 implies that </a:t>
            </a:r>
            <a:r>
              <a:rPr lang="en-US" i="1" dirty="0"/>
              <a:t>next pointer</a:t>
            </a:r>
            <a:r>
              <a:rPr lang="en-US" dirty="0"/>
              <a:t> exists</a:t>
            </a:r>
          </a:p>
          <a:p>
            <a:pPr fontAlgn="base"/>
            <a:r>
              <a:rPr lang="en-US" dirty="0"/>
              <a:t>Data means the item.</a:t>
            </a:r>
          </a:p>
          <a:p>
            <a:pPr fontAlgn="base"/>
            <a:r>
              <a:rPr lang="en-US" dirty="0"/>
              <a:t>Down pointer is the address of node which is down of the current node</a:t>
            </a:r>
          </a:p>
          <a:p>
            <a:pPr fontAlgn="base"/>
            <a:r>
              <a:rPr lang="en-US" dirty="0"/>
              <a:t>Next pointer is the address of node which is attached as the next node</a:t>
            </a:r>
          </a:p>
          <a:p>
            <a:endParaRPr lang="en-US" dirty="0" smtClean="0"/>
          </a:p>
          <a:p>
            <a:endParaRPr lang="en-US" dirty="0"/>
          </a:p>
        </p:txBody>
      </p:sp>
    </p:spTree>
    <p:extLst>
      <p:ext uri="{BB962C8B-B14F-4D97-AF65-F5344CB8AC3E}">
        <p14:creationId xmlns:p14="http://schemas.microsoft.com/office/powerpoint/2010/main" val="161386949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Why Generalized Linked List?</a:t>
            </a:r>
            <a:r>
              <a:rPr lang="en-US" dirty="0"/>
              <a:t> </a:t>
            </a:r>
          </a:p>
        </p:txBody>
      </p:sp>
      <p:sp>
        <p:nvSpPr>
          <p:cNvPr id="3" name="Content Placeholder 2"/>
          <p:cNvSpPr>
            <a:spLocks noGrp="1"/>
          </p:cNvSpPr>
          <p:nvPr>
            <p:ph idx="1"/>
          </p:nvPr>
        </p:nvSpPr>
        <p:spPr/>
        <p:txBody>
          <a:bodyPr/>
          <a:lstStyle/>
          <a:p>
            <a:pPr algn="just"/>
            <a:r>
              <a:rPr lang="en-US" dirty="0" smtClean="0"/>
              <a:t>Generalized </a:t>
            </a:r>
            <a:r>
              <a:rPr lang="en-US" dirty="0"/>
              <a:t>linked lists are used because although the efficiency of polynomial operations using linked list is good but still, the disadvantage is that the linked list is unable to use </a:t>
            </a:r>
            <a:r>
              <a:rPr lang="en-US" i="1" dirty="0"/>
              <a:t>multiple variable polynomial equation</a:t>
            </a:r>
            <a:r>
              <a:rPr lang="en-US" dirty="0"/>
              <a:t> efficiently. It helps us to represent multi-variable polynomial along with the list of elements. </a:t>
            </a:r>
            <a:endParaRPr lang="en-US" dirty="0" smtClean="0"/>
          </a:p>
          <a:p>
            <a:pPr algn="just"/>
            <a:endParaRPr lang="en-US" dirty="0"/>
          </a:p>
          <a:p>
            <a:pPr algn="just"/>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8318" y="2781298"/>
            <a:ext cx="6115364" cy="2838452"/>
          </a:xfrm>
          <a:prstGeom prst="rect">
            <a:avLst/>
          </a:prstGeom>
        </p:spPr>
      </p:pic>
      <p:sp>
        <p:nvSpPr>
          <p:cNvPr id="5" name="Rectangle 4"/>
          <p:cNvSpPr/>
          <p:nvPr/>
        </p:nvSpPr>
        <p:spPr>
          <a:xfrm>
            <a:off x="1676400" y="5736734"/>
            <a:ext cx="9906000" cy="646331"/>
          </a:xfrm>
          <a:prstGeom prst="rect">
            <a:avLst/>
          </a:prstGeom>
        </p:spPr>
        <p:txBody>
          <a:bodyPr wrap="square">
            <a:spAutoFit/>
          </a:bodyPr>
          <a:lstStyle/>
          <a:p>
            <a:pPr marL="285750" indent="-285750">
              <a:buFont typeface="Arial" panose="020B0604020202020204" pitchFamily="34" charset="0"/>
              <a:buChar char="•"/>
            </a:pPr>
            <a:r>
              <a:rPr lang="en-US" dirty="0">
                <a:solidFill>
                  <a:srgbClr val="273239"/>
                </a:solidFill>
                <a:latin typeface="Georgia" panose="02040502050405020303" pitchFamily="18" charset="0"/>
              </a:rPr>
              <a:t>When first field is 0, it indicates that the second field is variable. If first field is 1 means the second field is a down pointer, means some list is starting. </a:t>
            </a:r>
            <a:endParaRPr lang="en-US" dirty="0">
              <a:latin typeface="Georgia" panose="02040502050405020303" pitchFamily="18" charset="0"/>
            </a:endParaRPr>
          </a:p>
        </p:txBody>
      </p:sp>
    </p:spTree>
    <p:extLst>
      <p:ext uri="{BB962C8B-B14F-4D97-AF65-F5344CB8AC3E}">
        <p14:creationId xmlns:p14="http://schemas.microsoft.com/office/powerpoint/2010/main" val="355731486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Polynomial Representation using Generalized Linked List</a:t>
            </a:r>
            <a:r>
              <a:rPr lang="en-US" dirty="0"/>
              <a:t> </a:t>
            </a:r>
          </a:p>
        </p:txBody>
      </p:sp>
      <p:sp>
        <p:nvSpPr>
          <p:cNvPr id="3" name="Content Placeholder 2"/>
          <p:cNvSpPr>
            <a:spLocks noGrp="1"/>
          </p:cNvSpPr>
          <p:nvPr>
            <p:ph idx="1"/>
          </p:nvPr>
        </p:nvSpPr>
        <p:spPr>
          <a:xfrm>
            <a:off x="1251678" y="1695449"/>
            <a:ext cx="10178322" cy="5026025"/>
          </a:xfrm>
        </p:spPr>
        <p:txBody>
          <a:bodyPr/>
          <a:lstStyle/>
          <a:p>
            <a:r>
              <a:rPr lang="en-US" dirty="0"/>
              <a:t>The typical node structure will be:</a:t>
            </a:r>
          </a:p>
        </p:txBody>
      </p:sp>
      <p:pic>
        <p:nvPicPr>
          <p:cNvPr id="31748" name="Picture 4"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2500" y="2652712"/>
            <a:ext cx="7934325" cy="179070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952750" y="4939011"/>
            <a:ext cx="6096000" cy="923330"/>
          </a:xfrm>
          <a:prstGeom prst="rect">
            <a:avLst/>
          </a:prstGeom>
        </p:spPr>
        <p:txBody>
          <a:bodyPr>
            <a:spAutoFit/>
          </a:bodyPr>
          <a:lstStyle/>
          <a:p>
            <a:pPr fontAlgn="base">
              <a:buFont typeface="Arial" panose="020B0604020202020204" pitchFamily="34" charset="0"/>
              <a:buChar char="•"/>
            </a:pPr>
            <a:r>
              <a:rPr lang="en-US" dirty="0">
                <a:solidFill>
                  <a:srgbClr val="273239"/>
                </a:solidFill>
                <a:latin typeface="Nunito"/>
              </a:rPr>
              <a:t>Here Flag = 0 means </a:t>
            </a:r>
            <a:r>
              <a:rPr lang="en-US" i="1" dirty="0">
                <a:solidFill>
                  <a:srgbClr val="273239"/>
                </a:solidFill>
                <a:latin typeface="Nunito"/>
              </a:rPr>
              <a:t>variable</a:t>
            </a:r>
            <a:r>
              <a:rPr lang="en-US" dirty="0">
                <a:solidFill>
                  <a:srgbClr val="273239"/>
                </a:solidFill>
                <a:latin typeface="Nunito"/>
              </a:rPr>
              <a:t> is present</a:t>
            </a:r>
          </a:p>
          <a:p>
            <a:pPr fontAlgn="base">
              <a:buFont typeface="Arial" panose="020B0604020202020204" pitchFamily="34" charset="0"/>
              <a:buChar char="•"/>
            </a:pPr>
            <a:r>
              <a:rPr lang="en-US" dirty="0">
                <a:solidFill>
                  <a:srgbClr val="273239"/>
                </a:solidFill>
                <a:latin typeface="Nunito"/>
              </a:rPr>
              <a:t>Flag = 1 means </a:t>
            </a:r>
            <a:r>
              <a:rPr lang="en-US" i="1" dirty="0">
                <a:solidFill>
                  <a:srgbClr val="273239"/>
                </a:solidFill>
                <a:latin typeface="Nunito"/>
              </a:rPr>
              <a:t>down pointer</a:t>
            </a:r>
            <a:r>
              <a:rPr lang="en-US" dirty="0">
                <a:solidFill>
                  <a:srgbClr val="273239"/>
                </a:solidFill>
                <a:latin typeface="Nunito"/>
              </a:rPr>
              <a:t> is present</a:t>
            </a:r>
          </a:p>
          <a:p>
            <a:pPr fontAlgn="base">
              <a:buFont typeface="Arial" panose="020B0604020202020204" pitchFamily="34" charset="0"/>
              <a:buChar char="•"/>
            </a:pPr>
            <a:r>
              <a:rPr lang="en-US" dirty="0">
                <a:solidFill>
                  <a:srgbClr val="273239"/>
                </a:solidFill>
                <a:latin typeface="Nunito"/>
              </a:rPr>
              <a:t>Flag = 2 means </a:t>
            </a:r>
            <a:r>
              <a:rPr lang="en-US" i="1" dirty="0">
                <a:solidFill>
                  <a:srgbClr val="273239"/>
                </a:solidFill>
                <a:latin typeface="Nunito"/>
              </a:rPr>
              <a:t>coefficient</a:t>
            </a:r>
            <a:r>
              <a:rPr lang="en-US" dirty="0">
                <a:solidFill>
                  <a:srgbClr val="273239"/>
                </a:solidFill>
                <a:latin typeface="Nunito"/>
              </a:rPr>
              <a:t> and </a:t>
            </a:r>
            <a:r>
              <a:rPr lang="en-US" i="1" dirty="0">
                <a:solidFill>
                  <a:srgbClr val="273239"/>
                </a:solidFill>
                <a:latin typeface="Nunito"/>
              </a:rPr>
              <a:t>exponent</a:t>
            </a:r>
            <a:r>
              <a:rPr lang="en-US" dirty="0">
                <a:solidFill>
                  <a:srgbClr val="273239"/>
                </a:solidFill>
                <a:latin typeface="Nunito"/>
              </a:rPr>
              <a:t> is present</a:t>
            </a:r>
            <a:endParaRPr lang="en-US" b="0" i="0" dirty="0">
              <a:solidFill>
                <a:srgbClr val="273239"/>
              </a:solidFill>
              <a:effectLst/>
              <a:latin typeface="Nunito"/>
            </a:endParaRPr>
          </a:p>
        </p:txBody>
      </p:sp>
    </p:spTree>
    <p:extLst>
      <p:ext uri="{BB962C8B-B14F-4D97-AF65-F5344CB8AC3E}">
        <p14:creationId xmlns:p14="http://schemas.microsoft.com/office/powerpoint/2010/main" val="406730431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9724" y="1609725"/>
            <a:ext cx="9229725" cy="4800600"/>
          </a:xfrm>
        </p:spPr>
      </p:pic>
    </p:spTree>
    <p:extLst>
      <p:ext uri="{BB962C8B-B14F-4D97-AF65-F5344CB8AC3E}">
        <p14:creationId xmlns:p14="http://schemas.microsoft.com/office/powerpoint/2010/main" val="189728480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-4x</a:t>
            </a:r>
            <a:r>
              <a:rPr lang="en-US" baseline="30000" dirty="0" smtClean="0"/>
              <a:t>4</a:t>
            </a:r>
            <a:r>
              <a:rPr lang="en-US" dirty="0" smtClean="0"/>
              <a:t>y</a:t>
            </a:r>
            <a:r>
              <a:rPr lang="en-US" baseline="30000" dirty="0" smtClean="0"/>
              <a:t>2</a:t>
            </a:r>
            <a:r>
              <a:rPr lang="en-US" dirty="0" smtClean="0"/>
              <a:t>z</a:t>
            </a:r>
            <a:r>
              <a:rPr lang="en-US" baseline="30000" dirty="0" smtClean="0"/>
              <a:t>3 </a:t>
            </a:r>
            <a:r>
              <a:rPr lang="en-US" dirty="0" smtClean="0"/>
              <a:t>+ 10x</a:t>
            </a:r>
            <a:r>
              <a:rPr lang="en-US" baseline="30000" dirty="0" smtClean="0"/>
              <a:t>2</a:t>
            </a:r>
            <a:r>
              <a:rPr lang="en-US" dirty="0" smtClean="0"/>
              <a:t>yz</a:t>
            </a:r>
            <a:r>
              <a:rPr lang="en-US" baseline="30000" dirty="0" smtClean="0"/>
              <a:t>2</a:t>
            </a:r>
            <a:r>
              <a:rPr lang="en-US" dirty="0" smtClean="0"/>
              <a:t> +7xyz +45</a:t>
            </a:r>
            <a:endParaRPr lang="en-US" baseline="300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5042" y="1506538"/>
            <a:ext cx="9450866" cy="5214937"/>
          </a:xfrm>
        </p:spPr>
      </p:pic>
    </p:spTree>
    <p:extLst>
      <p:ext uri="{BB962C8B-B14F-4D97-AF65-F5344CB8AC3E}">
        <p14:creationId xmlns:p14="http://schemas.microsoft.com/office/powerpoint/2010/main" val="250354495"/>
      </p:ext>
    </p:extLst>
  </p:cSld>
  <p:clrMapOvr>
    <a:masterClrMapping/>
  </p:clrMapOvr>
  <p:timing>
    <p:tnLst>
      <p:par>
        <p:cTn id="1" dur="indefinite" restart="never" nodeType="tmRoot"/>
      </p:par>
    </p:tnLst>
  </p:timing>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TM10001106[[fn=Badge]]</Template>
  <TotalTime>48013</TotalTime>
  <Words>6048</Words>
  <Application>Microsoft Office PowerPoint</Application>
  <PresentationFormat>Widescreen</PresentationFormat>
  <Paragraphs>676</Paragraphs>
  <Slides>87</Slides>
  <Notes>4</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87</vt:i4>
      </vt:variant>
    </vt:vector>
  </HeadingPairs>
  <TitlesOfParts>
    <vt:vector size="99" baseType="lpstr">
      <vt:lpstr>宋体</vt:lpstr>
      <vt:lpstr>Arial</vt:lpstr>
      <vt:lpstr>Calibri</vt:lpstr>
      <vt:lpstr>Georgia</vt:lpstr>
      <vt:lpstr>Gill Sans MT</vt:lpstr>
      <vt:lpstr>Nunito</vt:lpstr>
      <vt:lpstr>Open Sans</vt:lpstr>
      <vt:lpstr>Söhne</vt:lpstr>
      <vt:lpstr>Times New Roman</vt:lpstr>
      <vt:lpstr>Badge</vt:lpstr>
      <vt:lpstr>Packager Shell Object</vt:lpstr>
      <vt:lpstr>Equation</vt:lpstr>
      <vt:lpstr>LINKED LIST</vt:lpstr>
      <vt:lpstr>Dynamic memory allocation</vt:lpstr>
      <vt:lpstr> </vt:lpstr>
      <vt:lpstr> </vt:lpstr>
      <vt:lpstr> </vt:lpstr>
      <vt:lpstr> </vt:lpstr>
      <vt:lpstr>   </vt:lpstr>
      <vt:lpstr> </vt:lpstr>
      <vt:lpstr> </vt:lpstr>
      <vt:lpstr>    </vt:lpstr>
      <vt:lpstr> </vt:lpstr>
      <vt:lpstr>PowerPoint Presentation</vt:lpstr>
      <vt:lpstr> </vt:lpstr>
      <vt:lpstr>linked list vs array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Linked list operations</vt:lpstr>
      <vt:lpstr>PowerPoint Presentation</vt:lpstr>
      <vt:lpstr>PowerPoint Presentation</vt:lpstr>
      <vt:lpstr>PowerPoint Presentation</vt:lpstr>
      <vt:lpstr>Algorithm to Display the 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Function to search an item</vt:lpstr>
      <vt:lpstr>PowerPoint Presentation</vt:lpstr>
      <vt:lpstr>Linked list operations</vt:lpstr>
      <vt:lpstr>Doubly linked list</vt:lpstr>
      <vt:lpstr>Doubly linked list</vt:lpstr>
      <vt:lpstr>Insertion in doubly linked list</vt:lpstr>
      <vt:lpstr>Insertion in doubly linked list</vt:lpstr>
      <vt:lpstr>Insertion in doubly linked list</vt:lpstr>
      <vt:lpstr>Insertion in doubly linked list</vt:lpstr>
      <vt:lpstr>Insertion in doubly linked list</vt:lpstr>
      <vt:lpstr>Insertion in doubly linked list</vt:lpstr>
      <vt:lpstr>Insertion in doubly linked list</vt:lpstr>
      <vt:lpstr>Insertion in doubly linked list</vt:lpstr>
      <vt:lpstr>Deletion in doubly linked list</vt:lpstr>
      <vt:lpstr>Deletion in doubly linked list</vt:lpstr>
      <vt:lpstr>Doubly linked list operations</vt:lpstr>
      <vt:lpstr>Circular linked list</vt:lpstr>
      <vt:lpstr>Operations on circular linked list</vt:lpstr>
      <vt:lpstr>Creation and Traversal of a Circular List</vt:lpstr>
      <vt:lpstr>Creation and Traversal of a Circular List</vt:lpstr>
      <vt:lpstr>Circular Linked List: Traversal of List</vt:lpstr>
      <vt:lpstr>Representing a polynomial using a linked list</vt:lpstr>
      <vt:lpstr>Addition of two polynomials</vt:lpstr>
      <vt:lpstr>Addition of two Polynomials</vt:lpstr>
      <vt:lpstr>Subtraction of two polynomials</vt:lpstr>
      <vt:lpstr>Subtraction of two polynomials</vt:lpstr>
      <vt:lpstr>Multiplication of two Polynomials</vt:lpstr>
      <vt:lpstr>  Application of Linked list: Polynomial Manipulation.  </vt:lpstr>
      <vt:lpstr>  Functions : Polynomial Manipulation .  </vt:lpstr>
      <vt:lpstr>  Functions : Polynomial Manipulation .  </vt:lpstr>
      <vt:lpstr>  Functions : Polynomial Manipulation .  </vt:lpstr>
      <vt:lpstr>  Functions : Polynomial Manipulation .  </vt:lpstr>
      <vt:lpstr>Merging of two sorted linked list</vt:lpstr>
      <vt:lpstr>Lab Experiments</vt:lpstr>
      <vt:lpstr>Lab Experiments</vt:lpstr>
      <vt:lpstr>Practice MCQ questions on Linked List</vt:lpstr>
      <vt:lpstr>Top 50 Problems on Linked List Data Structure asked in SDE Interviews </vt:lpstr>
      <vt:lpstr>Real life examples of different types of linked list</vt:lpstr>
      <vt:lpstr>PowerPoint Presentation</vt:lpstr>
      <vt:lpstr>Applications of linked list</vt:lpstr>
      <vt:lpstr>Header Linked list</vt:lpstr>
      <vt:lpstr>Sentinel Node</vt:lpstr>
      <vt:lpstr>Doubly Linked List: Sentinel or “dummy nodes</vt:lpstr>
      <vt:lpstr>Advantages of Sentinel node: </vt:lpstr>
      <vt:lpstr>Skip List</vt:lpstr>
      <vt:lpstr>  Skip List.  </vt:lpstr>
      <vt:lpstr>PowerPoint Presentation</vt:lpstr>
      <vt:lpstr>Can we search in a sorted linked list better than O(n) time?</vt:lpstr>
      <vt:lpstr>Generalized linked list</vt:lpstr>
      <vt:lpstr>PowerPoint Presentation</vt:lpstr>
      <vt:lpstr>Why Generalized Linked List? </vt:lpstr>
      <vt:lpstr>Polynomial Representation using Generalized Linked List </vt:lpstr>
      <vt:lpstr>PowerPoint Presentation</vt:lpstr>
      <vt:lpstr>-4x4y2z3 + 10x2yz2 +7xyz +45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LINKED LIST</dc:title>
  <cp:lastModifiedBy>Shahina Anwarul</cp:lastModifiedBy>
  <cp:revision>85</cp:revision>
  <dcterms:created xsi:type="dcterms:W3CDTF">2017-11-09T22:54:09Z</dcterms:created>
  <dcterms:modified xsi:type="dcterms:W3CDTF">2026-03-05T06:34:30Z</dcterms:modified>
</cp:coreProperties>
</file>