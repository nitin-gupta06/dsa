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4"/>
  </p:notesMasterIdLst>
  <p:sldIdLst>
    <p:sldId id="256" r:id="rId2"/>
    <p:sldId id="264" r:id="rId3"/>
    <p:sldId id="265" r:id="rId4"/>
    <p:sldId id="262" r:id="rId5"/>
    <p:sldId id="266" r:id="rId6"/>
    <p:sldId id="260" r:id="rId7"/>
    <p:sldId id="267" r:id="rId8"/>
    <p:sldId id="275" r:id="rId9"/>
    <p:sldId id="258" r:id="rId10"/>
    <p:sldId id="274" r:id="rId11"/>
    <p:sldId id="287" r:id="rId12"/>
    <p:sldId id="288" r:id="rId13"/>
    <p:sldId id="276" r:id="rId14"/>
    <p:sldId id="273" r:id="rId15"/>
    <p:sldId id="272" r:id="rId16"/>
    <p:sldId id="271" r:id="rId17"/>
    <p:sldId id="270" r:id="rId18"/>
    <p:sldId id="269" r:id="rId19"/>
    <p:sldId id="268" r:id="rId20"/>
    <p:sldId id="278" r:id="rId21"/>
    <p:sldId id="341" r:id="rId22"/>
    <p:sldId id="277" r:id="rId23"/>
    <p:sldId id="340" r:id="rId24"/>
    <p:sldId id="285" r:id="rId25"/>
    <p:sldId id="279" r:id="rId26"/>
    <p:sldId id="280" r:id="rId27"/>
    <p:sldId id="286" r:id="rId28"/>
    <p:sldId id="281" r:id="rId29"/>
    <p:sldId id="303" r:id="rId30"/>
    <p:sldId id="305" r:id="rId31"/>
    <p:sldId id="304" r:id="rId32"/>
    <p:sldId id="302" r:id="rId33"/>
    <p:sldId id="318" r:id="rId34"/>
    <p:sldId id="322" r:id="rId35"/>
    <p:sldId id="323" r:id="rId36"/>
    <p:sldId id="324" r:id="rId37"/>
    <p:sldId id="328" r:id="rId38"/>
    <p:sldId id="329" r:id="rId39"/>
    <p:sldId id="319" r:id="rId40"/>
    <p:sldId id="320" r:id="rId41"/>
    <p:sldId id="321" r:id="rId42"/>
    <p:sldId id="326" r:id="rId43"/>
    <p:sldId id="311" r:id="rId44"/>
    <p:sldId id="312" r:id="rId45"/>
    <p:sldId id="313" r:id="rId46"/>
    <p:sldId id="314" r:id="rId47"/>
    <p:sldId id="315" r:id="rId48"/>
    <p:sldId id="316" r:id="rId49"/>
    <p:sldId id="317" r:id="rId50"/>
    <p:sldId id="334" r:id="rId51"/>
    <p:sldId id="327" r:id="rId52"/>
    <p:sldId id="298" r:id="rId53"/>
    <p:sldId id="330" r:id="rId54"/>
    <p:sldId id="335" r:id="rId55"/>
    <p:sldId id="336" r:id="rId56"/>
    <p:sldId id="337" r:id="rId57"/>
    <p:sldId id="331" r:id="rId58"/>
    <p:sldId id="342" r:id="rId59"/>
    <p:sldId id="343" r:id="rId60"/>
    <p:sldId id="344" r:id="rId61"/>
    <p:sldId id="346" r:id="rId62"/>
    <p:sldId id="332" r:id="rId63"/>
    <p:sldId id="338" r:id="rId64"/>
    <p:sldId id="339" r:id="rId65"/>
    <p:sldId id="349" r:id="rId66"/>
    <p:sldId id="306" r:id="rId67"/>
    <p:sldId id="308" r:id="rId68"/>
    <p:sldId id="309" r:id="rId69"/>
    <p:sldId id="310" r:id="rId70"/>
    <p:sldId id="347" r:id="rId71"/>
    <p:sldId id="348" r:id="rId72"/>
    <p:sldId id="350"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0DF0B7-7533-40CE-89E1-3E5CFDA23B42}" v="1" dt="2026-05-04T06:06:14.4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61" autoAdjust="0"/>
    <p:restoredTop sz="61067" autoAdjust="0"/>
  </p:normalViewPr>
  <p:slideViewPr>
    <p:cSldViewPr snapToGrid="0">
      <p:cViewPr>
        <p:scale>
          <a:sx n="50" d="100"/>
          <a:sy n="50" d="100"/>
        </p:scale>
        <p:origin x="180" y="7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91EB-9D04-4B2B-A8EC-C26057F35368}"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AF083-6659-4761-8DBD-F9B281D98BC7}" type="slidenum">
              <a:rPr lang="en-US" smtClean="0"/>
              <a:t>‹#›</a:t>
            </a:fld>
            <a:endParaRPr lang="en-US"/>
          </a:p>
        </p:txBody>
      </p:sp>
    </p:spTree>
    <p:extLst>
      <p:ext uri="{BB962C8B-B14F-4D97-AF65-F5344CB8AC3E}">
        <p14:creationId xmlns:p14="http://schemas.microsoft.com/office/powerpoint/2010/main" val="25034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https://www.w3resource.com/c-programming-exercises/linked_list/index.php</a:t>
            </a:r>
          </a:p>
          <a:p>
            <a:r>
              <a:rPr lang="en-US"/>
              <a:t>http://www.ggu.ac.in/download/IT/Inf%20Tech%20Pankaj%20Chandra%20B%20Tech%20%20IV%20Data%20Structure%20-%20Model%20Answer.pdf</a:t>
            </a: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1</a:t>
            </a:fld>
            <a:endParaRPr lang="en-US"/>
          </a:p>
        </p:txBody>
      </p:sp>
    </p:spTree>
    <p:extLst>
      <p:ext uri="{BB962C8B-B14F-4D97-AF65-F5344CB8AC3E}">
        <p14:creationId xmlns:p14="http://schemas.microsoft.com/office/powerpoint/2010/main" val="139656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pitchFamily="18" charset="0"/>
              </a:defRPr>
            </a:lvl1pPr>
            <a:lvl2pPr marL="730171" indent="-280835" eaLnBrk="0" hangingPunct="0">
              <a:defRPr sz="2400">
                <a:solidFill>
                  <a:schemeClr val="tx1"/>
                </a:solidFill>
                <a:latin typeface="Times New Roman" pitchFamily="18" charset="0"/>
              </a:defRPr>
            </a:lvl2pPr>
            <a:lvl3pPr marL="1123340" indent="-224668" eaLnBrk="0" hangingPunct="0">
              <a:defRPr sz="2400">
                <a:solidFill>
                  <a:schemeClr val="tx1"/>
                </a:solidFill>
                <a:latin typeface="Times New Roman" pitchFamily="18" charset="0"/>
              </a:defRPr>
            </a:lvl3pPr>
            <a:lvl4pPr marL="1572677" indent="-224668" eaLnBrk="0" hangingPunct="0">
              <a:defRPr sz="2400">
                <a:solidFill>
                  <a:schemeClr val="tx1"/>
                </a:solidFill>
                <a:latin typeface="Times New Roman" pitchFamily="18" charset="0"/>
              </a:defRPr>
            </a:lvl4pPr>
            <a:lvl5pPr marL="2022013" indent="-224668" eaLnBrk="0" hangingPunct="0">
              <a:defRPr sz="2400">
                <a:solidFill>
                  <a:schemeClr val="tx1"/>
                </a:solidFill>
                <a:latin typeface="Times New Roman" pitchFamily="18" charset="0"/>
              </a:defRPr>
            </a:lvl5pPr>
            <a:lvl6pPr marL="2471349" indent="-224668" eaLnBrk="0" fontAlgn="base" hangingPunct="0">
              <a:spcBef>
                <a:spcPct val="0"/>
              </a:spcBef>
              <a:spcAft>
                <a:spcPct val="0"/>
              </a:spcAft>
              <a:defRPr sz="2400">
                <a:solidFill>
                  <a:schemeClr val="tx1"/>
                </a:solidFill>
                <a:latin typeface="Times New Roman" pitchFamily="18" charset="0"/>
              </a:defRPr>
            </a:lvl6pPr>
            <a:lvl7pPr marL="2920685" indent="-224668" eaLnBrk="0" fontAlgn="base" hangingPunct="0">
              <a:spcBef>
                <a:spcPct val="0"/>
              </a:spcBef>
              <a:spcAft>
                <a:spcPct val="0"/>
              </a:spcAft>
              <a:defRPr sz="2400">
                <a:solidFill>
                  <a:schemeClr val="tx1"/>
                </a:solidFill>
                <a:latin typeface="Times New Roman" pitchFamily="18" charset="0"/>
              </a:defRPr>
            </a:lvl7pPr>
            <a:lvl8pPr marL="3370021" indent="-224668" eaLnBrk="0" fontAlgn="base" hangingPunct="0">
              <a:spcBef>
                <a:spcPct val="0"/>
              </a:spcBef>
              <a:spcAft>
                <a:spcPct val="0"/>
              </a:spcAft>
              <a:defRPr sz="2400">
                <a:solidFill>
                  <a:schemeClr val="tx1"/>
                </a:solidFill>
                <a:latin typeface="Times New Roman" pitchFamily="18" charset="0"/>
              </a:defRPr>
            </a:lvl8pPr>
            <a:lvl9pPr marL="3819357" indent="-224668" eaLnBrk="0" fontAlgn="base" hangingPunct="0">
              <a:spcBef>
                <a:spcPct val="0"/>
              </a:spcBef>
              <a:spcAft>
                <a:spcPct val="0"/>
              </a:spcAft>
              <a:defRPr sz="2400">
                <a:solidFill>
                  <a:schemeClr val="tx1"/>
                </a:solidFill>
                <a:latin typeface="Times New Roman" pitchFamily="18" charset="0"/>
              </a:defRPr>
            </a:lvl9pPr>
          </a:lstStyle>
          <a:p>
            <a:pPr eaLnBrk="1" hangingPunct="1"/>
            <a:fld id="{1F800015-9751-46B8-BD49-D0148257B5C2}" type="slidenum">
              <a:rPr lang="en-US" altLang="en-US" sz="1200">
                <a:latin typeface="Tahoma" pitchFamily="34" charset="0"/>
              </a:rPr>
              <a:pPr eaLnBrk="1" hangingPunct="1"/>
              <a:t>2</a:t>
            </a:fld>
            <a:endParaRPr lang="en-US" altLang="en-US" sz="1200">
              <a:latin typeface="Tahoma" pitchFamily="34" charset="0"/>
            </a:endParaRPr>
          </a:p>
        </p:txBody>
      </p:sp>
      <p:sp>
        <p:nvSpPr>
          <p:cNvPr id="41987" name="Rectangle 2"/>
          <p:cNvSpPr>
            <a:spLocks noGrp="1" noRot="1" noChangeAspect="1" noChangeArrowheads="1" noTextEdit="1"/>
          </p:cNvSpPr>
          <p:nvPr>
            <p:ph type="sldImg"/>
          </p:nvPr>
        </p:nvSpPr>
        <p:spPr>
          <a:xfrm>
            <a:off x="1371600" y="1143000"/>
            <a:ext cx="4114800" cy="3086100"/>
          </a:xfrm>
          <a:ln/>
        </p:spPr>
      </p:sp>
      <p:sp>
        <p:nvSpPr>
          <p:cNvPr id="41988"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pitchFamily="18" charset="0"/>
              </a:defRPr>
            </a:lvl1pPr>
            <a:lvl2pPr marL="730171" indent="-280835" eaLnBrk="0" hangingPunct="0">
              <a:defRPr sz="2400">
                <a:solidFill>
                  <a:schemeClr val="tx1"/>
                </a:solidFill>
                <a:latin typeface="Times New Roman" pitchFamily="18" charset="0"/>
              </a:defRPr>
            </a:lvl2pPr>
            <a:lvl3pPr marL="1123340" indent="-224668" eaLnBrk="0" hangingPunct="0">
              <a:defRPr sz="2400">
                <a:solidFill>
                  <a:schemeClr val="tx1"/>
                </a:solidFill>
                <a:latin typeface="Times New Roman" pitchFamily="18" charset="0"/>
              </a:defRPr>
            </a:lvl3pPr>
            <a:lvl4pPr marL="1572677" indent="-224668" eaLnBrk="0" hangingPunct="0">
              <a:defRPr sz="2400">
                <a:solidFill>
                  <a:schemeClr val="tx1"/>
                </a:solidFill>
                <a:latin typeface="Times New Roman" pitchFamily="18" charset="0"/>
              </a:defRPr>
            </a:lvl4pPr>
            <a:lvl5pPr marL="2022013" indent="-224668" eaLnBrk="0" hangingPunct="0">
              <a:defRPr sz="2400">
                <a:solidFill>
                  <a:schemeClr val="tx1"/>
                </a:solidFill>
                <a:latin typeface="Times New Roman" pitchFamily="18" charset="0"/>
              </a:defRPr>
            </a:lvl5pPr>
            <a:lvl6pPr marL="2471349" indent="-224668" eaLnBrk="0" fontAlgn="base" hangingPunct="0">
              <a:spcBef>
                <a:spcPct val="0"/>
              </a:spcBef>
              <a:spcAft>
                <a:spcPct val="0"/>
              </a:spcAft>
              <a:defRPr sz="2400">
                <a:solidFill>
                  <a:schemeClr val="tx1"/>
                </a:solidFill>
                <a:latin typeface="Times New Roman" pitchFamily="18" charset="0"/>
              </a:defRPr>
            </a:lvl6pPr>
            <a:lvl7pPr marL="2920685" indent="-224668" eaLnBrk="0" fontAlgn="base" hangingPunct="0">
              <a:spcBef>
                <a:spcPct val="0"/>
              </a:spcBef>
              <a:spcAft>
                <a:spcPct val="0"/>
              </a:spcAft>
              <a:defRPr sz="2400">
                <a:solidFill>
                  <a:schemeClr val="tx1"/>
                </a:solidFill>
                <a:latin typeface="Times New Roman" pitchFamily="18" charset="0"/>
              </a:defRPr>
            </a:lvl7pPr>
            <a:lvl8pPr marL="3370021" indent="-224668" eaLnBrk="0" fontAlgn="base" hangingPunct="0">
              <a:spcBef>
                <a:spcPct val="0"/>
              </a:spcBef>
              <a:spcAft>
                <a:spcPct val="0"/>
              </a:spcAft>
              <a:defRPr sz="2400">
                <a:solidFill>
                  <a:schemeClr val="tx1"/>
                </a:solidFill>
                <a:latin typeface="Times New Roman" pitchFamily="18" charset="0"/>
              </a:defRPr>
            </a:lvl8pPr>
            <a:lvl9pPr marL="3819357" indent="-224668" eaLnBrk="0" fontAlgn="base" hangingPunct="0">
              <a:spcBef>
                <a:spcPct val="0"/>
              </a:spcBef>
              <a:spcAft>
                <a:spcPct val="0"/>
              </a:spcAft>
              <a:defRPr sz="2400">
                <a:solidFill>
                  <a:schemeClr val="tx1"/>
                </a:solidFill>
                <a:latin typeface="Times New Roman" pitchFamily="18" charset="0"/>
              </a:defRPr>
            </a:lvl9pPr>
          </a:lstStyle>
          <a:p>
            <a:pPr eaLnBrk="1" hangingPunct="1"/>
            <a:fld id="{C77D50A7-F7A1-4684-A6BE-1F536927F975}" type="slidenum">
              <a:rPr lang="en-US" altLang="en-US" sz="1200">
                <a:latin typeface="Tahoma" pitchFamily="34" charset="0"/>
              </a:rPr>
              <a:pPr eaLnBrk="1" hangingPunct="1"/>
              <a:t>3</a:t>
            </a:fld>
            <a:endParaRPr lang="en-US" altLang="en-US" sz="1200">
              <a:latin typeface="Tahoma" pitchFamily="34" charset="0"/>
            </a:endParaRPr>
          </a:p>
        </p:txBody>
      </p:sp>
      <p:sp>
        <p:nvSpPr>
          <p:cNvPr id="43011" name="Rectangle 2"/>
          <p:cNvSpPr>
            <a:spLocks noGrp="1" noRot="1" noChangeAspect="1" noChangeArrowheads="1" noTextEdit="1"/>
          </p:cNvSpPr>
          <p:nvPr>
            <p:ph type="sldImg"/>
          </p:nvPr>
        </p:nvSpPr>
        <p:spPr>
          <a:xfrm>
            <a:off x="1371600" y="1143000"/>
            <a:ext cx="4114800" cy="3086100"/>
          </a:xfrm>
          <a:ln/>
        </p:spPr>
      </p:sp>
      <p:sp>
        <p:nvSpPr>
          <p:cNvPr id="43012"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pitchFamily="18" charset="0"/>
              </a:defRPr>
            </a:lvl1pPr>
            <a:lvl2pPr marL="730171" indent="-280835" eaLnBrk="0" hangingPunct="0">
              <a:defRPr sz="2400">
                <a:solidFill>
                  <a:schemeClr val="tx1"/>
                </a:solidFill>
                <a:latin typeface="Times New Roman" pitchFamily="18" charset="0"/>
              </a:defRPr>
            </a:lvl2pPr>
            <a:lvl3pPr marL="1123340" indent="-224668" eaLnBrk="0" hangingPunct="0">
              <a:defRPr sz="2400">
                <a:solidFill>
                  <a:schemeClr val="tx1"/>
                </a:solidFill>
                <a:latin typeface="Times New Roman" pitchFamily="18" charset="0"/>
              </a:defRPr>
            </a:lvl3pPr>
            <a:lvl4pPr marL="1572677" indent="-224668" eaLnBrk="0" hangingPunct="0">
              <a:defRPr sz="2400">
                <a:solidFill>
                  <a:schemeClr val="tx1"/>
                </a:solidFill>
                <a:latin typeface="Times New Roman" pitchFamily="18" charset="0"/>
              </a:defRPr>
            </a:lvl4pPr>
            <a:lvl5pPr marL="2022013" indent="-224668" eaLnBrk="0" hangingPunct="0">
              <a:defRPr sz="2400">
                <a:solidFill>
                  <a:schemeClr val="tx1"/>
                </a:solidFill>
                <a:latin typeface="Times New Roman" pitchFamily="18" charset="0"/>
              </a:defRPr>
            </a:lvl5pPr>
            <a:lvl6pPr marL="2471349" indent="-224668" eaLnBrk="0" fontAlgn="base" hangingPunct="0">
              <a:spcBef>
                <a:spcPct val="0"/>
              </a:spcBef>
              <a:spcAft>
                <a:spcPct val="0"/>
              </a:spcAft>
              <a:defRPr sz="2400">
                <a:solidFill>
                  <a:schemeClr val="tx1"/>
                </a:solidFill>
                <a:latin typeface="Times New Roman" pitchFamily="18" charset="0"/>
              </a:defRPr>
            </a:lvl6pPr>
            <a:lvl7pPr marL="2920685" indent="-224668" eaLnBrk="0" fontAlgn="base" hangingPunct="0">
              <a:spcBef>
                <a:spcPct val="0"/>
              </a:spcBef>
              <a:spcAft>
                <a:spcPct val="0"/>
              </a:spcAft>
              <a:defRPr sz="2400">
                <a:solidFill>
                  <a:schemeClr val="tx1"/>
                </a:solidFill>
                <a:latin typeface="Times New Roman" pitchFamily="18" charset="0"/>
              </a:defRPr>
            </a:lvl7pPr>
            <a:lvl8pPr marL="3370021" indent="-224668" eaLnBrk="0" fontAlgn="base" hangingPunct="0">
              <a:spcBef>
                <a:spcPct val="0"/>
              </a:spcBef>
              <a:spcAft>
                <a:spcPct val="0"/>
              </a:spcAft>
              <a:defRPr sz="2400">
                <a:solidFill>
                  <a:schemeClr val="tx1"/>
                </a:solidFill>
                <a:latin typeface="Times New Roman" pitchFamily="18" charset="0"/>
              </a:defRPr>
            </a:lvl8pPr>
            <a:lvl9pPr marL="3819357" indent="-224668" eaLnBrk="0" fontAlgn="base" hangingPunct="0">
              <a:spcBef>
                <a:spcPct val="0"/>
              </a:spcBef>
              <a:spcAft>
                <a:spcPct val="0"/>
              </a:spcAft>
              <a:defRPr sz="2400">
                <a:solidFill>
                  <a:schemeClr val="tx1"/>
                </a:solidFill>
                <a:latin typeface="Times New Roman" pitchFamily="18" charset="0"/>
              </a:defRPr>
            </a:lvl9pPr>
          </a:lstStyle>
          <a:p>
            <a:pPr eaLnBrk="1" hangingPunct="1"/>
            <a:fld id="{A6450FD3-3F4B-497F-ACEA-185AAA38BCF4}" type="slidenum">
              <a:rPr lang="en-US" altLang="en-US" sz="1200">
                <a:latin typeface="Tahoma" pitchFamily="34" charset="0"/>
              </a:rPr>
              <a:pPr eaLnBrk="1" hangingPunct="1"/>
              <a:t>5</a:t>
            </a:fld>
            <a:endParaRPr lang="en-US" altLang="en-US" sz="1200">
              <a:latin typeface="Tahoma" pitchFamily="34" charset="0"/>
            </a:endParaRPr>
          </a:p>
        </p:txBody>
      </p:sp>
      <p:sp>
        <p:nvSpPr>
          <p:cNvPr id="45059" name="Rectangle 2"/>
          <p:cNvSpPr>
            <a:spLocks noGrp="1" noRot="1" noChangeAspect="1" noChangeArrowheads="1" noTextEdit="1"/>
          </p:cNvSpPr>
          <p:nvPr>
            <p:ph type="sldImg"/>
          </p:nvPr>
        </p:nvSpPr>
        <p:spPr>
          <a:xfrm>
            <a:off x="685800" y="1143000"/>
            <a:ext cx="5486400" cy="3086100"/>
          </a:xfrm>
          <a:ln/>
        </p:spPr>
      </p:sp>
      <p:sp>
        <p:nvSpPr>
          <p:cNvPr id="45060"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Venn diagram of binary,</a:t>
            </a:r>
            <a:r>
              <a:rPr lang="en-US" baseline="0" dirty="0"/>
              <a:t> full, complete</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17</a:t>
            </a:fld>
            <a:endParaRPr lang="en-US"/>
          </a:p>
        </p:txBody>
      </p:sp>
    </p:spTree>
    <p:extLst>
      <p:ext uri="{BB962C8B-B14F-4D97-AF65-F5344CB8AC3E}">
        <p14:creationId xmlns:p14="http://schemas.microsoft.com/office/powerpoint/2010/main" val="4041969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L=i+1</a:t>
            </a:r>
          </a:p>
          <a:p>
            <a:r>
              <a:rPr lang="en-US" dirty="0"/>
              <a:t>n=2i+1</a:t>
            </a:r>
          </a:p>
          <a:p>
            <a:r>
              <a:rPr lang="en-US" dirty="0" err="1"/>
              <a:t>i</a:t>
            </a:r>
            <a:r>
              <a:rPr lang="en-US" dirty="0"/>
              <a:t>=(n-1)/2</a:t>
            </a:r>
          </a:p>
          <a:p>
            <a:r>
              <a:rPr lang="en-US" dirty="0"/>
              <a:t>L=((n-1)/2)+1 = (n+1)/2</a:t>
            </a:r>
          </a:p>
          <a:p>
            <a:r>
              <a:rPr lang="en-US" dirty="0"/>
              <a:t>2L-1=n</a:t>
            </a:r>
          </a:p>
          <a:p>
            <a:endParaRPr lang="en-US" dirty="0"/>
          </a:p>
          <a:p>
            <a:r>
              <a:rPr lang="en-US" dirty="0" err="1"/>
              <a:t>i</a:t>
            </a:r>
            <a:r>
              <a:rPr lang="en-US" dirty="0"/>
              <a:t>=(n-1)/2 </a:t>
            </a:r>
            <a:r>
              <a:rPr lang="en-US" dirty="0">
                <a:sym typeface="Wingdings" panose="05000000000000000000" pitchFamily="2" charset="2"/>
              </a:rPr>
              <a:t> 2i=n-1  2i=2L-1-1</a:t>
            </a:r>
            <a:r>
              <a:rPr lang="en-US" baseline="0" dirty="0">
                <a:sym typeface="Wingdings" panose="05000000000000000000" pitchFamily="2" charset="2"/>
              </a:rPr>
              <a:t>  2i=2L-2  </a:t>
            </a:r>
            <a:r>
              <a:rPr lang="en-US" baseline="0" dirty="0" err="1">
                <a:sym typeface="Wingdings" panose="05000000000000000000" pitchFamily="2" charset="2"/>
              </a:rPr>
              <a:t>i</a:t>
            </a:r>
            <a:r>
              <a:rPr lang="en-US" baseline="0" dirty="0">
                <a:sym typeface="Wingdings" panose="05000000000000000000" pitchFamily="2" charset="2"/>
              </a:rPr>
              <a:t>=L-1</a:t>
            </a:r>
          </a:p>
          <a:p>
            <a:endParaRPr lang="en-US" baseline="0"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21</a:t>
            </a:fld>
            <a:endParaRPr lang="en-US"/>
          </a:p>
        </p:txBody>
      </p:sp>
    </p:spTree>
    <p:extLst>
      <p:ext uri="{BB962C8B-B14F-4D97-AF65-F5344CB8AC3E}">
        <p14:creationId xmlns:p14="http://schemas.microsoft.com/office/powerpoint/2010/main" val="435459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Ans</a:t>
            </a:r>
            <a:r>
              <a:rPr lang="en-US" baseline="0" dirty="0"/>
              <a:t> is D</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52</a:t>
            </a:fld>
            <a:endParaRPr lang="en-US"/>
          </a:p>
        </p:txBody>
      </p:sp>
    </p:spTree>
    <p:extLst>
      <p:ext uri="{BB962C8B-B14F-4D97-AF65-F5344CB8AC3E}">
        <p14:creationId xmlns:p14="http://schemas.microsoft.com/office/powerpoint/2010/main" val="3798281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Ans</a:t>
            </a:r>
            <a:r>
              <a:rPr lang="en-US" dirty="0"/>
              <a:t> 14</a:t>
            </a:r>
          </a:p>
        </p:txBody>
      </p:sp>
      <p:sp>
        <p:nvSpPr>
          <p:cNvPr id="4" name="Slide Number Placeholder 3"/>
          <p:cNvSpPr>
            <a:spLocks noGrp="1"/>
          </p:cNvSpPr>
          <p:nvPr>
            <p:ph type="sldNum" sz="quarter" idx="10"/>
          </p:nvPr>
        </p:nvSpPr>
        <p:spPr/>
        <p:txBody>
          <a:bodyPr/>
          <a:lstStyle/>
          <a:p>
            <a:fld id="{B0EAF083-6659-4761-8DBD-F9B281D98BC7}" type="slidenum">
              <a:rPr lang="en-US" smtClean="0"/>
              <a:t>61</a:t>
            </a:fld>
            <a:endParaRPr lang="en-US"/>
          </a:p>
        </p:txBody>
      </p:sp>
    </p:spTree>
    <p:extLst>
      <p:ext uri="{BB962C8B-B14F-4D97-AF65-F5344CB8AC3E}">
        <p14:creationId xmlns:p14="http://schemas.microsoft.com/office/powerpoint/2010/main" val="1276885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right side of 5</a:t>
            </a:r>
          </a:p>
          <a:p>
            <a:r>
              <a:rPr lang="en-US" baseline="0" dirty="0"/>
              <a:t>38: 6 or 5</a:t>
            </a:r>
          </a:p>
          <a:p>
            <a:r>
              <a:rPr lang="en-US" baseline="0" dirty="0"/>
              <a:t>39: </a:t>
            </a:r>
            <a:r>
              <a:rPr lang="en-US" baseline="0" dirty="0" err="1"/>
              <a:t>Inorder</a:t>
            </a:r>
            <a:endParaRPr lang="en-US" baseline="0" dirty="0"/>
          </a:p>
          <a:p>
            <a:r>
              <a:rPr lang="en-US" baseline="0" dirty="0"/>
              <a:t>40: Preorder</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62</a:t>
            </a:fld>
            <a:endParaRPr lang="en-US"/>
          </a:p>
        </p:txBody>
      </p:sp>
    </p:spTree>
    <p:extLst>
      <p:ext uri="{BB962C8B-B14F-4D97-AF65-F5344CB8AC3E}">
        <p14:creationId xmlns:p14="http://schemas.microsoft.com/office/powerpoint/2010/main" val="252619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Ans</a:t>
            </a:r>
            <a:r>
              <a:rPr lang="en-US" dirty="0"/>
              <a:t> D</a:t>
            </a:r>
          </a:p>
        </p:txBody>
      </p:sp>
      <p:sp>
        <p:nvSpPr>
          <p:cNvPr id="4" name="Slide Number Placeholder 3"/>
          <p:cNvSpPr>
            <a:spLocks noGrp="1"/>
          </p:cNvSpPr>
          <p:nvPr>
            <p:ph type="sldNum" sz="quarter" idx="10"/>
          </p:nvPr>
        </p:nvSpPr>
        <p:spPr/>
        <p:txBody>
          <a:bodyPr/>
          <a:lstStyle/>
          <a:p>
            <a:fld id="{B0EAF083-6659-4761-8DBD-F9B281D98BC7}" type="slidenum">
              <a:rPr lang="en-US" smtClean="0"/>
              <a:t>64</a:t>
            </a:fld>
            <a:endParaRPr lang="en-US"/>
          </a:p>
        </p:txBody>
      </p:sp>
    </p:spTree>
    <p:extLst>
      <p:ext uri="{BB962C8B-B14F-4D97-AF65-F5344CB8AC3E}">
        <p14:creationId xmlns:p14="http://schemas.microsoft.com/office/powerpoint/2010/main" val="4075357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Ans</a:t>
            </a:r>
            <a:r>
              <a:rPr lang="en-US"/>
              <a:t> 2.57</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65</a:t>
            </a:fld>
            <a:endParaRPr lang="en-US"/>
          </a:p>
        </p:txBody>
      </p:sp>
    </p:spTree>
    <p:extLst>
      <p:ext uri="{BB962C8B-B14F-4D97-AF65-F5344CB8AC3E}">
        <p14:creationId xmlns:p14="http://schemas.microsoft.com/office/powerpoint/2010/main" val="559948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EAF083-6659-4761-8DBD-F9B281D98BC7}" type="slidenum">
              <a:rPr lang="en-US" smtClean="0"/>
              <a:t>69</a:t>
            </a:fld>
            <a:endParaRPr lang="en-US"/>
          </a:p>
        </p:txBody>
      </p:sp>
    </p:spTree>
    <p:extLst>
      <p:ext uri="{BB962C8B-B14F-4D97-AF65-F5344CB8AC3E}">
        <p14:creationId xmlns:p14="http://schemas.microsoft.com/office/powerpoint/2010/main" val="3690727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5/4/2026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31260"/>
          </a:xfrm>
        </p:spPr>
        <p:txBody>
          <a:bodyPr/>
          <a:lstStyle/>
          <a:p>
            <a:r>
              <a:rPr lang="en-US" dirty="0"/>
              <a:t>Click to edit Master title style</a:t>
            </a:r>
          </a:p>
        </p:txBody>
      </p:sp>
      <p:sp>
        <p:nvSpPr>
          <p:cNvPr id="3" name="Content Placeholder 2"/>
          <p:cNvSpPr>
            <a:spLocks noGrp="1"/>
          </p:cNvSpPr>
          <p:nvPr>
            <p:ph idx="1"/>
          </p:nvPr>
        </p:nvSpPr>
        <p:spPr>
          <a:xfrm>
            <a:off x="1251678" y="1506829"/>
            <a:ext cx="10178322" cy="5214646"/>
          </a:xfrm>
        </p:spPr>
        <p:txBody>
          <a:bodyPr>
            <a:normAutofit/>
          </a:bodyPr>
          <a:lstStyle>
            <a:lvl1pPr>
              <a:defRPr sz="1800">
                <a:latin typeface="Georgia" panose="02040502050405020303" pitchFamily="18" charset="0"/>
              </a:defRPr>
            </a:lvl1pPr>
            <a:lvl2pPr>
              <a:defRPr sz="1800">
                <a:latin typeface="Georgia" panose="02040502050405020303" pitchFamily="18" charset="0"/>
              </a:defRPr>
            </a:lvl2pPr>
            <a:lvl3pPr>
              <a:defRPr sz="1800">
                <a:latin typeface="Georgia" panose="02040502050405020303" pitchFamily="18" charset="0"/>
              </a:defRPr>
            </a:lvl3pPr>
            <a:lvl4pPr>
              <a:defRPr sz="1800">
                <a:latin typeface="Georgia" panose="02040502050405020303" pitchFamily="18" charset="0"/>
              </a:defRPr>
            </a:lvl4pPr>
            <a:lvl5pPr>
              <a:defRPr sz="1800">
                <a:latin typeface="Georgia" panose="02040502050405020303"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5/4/2026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5/4/2026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5/4/2026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5/4/2026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5/4/2026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5/4/2026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5/4/2026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5/4/2026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hyperlink" Target="https://www.geeksforgeeks.org/difference-between-full-and-complete-binary-tre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planetmath.org/nulltree" TargetMode="External"/><Relationship Id="rId2" Type="http://schemas.openxmlformats.org/officeDocument/2006/relationships/hyperlink" Target="http://planetmath.org/transformation"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www.enjoyalgorithms.com/blog/total-number-of-binary-search-trees-with-n-key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www.geeksforgeeks.org/expression-tree/"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geeksforgeeks.org/data-structure-gq/top-mcqs-on-binary-search-tree-bst-data-structure-with-answers/"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TREES</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97435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a:t>Nature View of a Tree</a:t>
            </a:r>
          </a:p>
        </p:txBody>
      </p:sp>
      <p:sp>
        <p:nvSpPr>
          <p:cNvPr id="4099" name="Text Box 3"/>
          <p:cNvSpPr txBox="1">
            <a:spLocks noChangeArrowheads="1"/>
          </p:cNvSpPr>
          <p:nvPr/>
        </p:nvSpPr>
        <p:spPr bwMode="auto">
          <a:xfrm>
            <a:off x="914400" y="4419600"/>
            <a:ext cx="2235200" cy="592138"/>
          </a:xfrm>
          <a:prstGeom prst="rect">
            <a:avLst/>
          </a:prstGeom>
          <a:noFill/>
          <a:ln w="127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branches</a:t>
            </a:r>
          </a:p>
        </p:txBody>
      </p:sp>
      <p:sp>
        <p:nvSpPr>
          <p:cNvPr id="4100" name="Text Box 4"/>
          <p:cNvSpPr txBox="1">
            <a:spLocks noChangeArrowheads="1"/>
          </p:cNvSpPr>
          <p:nvPr/>
        </p:nvSpPr>
        <p:spPr bwMode="auto">
          <a:xfrm>
            <a:off x="9042400" y="16764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leaves</a:t>
            </a:r>
          </a:p>
        </p:txBody>
      </p:sp>
      <p:sp>
        <p:nvSpPr>
          <p:cNvPr id="4101" name="Text Box 5"/>
          <p:cNvSpPr txBox="1">
            <a:spLocks noChangeArrowheads="1"/>
          </p:cNvSpPr>
          <p:nvPr/>
        </p:nvSpPr>
        <p:spPr bwMode="auto">
          <a:xfrm>
            <a:off x="8940800" y="4953000"/>
            <a:ext cx="1320800" cy="584775"/>
          </a:xfrm>
          <a:prstGeom prst="rect">
            <a:avLst/>
          </a:prstGeom>
          <a:noFill/>
          <a:ln w="381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root</a:t>
            </a:r>
          </a:p>
        </p:txBody>
      </p:sp>
      <p:pic>
        <p:nvPicPr>
          <p:cNvPr id="4102" name="Picture 6" descr="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133600"/>
            <a:ext cx="406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Line 7"/>
          <p:cNvSpPr>
            <a:spLocks noChangeShapeType="1"/>
          </p:cNvSpPr>
          <p:nvPr/>
        </p:nvSpPr>
        <p:spPr bwMode="auto">
          <a:xfrm flipV="1">
            <a:off x="3048000" y="3886200"/>
            <a:ext cx="2336800" cy="9906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4" name="Line 8"/>
          <p:cNvSpPr>
            <a:spLocks noChangeShapeType="1"/>
          </p:cNvSpPr>
          <p:nvPr/>
        </p:nvSpPr>
        <p:spPr bwMode="auto">
          <a:xfrm flipV="1">
            <a:off x="3048000" y="3810000"/>
            <a:ext cx="1930400" cy="8382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5" name="Line 9"/>
          <p:cNvSpPr>
            <a:spLocks noChangeShapeType="1"/>
          </p:cNvSpPr>
          <p:nvPr/>
        </p:nvSpPr>
        <p:spPr bwMode="auto">
          <a:xfrm flipH="1">
            <a:off x="6400800" y="20574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6" name="Line 10"/>
          <p:cNvSpPr>
            <a:spLocks noChangeShapeType="1"/>
          </p:cNvSpPr>
          <p:nvPr/>
        </p:nvSpPr>
        <p:spPr bwMode="auto">
          <a:xfrm flipH="1">
            <a:off x="6502400" y="22098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7" name="Line 11"/>
          <p:cNvSpPr>
            <a:spLocks noChangeShapeType="1"/>
          </p:cNvSpPr>
          <p:nvPr/>
        </p:nvSpPr>
        <p:spPr bwMode="auto">
          <a:xfrm flipH="1">
            <a:off x="6197600" y="19050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8" name="Line 12"/>
          <p:cNvSpPr>
            <a:spLocks noChangeShapeType="1"/>
          </p:cNvSpPr>
          <p:nvPr/>
        </p:nvSpPr>
        <p:spPr bwMode="auto">
          <a:xfrm>
            <a:off x="5892800" y="4419600"/>
            <a:ext cx="2946400" cy="762000"/>
          </a:xfrm>
          <a:prstGeom prst="line">
            <a:avLst/>
          </a:prstGeom>
          <a:noFill/>
          <a:ln w="381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38682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a:t>Computer Scientist’s View</a:t>
            </a:r>
          </a:p>
        </p:txBody>
      </p:sp>
      <p:pic>
        <p:nvPicPr>
          <p:cNvPr id="5123" name="Picture 3" descr="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133600"/>
            <a:ext cx="406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4"/>
          <p:cNvSpPr txBox="1">
            <a:spLocks noChangeArrowheads="1"/>
          </p:cNvSpPr>
          <p:nvPr/>
        </p:nvSpPr>
        <p:spPr bwMode="auto">
          <a:xfrm>
            <a:off x="711200" y="4495800"/>
            <a:ext cx="2540000" cy="592138"/>
          </a:xfrm>
          <a:prstGeom prst="rect">
            <a:avLst/>
          </a:prstGeom>
          <a:noFill/>
          <a:ln w="127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branches</a:t>
            </a:r>
          </a:p>
        </p:txBody>
      </p:sp>
      <p:sp>
        <p:nvSpPr>
          <p:cNvPr id="5125" name="Line 5"/>
          <p:cNvSpPr>
            <a:spLocks noChangeShapeType="1"/>
          </p:cNvSpPr>
          <p:nvPr/>
        </p:nvSpPr>
        <p:spPr bwMode="auto">
          <a:xfrm flipV="1">
            <a:off x="2844800" y="3657600"/>
            <a:ext cx="2336800" cy="9906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6" name="Line 6"/>
          <p:cNvSpPr>
            <a:spLocks noChangeShapeType="1"/>
          </p:cNvSpPr>
          <p:nvPr/>
        </p:nvSpPr>
        <p:spPr bwMode="auto">
          <a:xfrm flipV="1">
            <a:off x="2946400" y="4038600"/>
            <a:ext cx="1930400" cy="8382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7" name="Line 7"/>
          <p:cNvSpPr>
            <a:spLocks noChangeShapeType="1"/>
          </p:cNvSpPr>
          <p:nvPr/>
        </p:nvSpPr>
        <p:spPr bwMode="auto">
          <a:xfrm flipH="1">
            <a:off x="6299200" y="32004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8" name="Line 8"/>
          <p:cNvSpPr>
            <a:spLocks noChangeShapeType="1"/>
          </p:cNvSpPr>
          <p:nvPr/>
        </p:nvSpPr>
        <p:spPr bwMode="auto">
          <a:xfrm flipH="1">
            <a:off x="6400800" y="33528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9" name="Text Box 9"/>
          <p:cNvSpPr txBox="1">
            <a:spLocks noChangeArrowheads="1"/>
          </p:cNvSpPr>
          <p:nvPr/>
        </p:nvSpPr>
        <p:spPr bwMode="auto">
          <a:xfrm>
            <a:off x="8940800" y="2667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leaves</a:t>
            </a:r>
          </a:p>
        </p:txBody>
      </p:sp>
      <p:sp>
        <p:nvSpPr>
          <p:cNvPr id="5130" name="Line 10"/>
          <p:cNvSpPr>
            <a:spLocks noChangeShapeType="1"/>
          </p:cNvSpPr>
          <p:nvPr/>
        </p:nvSpPr>
        <p:spPr bwMode="auto">
          <a:xfrm flipH="1">
            <a:off x="6096000" y="3048000"/>
            <a:ext cx="2641600" cy="914400"/>
          </a:xfrm>
          <a:prstGeom prst="line">
            <a:avLst/>
          </a:prstGeom>
          <a:noFill/>
          <a:ln w="38100">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131" name="Group 11"/>
          <p:cNvGrpSpPr>
            <a:grpSpLocks/>
          </p:cNvGrpSpPr>
          <p:nvPr/>
        </p:nvGrpSpPr>
        <p:grpSpPr bwMode="auto">
          <a:xfrm>
            <a:off x="1524000" y="1752600"/>
            <a:ext cx="3962400" cy="1143000"/>
            <a:chOff x="720" y="1104"/>
            <a:chExt cx="1872" cy="720"/>
          </a:xfrm>
        </p:grpSpPr>
        <p:sp>
          <p:nvSpPr>
            <p:cNvPr id="5136" name="Text Box 12"/>
            <p:cNvSpPr txBox="1">
              <a:spLocks noChangeArrowheads="1"/>
            </p:cNvSpPr>
            <p:nvPr/>
          </p:nvSpPr>
          <p:spPr bwMode="auto">
            <a:xfrm>
              <a:off x="720" y="1104"/>
              <a:ext cx="624" cy="368"/>
            </a:xfrm>
            <a:prstGeom prst="rect">
              <a:avLst/>
            </a:prstGeom>
            <a:noFill/>
            <a:ln w="38100">
              <a:solidFill>
                <a:srgbClr val="FF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root</a:t>
              </a:r>
            </a:p>
          </p:txBody>
        </p:sp>
        <p:sp>
          <p:nvSpPr>
            <p:cNvPr id="5137" name="Line 13"/>
            <p:cNvSpPr>
              <a:spLocks noChangeShapeType="1"/>
            </p:cNvSpPr>
            <p:nvPr/>
          </p:nvSpPr>
          <p:spPr bwMode="auto">
            <a:xfrm>
              <a:off x="1200" y="1344"/>
              <a:ext cx="1392" cy="48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132" name="Group 14"/>
          <p:cNvGrpSpPr>
            <a:grpSpLocks/>
          </p:cNvGrpSpPr>
          <p:nvPr/>
        </p:nvGrpSpPr>
        <p:grpSpPr bwMode="auto">
          <a:xfrm>
            <a:off x="4775200" y="3276600"/>
            <a:ext cx="2235200" cy="2484438"/>
            <a:chOff x="2256" y="2064"/>
            <a:chExt cx="1056" cy="1565"/>
          </a:xfrm>
        </p:grpSpPr>
        <p:sp>
          <p:nvSpPr>
            <p:cNvPr id="5133" name="Line 15"/>
            <p:cNvSpPr>
              <a:spLocks noChangeShapeType="1"/>
            </p:cNvSpPr>
            <p:nvPr/>
          </p:nvSpPr>
          <p:spPr bwMode="auto">
            <a:xfrm>
              <a:off x="2688" y="2064"/>
              <a:ext cx="0" cy="1248"/>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4" name="Line 16"/>
            <p:cNvSpPr>
              <a:spLocks noChangeShapeType="1"/>
            </p:cNvSpPr>
            <p:nvPr/>
          </p:nvSpPr>
          <p:spPr bwMode="auto">
            <a:xfrm>
              <a:off x="2544" y="2256"/>
              <a:ext cx="0" cy="1056"/>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5" name="Text Box 17"/>
            <p:cNvSpPr txBox="1">
              <a:spLocks noChangeArrowheads="1"/>
            </p:cNvSpPr>
            <p:nvPr/>
          </p:nvSpPr>
          <p:spPr bwMode="auto">
            <a:xfrm>
              <a:off x="2256" y="3264"/>
              <a:ext cx="10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ltLang="en-US" sz="3200"/>
                <a:t>nodes</a:t>
              </a:r>
            </a:p>
          </p:txBody>
        </p:sp>
      </p:grpSp>
    </p:spTree>
    <p:extLst>
      <p:ext uri="{BB962C8B-B14F-4D97-AF65-F5344CB8AC3E}">
        <p14:creationId xmlns:p14="http://schemas.microsoft.com/office/powerpoint/2010/main" val="159504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tree?</a:t>
            </a:r>
          </a:p>
        </p:txBody>
      </p:sp>
      <p:sp>
        <p:nvSpPr>
          <p:cNvPr id="3" name="Content Placeholder 2"/>
          <p:cNvSpPr>
            <a:spLocks noGrp="1"/>
          </p:cNvSpPr>
          <p:nvPr>
            <p:ph idx="1"/>
          </p:nvPr>
        </p:nvSpPr>
        <p:spPr/>
        <p:txBody>
          <a:bodyPr/>
          <a:lstStyle/>
          <a:p>
            <a:r>
              <a:rPr lang="en-US" altLang="en-US" dirty="0"/>
              <a:t>A tree is a collection of nodes.  The collection can be empty; otherwise, a tree consists of a distinguished node r, called the root, and zero or more non-empty (sub) trees T</a:t>
            </a:r>
            <a:r>
              <a:rPr lang="en-US" altLang="en-US" baseline="-25000" dirty="0"/>
              <a:t>1</a:t>
            </a:r>
            <a:r>
              <a:rPr lang="en-US" altLang="en-US" dirty="0"/>
              <a:t>, T</a:t>
            </a:r>
            <a:r>
              <a:rPr lang="en-US" altLang="en-US" baseline="-25000" dirty="0"/>
              <a:t>2</a:t>
            </a:r>
            <a:r>
              <a:rPr lang="en-US" altLang="en-US" dirty="0"/>
              <a:t>, …, </a:t>
            </a:r>
            <a:r>
              <a:rPr lang="en-US" altLang="en-US" dirty="0" err="1"/>
              <a:t>T</a:t>
            </a:r>
            <a:r>
              <a:rPr lang="en-US" altLang="en-US" baseline="-25000" dirty="0" err="1"/>
              <a:t>k</a:t>
            </a:r>
            <a:r>
              <a:rPr lang="en-US" altLang="en-US" dirty="0"/>
              <a:t> each of whose roots are connected by a directed edge from r.</a:t>
            </a:r>
          </a:p>
          <a:p>
            <a:r>
              <a:rPr lang="en-US" altLang="en-US" dirty="0"/>
              <a:t>A tree is a collection of N nodes, one of which is the root and N-1 edges.</a:t>
            </a:r>
          </a:p>
          <a:p>
            <a:pPr>
              <a:lnSpc>
                <a:spcPct val="80000"/>
              </a:lnSpc>
            </a:pPr>
            <a:r>
              <a:rPr lang="en-US" altLang="en-US" dirty="0"/>
              <a:t>A tree is a finite nonempty set of elements.</a:t>
            </a:r>
          </a:p>
          <a:p>
            <a:pPr>
              <a:lnSpc>
                <a:spcPct val="80000"/>
              </a:lnSpc>
            </a:pPr>
            <a:r>
              <a:rPr lang="en-US" dirty="0"/>
              <a:t>Unlike Arrays, Linked Lists, Stack and queues, which are linear data structures, trees are hierarchical data structures.</a:t>
            </a:r>
          </a:p>
          <a:p>
            <a:pPr>
              <a:lnSpc>
                <a:spcPct val="80000"/>
              </a:lnSpc>
            </a:pPr>
            <a:r>
              <a:rPr lang="en-US" altLang="en-US" dirty="0"/>
              <a:t>Consists of nodes with a parent-child relation.</a:t>
            </a:r>
          </a:p>
          <a:p>
            <a:pPr>
              <a:lnSpc>
                <a:spcPct val="80000"/>
              </a:lnSpc>
            </a:pPr>
            <a:r>
              <a:rPr lang="en-US" altLang="en-US" dirty="0"/>
              <a:t>Applications:</a:t>
            </a:r>
          </a:p>
          <a:p>
            <a:pPr lvl="1">
              <a:lnSpc>
                <a:spcPct val="80000"/>
              </a:lnSpc>
            </a:pPr>
            <a:r>
              <a:rPr lang="en-US" altLang="en-US" sz="1600" dirty="0"/>
              <a:t>Organization charts</a:t>
            </a:r>
          </a:p>
          <a:p>
            <a:pPr lvl="1">
              <a:lnSpc>
                <a:spcPct val="80000"/>
              </a:lnSpc>
            </a:pPr>
            <a:r>
              <a:rPr lang="en-US" altLang="en-US" sz="1600" dirty="0"/>
              <a:t>File systems</a:t>
            </a:r>
          </a:p>
          <a:p>
            <a:endParaRPr lang="en-US" dirty="0"/>
          </a:p>
        </p:txBody>
      </p:sp>
      <p:grpSp>
        <p:nvGrpSpPr>
          <p:cNvPr id="4" name="Group 4"/>
          <p:cNvGrpSpPr>
            <a:grpSpLocks/>
          </p:cNvGrpSpPr>
          <p:nvPr/>
        </p:nvGrpSpPr>
        <p:grpSpPr bwMode="auto">
          <a:xfrm>
            <a:off x="6538598" y="3544094"/>
            <a:ext cx="5020399" cy="3132138"/>
            <a:chOff x="2180" y="957"/>
            <a:chExt cx="3301" cy="1973"/>
          </a:xfrm>
        </p:grpSpPr>
        <p:sp>
          <p:nvSpPr>
            <p:cNvPr id="5" name="AutoShape 5"/>
            <p:cNvSpPr>
              <a:spLocks noChangeAspect="1" noChangeArrowheads="1"/>
            </p:cNvSpPr>
            <p:nvPr/>
          </p:nvSpPr>
          <p:spPr bwMode="auto">
            <a:xfrm>
              <a:off x="3333" y="957"/>
              <a:ext cx="1082"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Computers”R”Us</a:t>
              </a:r>
            </a:p>
          </p:txBody>
        </p:sp>
        <p:sp>
          <p:nvSpPr>
            <p:cNvPr id="6" name="AutoShape 6"/>
            <p:cNvSpPr>
              <a:spLocks noChangeAspect="1" noChangeArrowheads="1"/>
            </p:cNvSpPr>
            <p:nvPr/>
          </p:nvSpPr>
          <p:spPr bwMode="auto">
            <a:xfrm>
              <a:off x="2604" y="1533"/>
              <a:ext cx="437"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Sales</a:t>
              </a:r>
            </a:p>
          </p:txBody>
        </p:sp>
        <p:sp>
          <p:nvSpPr>
            <p:cNvPr id="7" name="AutoShape 7"/>
            <p:cNvSpPr>
              <a:spLocks noChangeAspect="1" noChangeArrowheads="1"/>
            </p:cNvSpPr>
            <p:nvPr/>
          </p:nvSpPr>
          <p:spPr bwMode="auto">
            <a:xfrm>
              <a:off x="5085" y="1533"/>
              <a:ext cx="396"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R&amp;D</a:t>
              </a:r>
            </a:p>
          </p:txBody>
        </p:sp>
        <p:sp>
          <p:nvSpPr>
            <p:cNvPr id="8" name="AutoShape 8"/>
            <p:cNvSpPr>
              <a:spLocks noChangeAspect="1" noChangeArrowheads="1"/>
            </p:cNvSpPr>
            <p:nvPr/>
          </p:nvSpPr>
          <p:spPr bwMode="auto">
            <a:xfrm>
              <a:off x="3977" y="1533"/>
              <a:ext cx="956"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Manufacturing</a:t>
              </a:r>
            </a:p>
          </p:txBody>
        </p:sp>
        <p:sp>
          <p:nvSpPr>
            <p:cNvPr id="9" name="AutoShape 9"/>
            <p:cNvSpPr>
              <a:spLocks noChangeAspect="1" noChangeArrowheads="1"/>
            </p:cNvSpPr>
            <p:nvPr/>
          </p:nvSpPr>
          <p:spPr bwMode="auto">
            <a:xfrm>
              <a:off x="3787" y="2109"/>
              <a:ext cx="591"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Laptops</a:t>
              </a:r>
            </a:p>
          </p:txBody>
        </p:sp>
        <p:sp>
          <p:nvSpPr>
            <p:cNvPr id="10" name="AutoShape 10"/>
            <p:cNvSpPr>
              <a:spLocks noChangeAspect="1" noChangeArrowheads="1"/>
            </p:cNvSpPr>
            <p:nvPr/>
          </p:nvSpPr>
          <p:spPr bwMode="auto">
            <a:xfrm>
              <a:off x="4512" y="2109"/>
              <a:ext cx="664"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Desktops</a:t>
              </a:r>
            </a:p>
          </p:txBody>
        </p:sp>
        <p:sp>
          <p:nvSpPr>
            <p:cNvPr id="11" name="AutoShape 11"/>
            <p:cNvSpPr>
              <a:spLocks noChangeAspect="1" noChangeArrowheads="1"/>
            </p:cNvSpPr>
            <p:nvPr/>
          </p:nvSpPr>
          <p:spPr bwMode="auto">
            <a:xfrm>
              <a:off x="2351" y="2108"/>
              <a:ext cx="297"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US</a:t>
              </a:r>
            </a:p>
          </p:txBody>
        </p:sp>
        <p:sp>
          <p:nvSpPr>
            <p:cNvPr id="12" name="AutoShape 12"/>
            <p:cNvSpPr>
              <a:spLocks noChangeAspect="1" noChangeArrowheads="1"/>
            </p:cNvSpPr>
            <p:nvPr/>
          </p:nvSpPr>
          <p:spPr bwMode="auto">
            <a:xfrm>
              <a:off x="2783" y="2109"/>
              <a:ext cx="870"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dirty="0">
                  <a:latin typeface="Tahoma" pitchFamily="34" charset="0"/>
                </a:rPr>
                <a:t>International</a:t>
              </a:r>
            </a:p>
          </p:txBody>
        </p:sp>
        <p:cxnSp>
          <p:nvCxnSpPr>
            <p:cNvPr id="13" name="AutoShape 13"/>
            <p:cNvCxnSpPr>
              <a:cxnSpLocks noChangeShapeType="1"/>
              <a:stCxn id="5" idx="2"/>
              <a:endCxn id="6" idx="0"/>
            </p:cNvCxnSpPr>
            <p:nvPr/>
          </p:nvCxnSpPr>
          <p:spPr bwMode="auto">
            <a:xfrm flipH="1">
              <a:off x="2823" y="1205"/>
              <a:ext cx="1051"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4"/>
            <p:cNvCxnSpPr>
              <a:cxnSpLocks noChangeShapeType="1"/>
              <a:stCxn id="5" idx="2"/>
              <a:endCxn id="8" idx="0"/>
            </p:cNvCxnSpPr>
            <p:nvPr/>
          </p:nvCxnSpPr>
          <p:spPr bwMode="auto">
            <a:xfrm>
              <a:off x="3874" y="1205"/>
              <a:ext cx="581"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p:cNvCxnSpPr>
              <a:cxnSpLocks noChangeShapeType="1"/>
              <a:stCxn id="5" idx="2"/>
              <a:endCxn id="7" idx="0"/>
            </p:cNvCxnSpPr>
            <p:nvPr/>
          </p:nvCxnSpPr>
          <p:spPr bwMode="auto">
            <a:xfrm>
              <a:off x="3874" y="1205"/>
              <a:ext cx="1409"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p:cNvCxnSpPr>
              <a:cxnSpLocks noChangeShapeType="1"/>
              <a:stCxn id="8" idx="2"/>
              <a:endCxn id="10" idx="0"/>
            </p:cNvCxnSpPr>
            <p:nvPr/>
          </p:nvCxnSpPr>
          <p:spPr bwMode="auto">
            <a:xfrm>
              <a:off x="4455" y="1781"/>
              <a:ext cx="389"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p:cNvCxnSpPr>
              <a:cxnSpLocks noChangeShapeType="1"/>
              <a:stCxn id="8" idx="2"/>
              <a:endCxn id="9" idx="0"/>
            </p:cNvCxnSpPr>
            <p:nvPr/>
          </p:nvCxnSpPr>
          <p:spPr bwMode="auto">
            <a:xfrm flipH="1">
              <a:off x="4083" y="1781"/>
              <a:ext cx="372"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8"/>
            <p:cNvCxnSpPr>
              <a:cxnSpLocks noChangeShapeType="1"/>
              <a:stCxn id="6" idx="2"/>
              <a:endCxn id="12" idx="0"/>
            </p:cNvCxnSpPr>
            <p:nvPr/>
          </p:nvCxnSpPr>
          <p:spPr bwMode="auto">
            <a:xfrm>
              <a:off x="2823" y="1781"/>
              <a:ext cx="395" cy="32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9"/>
            <p:cNvCxnSpPr>
              <a:cxnSpLocks noChangeShapeType="1"/>
              <a:stCxn id="6" idx="2"/>
              <a:endCxn id="11" idx="0"/>
            </p:cNvCxnSpPr>
            <p:nvPr/>
          </p:nvCxnSpPr>
          <p:spPr bwMode="auto">
            <a:xfrm flipH="1">
              <a:off x="2500" y="1781"/>
              <a:ext cx="323" cy="321"/>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AutoShape 20"/>
            <p:cNvSpPr>
              <a:spLocks noChangeAspect="1" noChangeArrowheads="1"/>
            </p:cNvSpPr>
            <p:nvPr/>
          </p:nvSpPr>
          <p:spPr bwMode="auto">
            <a:xfrm>
              <a:off x="2180" y="2688"/>
              <a:ext cx="547"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Europe</a:t>
              </a:r>
            </a:p>
          </p:txBody>
        </p:sp>
        <p:sp>
          <p:nvSpPr>
            <p:cNvPr id="21" name="AutoShape 21"/>
            <p:cNvSpPr>
              <a:spLocks noChangeAspect="1" noChangeArrowheads="1"/>
            </p:cNvSpPr>
            <p:nvPr/>
          </p:nvSpPr>
          <p:spPr bwMode="auto">
            <a:xfrm>
              <a:off x="3023" y="2688"/>
              <a:ext cx="374"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Asia</a:t>
              </a:r>
            </a:p>
          </p:txBody>
        </p:sp>
        <p:cxnSp>
          <p:nvCxnSpPr>
            <p:cNvPr id="22" name="AutoShape 22"/>
            <p:cNvCxnSpPr>
              <a:cxnSpLocks noChangeShapeType="1"/>
              <a:stCxn id="12" idx="2"/>
              <a:endCxn id="21" idx="0"/>
            </p:cNvCxnSpPr>
            <p:nvPr/>
          </p:nvCxnSpPr>
          <p:spPr bwMode="auto">
            <a:xfrm flipH="1">
              <a:off x="3210" y="2357"/>
              <a:ext cx="8" cy="3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3"/>
            <p:cNvCxnSpPr>
              <a:cxnSpLocks noChangeShapeType="1"/>
              <a:stCxn id="12" idx="2"/>
              <a:endCxn id="20" idx="0"/>
            </p:cNvCxnSpPr>
            <p:nvPr/>
          </p:nvCxnSpPr>
          <p:spPr bwMode="auto">
            <a:xfrm flipH="1">
              <a:off x="2454" y="2357"/>
              <a:ext cx="764" cy="3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24"/>
            <p:cNvSpPr>
              <a:spLocks noChangeAspect="1" noChangeArrowheads="1"/>
            </p:cNvSpPr>
            <p:nvPr/>
          </p:nvSpPr>
          <p:spPr bwMode="auto">
            <a:xfrm>
              <a:off x="3698" y="2688"/>
              <a:ext cx="570" cy="24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Canada</a:t>
              </a:r>
            </a:p>
          </p:txBody>
        </p:sp>
        <p:cxnSp>
          <p:nvCxnSpPr>
            <p:cNvPr id="25" name="AutoShape 25"/>
            <p:cNvCxnSpPr>
              <a:cxnSpLocks noChangeShapeType="1"/>
              <a:stCxn id="12" idx="2"/>
              <a:endCxn id="24" idx="0"/>
            </p:cNvCxnSpPr>
            <p:nvPr/>
          </p:nvCxnSpPr>
          <p:spPr bwMode="auto">
            <a:xfrm>
              <a:off x="3218" y="2357"/>
              <a:ext cx="765" cy="3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10231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AutoShape 2"/>
          <p:cNvSpPr>
            <a:spLocks noChangeArrowheads="1"/>
          </p:cNvSpPr>
          <p:nvPr/>
        </p:nvSpPr>
        <p:spPr bwMode="auto">
          <a:xfrm>
            <a:off x="9029700" y="3270250"/>
            <a:ext cx="2641600" cy="1828800"/>
          </a:xfrm>
          <a:prstGeom prst="triangle">
            <a:avLst>
              <a:gd name="adj" fmla="val 50000"/>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2651760" bIns="0" anchor="b" anchorCtr="1"/>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a:latin typeface="Tahoma" pitchFamily="34" charset="0"/>
              </a:rPr>
              <a:t>subtree</a:t>
            </a:r>
          </a:p>
        </p:txBody>
      </p:sp>
      <p:sp>
        <p:nvSpPr>
          <p:cNvPr id="7171" name="Rectangle 3"/>
          <p:cNvSpPr>
            <a:spLocks noGrp="1" noChangeArrowheads="1"/>
          </p:cNvSpPr>
          <p:nvPr>
            <p:ph type="title"/>
          </p:nvPr>
        </p:nvSpPr>
        <p:spPr/>
        <p:txBody>
          <a:bodyPr/>
          <a:lstStyle/>
          <a:p>
            <a:pPr eaLnBrk="1" hangingPunct="1"/>
            <a:r>
              <a:rPr lang="en-US" altLang="en-US"/>
              <a:t>Tree Terminology</a:t>
            </a:r>
          </a:p>
        </p:txBody>
      </p:sp>
      <p:sp>
        <p:nvSpPr>
          <p:cNvPr id="7172" name="Rectangle 4"/>
          <p:cNvSpPr>
            <a:spLocks noGrp="1" noChangeArrowheads="1"/>
          </p:cNvSpPr>
          <p:nvPr>
            <p:ph type="body" idx="1"/>
          </p:nvPr>
        </p:nvSpPr>
        <p:spPr>
          <a:xfrm>
            <a:off x="812800" y="1676400"/>
            <a:ext cx="5588000" cy="4724400"/>
          </a:xfrm>
        </p:spPr>
        <p:txBody>
          <a:bodyPr/>
          <a:lstStyle/>
          <a:p>
            <a:pPr>
              <a:lnSpc>
                <a:spcPct val="80000"/>
              </a:lnSpc>
            </a:pPr>
            <a:r>
              <a:rPr lang="en-US" altLang="en-US" sz="1600" b="1" dirty="0"/>
              <a:t>Parent &amp; Child: </a:t>
            </a:r>
            <a:r>
              <a:rPr lang="en-US" altLang="en-US" sz="1600" dirty="0"/>
              <a:t>The root of each subtree is said to be a </a:t>
            </a:r>
            <a:r>
              <a:rPr lang="en-US" altLang="en-US" sz="1600" b="1" dirty="0"/>
              <a:t>child </a:t>
            </a:r>
            <a:r>
              <a:rPr lang="en-US" altLang="en-US" sz="1600" dirty="0"/>
              <a:t>of r and r is said to be the </a:t>
            </a:r>
            <a:r>
              <a:rPr lang="en-US" altLang="en-US" sz="1600" b="1" dirty="0"/>
              <a:t>parent</a:t>
            </a:r>
            <a:r>
              <a:rPr lang="en-US" altLang="en-US" sz="1600" dirty="0"/>
              <a:t> of each subtree root.</a:t>
            </a:r>
            <a:endParaRPr lang="en-US" altLang="en-US" sz="1600" b="1" dirty="0"/>
          </a:p>
          <a:p>
            <a:pPr eaLnBrk="1" hangingPunct="1">
              <a:lnSpc>
                <a:spcPct val="80000"/>
              </a:lnSpc>
            </a:pPr>
            <a:r>
              <a:rPr lang="en-US" altLang="en-US" sz="1600" b="1" dirty="0"/>
              <a:t>Root</a:t>
            </a:r>
            <a:r>
              <a:rPr lang="en-US" altLang="en-US" sz="1600" dirty="0"/>
              <a:t>: node without parent (A)</a:t>
            </a:r>
          </a:p>
          <a:p>
            <a:pPr eaLnBrk="1" hangingPunct="1">
              <a:lnSpc>
                <a:spcPct val="80000"/>
              </a:lnSpc>
            </a:pPr>
            <a:r>
              <a:rPr lang="en-US" altLang="en-US" sz="1600" b="1" dirty="0"/>
              <a:t>Siblings</a:t>
            </a:r>
            <a:r>
              <a:rPr lang="en-US" altLang="en-US" sz="1600" dirty="0"/>
              <a:t>: nodes share the same parent (B,C,D)</a:t>
            </a:r>
          </a:p>
          <a:p>
            <a:pPr eaLnBrk="1" hangingPunct="1">
              <a:lnSpc>
                <a:spcPct val="80000"/>
              </a:lnSpc>
            </a:pPr>
            <a:r>
              <a:rPr lang="en-US" altLang="en-US" sz="1600" b="1" dirty="0"/>
              <a:t>Internal node</a:t>
            </a:r>
            <a:r>
              <a:rPr lang="en-US" altLang="en-US" sz="1600" dirty="0"/>
              <a:t>: node with at least one child (A, B, C, F)</a:t>
            </a:r>
          </a:p>
          <a:p>
            <a:pPr eaLnBrk="1" hangingPunct="1">
              <a:lnSpc>
                <a:spcPct val="80000"/>
              </a:lnSpc>
            </a:pPr>
            <a:r>
              <a:rPr lang="en-US" altLang="en-US" sz="1600" b="1" dirty="0"/>
              <a:t>External node</a:t>
            </a:r>
            <a:r>
              <a:rPr lang="en-US" altLang="en-US" sz="1600" dirty="0"/>
              <a:t> (leaf ): node without children (E, I, J, K, G, H, D)</a:t>
            </a:r>
          </a:p>
          <a:p>
            <a:pPr eaLnBrk="1" hangingPunct="1">
              <a:lnSpc>
                <a:spcPct val="80000"/>
              </a:lnSpc>
            </a:pPr>
            <a:r>
              <a:rPr lang="en-US" altLang="en-US" sz="1600" b="1" dirty="0"/>
              <a:t>Ancestors</a:t>
            </a:r>
            <a:r>
              <a:rPr lang="en-US" altLang="en-US" sz="1600" dirty="0"/>
              <a:t> of a node: parent, grandparent, grand-grandparent, etc.</a:t>
            </a:r>
          </a:p>
          <a:p>
            <a:pPr eaLnBrk="1" hangingPunct="1">
              <a:lnSpc>
                <a:spcPct val="80000"/>
              </a:lnSpc>
            </a:pPr>
            <a:r>
              <a:rPr lang="en-US" altLang="en-US" sz="1600" b="1" dirty="0"/>
              <a:t>Descendant</a:t>
            </a:r>
            <a:r>
              <a:rPr lang="en-US" altLang="en-US" sz="1600" dirty="0"/>
              <a:t> of a node: child, grandchild, grand-grandchild, etc.</a:t>
            </a:r>
          </a:p>
          <a:p>
            <a:pPr eaLnBrk="1" hangingPunct="1">
              <a:lnSpc>
                <a:spcPct val="80000"/>
              </a:lnSpc>
            </a:pPr>
            <a:r>
              <a:rPr lang="en-US" altLang="en-US" sz="1600" b="1" dirty="0"/>
              <a:t>Degree</a:t>
            </a:r>
            <a:r>
              <a:rPr lang="en-US" altLang="en-US" sz="1600" dirty="0"/>
              <a:t> of a node: the number of its children</a:t>
            </a:r>
          </a:p>
          <a:p>
            <a:pPr eaLnBrk="1" hangingPunct="1">
              <a:lnSpc>
                <a:spcPct val="80000"/>
              </a:lnSpc>
            </a:pPr>
            <a:r>
              <a:rPr lang="en-US" altLang="en-US" sz="1600" b="1" dirty="0"/>
              <a:t>Degree</a:t>
            </a:r>
            <a:r>
              <a:rPr lang="en-US" altLang="en-US" sz="1600" dirty="0"/>
              <a:t> of a tree: the maximum number of its node.</a:t>
            </a:r>
          </a:p>
          <a:p>
            <a:pPr marL="0" indent="0" eaLnBrk="1" hangingPunct="1">
              <a:lnSpc>
                <a:spcPct val="80000"/>
              </a:lnSpc>
              <a:buNone/>
            </a:pPr>
            <a:endParaRPr lang="en-US" altLang="en-US" sz="1600" dirty="0"/>
          </a:p>
          <a:p>
            <a:pPr eaLnBrk="1" hangingPunct="1">
              <a:lnSpc>
                <a:spcPct val="80000"/>
              </a:lnSpc>
            </a:pPr>
            <a:endParaRPr lang="en-US" altLang="en-US" sz="1600" dirty="0"/>
          </a:p>
        </p:txBody>
      </p:sp>
      <p:grpSp>
        <p:nvGrpSpPr>
          <p:cNvPr id="7173" name="Group 5"/>
          <p:cNvGrpSpPr>
            <a:grpSpLocks/>
          </p:cNvGrpSpPr>
          <p:nvPr/>
        </p:nvGrpSpPr>
        <p:grpSpPr bwMode="auto">
          <a:xfrm>
            <a:off x="6760634" y="2751138"/>
            <a:ext cx="4830233" cy="3116262"/>
            <a:chOff x="3161" y="1253"/>
            <a:chExt cx="2282" cy="1963"/>
          </a:xfrm>
        </p:grpSpPr>
        <p:sp>
          <p:nvSpPr>
            <p:cNvPr id="7175" name="AutoShape 6"/>
            <p:cNvSpPr>
              <a:spLocks noChangeAspect="1" noChangeArrowheads="1"/>
            </p:cNvSpPr>
            <p:nvPr/>
          </p:nvSpPr>
          <p:spPr bwMode="auto">
            <a:xfrm>
              <a:off x="4243" y="1253"/>
              <a:ext cx="161"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A</a:t>
              </a:r>
            </a:p>
          </p:txBody>
        </p:sp>
        <p:sp>
          <p:nvSpPr>
            <p:cNvPr id="7176" name="AutoShape 7"/>
            <p:cNvSpPr>
              <a:spLocks noChangeAspect="1" noChangeArrowheads="1"/>
            </p:cNvSpPr>
            <p:nvPr/>
          </p:nvSpPr>
          <p:spPr bwMode="auto">
            <a:xfrm>
              <a:off x="3411" y="1829"/>
              <a:ext cx="159"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B</a:t>
              </a:r>
            </a:p>
          </p:txBody>
        </p:sp>
        <p:sp>
          <p:nvSpPr>
            <p:cNvPr id="7177" name="AutoShape 8"/>
            <p:cNvSpPr>
              <a:spLocks noChangeAspect="1" noChangeArrowheads="1"/>
            </p:cNvSpPr>
            <p:nvPr/>
          </p:nvSpPr>
          <p:spPr bwMode="auto">
            <a:xfrm>
              <a:off x="5274" y="1828"/>
              <a:ext cx="169" cy="234"/>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D</a:t>
              </a:r>
            </a:p>
          </p:txBody>
        </p:sp>
        <p:sp>
          <p:nvSpPr>
            <p:cNvPr id="7178" name="AutoShape 9"/>
            <p:cNvSpPr>
              <a:spLocks noChangeAspect="1" noChangeArrowheads="1"/>
            </p:cNvSpPr>
            <p:nvPr/>
          </p:nvSpPr>
          <p:spPr bwMode="auto">
            <a:xfrm>
              <a:off x="4781" y="1829"/>
              <a:ext cx="161"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C</a:t>
              </a:r>
            </a:p>
          </p:txBody>
        </p:sp>
        <p:sp>
          <p:nvSpPr>
            <p:cNvPr id="7179" name="AutoShape 10"/>
            <p:cNvSpPr>
              <a:spLocks noChangeAspect="1" noChangeArrowheads="1"/>
            </p:cNvSpPr>
            <p:nvPr/>
          </p:nvSpPr>
          <p:spPr bwMode="auto">
            <a:xfrm>
              <a:off x="4521" y="2404"/>
              <a:ext cx="168" cy="234"/>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G</a:t>
              </a:r>
            </a:p>
          </p:txBody>
        </p:sp>
        <p:sp>
          <p:nvSpPr>
            <p:cNvPr id="7180" name="AutoShape 11"/>
            <p:cNvSpPr>
              <a:spLocks noChangeAspect="1" noChangeArrowheads="1"/>
            </p:cNvSpPr>
            <p:nvPr/>
          </p:nvSpPr>
          <p:spPr bwMode="auto">
            <a:xfrm>
              <a:off x="5034" y="2404"/>
              <a:ext cx="169" cy="234"/>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H</a:t>
              </a:r>
            </a:p>
          </p:txBody>
        </p:sp>
        <p:sp>
          <p:nvSpPr>
            <p:cNvPr id="7181" name="AutoShape 12"/>
            <p:cNvSpPr>
              <a:spLocks noChangeAspect="1" noChangeArrowheads="1"/>
            </p:cNvSpPr>
            <p:nvPr/>
          </p:nvSpPr>
          <p:spPr bwMode="auto">
            <a:xfrm>
              <a:off x="3161" y="2404"/>
              <a:ext cx="157" cy="232"/>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E</a:t>
              </a:r>
            </a:p>
          </p:txBody>
        </p:sp>
        <p:sp>
          <p:nvSpPr>
            <p:cNvPr id="7182" name="AutoShape 13"/>
            <p:cNvSpPr>
              <a:spLocks noChangeAspect="1" noChangeArrowheads="1"/>
            </p:cNvSpPr>
            <p:nvPr/>
          </p:nvSpPr>
          <p:spPr bwMode="auto">
            <a:xfrm>
              <a:off x="3664" y="2405"/>
              <a:ext cx="153"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F</a:t>
              </a:r>
            </a:p>
          </p:txBody>
        </p:sp>
        <p:cxnSp>
          <p:nvCxnSpPr>
            <p:cNvPr id="7183" name="AutoShape 14"/>
            <p:cNvCxnSpPr>
              <a:cxnSpLocks noChangeShapeType="1"/>
              <a:stCxn id="7175" idx="2"/>
              <a:endCxn id="7176" idx="0"/>
            </p:cNvCxnSpPr>
            <p:nvPr/>
          </p:nvCxnSpPr>
          <p:spPr bwMode="auto">
            <a:xfrm flipH="1">
              <a:off x="3491" y="1485"/>
              <a:ext cx="833" cy="344"/>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15"/>
            <p:cNvCxnSpPr>
              <a:cxnSpLocks noChangeShapeType="1"/>
              <a:stCxn id="7175" idx="2"/>
              <a:endCxn id="7178" idx="0"/>
            </p:cNvCxnSpPr>
            <p:nvPr/>
          </p:nvCxnSpPr>
          <p:spPr bwMode="auto">
            <a:xfrm>
              <a:off x="4324" y="1485"/>
              <a:ext cx="538" cy="344"/>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5" name="AutoShape 16"/>
            <p:cNvCxnSpPr>
              <a:cxnSpLocks noChangeShapeType="1"/>
              <a:stCxn id="7175" idx="2"/>
              <a:endCxn id="7177" idx="0"/>
            </p:cNvCxnSpPr>
            <p:nvPr/>
          </p:nvCxnSpPr>
          <p:spPr bwMode="auto">
            <a:xfrm>
              <a:off x="4324" y="1485"/>
              <a:ext cx="1035" cy="34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6" name="AutoShape 17"/>
            <p:cNvCxnSpPr>
              <a:cxnSpLocks noChangeShapeType="1"/>
              <a:stCxn id="7178" idx="2"/>
              <a:endCxn id="7180" idx="0"/>
            </p:cNvCxnSpPr>
            <p:nvPr/>
          </p:nvCxnSpPr>
          <p:spPr bwMode="auto">
            <a:xfrm>
              <a:off x="4862" y="2061"/>
              <a:ext cx="257" cy="34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7" name="AutoShape 18"/>
            <p:cNvCxnSpPr>
              <a:cxnSpLocks noChangeShapeType="1"/>
              <a:stCxn id="7178" idx="2"/>
              <a:endCxn id="7179" idx="0"/>
            </p:cNvCxnSpPr>
            <p:nvPr/>
          </p:nvCxnSpPr>
          <p:spPr bwMode="auto">
            <a:xfrm flipH="1">
              <a:off x="4605" y="2061"/>
              <a:ext cx="257" cy="34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19"/>
            <p:cNvCxnSpPr>
              <a:cxnSpLocks noChangeShapeType="1"/>
              <a:stCxn id="7176" idx="2"/>
              <a:endCxn id="7182" idx="0"/>
            </p:cNvCxnSpPr>
            <p:nvPr/>
          </p:nvCxnSpPr>
          <p:spPr bwMode="auto">
            <a:xfrm>
              <a:off x="3491" y="2061"/>
              <a:ext cx="250" cy="344"/>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9" name="AutoShape 20"/>
            <p:cNvCxnSpPr>
              <a:cxnSpLocks noChangeShapeType="1"/>
              <a:stCxn id="7176" idx="2"/>
              <a:endCxn id="7181" idx="0"/>
            </p:cNvCxnSpPr>
            <p:nvPr/>
          </p:nvCxnSpPr>
          <p:spPr bwMode="auto">
            <a:xfrm flipH="1">
              <a:off x="3240" y="2061"/>
              <a:ext cx="251" cy="34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0" name="AutoShape 21"/>
            <p:cNvSpPr>
              <a:spLocks noChangeAspect="1" noChangeArrowheads="1"/>
            </p:cNvSpPr>
            <p:nvPr/>
          </p:nvSpPr>
          <p:spPr bwMode="auto">
            <a:xfrm>
              <a:off x="3311" y="2985"/>
              <a:ext cx="137" cy="230"/>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I</a:t>
              </a:r>
            </a:p>
          </p:txBody>
        </p:sp>
        <p:sp>
          <p:nvSpPr>
            <p:cNvPr id="7191" name="AutoShape 22"/>
            <p:cNvSpPr>
              <a:spLocks noChangeAspect="1" noChangeArrowheads="1"/>
            </p:cNvSpPr>
            <p:nvPr/>
          </p:nvSpPr>
          <p:spPr bwMode="auto">
            <a:xfrm>
              <a:off x="3678" y="2985"/>
              <a:ext cx="141" cy="230"/>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J</a:t>
              </a:r>
            </a:p>
          </p:txBody>
        </p:sp>
        <p:cxnSp>
          <p:nvCxnSpPr>
            <p:cNvPr id="7192" name="AutoShape 23"/>
            <p:cNvCxnSpPr>
              <a:cxnSpLocks noChangeShapeType="1"/>
              <a:stCxn id="7182" idx="2"/>
              <a:endCxn id="7191" idx="0"/>
            </p:cNvCxnSpPr>
            <p:nvPr/>
          </p:nvCxnSpPr>
          <p:spPr bwMode="auto">
            <a:xfrm>
              <a:off x="3740" y="2637"/>
              <a:ext cx="8" cy="34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3" name="AutoShape 24"/>
            <p:cNvCxnSpPr>
              <a:cxnSpLocks noChangeShapeType="1"/>
              <a:stCxn id="7182" idx="2"/>
              <a:endCxn id="7190" idx="0"/>
            </p:cNvCxnSpPr>
            <p:nvPr/>
          </p:nvCxnSpPr>
          <p:spPr bwMode="auto">
            <a:xfrm flipH="1">
              <a:off x="3380" y="2637"/>
              <a:ext cx="361" cy="34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4" name="AutoShape 25"/>
            <p:cNvSpPr>
              <a:spLocks noChangeAspect="1" noChangeArrowheads="1"/>
            </p:cNvSpPr>
            <p:nvPr/>
          </p:nvSpPr>
          <p:spPr bwMode="auto">
            <a:xfrm>
              <a:off x="4053" y="2984"/>
              <a:ext cx="159" cy="232"/>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1600">
                  <a:latin typeface="Tahoma" pitchFamily="34" charset="0"/>
                </a:rPr>
                <a:t>K</a:t>
              </a:r>
            </a:p>
          </p:txBody>
        </p:sp>
        <p:cxnSp>
          <p:nvCxnSpPr>
            <p:cNvPr id="7195" name="AutoShape 26"/>
            <p:cNvCxnSpPr>
              <a:cxnSpLocks noChangeShapeType="1"/>
              <a:stCxn id="7182" idx="2"/>
              <a:endCxn id="7194" idx="0"/>
            </p:cNvCxnSpPr>
            <p:nvPr/>
          </p:nvCxnSpPr>
          <p:spPr bwMode="auto">
            <a:xfrm>
              <a:off x="3740" y="2637"/>
              <a:ext cx="392" cy="34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174" name="Rectangle 27" descr="Rectangle: Click to edit Master text styles&#10;Second level&#10;Third level&#10;Fourth level&#10;Fifth level"/>
          <p:cNvSpPr>
            <a:spLocks noChangeArrowheads="1"/>
          </p:cNvSpPr>
          <p:nvPr/>
        </p:nvSpPr>
        <p:spPr bwMode="auto">
          <a:xfrm>
            <a:off x="6908800" y="1600200"/>
            <a:ext cx="4673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Blip>
                <a:blip r:embed="rId3"/>
              </a:buBlip>
              <a:defRPr sz="2800">
                <a:solidFill>
                  <a:schemeClr val="tx1"/>
                </a:solidFill>
                <a:latin typeface="Georgia" pitchFamily="18" charset="0"/>
              </a:defRPr>
            </a:lvl1pPr>
            <a:lvl2pPr marL="742950" indent="-285750" eaLnBrk="0" hangingPunct="0">
              <a:spcBef>
                <a:spcPct val="20000"/>
              </a:spcBef>
              <a:buSzPct val="75000"/>
              <a:buBlip>
                <a:blip r:embed="rId4"/>
              </a:buBlip>
              <a:defRPr sz="2400">
                <a:solidFill>
                  <a:schemeClr val="tx1"/>
                </a:solidFill>
                <a:latin typeface="Georgia" pitchFamily="18" charset="0"/>
              </a:defRPr>
            </a:lvl2pPr>
            <a:lvl3pPr marL="1143000" indent="-228600" eaLnBrk="0" hangingPunct="0">
              <a:spcBef>
                <a:spcPct val="20000"/>
              </a:spcBef>
              <a:buChar char="•"/>
              <a:defRPr sz="2000">
                <a:solidFill>
                  <a:schemeClr val="tx1"/>
                </a:solidFill>
                <a:latin typeface="Georgia" pitchFamily="18" charset="0"/>
              </a:defRPr>
            </a:lvl3pPr>
            <a:lvl4pPr marL="1600200" indent="-228600" eaLnBrk="0" hangingPunct="0">
              <a:spcBef>
                <a:spcPct val="20000"/>
              </a:spcBef>
              <a:buChar char="–"/>
              <a:defRPr>
                <a:solidFill>
                  <a:schemeClr val="tx1"/>
                </a:solidFill>
                <a:latin typeface="Georgia" pitchFamily="18" charset="0"/>
              </a:defRPr>
            </a:lvl4pPr>
            <a:lvl5pPr marL="2057400" indent="-228600" eaLnBrk="0" hangingPunct="0">
              <a:spcBef>
                <a:spcPct val="20000"/>
              </a:spcBef>
              <a:buClr>
                <a:schemeClr val="tx2"/>
              </a:buClr>
              <a:buChar char="–"/>
              <a:defRPr>
                <a:solidFill>
                  <a:schemeClr val="tx1"/>
                </a:solidFill>
                <a:latin typeface="Georgia" pitchFamily="18" charset="0"/>
              </a:defRPr>
            </a:lvl5pPr>
            <a:lvl6pPr marL="2514600" indent="-228600" eaLnBrk="0" fontAlgn="base" hangingPunct="0">
              <a:spcBef>
                <a:spcPct val="20000"/>
              </a:spcBef>
              <a:spcAft>
                <a:spcPct val="0"/>
              </a:spcAft>
              <a:buClr>
                <a:schemeClr val="tx2"/>
              </a:buClr>
              <a:buChar char="–"/>
              <a:defRPr>
                <a:solidFill>
                  <a:schemeClr val="tx1"/>
                </a:solidFill>
                <a:latin typeface="Georgia" pitchFamily="18" charset="0"/>
              </a:defRPr>
            </a:lvl6pPr>
            <a:lvl7pPr marL="2971800" indent="-228600" eaLnBrk="0" fontAlgn="base" hangingPunct="0">
              <a:spcBef>
                <a:spcPct val="20000"/>
              </a:spcBef>
              <a:spcAft>
                <a:spcPct val="0"/>
              </a:spcAft>
              <a:buClr>
                <a:schemeClr val="tx2"/>
              </a:buClr>
              <a:buChar char="–"/>
              <a:defRPr>
                <a:solidFill>
                  <a:schemeClr val="tx1"/>
                </a:solidFill>
                <a:latin typeface="Georgia" pitchFamily="18" charset="0"/>
              </a:defRPr>
            </a:lvl7pPr>
            <a:lvl8pPr marL="3429000" indent="-228600" eaLnBrk="0" fontAlgn="base" hangingPunct="0">
              <a:spcBef>
                <a:spcPct val="20000"/>
              </a:spcBef>
              <a:spcAft>
                <a:spcPct val="0"/>
              </a:spcAft>
              <a:buClr>
                <a:schemeClr val="tx2"/>
              </a:buClr>
              <a:buChar char="–"/>
              <a:defRPr>
                <a:solidFill>
                  <a:schemeClr val="tx1"/>
                </a:solidFill>
                <a:latin typeface="Georgia" pitchFamily="18" charset="0"/>
              </a:defRPr>
            </a:lvl8pPr>
            <a:lvl9pPr marL="3886200" indent="-228600" eaLnBrk="0" fontAlgn="base" hangingPunct="0">
              <a:spcBef>
                <a:spcPct val="20000"/>
              </a:spcBef>
              <a:spcAft>
                <a:spcPct val="0"/>
              </a:spcAft>
              <a:buClr>
                <a:schemeClr val="tx2"/>
              </a:buClr>
              <a:buChar char="–"/>
              <a:defRPr>
                <a:solidFill>
                  <a:schemeClr val="tx1"/>
                </a:solidFill>
                <a:latin typeface="Georgia" pitchFamily="18" charset="0"/>
              </a:defRPr>
            </a:lvl9pPr>
          </a:lstStyle>
          <a:p>
            <a:pPr eaLnBrk="1" hangingPunct="1">
              <a:lnSpc>
                <a:spcPct val="90000"/>
              </a:lnSpc>
            </a:pPr>
            <a:r>
              <a:rPr lang="en-US" altLang="en-US" sz="1600" b="1"/>
              <a:t>Subtree</a:t>
            </a:r>
            <a:r>
              <a:rPr lang="en-US" altLang="en-US" sz="1600"/>
              <a:t>: tree consisting of a node and its descendants</a:t>
            </a:r>
          </a:p>
        </p:txBody>
      </p:sp>
    </p:spTree>
    <p:extLst>
      <p:ext uri="{BB962C8B-B14F-4D97-AF65-F5344CB8AC3E}">
        <p14:creationId xmlns:p14="http://schemas.microsoft.com/office/powerpoint/2010/main" val="3047093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06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t>A </a:t>
            </a:r>
            <a:r>
              <a:rPr lang="en-US" altLang="en-US" b="1" dirty="0"/>
              <a:t>path </a:t>
            </a:r>
            <a:r>
              <a:rPr lang="en-US" altLang="en-US" dirty="0"/>
              <a:t>from node n</a:t>
            </a:r>
            <a:r>
              <a:rPr lang="en-US" altLang="en-US" baseline="-25000" dirty="0"/>
              <a:t>1</a:t>
            </a:r>
            <a:r>
              <a:rPr lang="en-US" altLang="en-US" dirty="0"/>
              <a:t> to </a:t>
            </a:r>
            <a:r>
              <a:rPr lang="en-US" altLang="en-US" dirty="0" err="1"/>
              <a:t>n</a:t>
            </a:r>
            <a:r>
              <a:rPr lang="en-US" altLang="en-US" baseline="-25000" dirty="0" err="1"/>
              <a:t>k</a:t>
            </a:r>
            <a:r>
              <a:rPr lang="en-US" altLang="en-US" dirty="0"/>
              <a:t> is defined as a sequence of nodes n</a:t>
            </a:r>
            <a:r>
              <a:rPr lang="en-US" altLang="en-US" baseline="-25000" dirty="0"/>
              <a:t>1</a:t>
            </a:r>
            <a:r>
              <a:rPr lang="en-US" altLang="en-US" dirty="0"/>
              <a:t>, n</a:t>
            </a:r>
            <a:r>
              <a:rPr lang="en-US" altLang="en-US" baseline="-25000" dirty="0"/>
              <a:t>2</a:t>
            </a:r>
            <a:r>
              <a:rPr lang="en-US" altLang="en-US" dirty="0"/>
              <a:t>, …, </a:t>
            </a:r>
            <a:r>
              <a:rPr lang="en-US" altLang="en-US" dirty="0" err="1"/>
              <a:t>n</a:t>
            </a:r>
            <a:r>
              <a:rPr lang="en-US" altLang="en-US" baseline="-25000" dirty="0" err="1"/>
              <a:t>k</a:t>
            </a:r>
            <a:r>
              <a:rPr lang="en-US" altLang="en-US" baseline="-25000" dirty="0"/>
              <a:t> </a:t>
            </a:r>
            <a:r>
              <a:rPr lang="en-US" altLang="en-US" dirty="0"/>
              <a:t>such that </a:t>
            </a:r>
            <a:r>
              <a:rPr lang="en-US" altLang="en-US" dirty="0" err="1"/>
              <a:t>n</a:t>
            </a:r>
            <a:r>
              <a:rPr lang="en-US" altLang="en-US" baseline="-25000" dirty="0" err="1"/>
              <a:t>i</a:t>
            </a:r>
            <a:r>
              <a:rPr lang="en-US" altLang="en-US" dirty="0"/>
              <a:t> is the parent of n</a:t>
            </a:r>
            <a:r>
              <a:rPr lang="en-US" altLang="en-US" baseline="-25000" dirty="0"/>
              <a:t>i+1</a:t>
            </a:r>
            <a:r>
              <a:rPr lang="en-US" altLang="en-US" dirty="0"/>
              <a:t> for 1&lt;= </a:t>
            </a:r>
            <a:r>
              <a:rPr lang="en-US" altLang="en-US" dirty="0" err="1"/>
              <a:t>i</a:t>
            </a:r>
            <a:r>
              <a:rPr lang="en-US" altLang="en-US" dirty="0"/>
              <a:t> &lt;= k. </a:t>
            </a:r>
          </a:p>
          <a:p>
            <a:r>
              <a:rPr lang="en-US" altLang="en-US" dirty="0"/>
              <a:t>The length of this path is the number of edges on the path namely k-1.</a:t>
            </a:r>
          </a:p>
          <a:p>
            <a:r>
              <a:rPr lang="en-US" altLang="en-US" dirty="0"/>
              <a:t>The length of the path from a node to itself is 0.</a:t>
            </a:r>
          </a:p>
          <a:p>
            <a:r>
              <a:rPr lang="en-US" altLang="en-US" dirty="0"/>
              <a:t>There is exactly one path from the root to each node.</a:t>
            </a:r>
          </a:p>
          <a:p>
            <a:endParaRPr lang="en-US" altLang="en-US" dirty="0"/>
          </a:p>
          <a:p>
            <a:pPr>
              <a:lnSpc>
                <a:spcPct val="90000"/>
              </a:lnSpc>
            </a:pPr>
            <a:endParaRPr lang="en-US" altLang="en-US" b="1" dirty="0"/>
          </a:p>
          <a:p>
            <a:pPr>
              <a:lnSpc>
                <a:spcPct val="90000"/>
              </a:lnSpc>
            </a:pPr>
            <a:endParaRPr lang="en-US" altLang="en-US" b="1" dirty="0"/>
          </a:p>
          <a:p>
            <a:pPr>
              <a:lnSpc>
                <a:spcPct val="90000"/>
              </a:lnSpc>
            </a:pPr>
            <a:endParaRPr lang="en-US" altLang="en-US" b="1" dirty="0"/>
          </a:p>
          <a:p>
            <a:endParaRPr lang="en-US" altLang="en-US" dirty="0"/>
          </a:p>
          <a:p>
            <a:endParaRPr lang="en-US" dirty="0"/>
          </a:p>
        </p:txBody>
      </p:sp>
      <p:pic>
        <p:nvPicPr>
          <p:cNvPr id="8194" name="Picture 2" descr="C:\Users\sanwarul\Desktop\pat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029" y="3458816"/>
            <a:ext cx="8078787" cy="2941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23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90000"/>
              </a:lnSpc>
            </a:pPr>
            <a:r>
              <a:rPr lang="en-US" altLang="en-US" b="1" dirty="0"/>
              <a:t>Depth (of node): </a:t>
            </a:r>
            <a:r>
              <a:rPr lang="en-US" altLang="en-US" dirty="0"/>
              <a:t>The length of the unique path from the root to a node.</a:t>
            </a:r>
          </a:p>
          <a:p>
            <a:pPr>
              <a:lnSpc>
                <a:spcPct val="90000"/>
              </a:lnSpc>
            </a:pPr>
            <a:r>
              <a:rPr lang="en-US" altLang="en-US" b="1" dirty="0"/>
              <a:t>Depth (of tree): </a:t>
            </a:r>
            <a:r>
              <a:rPr lang="en-US" altLang="en-US" dirty="0"/>
              <a:t>The depth of a tree is equal to the depth of its deepest leaf.</a:t>
            </a:r>
          </a:p>
          <a:p>
            <a:pPr>
              <a:lnSpc>
                <a:spcPct val="90000"/>
              </a:lnSpc>
            </a:pPr>
            <a:r>
              <a:rPr lang="en-US" altLang="en-US" b="1" dirty="0"/>
              <a:t>Level (of node): </a:t>
            </a:r>
            <a:r>
              <a:rPr lang="en-US" dirty="0"/>
              <a:t>Number of nodes on path from root to the node (including root and node)</a:t>
            </a:r>
          </a:p>
          <a:p>
            <a:pPr>
              <a:lnSpc>
                <a:spcPct val="90000"/>
              </a:lnSpc>
            </a:pPr>
            <a:r>
              <a:rPr lang="en-US" dirty="0"/>
              <a:t>Level of root is 1.</a:t>
            </a:r>
            <a:endParaRPr lang="en-US" altLang="en-US" dirty="0"/>
          </a:p>
          <a:p>
            <a:pPr>
              <a:lnSpc>
                <a:spcPct val="90000"/>
              </a:lnSpc>
            </a:pPr>
            <a:r>
              <a:rPr lang="en-US" altLang="en-US" b="1" dirty="0"/>
              <a:t>Height (of node): </a:t>
            </a:r>
            <a:r>
              <a:rPr lang="en-US" altLang="en-US" dirty="0"/>
              <a:t>The length of the longest path from a node to a leaf.</a:t>
            </a:r>
          </a:p>
          <a:p>
            <a:pPr lvl="1">
              <a:lnSpc>
                <a:spcPct val="90000"/>
              </a:lnSpc>
            </a:pPr>
            <a:r>
              <a:rPr lang="en-US" altLang="en-US" dirty="0"/>
              <a:t>All leaves have a height of 0</a:t>
            </a:r>
          </a:p>
          <a:p>
            <a:pPr lvl="1">
              <a:lnSpc>
                <a:spcPct val="90000"/>
              </a:lnSpc>
            </a:pPr>
            <a:r>
              <a:rPr lang="en-US" altLang="en-US" dirty="0"/>
              <a:t>The height of the root is equal to the depth of the tree.</a:t>
            </a:r>
          </a:p>
          <a:p>
            <a:pPr marL="457200" lvl="1" indent="0">
              <a:lnSpc>
                <a:spcPct val="90000"/>
              </a:lnSpc>
              <a:buNone/>
            </a:pPr>
            <a:endParaRPr lang="en-US" altLang="en-US" dirty="0"/>
          </a:p>
          <a:p>
            <a:pPr marL="457200" lvl="1" indent="0">
              <a:lnSpc>
                <a:spcPct val="90000"/>
              </a:lnSpc>
              <a:buNone/>
            </a:pPr>
            <a:endParaRPr lang="en-US" altLang="en-US" dirty="0"/>
          </a:p>
          <a:p>
            <a:endParaRPr lang="en-US" dirty="0"/>
          </a:p>
          <a:p>
            <a:endParaRPr lang="en-US" dirty="0"/>
          </a:p>
        </p:txBody>
      </p:sp>
    </p:spTree>
    <p:extLst>
      <p:ext uri="{BB962C8B-B14F-4D97-AF65-F5344CB8AC3E}">
        <p14:creationId xmlns:p14="http://schemas.microsoft.com/office/powerpoint/2010/main" val="238504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C:\Users\sanwarul\Desktop\t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0161" y="1306287"/>
            <a:ext cx="10097588" cy="50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7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trees</a:t>
            </a:r>
          </a:p>
        </p:txBody>
      </p:sp>
      <p:sp>
        <p:nvSpPr>
          <p:cNvPr id="3" name="Content Placeholder 2"/>
          <p:cNvSpPr>
            <a:spLocks noGrp="1"/>
          </p:cNvSpPr>
          <p:nvPr>
            <p:ph idx="1"/>
          </p:nvPr>
        </p:nvSpPr>
        <p:spPr/>
        <p:txBody>
          <a:bodyPr/>
          <a:lstStyle/>
          <a:p>
            <a:r>
              <a:rPr lang="en-US" dirty="0"/>
              <a:t>Binary Tree</a:t>
            </a:r>
          </a:p>
          <a:p>
            <a:r>
              <a:rPr lang="en-US" dirty="0"/>
              <a:t>Complete Binary Tree</a:t>
            </a:r>
          </a:p>
          <a:p>
            <a:r>
              <a:rPr lang="en-US" dirty="0"/>
              <a:t>Full Binary Tree</a:t>
            </a:r>
          </a:p>
          <a:p>
            <a:r>
              <a:rPr lang="en-US" dirty="0"/>
              <a:t>Extended Binary Tree</a:t>
            </a:r>
          </a:p>
          <a:p>
            <a:r>
              <a:rPr lang="en-US" dirty="0"/>
              <a:t>Threaded Binary Tree</a:t>
            </a:r>
          </a:p>
          <a:p>
            <a:r>
              <a:rPr lang="en-US" dirty="0"/>
              <a:t>Binary Search Tree</a:t>
            </a:r>
          </a:p>
          <a:p>
            <a:r>
              <a:rPr lang="en-US" dirty="0"/>
              <a:t>AVL Tree</a:t>
            </a:r>
          </a:p>
          <a:p>
            <a:r>
              <a:rPr lang="en-US" dirty="0"/>
              <a:t>B-Tree</a:t>
            </a:r>
          </a:p>
          <a:p>
            <a:r>
              <a:rPr lang="en-US" dirty="0"/>
              <a:t>Red-Black tree</a:t>
            </a:r>
          </a:p>
          <a:p>
            <a:pPr marL="0" indent="0">
              <a:buNone/>
            </a:pPr>
            <a:endParaRPr lang="en-US" dirty="0"/>
          </a:p>
        </p:txBody>
      </p:sp>
    </p:spTree>
    <p:extLst>
      <p:ext uri="{BB962C8B-B14F-4D97-AF65-F5344CB8AC3E}">
        <p14:creationId xmlns:p14="http://schemas.microsoft.com/office/powerpoint/2010/main" val="3110231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a:t>
            </a:r>
          </a:p>
        </p:txBody>
      </p:sp>
      <p:sp>
        <p:nvSpPr>
          <p:cNvPr id="3" name="Content Placeholder 2"/>
          <p:cNvSpPr>
            <a:spLocks noGrp="1"/>
          </p:cNvSpPr>
          <p:nvPr>
            <p:ph idx="1"/>
          </p:nvPr>
        </p:nvSpPr>
        <p:spPr/>
        <p:txBody>
          <a:bodyPr/>
          <a:lstStyle/>
          <a:p>
            <a:r>
              <a:rPr lang="en-US" dirty="0"/>
              <a:t>A tree whose elements have at most 2 children is called a binary tree. Since each element in a binary tree can have only 2 children, we typically name them the left and right child.</a:t>
            </a:r>
          </a:p>
          <a:p>
            <a:pPr fontAlgn="base"/>
            <a:r>
              <a:rPr lang="en-US" dirty="0"/>
              <a:t>A tree is represented by a pointer to the topmost node in tree. If the tree is empty, then value of root is NULL.</a:t>
            </a:r>
            <a:br>
              <a:rPr lang="en-US" dirty="0"/>
            </a:br>
            <a:r>
              <a:rPr lang="en-US" dirty="0"/>
              <a:t>A Tree node contains following parts.</a:t>
            </a:r>
            <a:br>
              <a:rPr lang="en-US" dirty="0"/>
            </a:br>
            <a:r>
              <a:rPr lang="en-US" dirty="0"/>
              <a:t>1. Data</a:t>
            </a:r>
            <a:br>
              <a:rPr lang="en-US" dirty="0"/>
            </a:br>
            <a:r>
              <a:rPr lang="en-US" dirty="0"/>
              <a:t>2. Pointer to left child</a:t>
            </a:r>
            <a:br>
              <a:rPr lang="en-US" dirty="0"/>
            </a:br>
            <a:r>
              <a:rPr lang="en-US" dirty="0"/>
              <a:t>3. Pointer to right child</a:t>
            </a:r>
          </a:p>
          <a:p>
            <a:pPr fontAlgn="base"/>
            <a:r>
              <a:rPr lang="en-US" dirty="0"/>
              <a:t>In C, we can represent a tree node using structures.</a:t>
            </a:r>
          </a:p>
          <a:p>
            <a:endParaRPr lang="en-US" dirty="0"/>
          </a:p>
        </p:txBody>
      </p:sp>
      <p:pic>
        <p:nvPicPr>
          <p:cNvPr id="13314" name="Picture 2" descr="C:\Users\sanwarul\Desktop\t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7635" y="4721915"/>
            <a:ext cx="4483582"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Array representation of binary tree</a:t>
            </a:r>
            <a:br>
              <a:rPr lang="en-US" dirty="0"/>
            </a:br>
            <a:endParaRPr lang="en-US" dirty="0"/>
          </a:p>
        </p:txBody>
      </p:sp>
      <p:sp>
        <p:nvSpPr>
          <p:cNvPr id="3" name="Content Placeholder 2"/>
          <p:cNvSpPr>
            <a:spLocks noGrp="1"/>
          </p:cNvSpPr>
          <p:nvPr>
            <p:ph idx="1"/>
          </p:nvPr>
        </p:nvSpPr>
        <p:spPr/>
        <p:txBody>
          <a:bodyPr>
            <a:normAutofit/>
          </a:bodyPr>
          <a:lstStyle/>
          <a:p>
            <a:endParaRPr lang="en-US" dirty="0"/>
          </a:p>
          <a:p>
            <a:r>
              <a:rPr lang="en-US" dirty="0"/>
              <a:t>A single array can be used to represent a binary tree.</a:t>
            </a:r>
          </a:p>
          <a:p>
            <a:r>
              <a:rPr lang="en-US" dirty="0"/>
              <a:t>For these nodes are numbered / indexed according to a scheme giving 0 to root. Then all the nodes are numbered from left to right level by level from top to bottom. Empty nodes are also numbered. Then each node having an index </a:t>
            </a:r>
            <a:r>
              <a:rPr lang="en-US" dirty="0" err="1"/>
              <a:t>i</a:t>
            </a:r>
            <a:r>
              <a:rPr lang="en-US" dirty="0"/>
              <a:t> is put into the array as its </a:t>
            </a:r>
            <a:r>
              <a:rPr lang="en-US" dirty="0" err="1"/>
              <a:t>ith</a:t>
            </a:r>
            <a:r>
              <a:rPr lang="en-US" dirty="0"/>
              <a:t> element.</a:t>
            </a:r>
          </a:p>
          <a:p>
            <a:r>
              <a:rPr lang="en-US" dirty="0"/>
              <a:t>In the figure shown below the nodes of binary tree are numbered according to the given scheme.</a:t>
            </a:r>
          </a:p>
          <a:p>
            <a:endParaRPr lang="en-US" dirty="0"/>
          </a:p>
          <a:p>
            <a:pPr marL="0" indent="0">
              <a:buNone/>
            </a:pPr>
            <a:endParaRPr lang="en-US" dirty="0"/>
          </a:p>
          <a:p>
            <a:endParaRPr lang="en-US" dirty="0"/>
          </a:p>
          <a:p>
            <a:endParaRPr lang="en-US" dirty="0"/>
          </a:p>
          <a:p>
            <a:endParaRPr lang="en-US" dirty="0"/>
          </a:p>
          <a:p>
            <a:endParaRPr lang="en-US" dirty="0"/>
          </a:p>
          <a:p>
            <a:endParaRPr lang="en-US" dirty="0"/>
          </a:p>
        </p:txBody>
      </p:sp>
      <p:pic>
        <p:nvPicPr>
          <p:cNvPr id="26626" name="Picture 2" descr="C:\Users\sanwarul\Desktop\a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9429" y="3749039"/>
            <a:ext cx="6283233" cy="2704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515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Array representation of binary tree</a:t>
            </a:r>
            <a:br>
              <a:rPr lang="en-US" dirty="0"/>
            </a:br>
            <a:endParaRPr lang="en-US" dirty="0"/>
          </a:p>
        </p:txBody>
      </p:sp>
      <p:sp>
        <p:nvSpPr>
          <p:cNvPr id="3" name="Content Placeholder 2"/>
          <p:cNvSpPr>
            <a:spLocks noGrp="1"/>
          </p:cNvSpPr>
          <p:nvPr>
            <p:ph idx="1"/>
          </p:nvPr>
        </p:nvSpPr>
        <p:spPr/>
        <p:txBody>
          <a:bodyPr/>
          <a:lstStyle/>
          <a:p>
            <a:endParaRPr lang="en-US" dirty="0"/>
          </a:p>
          <a:p>
            <a:r>
              <a:rPr lang="en-US" dirty="0"/>
              <a:t>The figure shows how a binary tree is represented as an array. The root 3 is the 0th element while its </a:t>
            </a:r>
            <a:r>
              <a:rPr lang="en-US" dirty="0" err="1"/>
              <a:t>leftchild</a:t>
            </a:r>
            <a:r>
              <a:rPr lang="en-US" dirty="0"/>
              <a:t> 5 is the 1 </a:t>
            </a:r>
            <a:r>
              <a:rPr lang="en-US" dirty="0" err="1"/>
              <a:t>st</a:t>
            </a:r>
            <a:r>
              <a:rPr lang="en-US" dirty="0"/>
              <a:t> element of the array. Node 6 does not have any child so its children </a:t>
            </a:r>
            <a:r>
              <a:rPr lang="en-US" dirty="0" err="1"/>
              <a:t>ie</a:t>
            </a:r>
            <a:r>
              <a:rPr lang="en-US" dirty="0"/>
              <a:t> 7 </a:t>
            </a:r>
            <a:r>
              <a:rPr lang="en-US" dirty="0" err="1"/>
              <a:t>th</a:t>
            </a:r>
            <a:r>
              <a:rPr lang="en-US" dirty="0"/>
              <a:t> &amp; 8 </a:t>
            </a:r>
            <a:r>
              <a:rPr lang="en-US" dirty="0" err="1"/>
              <a:t>th</a:t>
            </a:r>
            <a:r>
              <a:rPr lang="en-US" dirty="0"/>
              <a:t> element of the array are shown as a Null value.</a:t>
            </a:r>
          </a:p>
          <a:p>
            <a:r>
              <a:rPr lang="en-US" dirty="0"/>
              <a:t>It is found that if n is the number or index of a node, then its left child occurs at (2n + 1)</a:t>
            </a:r>
            <a:r>
              <a:rPr lang="en-US" dirty="0" err="1"/>
              <a:t>th</a:t>
            </a:r>
            <a:r>
              <a:rPr lang="en-US" dirty="0"/>
              <a:t> position &amp; right child at (2n + 2)</a:t>
            </a:r>
            <a:r>
              <a:rPr lang="en-US" dirty="0" err="1"/>
              <a:t>th</a:t>
            </a:r>
            <a:r>
              <a:rPr lang="en-US" dirty="0"/>
              <a:t> position of the array. If any node does not have any of its child, then null value is stored at the corresponding index of the array.</a:t>
            </a:r>
          </a:p>
          <a:p>
            <a:endParaRPr lang="en-US" dirty="0"/>
          </a:p>
        </p:txBody>
      </p:sp>
    </p:spTree>
    <p:extLst>
      <p:ext uri="{BB962C8B-B14F-4D97-AF65-F5344CB8AC3E}">
        <p14:creationId xmlns:p14="http://schemas.microsoft.com/office/powerpoint/2010/main" val="3159933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 function to implement binary tree using linked list</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337169666"/>
              </p:ext>
            </p:extLst>
          </p:nvPr>
        </p:nvGraphicFramePr>
        <p:xfrm>
          <a:off x="1387475" y="1820863"/>
          <a:ext cx="6559550" cy="3714750"/>
        </p:xfrm>
        <a:graphic>
          <a:graphicData uri="http://schemas.openxmlformats.org/presentationml/2006/ole">
            <mc:AlternateContent xmlns:mc="http://schemas.openxmlformats.org/markup-compatibility/2006">
              <mc:Choice xmlns:v="urn:schemas-microsoft-com:vml" Requires="v">
                <p:oleObj name="Packager Shell Object" showAsIcon="1" r:id="rId2" imgW="876325" imgH="526962" progId="Package">
                  <p:embed/>
                </p:oleObj>
              </mc:Choice>
              <mc:Fallback>
                <p:oleObj name="Packager Shell Object" showAsIcon="1" r:id="rId2" imgW="876325" imgH="526962" progId="Package">
                  <p:embed/>
                  <p:pic>
                    <p:nvPicPr>
                      <p:cNvPr id="4" name="Content Placeholder 3"/>
                      <p:cNvPicPr/>
                      <p:nvPr/>
                    </p:nvPicPr>
                    <p:blipFill>
                      <a:blip r:embed="rId3"/>
                      <a:stretch>
                        <a:fillRect/>
                      </a:stretch>
                    </p:blipFill>
                    <p:spPr>
                      <a:xfrm>
                        <a:off x="1387475" y="1820863"/>
                        <a:ext cx="6559550" cy="3714750"/>
                      </a:xfrm>
                      <a:prstGeom prst="rect">
                        <a:avLst/>
                      </a:prstGeom>
                    </p:spPr>
                  </p:pic>
                </p:oleObj>
              </mc:Fallback>
            </mc:AlternateContent>
          </a:graphicData>
        </a:graphic>
      </p:graphicFrame>
    </p:spTree>
    <p:extLst>
      <p:ext uri="{BB962C8B-B14F-4D97-AF65-F5344CB8AC3E}">
        <p14:creationId xmlns:p14="http://schemas.microsoft.com/office/powerpoint/2010/main" val="107934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binary tree</a:t>
            </a:r>
          </a:p>
        </p:txBody>
      </p:sp>
      <p:pic>
        <p:nvPicPr>
          <p:cNvPr id="11267" name="Picture 3" descr="C:\Users\sanwarul\Desktop\b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72209" y="1364974"/>
            <a:ext cx="9846365" cy="4903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C:\Users\sanwarul\Desktop\b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4487" y="1325217"/>
            <a:ext cx="9740348" cy="5079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descr="C:\Users\sanwarul\Desktop\b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1235" y="1563757"/>
            <a:ext cx="9793355" cy="4784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descr="C:\Users\sanwarul\Desktop\b4.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78226" y="1417793"/>
            <a:ext cx="9859617" cy="51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8434" name="Picture 2" descr="C:\Users\sanwarul\Desktop\b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5704" y="1616765"/>
            <a:ext cx="10124661" cy="443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09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400" dirty="0"/>
              <a:t>Full Binary Tree</a:t>
            </a:r>
          </a:p>
          <a:p>
            <a:r>
              <a:rPr lang="en-US" dirty="0"/>
              <a:t>A Binary Tree is full if every node has 0 or 2 children. Following are examples of full binary tree. We can also say a full binary tree is a binary tree in which all nodes except leaves have two children.</a:t>
            </a:r>
          </a:p>
          <a:p>
            <a:endParaRPr lang="en-US" dirty="0"/>
          </a:p>
        </p:txBody>
      </p:sp>
      <p:pic>
        <p:nvPicPr>
          <p:cNvPr id="19458" name="Picture 2" descr="C:\Users\sanwarul\Desktop\b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959" y="3202442"/>
            <a:ext cx="4991100" cy="1628775"/>
          </a:xfrm>
          <a:prstGeom prst="rect">
            <a:avLst/>
          </a:prstGeom>
          <a:noFill/>
          <a:extLst>
            <a:ext uri="{909E8E84-426E-40DD-AFC4-6F175D3DCCD1}">
              <a14:hiddenFill xmlns:a14="http://schemas.microsoft.com/office/drawing/2010/main">
                <a:solidFill>
                  <a:srgbClr val="FFFFFF"/>
                </a:solidFill>
              </a14:hiddenFill>
            </a:ext>
          </a:extLst>
        </p:spPr>
      </p:pic>
      <p:pic>
        <p:nvPicPr>
          <p:cNvPr id="19459" name="Picture 3" descr="C:\Users\sanwarul\Desktop\b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095" y="2923358"/>
            <a:ext cx="4562475" cy="2458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435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pic>
        <p:nvPicPr>
          <p:cNvPr id="21506" name="Picture 2" descr="C:\Users\sanwarul\Desktop\f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1417" y="1606731"/>
            <a:ext cx="9562012" cy="3984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0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Full Binary Tree</a:t>
            </a:r>
          </a:p>
        </p:txBody>
      </p:sp>
      <p:sp>
        <p:nvSpPr>
          <p:cNvPr id="3" name="Content Placeholder 2"/>
          <p:cNvSpPr>
            <a:spLocks noGrp="1"/>
          </p:cNvSpPr>
          <p:nvPr>
            <p:ph idx="1"/>
          </p:nvPr>
        </p:nvSpPr>
        <p:spPr/>
        <p:txBody>
          <a:bodyPr/>
          <a:lstStyle/>
          <a:p>
            <a:pPr fontAlgn="base"/>
            <a:r>
              <a:rPr lang="en-US" i="1" dirty="0"/>
              <a:t>Let, </a:t>
            </a:r>
            <a:r>
              <a:rPr lang="en-US" b="1" i="1" dirty="0" err="1"/>
              <a:t>i</a:t>
            </a:r>
            <a:r>
              <a:rPr lang="en-US" i="1" dirty="0"/>
              <a:t> be the number of internal nodes</a:t>
            </a:r>
            <a:br>
              <a:rPr lang="en-US" i="1" dirty="0"/>
            </a:br>
            <a:r>
              <a:rPr lang="en-US" i="1" dirty="0"/>
              <a:t> </a:t>
            </a:r>
            <a:r>
              <a:rPr lang="en-US" b="1" i="1" dirty="0"/>
              <a:t>n</a:t>
            </a:r>
            <a:r>
              <a:rPr lang="en-US" i="1" dirty="0"/>
              <a:t> be the  total number of nodes</a:t>
            </a:r>
            <a:br>
              <a:rPr lang="en-US" i="1" dirty="0"/>
            </a:br>
            <a:r>
              <a:rPr lang="en-US" b="1" i="1" dirty="0"/>
              <a:t>l</a:t>
            </a:r>
            <a:r>
              <a:rPr lang="en-US" i="1" dirty="0"/>
              <a:t> be number of leaves</a:t>
            </a:r>
            <a:br>
              <a:rPr lang="en-US" i="1" dirty="0"/>
            </a:br>
            <a:r>
              <a:rPr lang="en-US" b="1" i="1" dirty="0"/>
              <a:t>λ</a:t>
            </a:r>
            <a:r>
              <a:rPr lang="en-US" i="1" dirty="0"/>
              <a:t> be number of levels</a:t>
            </a:r>
          </a:p>
          <a:p>
            <a:pPr marL="0" indent="0" fontAlgn="base">
              <a:buNone/>
            </a:pPr>
            <a:r>
              <a:rPr lang="en-US" i="1" dirty="0"/>
              <a:t>Then,</a:t>
            </a:r>
          </a:p>
          <a:p>
            <a:pPr fontAlgn="base"/>
            <a:r>
              <a:rPr lang="en-US" i="1" dirty="0"/>
              <a:t>The number of leaves is</a:t>
            </a:r>
            <a:r>
              <a:rPr lang="en-US" b="1" i="1" dirty="0"/>
              <a:t> (</a:t>
            </a:r>
            <a:r>
              <a:rPr lang="en-US" b="1" i="1" dirty="0" err="1"/>
              <a:t>i</a:t>
            </a:r>
            <a:r>
              <a:rPr lang="en-US" b="1" i="1" dirty="0"/>
              <a:t> + 1)</a:t>
            </a:r>
            <a:r>
              <a:rPr lang="en-US" i="1" dirty="0"/>
              <a:t>.</a:t>
            </a:r>
            <a:br>
              <a:rPr lang="en-US" i="1" dirty="0"/>
            </a:br>
            <a:r>
              <a:rPr lang="en-US" i="1" dirty="0"/>
              <a:t>The total number of nodes is </a:t>
            </a:r>
            <a:r>
              <a:rPr lang="en-US" b="1" i="1" dirty="0"/>
              <a:t>(2i + 1)</a:t>
            </a:r>
            <a:r>
              <a:rPr lang="en-US" i="1" dirty="0"/>
              <a:t>.</a:t>
            </a:r>
            <a:br>
              <a:rPr lang="en-US" i="1" dirty="0"/>
            </a:br>
            <a:r>
              <a:rPr lang="en-US" i="1" dirty="0"/>
              <a:t>The number of internal nodes is </a:t>
            </a:r>
            <a:r>
              <a:rPr lang="en-US" b="1" i="1" dirty="0"/>
              <a:t>(n – 1) / 2</a:t>
            </a:r>
            <a:r>
              <a:rPr lang="en-US" i="1" dirty="0"/>
              <a:t>.</a:t>
            </a:r>
            <a:br>
              <a:rPr lang="en-US" i="1" dirty="0"/>
            </a:br>
            <a:r>
              <a:rPr lang="en-US" i="1" dirty="0"/>
              <a:t>The number of leaves is </a:t>
            </a:r>
            <a:r>
              <a:rPr lang="en-US" b="1" i="1" dirty="0"/>
              <a:t>(n + 1) / 2</a:t>
            </a:r>
            <a:r>
              <a:rPr lang="en-US" i="1" dirty="0"/>
              <a:t>.</a:t>
            </a:r>
            <a:br>
              <a:rPr lang="en-US" i="1" dirty="0"/>
            </a:br>
            <a:r>
              <a:rPr lang="en-US" i="1" dirty="0"/>
              <a:t>The total number of nodes is </a:t>
            </a:r>
            <a:r>
              <a:rPr lang="en-US" b="1" i="1" dirty="0"/>
              <a:t>(2l – 1)</a:t>
            </a:r>
            <a:r>
              <a:rPr lang="en-US" i="1" dirty="0"/>
              <a:t>.</a:t>
            </a:r>
            <a:br>
              <a:rPr lang="en-US" i="1" dirty="0"/>
            </a:br>
            <a:r>
              <a:rPr lang="en-US" i="1" dirty="0"/>
              <a:t>The number of internal nodes is </a:t>
            </a:r>
            <a:r>
              <a:rPr lang="en-US" b="1" i="1" dirty="0"/>
              <a:t>(l – 1)</a:t>
            </a:r>
            <a:r>
              <a:rPr lang="en-US" i="1" dirty="0"/>
              <a:t>.</a:t>
            </a:r>
            <a:br>
              <a:rPr lang="en-US" i="1" dirty="0"/>
            </a:br>
            <a:r>
              <a:rPr lang="en-US" i="1" dirty="0"/>
              <a:t>The number of leaves is at most </a:t>
            </a:r>
            <a:r>
              <a:rPr lang="en-US" b="1" i="1" dirty="0"/>
              <a:t>(2</a:t>
            </a:r>
            <a:r>
              <a:rPr lang="en-US" b="1" i="1" baseline="30000" dirty="0"/>
              <a:t>λ-1</a:t>
            </a:r>
            <a:r>
              <a:rPr lang="en-US" b="1" i="1" dirty="0"/>
              <a:t> )</a:t>
            </a:r>
            <a:r>
              <a:rPr lang="en-US" i="1" dirty="0"/>
              <a:t>.</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8625" y="2295525"/>
            <a:ext cx="2857500" cy="1924050"/>
          </a:xfrm>
          <a:prstGeom prst="rect">
            <a:avLst/>
          </a:prstGeom>
        </p:spPr>
      </p:pic>
    </p:spTree>
    <p:extLst>
      <p:ext uri="{BB962C8B-B14F-4D97-AF65-F5344CB8AC3E}">
        <p14:creationId xmlns:p14="http://schemas.microsoft.com/office/powerpoint/2010/main" val="4099054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400" dirty="0"/>
              <a:t>Complete Binary Tree</a:t>
            </a:r>
          </a:p>
          <a:p>
            <a:r>
              <a:rPr lang="en-US" dirty="0"/>
              <a:t>A Binary Tree is complete Binary Tree if all levels are completely filled except possibly the last level and the last level has all keys as left as possible.</a:t>
            </a:r>
          </a:p>
          <a:p>
            <a:pPr marL="0" indent="0">
              <a:buNone/>
            </a:pPr>
            <a:endParaRPr lang="en-US" dirty="0"/>
          </a:p>
        </p:txBody>
      </p:sp>
      <p:pic>
        <p:nvPicPr>
          <p:cNvPr id="22530" name="Picture 2" descr="C:\Users\sanwarul\Desktop\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050" y="2848111"/>
            <a:ext cx="5889036" cy="3644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286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and Full Binary Tree</a:t>
            </a:r>
          </a:p>
        </p:txBody>
      </p:sp>
      <p:sp>
        <p:nvSpPr>
          <p:cNvPr id="3" name="Content Placeholder 2"/>
          <p:cNvSpPr>
            <a:spLocks noGrp="1"/>
          </p:cNvSpPr>
          <p:nvPr>
            <p:ph idx="1"/>
          </p:nvPr>
        </p:nvSpPr>
        <p:spPr/>
        <p:txBody>
          <a:bodyPr/>
          <a:lstStyle/>
          <a:p>
            <a:r>
              <a:rPr lang="en-US" dirty="0">
                <a:hlinkClick r:id="rId2"/>
              </a:rPr>
              <a:t>https://www.geeksforgeeks.org/difference-between-full-and-complete-binary-tree/</a:t>
            </a:r>
            <a:endParaRPr lang="en-US" dirty="0"/>
          </a:p>
          <a:p>
            <a:r>
              <a:rPr lang="en-US" dirty="0"/>
              <a:t>A full binary tree is a binary tree in which all of the nodes have either 0 or 2 offspring. In other terms, a full binary tree is a binary tree in which all nodes, except the leaf nodes, have two offspring.</a:t>
            </a:r>
          </a:p>
          <a:p>
            <a:endParaRPr lang="en-US" dirty="0"/>
          </a:p>
          <a:p>
            <a:r>
              <a:rPr lang="en-US" dirty="0"/>
              <a:t>A binary tree is said to be a complete binary tree if all its levels, except possibly the last level, have the maximum number of possible nodes, and all the nodes in the last level appear as far left as possible.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3762" y="4210050"/>
            <a:ext cx="5324475" cy="2511425"/>
          </a:xfrm>
          <a:prstGeom prst="rect">
            <a:avLst/>
          </a:prstGeom>
        </p:spPr>
      </p:pic>
    </p:spTree>
    <p:extLst>
      <p:ext uri="{BB962C8B-B14F-4D97-AF65-F5344CB8AC3E}">
        <p14:creationId xmlns:p14="http://schemas.microsoft.com/office/powerpoint/2010/main" val="3700508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endParaRPr lang="en-US" dirty="0"/>
          </a:p>
        </p:txBody>
      </p:sp>
      <p:pic>
        <p:nvPicPr>
          <p:cNvPr id="4" name="Picture 2" descr="C:\Users\sanwarul\Desktop\t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030" y="1972300"/>
            <a:ext cx="8401878" cy="40419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720930" y="5248817"/>
            <a:ext cx="1332411" cy="613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655799" y="5248817"/>
            <a:ext cx="1746068" cy="613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644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800" dirty="0"/>
              <a:t>Perfect Binary Tree</a:t>
            </a:r>
          </a:p>
          <a:p>
            <a:r>
              <a:rPr lang="en-US" dirty="0"/>
              <a:t>A Binary tree is Perfect Binary Tree in which all internal nodes have two children and all leaves are at same level.</a:t>
            </a:r>
          </a:p>
          <a:p>
            <a:r>
              <a:rPr lang="en-US" dirty="0"/>
              <a:t>A Perfect Binary Tree of height h (where height is number of nodes on path from root to leaf) has 2</a:t>
            </a:r>
            <a:r>
              <a:rPr lang="en-US" baseline="30000" dirty="0"/>
              <a:t>h</a:t>
            </a:r>
            <a:r>
              <a:rPr lang="en-US" dirty="0"/>
              <a:t> – 1 node. (Assumption: height of leaf is 1)</a:t>
            </a:r>
          </a:p>
          <a:p>
            <a:pPr marL="0" indent="0">
              <a:buNone/>
            </a:pPr>
            <a:endParaRPr lang="en-US" dirty="0"/>
          </a:p>
        </p:txBody>
      </p:sp>
      <p:pic>
        <p:nvPicPr>
          <p:cNvPr id="23554" name="Picture 2" descr="C:\Users\sanwarul\Desktop\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046" y="3448594"/>
            <a:ext cx="5904411"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193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800" dirty="0"/>
              <a:t>Balanced Binary Tree</a:t>
            </a:r>
          </a:p>
          <a:p>
            <a:r>
              <a:rPr lang="en-US" dirty="0"/>
              <a:t>A binary tree is balanced if height of the tree is O(Log n) where n is number of nodes. </a:t>
            </a:r>
          </a:p>
          <a:p>
            <a:r>
              <a:rPr lang="en-US" dirty="0"/>
              <a:t>For Example, AVL tree maintain O(Log n) height by making sure that the difference between heights of left and right subtrees is 1. </a:t>
            </a:r>
          </a:p>
          <a:p>
            <a:r>
              <a:rPr lang="en-US" dirty="0"/>
              <a:t>Balanced Binary Search trees are performance wise good as they provide O(log n) time for search, insert and delete.</a:t>
            </a:r>
          </a:p>
        </p:txBody>
      </p:sp>
    </p:spTree>
    <p:extLst>
      <p:ext uri="{BB962C8B-B14F-4D97-AF65-F5344CB8AC3E}">
        <p14:creationId xmlns:p14="http://schemas.microsoft.com/office/powerpoint/2010/main" val="2459168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800" dirty="0"/>
              <a:t>Extended Binary Tree</a:t>
            </a:r>
          </a:p>
          <a:p>
            <a:r>
              <a:rPr lang="en-US" dirty="0">
                <a:solidFill>
                  <a:schemeClr val="tx1"/>
                </a:solidFill>
              </a:rPr>
              <a:t>An </a:t>
            </a:r>
            <a:r>
              <a:rPr lang="en-US" i="1" dirty="0">
                <a:solidFill>
                  <a:schemeClr val="tx1"/>
                </a:solidFill>
              </a:rPr>
              <a:t>extended binary tree</a:t>
            </a:r>
            <a:r>
              <a:rPr lang="en-US" dirty="0">
                <a:solidFill>
                  <a:schemeClr val="tx1"/>
                </a:solidFill>
              </a:rPr>
              <a:t> is a </a:t>
            </a:r>
            <a:r>
              <a:rPr lang="en-US" dirty="0">
                <a:solidFill>
                  <a:schemeClr val="tx1"/>
                </a:solidFill>
                <a:hlinkClick r:id="rId2"/>
              </a:rPr>
              <a:t>transformation</a:t>
            </a:r>
            <a:r>
              <a:rPr lang="en-US" dirty="0">
                <a:solidFill>
                  <a:schemeClr val="tx1"/>
                </a:solidFill>
              </a:rPr>
              <a:t> of any binary tree into a full binary tree. This transformation consists of replacing every </a:t>
            </a:r>
            <a:r>
              <a:rPr lang="en-US" dirty="0">
                <a:solidFill>
                  <a:schemeClr val="tx1"/>
                </a:solidFill>
                <a:hlinkClick r:id="rId3"/>
              </a:rPr>
              <a:t>null subtree</a:t>
            </a:r>
            <a:r>
              <a:rPr lang="en-US" dirty="0">
                <a:solidFill>
                  <a:schemeClr val="tx1"/>
                </a:solidFill>
              </a:rPr>
              <a:t> of the original tree with “special nodes.” The nodes from the original tree are then </a:t>
            </a:r>
            <a:r>
              <a:rPr lang="en-US" i="1" dirty="0">
                <a:solidFill>
                  <a:schemeClr val="tx1"/>
                </a:solidFill>
              </a:rPr>
              <a:t>internal nodes</a:t>
            </a:r>
            <a:r>
              <a:rPr lang="en-US" dirty="0">
                <a:solidFill>
                  <a:schemeClr val="tx1"/>
                </a:solidFill>
              </a:rPr>
              <a:t>, while the “special nodes” are </a:t>
            </a:r>
            <a:r>
              <a:rPr lang="en-US" i="1" dirty="0">
                <a:solidFill>
                  <a:schemeClr val="tx1"/>
                </a:solidFill>
              </a:rPr>
              <a:t>external nodes</a:t>
            </a:r>
            <a:r>
              <a:rPr lang="en-US" dirty="0">
                <a:solidFill>
                  <a:schemeClr val="tx1"/>
                </a:solidFill>
              </a:rPr>
              <a:t>.</a:t>
            </a:r>
          </a:p>
          <a:p>
            <a:endParaRPr lang="en-US" dirty="0">
              <a:solidFill>
                <a:schemeClr val="tx1"/>
              </a:solidFill>
            </a:endParaRPr>
          </a:p>
        </p:txBody>
      </p:sp>
      <p:pic>
        <p:nvPicPr>
          <p:cNvPr id="25602" name="Picture 2" descr="C:\Users\sanwarul\Desktop\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8983" y="3741285"/>
            <a:ext cx="6348548" cy="2646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467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Binary tree</a:t>
            </a:r>
          </a:p>
        </p:txBody>
      </p:sp>
      <p:sp>
        <p:nvSpPr>
          <p:cNvPr id="3" name="Content Placeholder 2"/>
          <p:cNvSpPr>
            <a:spLocks noGrp="1"/>
          </p:cNvSpPr>
          <p:nvPr>
            <p:ph idx="1"/>
          </p:nvPr>
        </p:nvSpPr>
        <p:spPr/>
        <p:txBody>
          <a:bodyPr/>
          <a:lstStyle/>
          <a:p>
            <a:pPr marL="0" indent="0">
              <a:buNone/>
            </a:pPr>
            <a:r>
              <a:rPr lang="en-US" sz="2800" dirty="0"/>
              <a:t>Degenerate (or Pathological) Tree</a:t>
            </a:r>
          </a:p>
          <a:p>
            <a:r>
              <a:rPr lang="en-US" dirty="0"/>
              <a:t>A Tree where every internal node has one child. Such trees are performance-wise same as linked list.</a:t>
            </a:r>
          </a:p>
          <a:p>
            <a:endParaRPr lang="en-US" dirty="0"/>
          </a:p>
          <a:p>
            <a:endParaRPr lang="en-US" dirty="0"/>
          </a:p>
        </p:txBody>
      </p:sp>
      <p:pic>
        <p:nvPicPr>
          <p:cNvPr id="24578" name="Picture 2" descr="C:\Users\sanwarul\Desktop\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57" y="2965268"/>
            <a:ext cx="4990011" cy="3069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527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Here root node starts from 1</a:t>
            </a:r>
          </a:p>
        </p:txBody>
      </p:sp>
      <p:pic>
        <p:nvPicPr>
          <p:cNvPr id="34818" name="Picture 2" descr="C:\Users\sanwarul\Desktop\tr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183" y="1930174"/>
            <a:ext cx="8569234" cy="469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809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in binary tree</a:t>
            </a:r>
          </a:p>
        </p:txBody>
      </p:sp>
      <p:pic>
        <p:nvPicPr>
          <p:cNvPr id="36866" name="Picture 2" descr="C:\Users\sanwarul\Desktop\tr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1417" y="1606731"/>
            <a:ext cx="9640389" cy="4988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224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a:t>
            </a:r>
          </a:p>
        </p:txBody>
      </p:sp>
      <p:pic>
        <p:nvPicPr>
          <p:cNvPr id="35842" name="Picture 2" descr="C:\Users\sanwarul\Desktop\bst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293223"/>
            <a:ext cx="9888583" cy="530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67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a:t>
            </a:r>
          </a:p>
        </p:txBody>
      </p:sp>
      <p:pic>
        <p:nvPicPr>
          <p:cNvPr id="33794" name="Picture 2" descr="C:\Users\sanwarul\Desktop\bst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7909" y="1554480"/>
            <a:ext cx="10032274" cy="4245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594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7890" name="Picture 2" descr="C:\Users\sanwarul\Desktop\bst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2594" y="1397727"/>
            <a:ext cx="10162903" cy="4816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708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a:t>
            </a:r>
            <a:r>
              <a:rPr lang="en-US" dirty="0" err="1"/>
              <a:t>bst</a:t>
            </a:r>
            <a:endParaRPr lang="en-US" dirty="0"/>
          </a:p>
        </p:txBody>
      </p:sp>
      <p:pic>
        <p:nvPicPr>
          <p:cNvPr id="43010" name="Picture 2" descr="C:\Users\sanwarul\Desktop\bstex.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2674" y="1371600"/>
            <a:ext cx="8621486" cy="4885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429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a:t>
            </a:r>
            <a:r>
              <a:rPr lang="en-US" dirty="0" err="1"/>
              <a:t>bt</a:t>
            </a:r>
            <a:r>
              <a:rPr lang="en-US" dirty="0"/>
              <a:t> &amp; </a:t>
            </a:r>
            <a:r>
              <a:rPr lang="en-US" dirty="0" err="1"/>
              <a:t>bst</a:t>
            </a:r>
            <a:endParaRPr lang="en-US" dirty="0"/>
          </a:p>
        </p:txBody>
      </p:sp>
      <p:pic>
        <p:nvPicPr>
          <p:cNvPr id="44034" name="Picture 2" descr="C:\Users\sanwarul\Desktop\diff.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0788" y="1593669"/>
            <a:ext cx="10110651" cy="496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49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Bst</a:t>
            </a:r>
            <a:r>
              <a:rPr lang="en-US" dirty="0"/>
              <a:t> operations</a:t>
            </a:r>
          </a:p>
        </p:txBody>
      </p:sp>
      <p:pic>
        <p:nvPicPr>
          <p:cNvPr id="45058" name="Picture 2" descr="C:\Users\sanwarul\Desktop\bstop.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5291" y="1698171"/>
            <a:ext cx="9496697" cy="4258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21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Bst</a:t>
            </a:r>
            <a:r>
              <a:rPr lang="en-US" dirty="0"/>
              <a:t> insertion</a:t>
            </a:r>
          </a:p>
        </p:txBody>
      </p:sp>
      <p:pic>
        <p:nvPicPr>
          <p:cNvPr id="49154" name="Picture 2" descr="C:\Users\sanwarul\Desktop\ins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486" y="1528354"/>
            <a:ext cx="9614263" cy="5094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766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 program for Insertion in </a:t>
            </a:r>
            <a:r>
              <a:rPr lang="en-US" dirty="0" err="1"/>
              <a:t>bst</a:t>
            </a:r>
            <a:endParaRPr lang="en-US"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059924829"/>
              </p:ext>
            </p:extLst>
          </p:nvPr>
        </p:nvGraphicFramePr>
        <p:xfrm>
          <a:off x="2579893" y="1933422"/>
          <a:ext cx="7105650" cy="4181475"/>
        </p:xfrm>
        <a:graphic>
          <a:graphicData uri="http://schemas.openxmlformats.org/presentationml/2006/ole">
            <mc:AlternateContent xmlns:mc="http://schemas.openxmlformats.org/markup-compatibility/2006">
              <mc:Choice xmlns:v="urn:schemas-microsoft-com:vml" Requires="v">
                <p:oleObj name="Packager Shell Object" showAsIcon="1" r:id="rId2" imgW="903960" imgH="481320" progId="Package">
                  <p:embed/>
                </p:oleObj>
              </mc:Choice>
              <mc:Fallback>
                <p:oleObj name="Packager Shell Object" showAsIcon="1" r:id="rId2" imgW="903960" imgH="481320" progId="Package">
                  <p:embed/>
                  <p:pic>
                    <p:nvPicPr>
                      <p:cNvPr id="4" name="Content Placeholder 3"/>
                      <p:cNvPicPr/>
                      <p:nvPr/>
                    </p:nvPicPr>
                    <p:blipFill>
                      <a:blip r:embed="rId3"/>
                      <a:stretch>
                        <a:fillRect/>
                      </a:stretch>
                    </p:blipFill>
                    <p:spPr>
                      <a:xfrm>
                        <a:off x="2579893" y="1933422"/>
                        <a:ext cx="7105650" cy="4181475"/>
                      </a:xfrm>
                      <a:prstGeom prst="rect">
                        <a:avLst/>
                      </a:prstGeom>
                    </p:spPr>
                  </p:pic>
                </p:oleObj>
              </mc:Fallback>
            </mc:AlternateContent>
          </a:graphicData>
        </a:graphic>
      </p:graphicFrame>
    </p:spTree>
    <p:extLst>
      <p:ext uri="{BB962C8B-B14F-4D97-AF65-F5344CB8AC3E}">
        <p14:creationId xmlns:p14="http://schemas.microsoft.com/office/powerpoint/2010/main" val="3824658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search in </a:t>
            </a:r>
            <a:r>
              <a:rPr lang="en-US" dirty="0" err="1"/>
              <a:t>bst</a:t>
            </a:r>
            <a:endParaRPr lang="en-US" dirty="0"/>
          </a:p>
        </p:txBody>
      </p:sp>
      <p:sp>
        <p:nvSpPr>
          <p:cNvPr id="3" name="Content Placeholder 2"/>
          <p:cNvSpPr>
            <a:spLocks noGrp="1"/>
          </p:cNvSpPr>
          <p:nvPr>
            <p:ph idx="1"/>
          </p:nvPr>
        </p:nvSpPr>
        <p:spPr/>
        <p:txBody>
          <a:bodyPr/>
          <a:lstStyle/>
          <a:p>
            <a:endParaRPr lang="en-US"/>
          </a:p>
        </p:txBody>
      </p:sp>
      <p:pic>
        <p:nvPicPr>
          <p:cNvPr id="38914" name="Picture 2" descr="C:\Users\sanwarul\Desktop\bsts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411" y="1528354"/>
            <a:ext cx="10019211" cy="501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260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search in </a:t>
            </a:r>
            <a:r>
              <a:rPr lang="en-US" dirty="0" err="1"/>
              <a:t>bst</a:t>
            </a:r>
            <a:endParaRPr lang="en-US" dirty="0"/>
          </a:p>
        </p:txBody>
      </p:sp>
      <p:pic>
        <p:nvPicPr>
          <p:cNvPr id="39938" name="Picture 2" descr="C:\Users\sanwarul\Desktop\bsts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1417" y="1528354"/>
            <a:ext cx="9849393" cy="4614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485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search in </a:t>
            </a:r>
            <a:r>
              <a:rPr lang="en-US" dirty="0" err="1"/>
              <a:t>bst</a:t>
            </a:r>
            <a:endParaRPr lang="en-US" dirty="0"/>
          </a:p>
        </p:txBody>
      </p:sp>
      <p:pic>
        <p:nvPicPr>
          <p:cNvPr id="40962" name="Picture 2" descr="C:\Users\sanwarul\Desktop\bsts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3851" y="1476103"/>
            <a:ext cx="10019212" cy="4963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300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to search an element </a:t>
            </a:r>
          </a:p>
        </p:txBody>
      </p:sp>
      <p:pic>
        <p:nvPicPr>
          <p:cNvPr id="46082" name="Picture 2" descr="C:\Users\sanwarul\Desktop\search.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3040" y="1711234"/>
            <a:ext cx="9666513" cy="458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756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BST traversal</a:t>
            </a:r>
          </a:p>
        </p:txBody>
      </p:sp>
      <p:sp>
        <p:nvSpPr>
          <p:cNvPr id="3" name="Content Placeholder 2"/>
          <p:cNvSpPr>
            <a:spLocks noGrp="1"/>
          </p:cNvSpPr>
          <p:nvPr>
            <p:ph idx="1"/>
          </p:nvPr>
        </p:nvSpPr>
        <p:spPr/>
        <p:txBody>
          <a:bodyPr/>
          <a:lstStyle/>
          <a:p>
            <a:r>
              <a:rPr lang="en-US" dirty="0"/>
              <a:t>Unlike linear data structures (Array, Linked List, Queues, Stacks, etc.) which have only one logical way to traverse them, trees can be traversed in different ways. </a:t>
            </a:r>
          </a:p>
          <a:p>
            <a:r>
              <a:rPr lang="en-US" dirty="0"/>
              <a:t>Following are the generally used ways for traversing trees.</a:t>
            </a:r>
          </a:p>
          <a:p>
            <a:pPr marL="0" indent="0">
              <a:buNone/>
            </a:pPr>
            <a:endParaRPr lang="en-US" dirty="0"/>
          </a:p>
          <a:p>
            <a:r>
              <a:rPr lang="en-US" dirty="0"/>
              <a:t>1) Depth First Traversals:</a:t>
            </a:r>
          </a:p>
          <a:p>
            <a:pPr marL="0" indent="0">
              <a:buNone/>
            </a:pPr>
            <a:r>
              <a:rPr lang="en-US" dirty="0"/>
              <a:t> </a:t>
            </a:r>
            <a:br>
              <a:rPr lang="en-US" dirty="0"/>
            </a:br>
            <a:r>
              <a:rPr lang="en-US" dirty="0"/>
              <a:t>    (a) </a:t>
            </a:r>
            <a:r>
              <a:rPr lang="en-US" dirty="0" err="1"/>
              <a:t>Inorder</a:t>
            </a:r>
            <a:r>
              <a:rPr lang="en-US" dirty="0"/>
              <a:t> (Left, Root, Right) </a:t>
            </a:r>
          </a:p>
          <a:p>
            <a:pPr marL="0" indent="0">
              <a:buNone/>
            </a:pPr>
            <a:r>
              <a:rPr lang="en-US" dirty="0"/>
              <a:t>    (b) Preorder (Root, Left, Right) </a:t>
            </a:r>
          </a:p>
          <a:p>
            <a:pPr marL="0" indent="0">
              <a:buNone/>
            </a:pPr>
            <a:r>
              <a:rPr lang="en-US" dirty="0"/>
              <a:t>    (c) </a:t>
            </a:r>
            <a:r>
              <a:rPr lang="en-US" dirty="0" err="1"/>
              <a:t>Postorder</a:t>
            </a:r>
            <a:r>
              <a:rPr lang="en-US" dirty="0"/>
              <a:t> (Left, Right, Root) </a:t>
            </a:r>
          </a:p>
          <a:p>
            <a:pPr marL="0" indent="0">
              <a:buNone/>
            </a:pPr>
            <a:endParaRPr lang="en-US" dirty="0"/>
          </a:p>
          <a:p>
            <a:r>
              <a:rPr lang="en-US" dirty="0"/>
              <a:t>2) Breadth First or Level Order Traversal</a:t>
            </a:r>
          </a:p>
          <a:p>
            <a:endParaRPr lang="en-US" dirty="0"/>
          </a:p>
          <a:p>
            <a:endParaRPr lang="en-US" dirty="0"/>
          </a:p>
        </p:txBody>
      </p:sp>
    </p:spTree>
    <p:extLst>
      <p:ext uri="{BB962C8B-B14F-4D97-AF65-F5344CB8AC3E}">
        <p14:creationId xmlns:p14="http://schemas.microsoft.com/office/powerpoint/2010/main" val="1905611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r>
              <a:rPr lang="en-US" dirty="0"/>
              <a:t>Depth First Traversals:</a:t>
            </a:r>
            <a:br>
              <a:rPr lang="en-US" dirty="0"/>
            </a:br>
            <a:r>
              <a:rPr lang="en-US" dirty="0"/>
              <a:t>(a) </a:t>
            </a:r>
            <a:r>
              <a:rPr lang="en-US" dirty="0" err="1"/>
              <a:t>Inorder</a:t>
            </a:r>
            <a:r>
              <a:rPr lang="en-US" dirty="0"/>
              <a:t> (Left, Root, Right) : 4 2 5 1 3</a:t>
            </a:r>
            <a:br>
              <a:rPr lang="en-US" dirty="0"/>
            </a:br>
            <a:r>
              <a:rPr lang="en-US" dirty="0"/>
              <a:t>(b) Preorder (Root, Left, Right) : 1 2 4 5 3</a:t>
            </a:r>
            <a:br>
              <a:rPr lang="en-US" dirty="0"/>
            </a:br>
            <a:r>
              <a:rPr lang="en-US" dirty="0"/>
              <a:t>(c) </a:t>
            </a:r>
            <a:r>
              <a:rPr lang="en-US" dirty="0" err="1"/>
              <a:t>Postorder</a:t>
            </a:r>
            <a:r>
              <a:rPr lang="en-US" dirty="0"/>
              <a:t> (Left, Right, Root) : 4 5 2 3 1</a:t>
            </a:r>
          </a:p>
          <a:p>
            <a:pPr fontAlgn="base"/>
            <a:r>
              <a:rPr lang="en-US" dirty="0"/>
              <a:t>Breadth First or Level Order Traversal : 1 2 3 4 5</a:t>
            </a:r>
          </a:p>
          <a:p>
            <a:endParaRPr lang="en-US" dirty="0"/>
          </a:p>
        </p:txBody>
      </p:sp>
      <p:pic>
        <p:nvPicPr>
          <p:cNvPr id="6" name="Picture 2" descr="C:\Users\sanwarul\Desktop\tr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216" y="1737361"/>
            <a:ext cx="3772426"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0217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8674" name="Picture 2" descr="C:\Users\sanwarul\Desktop\tr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2594" y="1711233"/>
            <a:ext cx="10567852" cy="468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047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a:t>
            </a:r>
            <a:r>
              <a:rPr lang="en-US" dirty="0" err="1"/>
              <a:t>Inorder</a:t>
            </a:r>
            <a:r>
              <a:rPr lang="en-US" dirty="0"/>
              <a:t>(tree)</a:t>
            </a:r>
          </a:p>
        </p:txBody>
      </p:sp>
      <p:sp>
        <p:nvSpPr>
          <p:cNvPr id="3" name="Content Placeholder 2"/>
          <p:cNvSpPr>
            <a:spLocks noGrp="1"/>
          </p:cNvSpPr>
          <p:nvPr>
            <p:ph idx="1"/>
          </p:nvPr>
        </p:nvSpPr>
        <p:spPr/>
        <p:txBody>
          <a:bodyPr>
            <a:normAutofit/>
          </a:bodyPr>
          <a:lstStyle/>
          <a:p>
            <a:r>
              <a:rPr lang="en-US" sz="2800" dirty="0"/>
              <a:t>Traverse the left subtree, i.e., call </a:t>
            </a:r>
            <a:r>
              <a:rPr lang="en-US" sz="2800" dirty="0" err="1"/>
              <a:t>Inorder</a:t>
            </a:r>
            <a:r>
              <a:rPr lang="en-US" sz="2800" dirty="0"/>
              <a:t>(left-subtree) </a:t>
            </a:r>
          </a:p>
          <a:p>
            <a:r>
              <a:rPr lang="en-US" sz="2800" dirty="0"/>
              <a:t>Visit the root. </a:t>
            </a:r>
          </a:p>
          <a:p>
            <a:r>
              <a:rPr lang="en-US" sz="2800" dirty="0"/>
              <a:t>Traverse the right subtree, i.e., call </a:t>
            </a:r>
            <a:r>
              <a:rPr lang="en-US" sz="2800" dirty="0" err="1"/>
              <a:t>Inorder</a:t>
            </a:r>
            <a:r>
              <a:rPr lang="en-US" sz="2800" dirty="0"/>
              <a:t>(right-subtree)</a:t>
            </a:r>
          </a:p>
          <a:p>
            <a:pPr marL="0" indent="0">
              <a:buNone/>
            </a:pPr>
            <a:endParaRPr lang="en-US" sz="2800" dirty="0"/>
          </a:p>
          <a:p>
            <a:pPr marL="0" indent="0">
              <a:buNone/>
            </a:pPr>
            <a:r>
              <a:rPr lang="en-US" sz="2800" b="1" dirty="0"/>
              <a:t>Uses of </a:t>
            </a:r>
            <a:r>
              <a:rPr lang="en-US" sz="2800" b="1" dirty="0" err="1"/>
              <a:t>Inorder</a:t>
            </a:r>
            <a:br>
              <a:rPr lang="en-US" sz="2800" b="1" dirty="0"/>
            </a:br>
            <a:r>
              <a:rPr lang="en-US" sz="2800" dirty="0"/>
              <a:t>In case of binary search trees (BST), </a:t>
            </a:r>
            <a:r>
              <a:rPr lang="en-US" sz="2800" dirty="0" err="1"/>
              <a:t>Inorder</a:t>
            </a:r>
            <a:r>
              <a:rPr lang="en-US" sz="2800" dirty="0"/>
              <a:t> traversal gives nodes in increasing order. To get nodes of BST in non-increasing order, a variation of </a:t>
            </a:r>
            <a:r>
              <a:rPr lang="en-US" sz="2800" dirty="0" err="1"/>
              <a:t>Inorder</a:t>
            </a:r>
            <a:r>
              <a:rPr lang="en-US" sz="2800" dirty="0"/>
              <a:t> traversal where </a:t>
            </a:r>
            <a:r>
              <a:rPr lang="en-US" sz="2800" dirty="0" err="1"/>
              <a:t>Inorder</a:t>
            </a:r>
            <a:r>
              <a:rPr lang="en-US" sz="2800" dirty="0"/>
              <a:t> traversal is reversed, can be used.</a:t>
            </a:r>
          </a:p>
        </p:txBody>
      </p:sp>
    </p:spTree>
    <p:extLst>
      <p:ext uri="{BB962C8B-B14F-4D97-AF65-F5344CB8AC3E}">
        <p14:creationId xmlns:p14="http://schemas.microsoft.com/office/powerpoint/2010/main" val="539362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Preorder(tree)</a:t>
            </a:r>
          </a:p>
        </p:txBody>
      </p:sp>
      <p:sp>
        <p:nvSpPr>
          <p:cNvPr id="3" name="Content Placeholder 2"/>
          <p:cNvSpPr>
            <a:spLocks noGrp="1"/>
          </p:cNvSpPr>
          <p:nvPr>
            <p:ph idx="1"/>
          </p:nvPr>
        </p:nvSpPr>
        <p:spPr/>
        <p:txBody>
          <a:bodyPr>
            <a:normAutofit/>
          </a:bodyPr>
          <a:lstStyle/>
          <a:p>
            <a:r>
              <a:rPr lang="en-US" sz="2800" dirty="0"/>
              <a:t>Visit the root.</a:t>
            </a:r>
          </a:p>
          <a:p>
            <a:r>
              <a:rPr lang="en-US" sz="2800" dirty="0"/>
              <a:t>Traverse the left subtree, i.e., call Preorder(left-subtree) </a:t>
            </a:r>
          </a:p>
          <a:p>
            <a:r>
              <a:rPr lang="en-US" sz="2800" dirty="0"/>
              <a:t>Traverse the right subtree, i.e., call Preorder(right-subtree)</a:t>
            </a:r>
          </a:p>
          <a:p>
            <a:endParaRPr lang="en-US" sz="2800" dirty="0"/>
          </a:p>
          <a:p>
            <a:pPr marL="0" indent="0">
              <a:buNone/>
            </a:pPr>
            <a:r>
              <a:rPr lang="en-US" sz="2800" b="1" dirty="0"/>
              <a:t>Uses of Preorder</a:t>
            </a:r>
            <a:br>
              <a:rPr lang="en-US" sz="2800" b="1" dirty="0"/>
            </a:br>
            <a:r>
              <a:rPr lang="en-US" sz="2800" dirty="0" err="1"/>
              <a:t>Preorder</a:t>
            </a:r>
            <a:r>
              <a:rPr lang="en-US" sz="2800" dirty="0"/>
              <a:t> traversal is also used to get prefix expression on of an expression tree.</a:t>
            </a:r>
          </a:p>
        </p:txBody>
      </p:sp>
    </p:spTree>
    <p:extLst>
      <p:ext uri="{BB962C8B-B14F-4D97-AF65-F5344CB8AC3E}">
        <p14:creationId xmlns:p14="http://schemas.microsoft.com/office/powerpoint/2010/main" val="2971863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a:t>
            </a:r>
            <a:r>
              <a:rPr lang="en-US" dirty="0" err="1"/>
              <a:t>Postorder</a:t>
            </a:r>
            <a:r>
              <a:rPr lang="en-US" dirty="0"/>
              <a:t>(tree)</a:t>
            </a:r>
          </a:p>
        </p:txBody>
      </p:sp>
      <p:sp>
        <p:nvSpPr>
          <p:cNvPr id="3" name="Content Placeholder 2"/>
          <p:cNvSpPr>
            <a:spLocks noGrp="1"/>
          </p:cNvSpPr>
          <p:nvPr>
            <p:ph idx="1"/>
          </p:nvPr>
        </p:nvSpPr>
        <p:spPr/>
        <p:txBody>
          <a:bodyPr>
            <a:normAutofit/>
          </a:bodyPr>
          <a:lstStyle/>
          <a:p>
            <a:r>
              <a:rPr lang="en-US" sz="2800" dirty="0"/>
              <a:t>Traverse the left subtree, i.e., call </a:t>
            </a:r>
            <a:r>
              <a:rPr lang="en-US" sz="2800" dirty="0" err="1"/>
              <a:t>Postorder</a:t>
            </a:r>
            <a:r>
              <a:rPr lang="en-US" sz="2800" dirty="0"/>
              <a:t>(left-subtree)</a:t>
            </a:r>
          </a:p>
          <a:p>
            <a:r>
              <a:rPr lang="en-US" sz="2800" dirty="0"/>
              <a:t>Traverse the right subtree, i.e., call </a:t>
            </a:r>
            <a:r>
              <a:rPr lang="en-US" sz="2800" dirty="0" err="1"/>
              <a:t>Postorder</a:t>
            </a:r>
            <a:r>
              <a:rPr lang="en-US" sz="2800" dirty="0"/>
              <a:t>(right-subtree)</a:t>
            </a:r>
          </a:p>
          <a:p>
            <a:r>
              <a:rPr lang="en-US" sz="2800" dirty="0"/>
              <a:t>Visit the root.</a:t>
            </a:r>
          </a:p>
          <a:p>
            <a:endParaRPr lang="en-US" sz="2800" dirty="0"/>
          </a:p>
          <a:p>
            <a:r>
              <a:rPr lang="en-US" sz="2800" b="1" dirty="0"/>
              <a:t>Uses of </a:t>
            </a:r>
            <a:r>
              <a:rPr lang="en-US" sz="2800" b="1" dirty="0" err="1"/>
              <a:t>Postorder</a:t>
            </a:r>
            <a:endParaRPr lang="en-US" sz="2800" dirty="0"/>
          </a:p>
          <a:p>
            <a:r>
              <a:rPr lang="en-US" sz="2800" dirty="0" err="1"/>
              <a:t>Postorder</a:t>
            </a:r>
            <a:r>
              <a:rPr lang="en-US" sz="2800" dirty="0"/>
              <a:t> traversal is also useful to get the postfix expression of an expression tree. </a:t>
            </a:r>
          </a:p>
        </p:txBody>
      </p:sp>
    </p:spTree>
    <p:extLst>
      <p:ext uri="{BB962C8B-B14F-4D97-AF65-F5344CB8AC3E}">
        <p14:creationId xmlns:p14="http://schemas.microsoft.com/office/powerpoint/2010/main" val="17931933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 functions for tree traversal</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810896509"/>
              </p:ext>
            </p:extLst>
          </p:nvPr>
        </p:nvGraphicFramePr>
        <p:xfrm>
          <a:off x="2278063" y="1069975"/>
          <a:ext cx="7548562" cy="4330700"/>
        </p:xfrm>
        <a:graphic>
          <a:graphicData uri="http://schemas.openxmlformats.org/presentationml/2006/ole">
            <mc:AlternateContent xmlns:mc="http://schemas.openxmlformats.org/markup-compatibility/2006">
              <mc:Choice xmlns:v="urn:schemas-microsoft-com:vml" Requires="v">
                <p:oleObj name="Packager Shell Object" showAsIcon="1" r:id="rId2" imgW="1016000" imgH="526962" progId="Package">
                  <p:embed/>
                </p:oleObj>
              </mc:Choice>
              <mc:Fallback>
                <p:oleObj name="Packager Shell Object" showAsIcon="1" r:id="rId2" imgW="1016000" imgH="526962" progId="Package">
                  <p:embed/>
                  <p:pic>
                    <p:nvPicPr>
                      <p:cNvPr id="4" name="Content Placeholder 3"/>
                      <p:cNvPicPr/>
                      <p:nvPr/>
                    </p:nvPicPr>
                    <p:blipFill>
                      <a:blip r:embed="rId3"/>
                      <a:stretch>
                        <a:fillRect/>
                      </a:stretch>
                    </p:blipFill>
                    <p:spPr>
                      <a:xfrm>
                        <a:off x="2278063" y="1069975"/>
                        <a:ext cx="7548562" cy="4330700"/>
                      </a:xfrm>
                      <a:prstGeom prst="rect">
                        <a:avLst/>
                      </a:prstGeom>
                    </p:spPr>
                  </p:pic>
                </p:oleObj>
              </mc:Fallback>
            </mc:AlternateContent>
          </a:graphicData>
        </a:graphic>
      </p:graphicFrame>
    </p:spTree>
    <p:extLst>
      <p:ext uri="{BB962C8B-B14F-4D97-AF65-F5344CB8AC3E}">
        <p14:creationId xmlns:p14="http://schemas.microsoft.com/office/powerpoint/2010/main" val="4149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order traversal</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456175885"/>
              </p:ext>
            </p:extLst>
          </p:nvPr>
        </p:nvGraphicFramePr>
        <p:xfrm>
          <a:off x="1390650" y="1133475"/>
          <a:ext cx="7083425" cy="4427538"/>
        </p:xfrm>
        <a:graphic>
          <a:graphicData uri="http://schemas.openxmlformats.org/presentationml/2006/ole">
            <mc:AlternateContent xmlns:mc="http://schemas.openxmlformats.org/markup-compatibility/2006">
              <mc:Choice xmlns:v="urn:schemas-microsoft-com:vml" Requires="v">
                <p:oleObj name="Packager Shell Object" showAsIcon="1" r:id="rId2" imgW="870012" imgH="526962" progId="Package">
                  <p:embed/>
                </p:oleObj>
              </mc:Choice>
              <mc:Fallback>
                <p:oleObj name="Packager Shell Object" showAsIcon="1" r:id="rId2" imgW="870012" imgH="526962" progId="Package">
                  <p:embed/>
                  <p:pic>
                    <p:nvPicPr>
                      <p:cNvPr id="4" name="Content Placeholder 3"/>
                      <p:cNvPicPr/>
                      <p:nvPr/>
                    </p:nvPicPr>
                    <p:blipFill>
                      <a:blip r:embed="rId3"/>
                      <a:stretch>
                        <a:fillRect/>
                      </a:stretch>
                    </p:blipFill>
                    <p:spPr>
                      <a:xfrm>
                        <a:off x="1390650" y="1133475"/>
                        <a:ext cx="7083425" cy="4427538"/>
                      </a:xfrm>
                      <a:prstGeom prst="rect">
                        <a:avLst/>
                      </a:prstGeom>
                    </p:spPr>
                  </p:pic>
                </p:oleObj>
              </mc:Fallback>
            </mc:AlternateContent>
          </a:graphicData>
        </a:graphic>
      </p:graphicFrame>
    </p:spTree>
    <p:extLst>
      <p:ext uri="{BB962C8B-B14F-4D97-AF65-F5344CB8AC3E}">
        <p14:creationId xmlns:p14="http://schemas.microsoft.com/office/powerpoint/2010/main" val="1333127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interesting facts</a:t>
            </a:r>
          </a:p>
        </p:txBody>
      </p:sp>
      <p:pic>
        <p:nvPicPr>
          <p:cNvPr id="47106" name="Picture 2" descr="C:\Users\sanwarul\Desktop\fac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4480" y="1972492"/>
            <a:ext cx="9875520" cy="352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9476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29698" name="Picture 2" descr="C:\Users\sanwarul\Desktop\bst-gate.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36914" y="1567542"/>
            <a:ext cx="9744892" cy="4976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19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 in BST</a:t>
            </a:r>
          </a:p>
        </p:txBody>
      </p:sp>
      <p:sp>
        <p:nvSpPr>
          <p:cNvPr id="3" name="Content Placeholder 2"/>
          <p:cNvSpPr>
            <a:spLocks noGrp="1"/>
          </p:cNvSpPr>
          <p:nvPr>
            <p:ph idx="1"/>
          </p:nvPr>
        </p:nvSpPr>
        <p:spPr/>
        <p:txBody>
          <a:bodyPr/>
          <a:lstStyle/>
          <a:p>
            <a:r>
              <a:rPr lang="en-US" dirty="0"/>
              <a:t>When we delete a node, there possibilities arise:</a:t>
            </a:r>
          </a:p>
          <a:p>
            <a:endParaRPr lang="en-US" dirty="0"/>
          </a:p>
        </p:txBody>
      </p:sp>
      <p:pic>
        <p:nvPicPr>
          <p:cNvPr id="50178" name="Picture 2" descr="C:\Users\sanwarul\Desktop\t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171" y="2129246"/>
            <a:ext cx="9300755" cy="3631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668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02" name="Picture 2" descr="C:\Users\sanwarul\Desktop\td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1678" y="1499506"/>
            <a:ext cx="9888583" cy="4467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3423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2226" name="Picture 2" descr="C:\Users\sanwarul\Desktop\td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5290" y="1580607"/>
            <a:ext cx="9757955" cy="4415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8057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 program to delete a node from BST</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112043828"/>
              </p:ext>
            </p:extLst>
          </p:nvPr>
        </p:nvGraphicFramePr>
        <p:xfrm>
          <a:off x="1463675" y="973138"/>
          <a:ext cx="8045450" cy="5229225"/>
        </p:xfrm>
        <a:graphic>
          <a:graphicData uri="http://schemas.openxmlformats.org/presentationml/2006/ole">
            <mc:AlternateContent xmlns:mc="http://schemas.openxmlformats.org/markup-compatibility/2006">
              <mc:Choice xmlns:v="urn:schemas-microsoft-com:vml" Requires="v">
                <p:oleObj name="Packager Shell Object" showAsIcon="1" r:id="rId2" imgW="831739" imgH="526962" progId="Package">
                  <p:embed/>
                </p:oleObj>
              </mc:Choice>
              <mc:Fallback>
                <p:oleObj name="Packager Shell Object" showAsIcon="1" r:id="rId2" imgW="831739" imgH="526962" progId="Package">
                  <p:embed/>
                  <p:pic>
                    <p:nvPicPr>
                      <p:cNvPr id="4" name="Content Placeholder 3"/>
                      <p:cNvPicPr/>
                      <p:nvPr/>
                    </p:nvPicPr>
                    <p:blipFill>
                      <a:blip r:embed="rId3"/>
                      <a:stretch>
                        <a:fillRect/>
                      </a:stretch>
                    </p:blipFill>
                    <p:spPr>
                      <a:xfrm>
                        <a:off x="1463675" y="973138"/>
                        <a:ext cx="8045450" cy="5229225"/>
                      </a:xfrm>
                      <a:prstGeom prst="rect">
                        <a:avLst/>
                      </a:prstGeom>
                    </p:spPr>
                  </p:pic>
                </p:oleObj>
              </mc:Fallback>
            </mc:AlternateContent>
          </a:graphicData>
        </a:graphic>
      </p:graphicFrame>
    </p:spTree>
    <p:extLst>
      <p:ext uri="{BB962C8B-B14F-4D97-AF65-F5344CB8AC3E}">
        <p14:creationId xmlns:p14="http://schemas.microsoft.com/office/powerpoint/2010/main" val="17365503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Time complexities of all operations</a:t>
            </a:r>
          </a:p>
        </p:txBody>
      </p:sp>
      <p:pic>
        <p:nvPicPr>
          <p:cNvPr id="54274" name="Picture 2" descr="C:\Users\sanwarul\Desktop\co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8880" y="2142309"/>
            <a:ext cx="7354389" cy="3696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7159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Number of binary trees with n nodes</a:t>
            </a:r>
          </a:p>
        </p:txBody>
      </p:sp>
      <p:sp>
        <p:nvSpPr>
          <p:cNvPr id="3" name="Content Placeholder 2"/>
          <p:cNvSpPr>
            <a:spLocks noGrp="1"/>
          </p:cNvSpPr>
          <p:nvPr>
            <p:ph idx="1"/>
          </p:nvPr>
        </p:nvSpPr>
        <p:spPr/>
        <p:txBody>
          <a:bodyPr/>
          <a:lstStyle/>
          <a:p>
            <a:endParaRPr lang="en-US" dirty="0"/>
          </a:p>
          <a:p>
            <a:endParaRPr lang="en-US" dirty="0"/>
          </a:p>
          <a:p>
            <a:r>
              <a:rPr lang="en-US" dirty="0"/>
              <a:t>2^n - 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7537" y="3019349"/>
            <a:ext cx="6385013" cy="3152851"/>
          </a:xfrm>
          <a:prstGeom prst="rect">
            <a:avLst/>
          </a:prstGeom>
        </p:spPr>
      </p:pic>
    </p:spTree>
    <p:extLst>
      <p:ext uri="{BB962C8B-B14F-4D97-AF65-F5344CB8AC3E}">
        <p14:creationId xmlns:p14="http://schemas.microsoft.com/office/powerpoint/2010/main" val="1470610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Total No. of BST with n nodes</a:t>
            </a:r>
          </a:p>
        </p:txBody>
      </p:sp>
      <p:sp>
        <p:nvSpPr>
          <p:cNvPr id="3" name="Content Placeholder 2"/>
          <p:cNvSpPr>
            <a:spLocks noGrp="1"/>
          </p:cNvSpPr>
          <p:nvPr>
            <p:ph idx="1"/>
          </p:nvPr>
        </p:nvSpPr>
        <p:spPr/>
        <p:txBody>
          <a:bodyPr/>
          <a:lstStyle/>
          <a:p>
            <a:endParaRPr lang="en-US" dirty="0"/>
          </a:p>
          <a:p>
            <a:r>
              <a:rPr lang="en-US" dirty="0">
                <a:hlinkClick r:id="rId2"/>
              </a:rPr>
              <a:t>https://www.enjoyalgorithms.com/blog/total-number-of-binary-search-trees-with-n-keys</a:t>
            </a:r>
            <a:endParaRPr lang="en-US" dirty="0"/>
          </a:p>
          <a:p>
            <a:r>
              <a:rPr lang="en-US" b="1" dirty="0"/>
              <a:t>(Proof asked in Amazon and Microsoft: given in above link)</a:t>
            </a:r>
          </a:p>
          <a:p>
            <a:endParaRPr lang="en-US" b="1" dirty="0"/>
          </a:p>
          <a:p>
            <a:r>
              <a:rPr lang="en-US" dirty="0"/>
              <a:t>In combinatorial mathematics, the </a:t>
            </a:r>
            <a:r>
              <a:rPr lang="en-US" b="1" dirty="0"/>
              <a:t>Catalan numbers </a:t>
            </a:r>
            <a:r>
              <a:rPr lang="en-US" dirty="0"/>
              <a:t>are a sequence of natural numbers that occur in various counting problems, often involving recursively defined objects. </a:t>
            </a:r>
          </a:p>
          <a:p>
            <a:endParaRPr lang="en-US"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3091" y="3965459"/>
            <a:ext cx="8655495" cy="2527416"/>
          </a:xfrm>
          <a:prstGeom prst="rect">
            <a:avLst/>
          </a:prstGeom>
        </p:spPr>
      </p:pic>
    </p:spTree>
    <p:extLst>
      <p:ext uri="{BB962C8B-B14F-4D97-AF65-F5344CB8AC3E}">
        <p14:creationId xmlns:p14="http://schemas.microsoft.com/office/powerpoint/2010/main" val="23332863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8061" y="1805760"/>
            <a:ext cx="6451714" cy="2537640"/>
          </a:xfrm>
        </p:spPr>
      </p:pic>
    </p:spTree>
    <p:extLst>
      <p:ext uri="{BB962C8B-B14F-4D97-AF65-F5344CB8AC3E}">
        <p14:creationId xmlns:p14="http://schemas.microsoft.com/office/powerpoint/2010/main" val="67273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38375" y="1000125"/>
            <a:ext cx="9096375" cy="4419600"/>
          </a:xfrm>
        </p:spPr>
      </p:pic>
    </p:spTree>
    <p:extLst>
      <p:ext uri="{BB962C8B-B14F-4D97-AF65-F5344CB8AC3E}">
        <p14:creationId xmlns:p14="http://schemas.microsoft.com/office/powerpoint/2010/main" val="852474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questions</a:t>
            </a:r>
          </a:p>
        </p:txBody>
      </p:sp>
      <p:pic>
        <p:nvPicPr>
          <p:cNvPr id="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37360" y="1506538"/>
            <a:ext cx="7831141" cy="4306433"/>
          </a:xfrm>
          <a:noFill/>
        </p:spPr>
      </p:pic>
    </p:spTree>
    <p:extLst>
      <p:ext uri="{BB962C8B-B14F-4D97-AF65-F5344CB8AC3E}">
        <p14:creationId xmlns:p14="http://schemas.microsoft.com/office/powerpoint/2010/main" val="31252525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55298" name="Picture 2" descr="C:\Users\sanwarul\Desktop\q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7360" y="1502229"/>
            <a:ext cx="8921931" cy="480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645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56322" name="Picture 2" descr="C:\Users\sanwarul\Desktop\q1.1.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89165" y="2142056"/>
            <a:ext cx="9614263" cy="394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910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32263" y="1590675"/>
            <a:ext cx="6293173" cy="4600575"/>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3555" y="1714399"/>
            <a:ext cx="3851395" cy="3905451"/>
          </a:xfrm>
          <a:prstGeom prst="rect">
            <a:avLst/>
          </a:prstGeom>
        </p:spPr>
      </p:pic>
    </p:spTree>
    <p:extLst>
      <p:ext uri="{BB962C8B-B14F-4D97-AF65-F5344CB8AC3E}">
        <p14:creationId xmlns:p14="http://schemas.microsoft.com/office/powerpoint/2010/main" val="16958523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Expression tree</a:t>
            </a:r>
          </a:p>
        </p:txBody>
      </p:sp>
      <p:sp>
        <p:nvSpPr>
          <p:cNvPr id="3" name="Content Placeholder 2"/>
          <p:cNvSpPr>
            <a:spLocks noGrp="1"/>
          </p:cNvSpPr>
          <p:nvPr>
            <p:ph idx="1"/>
          </p:nvPr>
        </p:nvSpPr>
        <p:spPr/>
        <p:txBody>
          <a:bodyPr/>
          <a:lstStyle/>
          <a:p>
            <a:r>
              <a:rPr lang="en-US" dirty="0"/>
              <a:t>Expression tree is a binary tree in which each internal node corresponds to operator and each leaf node corresponds to operand so for example expression tree for 3 + ((5+9)*2) would be:</a:t>
            </a:r>
          </a:p>
          <a:p>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2" descr="C:\Users\sanwarul\Desktop\ex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646" y="2455817"/>
            <a:ext cx="6426925" cy="3618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2791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expression tree</a:t>
            </a:r>
          </a:p>
        </p:txBody>
      </p:sp>
      <p:sp>
        <p:nvSpPr>
          <p:cNvPr id="3" name="Content Placeholder 2"/>
          <p:cNvSpPr>
            <a:spLocks noGrp="1"/>
          </p:cNvSpPr>
          <p:nvPr>
            <p:ph idx="1"/>
          </p:nvPr>
        </p:nvSpPr>
        <p:spPr/>
        <p:txBody>
          <a:bodyPr/>
          <a:lstStyle/>
          <a:p>
            <a:r>
              <a:rPr lang="en-US" dirty="0"/>
              <a:t>Given a simple </a:t>
            </a:r>
            <a:r>
              <a:rPr lang="en-US" dirty="0">
                <a:hlinkClick r:id="rId2"/>
              </a:rPr>
              <a:t>expression tree</a:t>
            </a:r>
            <a:r>
              <a:rPr lang="en-US" dirty="0"/>
              <a:t>, consisting of basic binary operators i.e., + , – ,* and / and some integers, evaluate the expression tree.</a:t>
            </a:r>
          </a:p>
          <a:p>
            <a:r>
              <a:rPr lang="en-US" dirty="0"/>
              <a:t>As all the operators in the tree are binary hence each node will have either 0 or 2 children. As it can be inferred from the examples above , the integer values would appear at the leaf nodes , while the interior nodes represent the operators.</a:t>
            </a:r>
          </a:p>
          <a:p>
            <a:r>
              <a:rPr lang="en-US" dirty="0"/>
              <a:t>To evaluate the syntax tree , a recursive approach can be followed .</a:t>
            </a:r>
          </a:p>
          <a:p>
            <a:endParaRPr lang="en-US" dirty="0"/>
          </a:p>
        </p:txBody>
      </p:sp>
      <p:pic>
        <p:nvPicPr>
          <p:cNvPr id="31747" name="Picture 3" descr="C:\Users\sanwarul\Desktop\ex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172" y="3775166"/>
            <a:ext cx="7406640" cy="2797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3164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C:\Users\sanwarul\Desktop\ex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0240" y="1741950"/>
            <a:ext cx="8373291" cy="4744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179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2770" name="Picture 2" descr="C:\Users\sanwarul\Desktop\ex3.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77441" y="1637161"/>
            <a:ext cx="7537268" cy="4953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3127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MCQ Questions</a:t>
            </a:r>
          </a:p>
        </p:txBody>
      </p:sp>
      <p:sp>
        <p:nvSpPr>
          <p:cNvPr id="3" name="Content Placeholder 2"/>
          <p:cNvSpPr>
            <a:spLocks noGrp="1"/>
          </p:cNvSpPr>
          <p:nvPr>
            <p:ph idx="1"/>
          </p:nvPr>
        </p:nvSpPr>
        <p:spPr/>
        <p:txBody>
          <a:bodyPr/>
          <a:lstStyle/>
          <a:p>
            <a:r>
              <a:rPr lang="en-US" dirty="0">
                <a:hlinkClick r:id="rId2"/>
              </a:rPr>
              <a:t>https://www.geeksforgeeks.org/data-structure-gq/top-mcqs-on-binary-search-tree-bst-data-structure-with-answers/</a:t>
            </a:r>
            <a:endParaRPr lang="en-US" dirty="0"/>
          </a:p>
          <a:p>
            <a:endParaRPr lang="en-US" dirty="0"/>
          </a:p>
        </p:txBody>
      </p:sp>
    </p:spTree>
    <p:extLst>
      <p:ext uri="{BB962C8B-B14F-4D97-AF65-F5344CB8AC3E}">
        <p14:creationId xmlns:p14="http://schemas.microsoft.com/office/powerpoint/2010/main" val="37167669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Top 50 Tree Coding problems asked in interview</a:t>
            </a:r>
          </a:p>
        </p:txBody>
      </p:sp>
      <p:sp>
        <p:nvSpPr>
          <p:cNvPr id="3" name="Content Placeholder 2"/>
          <p:cNvSpPr>
            <a:spLocks noGrp="1"/>
          </p:cNvSpPr>
          <p:nvPr>
            <p:ph idx="1"/>
          </p:nvPr>
        </p:nvSpPr>
        <p:spPr/>
        <p:txBody>
          <a:bodyPr/>
          <a:lstStyle/>
          <a:p>
            <a:endParaRPr lang="en-US" dirty="0"/>
          </a:p>
          <a:p>
            <a:endParaRPr lang="en-US" dirty="0"/>
          </a:p>
          <a:p>
            <a:r>
              <a:rPr lang="en-US" dirty="0"/>
              <a:t>https://www.geeksforgeeks.org/top-50-tree-coding-problems-for-interviews/</a:t>
            </a:r>
          </a:p>
        </p:txBody>
      </p:sp>
    </p:spTree>
    <p:extLst>
      <p:ext uri="{BB962C8B-B14F-4D97-AF65-F5344CB8AC3E}">
        <p14:creationId xmlns:p14="http://schemas.microsoft.com/office/powerpoint/2010/main" val="20271556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Exercise</a:t>
            </a:r>
          </a:p>
        </p:txBody>
      </p:sp>
      <p:sp>
        <p:nvSpPr>
          <p:cNvPr id="3" name="Content Placeholder 2"/>
          <p:cNvSpPr>
            <a:spLocks noGrp="1"/>
          </p:cNvSpPr>
          <p:nvPr>
            <p:ph idx="1"/>
          </p:nvPr>
        </p:nvSpPr>
        <p:spPr/>
        <p:txBody>
          <a:bodyPr/>
          <a:lstStyle/>
          <a:p>
            <a:pPr lvl="0"/>
            <a:r>
              <a:rPr lang="en-US" dirty="0"/>
              <a:t>Create a binary tree using an array and linked List.</a:t>
            </a:r>
          </a:p>
          <a:p>
            <a:r>
              <a:rPr lang="en-US" dirty="0"/>
              <a:t>Construct a Binary Search Tree using Linked List and perform below operations:</a:t>
            </a:r>
          </a:p>
          <a:p>
            <a:pPr lvl="1"/>
            <a:r>
              <a:rPr lang="en-US" dirty="0"/>
              <a:t>Implement search in BST</a:t>
            </a:r>
          </a:p>
          <a:p>
            <a:pPr lvl="1"/>
            <a:r>
              <a:rPr lang="en-US" dirty="0"/>
              <a:t>Implement </a:t>
            </a:r>
            <a:r>
              <a:rPr lang="en-US" dirty="0" err="1"/>
              <a:t>inorder</a:t>
            </a:r>
            <a:r>
              <a:rPr lang="en-US" dirty="0"/>
              <a:t>, preorder, </a:t>
            </a:r>
            <a:r>
              <a:rPr lang="en-US" dirty="0" err="1"/>
              <a:t>postorder</a:t>
            </a:r>
            <a:r>
              <a:rPr lang="en-US" dirty="0"/>
              <a:t> traversal in BST</a:t>
            </a:r>
          </a:p>
          <a:p>
            <a:pPr lvl="1"/>
            <a:r>
              <a:rPr lang="en-US" dirty="0"/>
              <a:t>Implement deletion in BST</a:t>
            </a:r>
          </a:p>
        </p:txBody>
      </p:sp>
    </p:spTree>
    <p:extLst>
      <p:ext uri="{BB962C8B-B14F-4D97-AF65-F5344CB8AC3E}">
        <p14:creationId xmlns:p14="http://schemas.microsoft.com/office/powerpoint/2010/main" val="933748899"/>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19866</TotalTime>
  <Words>2336</Words>
  <Application>Microsoft Office PowerPoint</Application>
  <PresentationFormat>Widescreen</PresentationFormat>
  <Paragraphs>264</Paragraphs>
  <Slides>72</Slides>
  <Notes>12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72</vt:i4>
      </vt:variant>
    </vt:vector>
  </HeadingPairs>
  <TitlesOfParts>
    <vt:vector size="81" baseType="lpstr">
      <vt:lpstr>Arial</vt:lpstr>
      <vt:lpstr>Calibri</vt:lpstr>
      <vt:lpstr>Georgia</vt:lpstr>
      <vt:lpstr>Gill Sans MT</vt:lpstr>
      <vt:lpstr>Tahoma</vt:lpstr>
      <vt:lpstr>Wingdings</vt:lpstr>
      <vt:lpstr>Badge</vt:lpstr>
      <vt:lpstr>Package</vt:lpstr>
      <vt:lpstr>Packager Shell Object</vt:lpstr>
      <vt:lpstr>TREES</vt:lpstr>
      <vt:lpstr>Nature View of a Tree</vt:lpstr>
      <vt:lpstr>Computer Scientist’s View</vt:lpstr>
      <vt:lpstr>What is tree?</vt:lpstr>
      <vt:lpstr>Tree Terminology</vt:lpstr>
      <vt:lpstr>PowerPoint Presentation</vt:lpstr>
      <vt:lpstr>PowerPoint Presentation</vt:lpstr>
      <vt:lpstr>PowerPoint Presentation</vt:lpstr>
      <vt:lpstr>Different Types of trees</vt:lpstr>
      <vt:lpstr>Binary Tree</vt:lpstr>
      <vt:lpstr>Array representation of binary tree </vt:lpstr>
      <vt:lpstr>Array representation of binary tree </vt:lpstr>
      <vt:lpstr>C function to implement binary tree using linked list</vt:lpstr>
      <vt:lpstr>Properties of binary tree</vt:lpstr>
      <vt:lpstr>PowerPoint Presentation</vt:lpstr>
      <vt:lpstr>PowerPoint Presentation</vt:lpstr>
      <vt:lpstr>PowerPoint Presentation</vt:lpstr>
      <vt:lpstr>PowerPoint Presentation</vt:lpstr>
      <vt:lpstr>Types of Binary tree</vt:lpstr>
      <vt:lpstr>Types of Binary tree</vt:lpstr>
      <vt:lpstr>Properties of Full Binary Tree</vt:lpstr>
      <vt:lpstr>Types of Binary tree</vt:lpstr>
      <vt:lpstr>Complete and Full Binary Tree</vt:lpstr>
      <vt:lpstr>Question?</vt:lpstr>
      <vt:lpstr>Types of Binary tree</vt:lpstr>
      <vt:lpstr>Types of Binary tree</vt:lpstr>
      <vt:lpstr>Types of Binary tree</vt:lpstr>
      <vt:lpstr>Types of Binary tree</vt:lpstr>
      <vt:lpstr>Question</vt:lpstr>
      <vt:lpstr>Searching in binary tree</vt:lpstr>
      <vt:lpstr>Binary search tree</vt:lpstr>
      <vt:lpstr>Binary search tree</vt:lpstr>
      <vt:lpstr>PowerPoint Presentation</vt:lpstr>
      <vt:lpstr>Examples of bst</vt:lpstr>
      <vt:lpstr>Difference between bt &amp; bst</vt:lpstr>
      <vt:lpstr>Bst operations</vt:lpstr>
      <vt:lpstr>Bst insertion</vt:lpstr>
      <vt:lpstr>C program for Insertion in bst</vt:lpstr>
      <vt:lpstr>How to search in bst</vt:lpstr>
      <vt:lpstr>How to search in bst</vt:lpstr>
      <vt:lpstr>How to search in bst</vt:lpstr>
      <vt:lpstr>Function to search an element </vt:lpstr>
      <vt:lpstr>BST traversal</vt:lpstr>
      <vt:lpstr>PowerPoint Presentation</vt:lpstr>
      <vt:lpstr>Example</vt:lpstr>
      <vt:lpstr>Algorithm Inorder(tree)</vt:lpstr>
      <vt:lpstr>Algorithm Preorder(tree)</vt:lpstr>
      <vt:lpstr>Algorithm Postorder(tree)</vt:lpstr>
      <vt:lpstr>C functions for tree traversal</vt:lpstr>
      <vt:lpstr>Level order traversal</vt:lpstr>
      <vt:lpstr>Some interesting facts</vt:lpstr>
      <vt:lpstr>Question</vt:lpstr>
      <vt:lpstr>Deletion in BST</vt:lpstr>
      <vt:lpstr>PowerPoint Presentation</vt:lpstr>
      <vt:lpstr>PowerPoint Presentation</vt:lpstr>
      <vt:lpstr>C program to delete a node from BST</vt:lpstr>
      <vt:lpstr>Time complexities of all operations</vt:lpstr>
      <vt:lpstr>Number of binary trees with n nodes</vt:lpstr>
      <vt:lpstr>Total No. of BST with n nodes</vt:lpstr>
      <vt:lpstr>PowerPoint Presentation</vt:lpstr>
      <vt:lpstr>Question</vt:lpstr>
      <vt:lpstr>Practice questions</vt:lpstr>
      <vt:lpstr>Question</vt:lpstr>
      <vt:lpstr>Question</vt:lpstr>
      <vt:lpstr>Question</vt:lpstr>
      <vt:lpstr>Expression tree</vt:lpstr>
      <vt:lpstr>Evaluation of expression tree</vt:lpstr>
      <vt:lpstr>PowerPoint Presentation</vt:lpstr>
      <vt:lpstr>PowerPoint Presentation</vt:lpstr>
      <vt:lpstr>Practice MCQ Questions</vt:lpstr>
      <vt:lpstr>Top 50 Tree Coding problems asked in interview</vt:lpstr>
      <vt:lpstr>Lab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sanwarul@ddn.upes.ac.in</dc:creator>
  <cp:lastModifiedBy>Nitin Gupta</cp:lastModifiedBy>
  <cp:revision>491</cp:revision>
  <dcterms:created xsi:type="dcterms:W3CDTF">2017-11-09T22:54:09Z</dcterms:created>
  <dcterms:modified xsi:type="dcterms:W3CDTF">2026-05-04T06:07:06Z</dcterms:modified>
</cp:coreProperties>
</file>