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6" r:id="rId9"/>
    <p:sldId id="280" r:id="rId10"/>
    <p:sldId id="279" r:id="rId11"/>
    <p:sldId id="278" r:id="rId12"/>
    <p:sldId id="277" r:id="rId13"/>
    <p:sldId id="281" r:id="rId14"/>
    <p:sldId id="28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787" autoAdjust="0"/>
  </p:normalViewPr>
  <p:slideViewPr>
    <p:cSldViewPr>
      <p:cViewPr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F7174-4669-498D-ABF4-7742B93763D8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6DE39-288F-47F2-BA8C-AE8BCFC7B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94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4-</a:t>
            </a:r>
            <a:r>
              <a:rPr lang="en-US" baseline="0" dirty="0" smtClean="0"/>
              <a:t> a) single rotation : top two nodes recoloring, double rotation: first perform one rotation then consider top two for recoloring after second rotation.</a:t>
            </a:r>
          </a:p>
          <a:p>
            <a:r>
              <a:rPr lang="en-US" baseline="0" dirty="0" smtClean="0"/>
              <a:t>4-b) </a:t>
            </a:r>
            <a:r>
              <a:rPr lang="en-US" baseline="0" dirty="0" smtClean="0"/>
              <a:t>recolor parent and </a:t>
            </a:r>
            <a:r>
              <a:rPr lang="en-US" baseline="0" smtClean="0"/>
              <a:t>sibling both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6DE39-288F-47F2-BA8C-AE8BCFC7B11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343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577929-AE19-4616-9215-540172FCC40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72D444A-3CF8-4237-9BE3-778DFCA50DB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133600"/>
            <a:ext cx="6172200" cy="1219200"/>
          </a:xfrm>
        </p:spPr>
        <p:txBody>
          <a:bodyPr>
            <a:normAutofit fontScale="90000"/>
          </a:bodyPr>
          <a:lstStyle/>
          <a:p>
            <a:r>
              <a:rPr lang="en-US" sz="5400" dirty="0" smtClean="0"/>
              <a:t>Red Black </a:t>
            </a:r>
            <a:r>
              <a:rPr lang="en-US" sz="5400" dirty="0"/>
              <a:t>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0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 disadvantage of a binary search tree is that its height can be as large as N-1</a:t>
            </a:r>
          </a:p>
          <a:p>
            <a:r>
              <a:rPr lang="en-US" dirty="0" smtClean="0"/>
              <a:t>This means that the time needed to perform insertion and deletion and many other operations can be O(N) in the worst case </a:t>
            </a:r>
          </a:p>
          <a:p>
            <a:r>
              <a:rPr lang="en-US" dirty="0" smtClean="0"/>
              <a:t>We want a tree with small height</a:t>
            </a:r>
          </a:p>
          <a:p>
            <a:r>
              <a:rPr lang="en-US" dirty="0" smtClean="0"/>
              <a:t>A binary tree with N node has height at least </a:t>
            </a:r>
          </a:p>
          <a:p>
            <a:pPr marL="0" indent="0">
              <a:buNone/>
            </a:pPr>
            <a:r>
              <a:rPr lang="en-US" dirty="0" smtClean="0"/>
              <a:t>    θ(log N) </a:t>
            </a:r>
          </a:p>
          <a:p>
            <a:r>
              <a:rPr lang="en-US" dirty="0" smtClean="0"/>
              <a:t>Thus, our goal is to keep the height of a binary search tree O(log N) </a:t>
            </a:r>
          </a:p>
          <a:p>
            <a:r>
              <a:rPr lang="en-US" dirty="0" smtClean="0"/>
              <a:t>Such trees are called balanced binary search trees.  </a:t>
            </a:r>
          </a:p>
          <a:p>
            <a:r>
              <a:rPr lang="en-US" dirty="0" smtClean="0"/>
              <a:t>Examples are AVL tree, red-black tree.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 Black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Red-Black tree is a binary search tree in which every node is colored with either red or black. It is a type of self balancing binary search tree. It has a good efficient worst case running time complexity.</a:t>
            </a:r>
          </a:p>
        </p:txBody>
      </p:sp>
    </p:spTree>
    <p:extLst>
      <p:ext uri="{BB962C8B-B14F-4D97-AF65-F5344CB8AC3E}">
        <p14:creationId xmlns:p14="http://schemas.microsoft.com/office/powerpoint/2010/main" val="314184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Red Black Tree: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 fontAlgn="base"/>
            <a:r>
              <a:rPr lang="en-US" dirty="0" smtClean="0"/>
              <a:t>The </a:t>
            </a:r>
            <a:r>
              <a:rPr lang="en-US" dirty="0"/>
              <a:t>Red-Black tree satisfies all the properties of binary search tree in addition to that it satisfies following additional properties –</a:t>
            </a:r>
          </a:p>
          <a:p>
            <a:pPr algn="just" fontAlgn="base"/>
            <a:r>
              <a:rPr lang="en-US" dirty="0"/>
              <a:t>1. </a:t>
            </a:r>
            <a:r>
              <a:rPr lang="en-US" b="1" dirty="0"/>
              <a:t>Root property:</a:t>
            </a:r>
            <a:r>
              <a:rPr lang="en-US" dirty="0"/>
              <a:t> The root is black.</a:t>
            </a:r>
          </a:p>
          <a:p>
            <a:pPr algn="just" fontAlgn="base"/>
            <a:r>
              <a:rPr lang="en-US" dirty="0"/>
              <a:t>2. </a:t>
            </a:r>
            <a:r>
              <a:rPr lang="en-US" b="1" dirty="0"/>
              <a:t>External property:</a:t>
            </a:r>
            <a:r>
              <a:rPr lang="en-US" dirty="0"/>
              <a:t> Every leaf (Leaf is a NULL child of a node) is black in Red-Black tree.</a:t>
            </a:r>
          </a:p>
          <a:p>
            <a:pPr algn="just" fontAlgn="base"/>
            <a:r>
              <a:rPr lang="en-US" dirty="0"/>
              <a:t>3. </a:t>
            </a:r>
            <a:r>
              <a:rPr lang="en-US" b="1" dirty="0"/>
              <a:t>Internal property:</a:t>
            </a:r>
            <a:r>
              <a:rPr lang="en-US" dirty="0"/>
              <a:t> The children of a red node are black. </a:t>
            </a:r>
            <a:r>
              <a:rPr lang="en-US" dirty="0" smtClean="0"/>
              <a:t>Hence, possible </a:t>
            </a:r>
            <a:r>
              <a:rPr lang="en-US" dirty="0"/>
              <a:t>parent of red node is a black node.</a:t>
            </a:r>
          </a:p>
          <a:p>
            <a:pPr algn="just" fontAlgn="base"/>
            <a:r>
              <a:rPr lang="en-US" dirty="0"/>
              <a:t>4. </a:t>
            </a:r>
            <a:r>
              <a:rPr lang="en-US" b="1" dirty="0"/>
              <a:t>Depth property:</a:t>
            </a:r>
            <a:r>
              <a:rPr lang="en-US" dirty="0"/>
              <a:t> All the leaves have the same black depth.</a:t>
            </a:r>
          </a:p>
          <a:p>
            <a:pPr algn="just" fontAlgn="base"/>
            <a:r>
              <a:rPr lang="en-US" dirty="0"/>
              <a:t>5. </a:t>
            </a:r>
            <a:r>
              <a:rPr lang="en-US" b="1" dirty="0"/>
              <a:t>Path property:</a:t>
            </a:r>
            <a:r>
              <a:rPr lang="en-US" dirty="0"/>
              <a:t> Every simple path from root to descendant leaf node contains same number of black nodes.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6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 fontAlgn="base"/>
            <a:r>
              <a:rPr lang="en-US" dirty="0"/>
              <a:t>The result of all these above-mentioned properties is that the Red-Black tree is roughly balanced.</a:t>
            </a:r>
          </a:p>
          <a:p>
            <a:pPr marL="0" indent="0" algn="just" fontAlgn="base">
              <a:buNone/>
            </a:pPr>
            <a:r>
              <a:rPr lang="en-US" b="1" dirty="0"/>
              <a:t>Rules </a:t>
            </a:r>
            <a:r>
              <a:rPr lang="en-US" b="1" dirty="0" smtClean="0"/>
              <a:t>that every </a:t>
            </a:r>
            <a:r>
              <a:rPr lang="en-US" b="1" dirty="0"/>
              <a:t>Red-Black Tree </a:t>
            </a:r>
            <a:r>
              <a:rPr lang="en-US" b="1" dirty="0" smtClean="0"/>
              <a:t>follows</a:t>
            </a:r>
            <a:r>
              <a:rPr lang="en-US" b="1" dirty="0"/>
              <a:t>: </a:t>
            </a:r>
          </a:p>
          <a:p>
            <a:pPr algn="just" fontAlgn="base"/>
            <a:r>
              <a:rPr lang="en-US" dirty="0"/>
              <a:t>Every node has a color either red or black.</a:t>
            </a:r>
          </a:p>
          <a:p>
            <a:pPr algn="just" fontAlgn="base"/>
            <a:r>
              <a:rPr lang="en-US" dirty="0"/>
              <a:t>The root of the tree is always black.</a:t>
            </a:r>
          </a:p>
          <a:p>
            <a:pPr algn="just" fontAlgn="base"/>
            <a:r>
              <a:rPr lang="en-US" dirty="0"/>
              <a:t>There are no two adjacent red nodes (A red node cannot have a red parent or red child).</a:t>
            </a:r>
          </a:p>
          <a:p>
            <a:pPr algn="just" fontAlgn="base"/>
            <a:r>
              <a:rPr lang="en-US" dirty="0"/>
              <a:t>Every path from a node (including root) to any of its descendants NULL nodes has the same number of black nodes.</a:t>
            </a:r>
          </a:p>
          <a:p>
            <a:pPr algn="just" fontAlgn="base"/>
            <a:r>
              <a:rPr lang="en-US" dirty="0" smtClean="0"/>
              <a:t>Every </a:t>
            </a:r>
            <a:r>
              <a:rPr lang="en-US" dirty="0"/>
              <a:t>leaf </a:t>
            </a:r>
            <a:r>
              <a:rPr lang="en-US" dirty="0" smtClean="0"/>
              <a:t>(i.e., </a:t>
            </a:r>
            <a:r>
              <a:rPr lang="en-US" dirty="0"/>
              <a:t>NULL node) must be colored BLACK.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02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 AVL Tree: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AVL trees are more balanced compared to Red-Black Trees, but they may cause more rotations during insertion and deletion. So if your application involves frequent insertions and deletions, then Red-Black trees should be preferred. And if the insertions and deletions are less frequent and search is a more frequent operation, then AVL tree should be preferred over the Red-Black Tree.</a:t>
            </a:r>
          </a:p>
        </p:txBody>
      </p:sp>
    </p:spTree>
    <p:extLst>
      <p:ext uri="{BB962C8B-B14F-4D97-AF65-F5344CB8AC3E}">
        <p14:creationId xmlns:p14="http://schemas.microsoft.com/office/powerpoint/2010/main" val="95925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Red Black Trees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752600"/>
            <a:ext cx="6248400" cy="24765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724400"/>
            <a:ext cx="3962400" cy="189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9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</a:t>
            </a:r>
            <a:r>
              <a:rPr lang="en-US" dirty="0" smtClean="0"/>
              <a:t>Non Red </a:t>
            </a:r>
            <a:r>
              <a:rPr lang="en-US" dirty="0"/>
              <a:t>Black Trees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895475"/>
            <a:ext cx="3962400" cy="260032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905000"/>
            <a:ext cx="2971800" cy="2590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800600"/>
            <a:ext cx="41910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Points to remember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Red-Black Tree of height h has black-height &gt;= h/2. </a:t>
            </a:r>
            <a:endParaRPr lang="en-US" dirty="0" smtClean="0"/>
          </a:p>
          <a:p>
            <a:r>
              <a:rPr lang="en-US" dirty="0"/>
              <a:t>Every Red Black Tree with n nodes has height &lt;= 2Log</a:t>
            </a:r>
            <a:r>
              <a:rPr lang="en-US" baseline="-25000" dirty="0"/>
              <a:t>2</a:t>
            </a:r>
            <a:r>
              <a:rPr lang="en-US" dirty="0"/>
              <a:t>(n+1)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276600"/>
            <a:ext cx="7239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7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in Red Black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the Red-Black tree, we use two tools to do the balancing. </a:t>
            </a:r>
          </a:p>
          <a:p>
            <a:endParaRPr lang="en-US" dirty="0"/>
          </a:p>
          <a:p>
            <a:r>
              <a:rPr lang="en-US" dirty="0"/>
              <a:t>Recoloring</a:t>
            </a:r>
          </a:p>
          <a:p>
            <a:r>
              <a:rPr lang="en-US" dirty="0"/>
              <a:t>Rotation</a:t>
            </a:r>
          </a:p>
        </p:txBody>
      </p:sp>
    </p:spTree>
    <p:extLst>
      <p:ext uri="{BB962C8B-B14F-4D97-AF65-F5344CB8AC3E}">
        <p14:creationId xmlns:p14="http://schemas.microsoft.com/office/powerpoint/2010/main" val="97599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Algorithm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24000"/>
            <a:ext cx="5943600" cy="4800600"/>
          </a:xfrm>
        </p:spPr>
      </p:pic>
    </p:spTree>
    <p:extLst>
      <p:ext uri="{BB962C8B-B14F-4D97-AF65-F5344CB8AC3E}">
        <p14:creationId xmlns:p14="http://schemas.microsoft.com/office/powerpoint/2010/main" val="397647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Refer shared 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02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US" dirty="0" smtClean="0"/>
              <a:t>Deletion in RB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4400"/>
            <a:ext cx="8458200" cy="583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9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Refer shared pdf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0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14999</TotalTime>
  <Words>563</Words>
  <Application>Microsoft Office PowerPoint</Application>
  <PresentationFormat>On-screen Show (4:3)</PresentationFormat>
  <Paragraphs>47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Century Schoolbook</vt:lpstr>
      <vt:lpstr>Wingdings</vt:lpstr>
      <vt:lpstr>Wingdings 2</vt:lpstr>
      <vt:lpstr>Oriel</vt:lpstr>
      <vt:lpstr>Red Black TREE</vt:lpstr>
      <vt:lpstr>Balanced Binary Tree</vt:lpstr>
      <vt:lpstr>Red Black Tree</vt:lpstr>
      <vt:lpstr>Properties of Red Black Tree: </vt:lpstr>
      <vt:lpstr>PowerPoint Presentation</vt:lpstr>
      <vt:lpstr>Comparison with AVL Tree: </vt:lpstr>
      <vt:lpstr>Examples of Red Black Trees</vt:lpstr>
      <vt:lpstr>Examples of Non Red Black Trees</vt:lpstr>
      <vt:lpstr>Points to remember</vt:lpstr>
      <vt:lpstr>Insertion in Red Black Tree</vt:lpstr>
      <vt:lpstr>Insertion Algorithm</vt:lpstr>
      <vt:lpstr>Examples</vt:lpstr>
      <vt:lpstr>Deletion in RB tree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AVL TREE</dc:title>
  <dc:creator>Shahina Anwarul</dc:creator>
  <cp:lastModifiedBy>Shahina Anwarul</cp:lastModifiedBy>
  <cp:revision>47</cp:revision>
  <dcterms:created xsi:type="dcterms:W3CDTF">2018-04-08T10:17:27Z</dcterms:created>
  <dcterms:modified xsi:type="dcterms:W3CDTF">2026-04-29T03:44:38Z</dcterms:modified>
</cp:coreProperties>
</file>