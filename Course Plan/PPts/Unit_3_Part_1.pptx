
<file path=[Content_Types].xml><?xml version="1.0" encoding="utf-8"?>
<Types xmlns="http://schemas.openxmlformats.org/package/2006/content-types">
  <Default Extension="png" ContentType="image/png"/>
  <Default Extension="bin" ContentType="application/vnd.openxmlformats-officedocument.oleObject"/>
  <Default Extension="wmf" ContentType="image/x-wmf"/>
  <Default Extension="jpeg" ContentType="image/jpeg"/>
  <Default Extension="rels" ContentType="application/vnd.openxmlformats-package.relationships+xml"/>
  <Default Extension="xml" ContentType="application/xml"/>
  <Default Extension="vml" ContentType="application/vnd.openxmlformats-officedocument.vmlDrawing"/>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 id="2147483661" r:id="rId2"/>
  </p:sldMasterIdLst>
  <p:notesMasterIdLst>
    <p:notesMasterId r:id="rId46"/>
  </p:notesMasterIdLst>
  <p:sldIdLst>
    <p:sldId id="256" r:id="rId3"/>
    <p:sldId id="286" r:id="rId4"/>
    <p:sldId id="287" r:id="rId5"/>
    <p:sldId id="288" r:id="rId6"/>
    <p:sldId id="319" r:id="rId7"/>
    <p:sldId id="320" r:id="rId8"/>
    <p:sldId id="330" r:id="rId9"/>
    <p:sldId id="331" r:id="rId10"/>
    <p:sldId id="332" r:id="rId11"/>
    <p:sldId id="333" r:id="rId12"/>
    <p:sldId id="334" r:id="rId13"/>
    <p:sldId id="335" r:id="rId14"/>
    <p:sldId id="336" r:id="rId15"/>
    <p:sldId id="337" r:id="rId16"/>
    <p:sldId id="289" r:id="rId17"/>
    <p:sldId id="290" r:id="rId18"/>
    <p:sldId id="312" r:id="rId19"/>
    <p:sldId id="297" r:id="rId20"/>
    <p:sldId id="298" r:id="rId21"/>
    <p:sldId id="299" r:id="rId22"/>
    <p:sldId id="353" r:id="rId23"/>
    <p:sldId id="301" r:id="rId24"/>
    <p:sldId id="302" r:id="rId25"/>
    <p:sldId id="303" r:id="rId26"/>
    <p:sldId id="304" r:id="rId27"/>
    <p:sldId id="305" r:id="rId28"/>
    <p:sldId id="339" r:id="rId29"/>
    <p:sldId id="340" r:id="rId30"/>
    <p:sldId id="341" r:id="rId31"/>
    <p:sldId id="342" r:id="rId32"/>
    <p:sldId id="294" r:id="rId33"/>
    <p:sldId id="295" r:id="rId34"/>
    <p:sldId id="296" r:id="rId35"/>
    <p:sldId id="343" r:id="rId36"/>
    <p:sldId id="344" r:id="rId37"/>
    <p:sldId id="345" r:id="rId38"/>
    <p:sldId id="348" r:id="rId39"/>
    <p:sldId id="349" r:id="rId40"/>
    <p:sldId id="346" r:id="rId41"/>
    <p:sldId id="313" r:id="rId42"/>
    <p:sldId id="354" r:id="rId43"/>
    <p:sldId id="352" r:id="rId44"/>
    <p:sldId id="351" r:id="rId4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30221" autoAdjust="0"/>
    <p:restoredTop sz="78059" autoAdjust="0"/>
  </p:normalViewPr>
  <p:slideViewPr>
    <p:cSldViewPr snapToGrid="0">
      <p:cViewPr varScale="1">
        <p:scale>
          <a:sx n="65" d="100"/>
          <a:sy n="65" d="100"/>
        </p:scale>
        <p:origin x="168" y="8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viewProps" Target="viewProps.xml"/><Relationship Id="rId8" Type="http://schemas.openxmlformats.org/officeDocument/2006/relationships/slide" Target="slides/slide6.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1.w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2.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4A91EB-9D04-4B2B-A8EC-C26057F35368}" type="datetimeFigureOut">
              <a:rPr lang="en-US" smtClean="0"/>
              <a:t>3/2/2026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0EAF083-6659-4761-8DBD-F9B281D98BC7}" type="slidenum">
              <a:rPr lang="en-US" smtClean="0"/>
              <a:t>‹#›</a:t>
            </a:fld>
            <a:endParaRPr lang="en-US"/>
          </a:p>
        </p:txBody>
      </p:sp>
    </p:spTree>
    <p:extLst>
      <p:ext uri="{BB962C8B-B14F-4D97-AF65-F5344CB8AC3E}">
        <p14:creationId xmlns:p14="http://schemas.microsoft.com/office/powerpoint/2010/main" val="2503419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https://www.w3resource.com/c-programming-exercises/linked_list/index.php</a:t>
            </a:r>
          </a:p>
          <a:p>
            <a:r>
              <a:rPr lang="en-US" smtClean="0"/>
              <a:t>http://www.ggu.ac.in/download/IT/Inf%20Tech%20Pankaj%20Chandra%20B%20Tech%20%20IV%20Data%20Structure%20-%20Model%20Answer.pdf</a:t>
            </a:r>
          </a:p>
          <a:p>
            <a:endParaRPr lang="en-US" dirty="0"/>
          </a:p>
        </p:txBody>
      </p:sp>
      <p:sp>
        <p:nvSpPr>
          <p:cNvPr id="4" name="Slide Number Placeholder 3"/>
          <p:cNvSpPr>
            <a:spLocks noGrp="1"/>
          </p:cNvSpPr>
          <p:nvPr>
            <p:ph type="sldNum" sz="quarter" idx="10"/>
          </p:nvPr>
        </p:nvSpPr>
        <p:spPr/>
        <p:txBody>
          <a:bodyPr/>
          <a:lstStyle/>
          <a:p>
            <a:fld id="{B0EAF083-6659-4761-8DBD-F9B281D98BC7}" type="slidenum">
              <a:rPr lang="en-US" smtClean="0"/>
              <a:t>1</a:t>
            </a:fld>
            <a:endParaRPr lang="en-US"/>
          </a:p>
        </p:txBody>
      </p:sp>
    </p:spTree>
    <p:extLst>
      <p:ext uri="{BB962C8B-B14F-4D97-AF65-F5344CB8AC3E}">
        <p14:creationId xmlns:p14="http://schemas.microsoft.com/office/powerpoint/2010/main" val="13965635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F2E85B4E-51C8-4C3F-82BD-D463E658C73A}" type="slidenum">
              <a:rPr lang="en-US" altLang="en-US"/>
              <a:pPr/>
              <a:t>18</a:t>
            </a:fld>
            <a:endParaRPr lang="en-US" altLang="en-US"/>
          </a:p>
        </p:txBody>
      </p:sp>
      <p:sp>
        <p:nvSpPr>
          <p:cNvPr id="17410" name="Rectangle 2"/>
          <p:cNvSpPr>
            <a:spLocks noGrp="1" noRot="1" noChangeAspect="1" noChangeArrowheads="1" noTextEdit="1"/>
          </p:cNvSpPr>
          <p:nvPr>
            <p:ph type="sldImg"/>
          </p:nvPr>
        </p:nvSpPr>
        <p:spPr>
          <a:ln/>
        </p:spPr>
      </p:sp>
      <p:sp>
        <p:nvSpPr>
          <p:cNvPr id="17411" name="Rectangle 3"/>
          <p:cNvSpPr>
            <a:spLocks noGrp="1" noChangeArrowheads="1"/>
          </p:cNvSpPr>
          <p:nvPr>
            <p:ph type="body" idx="1"/>
          </p:nvPr>
        </p:nvSpPr>
        <p:spPr/>
        <p:txBody>
          <a:bodyPr/>
          <a:lstStyle/>
          <a:p>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D78480-5954-42EA-98A4-9C86BAE96881}" type="slidenum">
              <a:rPr lang="en-US" altLang="en-US"/>
              <a:pPr/>
              <a:t>19</a:t>
            </a:fld>
            <a:endParaRPr lang="en-US" altLang="en-US"/>
          </a:p>
        </p:txBody>
      </p:sp>
      <p:sp>
        <p:nvSpPr>
          <p:cNvPr id="18434" name="Rectangle 1026"/>
          <p:cNvSpPr>
            <a:spLocks noGrp="1" noRot="1" noChangeAspect="1" noChangeArrowheads="1" noTextEdit="1"/>
          </p:cNvSpPr>
          <p:nvPr>
            <p:ph type="sldImg"/>
          </p:nvPr>
        </p:nvSpPr>
        <p:spPr>
          <a:ln/>
        </p:spPr>
      </p:sp>
      <p:sp>
        <p:nvSpPr>
          <p:cNvPr id="18435" name="Rectangle 1027"/>
          <p:cNvSpPr>
            <a:spLocks noGrp="1" noChangeArrowheads="1"/>
          </p:cNvSpPr>
          <p:nvPr>
            <p:ph type="body" idx="1"/>
          </p:nvPr>
        </p:nvSpPr>
        <p:spPr/>
        <p:txBody>
          <a:bodyPr/>
          <a:lstStyle/>
          <a:p>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88EDAA77-F85C-43D8-92D0-0ACB23101928}" type="slidenum">
              <a:rPr lang="en-US" altLang="en-US"/>
              <a:pPr/>
              <a:t>20</a:t>
            </a:fld>
            <a:endParaRPr lang="en-US" altLang="en-US"/>
          </a:p>
        </p:txBody>
      </p:sp>
      <p:sp>
        <p:nvSpPr>
          <p:cNvPr id="19458" name="Rectangle 1026"/>
          <p:cNvSpPr>
            <a:spLocks noGrp="1" noRot="1" noChangeAspect="1" noChangeArrowheads="1" noTextEdit="1"/>
          </p:cNvSpPr>
          <p:nvPr>
            <p:ph type="sldImg"/>
          </p:nvPr>
        </p:nvSpPr>
        <p:spPr>
          <a:ln/>
        </p:spPr>
      </p:sp>
      <p:sp>
        <p:nvSpPr>
          <p:cNvPr id="19459" name="Rectangle 1027"/>
          <p:cNvSpPr>
            <a:spLocks noGrp="1" noChangeArrowheads="1"/>
          </p:cNvSpPr>
          <p:nvPr>
            <p:ph type="body" idx="1"/>
          </p:nvPr>
        </p:nvSpPr>
        <p:spPr/>
        <p:txBody>
          <a:bodyPr/>
          <a:lstStyle/>
          <a:p>
            <a:r>
              <a:rPr lang="en-US" altLang="en-US"/>
              <a:t>"A,B are multiplied"</a:t>
            </a:r>
          </a:p>
          <a:p>
            <a:r>
              <a:rPr lang="en-US" altLang="en-US"/>
              <a:t>"A,B are added"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B53A6B4C-BAE6-47F0-BCDB-C5CFAE925341}" type="slidenum">
              <a:rPr lang="en-US" altLang="en-US"/>
              <a:pPr/>
              <a:t>22</a:t>
            </a:fld>
            <a:endParaRPr lang="en-US" altLang="en-US"/>
          </a:p>
        </p:txBody>
      </p:sp>
      <p:sp>
        <p:nvSpPr>
          <p:cNvPr id="21506" name="Rectangle 1026"/>
          <p:cNvSpPr>
            <a:spLocks noGrp="1" noRot="1" noChangeAspect="1" noChangeArrowheads="1" noTextEdit="1"/>
          </p:cNvSpPr>
          <p:nvPr>
            <p:ph type="sldImg"/>
          </p:nvPr>
        </p:nvSpPr>
        <p:spPr>
          <a:ln/>
        </p:spPr>
      </p:sp>
      <p:sp>
        <p:nvSpPr>
          <p:cNvPr id="21507" name="Rectangle 1027"/>
          <p:cNvSpPr>
            <a:spLocks noGrp="1" noChangeArrowheads="1"/>
          </p:cNvSpPr>
          <p:nvPr>
            <p:ph type="body" idx="1"/>
          </p:nvPr>
        </p:nvSpPr>
        <p:spPr/>
        <p:txBody>
          <a:bodyPr/>
          <a:lstStyle/>
          <a:p>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42D475C9-4B13-4314-A537-D4BE39E00BA9}" type="slidenum">
              <a:rPr lang="en-US" altLang="en-US"/>
              <a:pPr/>
              <a:t>23</a:t>
            </a:fld>
            <a:endParaRPr lang="en-US" altLang="en-US"/>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p:txBody>
          <a:bodyPr/>
          <a:lstStyle/>
          <a:p>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DE2EA19-3B65-441C-994F-A2F65344B5D4}" type="slidenum">
              <a:rPr lang="en-US" altLang="en-US"/>
              <a:pPr/>
              <a:t>24</a:t>
            </a:fld>
            <a:endParaRPr lang="en-US" altLang="en-US"/>
          </a:p>
        </p:txBody>
      </p:sp>
      <p:sp>
        <p:nvSpPr>
          <p:cNvPr id="23554" name="Rectangle 2"/>
          <p:cNvSpPr>
            <a:spLocks noGrp="1" noRot="1" noChangeAspect="1" noChangeArrowheads="1" noTextEdit="1"/>
          </p:cNvSpPr>
          <p:nvPr>
            <p:ph type="sldImg"/>
          </p:nvPr>
        </p:nvSpPr>
        <p:spPr>
          <a:ln/>
        </p:spPr>
      </p:sp>
      <p:sp>
        <p:nvSpPr>
          <p:cNvPr id="23555" name="Rectangle 3"/>
          <p:cNvSpPr>
            <a:spLocks noGrp="1" noChangeArrowheads="1"/>
          </p:cNvSpPr>
          <p:nvPr>
            <p:ph type="body" idx="1"/>
          </p:nvPr>
        </p:nvSpPr>
        <p:spPr/>
        <p:txBody>
          <a:bodyPr/>
          <a:lstStyle/>
          <a:p>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99F603A-09FB-4975-8A9B-E7C798656BCC}" type="slidenum">
              <a:rPr lang="en-US" altLang="en-US"/>
              <a:pPr/>
              <a:t>25</a:t>
            </a:fld>
            <a:endParaRPr lang="en-US" altLang="en-US"/>
          </a:p>
        </p:txBody>
      </p:sp>
      <p:sp>
        <p:nvSpPr>
          <p:cNvPr id="24578" name="Rectangle 2"/>
          <p:cNvSpPr>
            <a:spLocks noGrp="1" noRot="1" noChangeAspect="1" noChangeArrowheads="1" noTextEdit="1"/>
          </p:cNvSpPr>
          <p:nvPr>
            <p:ph type="sldImg"/>
          </p:nvPr>
        </p:nvSpPr>
        <p:spPr>
          <a:ln/>
        </p:spPr>
      </p:sp>
      <p:sp>
        <p:nvSpPr>
          <p:cNvPr id="24579" name="Rectangle 3"/>
          <p:cNvSpPr>
            <a:spLocks noGrp="1" noChangeArrowheads="1"/>
          </p:cNvSpPr>
          <p:nvPr>
            <p:ph type="body" idx="1"/>
          </p:nvPr>
        </p:nvSpPr>
        <p:spPr/>
        <p:txBody>
          <a:bodyPr/>
          <a:lstStyle/>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7EC442B-61E6-42E6-8EC2-AC6AE491F82F}" type="slidenum">
              <a:rPr lang="en-US" altLang="en-US"/>
              <a:pPr/>
              <a:t>26</a:t>
            </a:fld>
            <a:endParaRPr lang="en-US" altLang="en-US"/>
          </a:p>
        </p:txBody>
      </p:sp>
      <p:sp>
        <p:nvSpPr>
          <p:cNvPr id="25602" name="Rectangle 2"/>
          <p:cNvSpPr>
            <a:spLocks noGrp="1" noRot="1" noChangeAspect="1" noChangeArrowheads="1" noTextEdit="1"/>
          </p:cNvSpPr>
          <p:nvPr>
            <p:ph type="sldImg"/>
          </p:nvPr>
        </p:nvSpPr>
        <p:spPr>
          <a:ln/>
        </p:spPr>
      </p:sp>
      <p:sp>
        <p:nvSpPr>
          <p:cNvPr id="25603" name="Rectangle 3"/>
          <p:cNvSpPr>
            <a:spLocks noGrp="1" noChangeArrowheads="1"/>
          </p:cNvSpPr>
          <p:nvPr>
            <p:ph type="body" idx="1"/>
          </p:nvPr>
        </p:nvSpPr>
        <p:spPr/>
        <p:txBody>
          <a:bodyPr/>
          <a:lstStyle/>
          <a:p>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http://csis.pace.edu/~wolf/CS122/exexpans.html</a:t>
            </a:r>
            <a:endParaRPr lang="en-US" dirty="0"/>
          </a:p>
        </p:txBody>
      </p:sp>
      <p:sp>
        <p:nvSpPr>
          <p:cNvPr id="4" name="Slide Number Placeholder 3"/>
          <p:cNvSpPr>
            <a:spLocks noGrp="1"/>
          </p:cNvSpPr>
          <p:nvPr>
            <p:ph type="sldNum" sz="quarter" idx="10"/>
          </p:nvPr>
        </p:nvSpPr>
        <p:spPr/>
        <p:txBody>
          <a:bodyPr/>
          <a:lstStyle/>
          <a:p>
            <a:fld id="{B0EAF083-6659-4761-8DBD-F9B281D98BC7}" type="slidenum">
              <a:rPr lang="en-US" smtClean="0"/>
              <a:t>31</a:t>
            </a:fld>
            <a:endParaRPr lang="en-US"/>
          </a:p>
        </p:txBody>
      </p:sp>
    </p:spTree>
    <p:extLst>
      <p:ext uri="{BB962C8B-B14F-4D97-AF65-F5344CB8AC3E}">
        <p14:creationId xmlns:p14="http://schemas.microsoft.com/office/powerpoint/2010/main" val="12288264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http://csis.pace.edu/~wolf/CS122/exexpans.html</a:t>
            </a:r>
            <a:endParaRPr lang="en-US" dirty="0"/>
          </a:p>
        </p:txBody>
      </p:sp>
      <p:sp>
        <p:nvSpPr>
          <p:cNvPr id="4" name="Slide Number Placeholder 3"/>
          <p:cNvSpPr>
            <a:spLocks noGrp="1"/>
          </p:cNvSpPr>
          <p:nvPr>
            <p:ph type="sldNum" sz="quarter" idx="10"/>
          </p:nvPr>
        </p:nvSpPr>
        <p:spPr/>
        <p:txBody>
          <a:bodyPr/>
          <a:lstStyle/>
          <a:p>
            <a:fld id="{B0EAF083-6659-4761-8DBD-F9B281D98BC7}" type="slidenum">
              <a:rPr lang="en-US" smtClean="0"/>
              <a:t>32</a:t>
            </a:fld>
            <a:endParaRPr lang="en-US"/>
          </a:p>
        </p:txBody>
      </p:sp>
    </p:spTree>
    <p:extLst>
      <p:ext uri="{BB962C8B-B14F-4D97-AF65-F5344CB8AC3E}">
        <p14:creationId xmlns:p14="http://schemas.microsoft.com/office/powerpoint/2010/main" val="220565654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http://csis.pace.edu/~wolf/CS122/exexpans.html</a:t>
            </a:r>
            <a:endParaRPr lang="en-US" dirty="0"/>
          </a:p>
        </p:txBody>
      </p:sp>
      <p:sp>
        <p:nvSpPr>
          <p:cNvPr id="4" name="Slide Number Placeholder 3"/>
          <p:cNvSpPr>
            <a:spLocks noGrp="1"/>
          </p:cNvSpPr>
          <p:nvPr>
            <p:ph type="sldNum" sz="quarter" idx="10"/>
          </p:nvPr>
        </p:nvSpPr>
        <p:spPr/>
        <p:txBody>
          <a:bodyPr/>
          <a:lstStyle/>
          <a:p>
            <a:fld id="{B0EAF083-6659-4761-8DBD-F9B281D98BC7}" type="slidenum">
              <a:rPr lang="en-US" smtClean="0"/>
              <a:t>33</a:t>
            </a:fld>
            <a:endParaRPr lang="en-US"/>
          </a:p>
        </p:txBody>
      </p:sp>
    </p:spTree>
    <p:extLst>
      <p:ext uri="{BB962C8B-B14F-4D97-AF65-F5344CB8AC3E}">
        <p14:creationId xmlns:p14="http://schemas.microsoft.com/office/powerpoint/2010/main" val="23240227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0EAF083-6659-4761-8DBD-F9B281D98BC7}" type="slidenum">
              <a:rPr lang="en-US" smtClean="0"/>
              <a:t>41</a:t>
            </a:fld>
            <a:endParaRPr lang="en-US"/>
          </a:p>
        </p:txBody>
      </p:sp>
    </p:spTree>
    <p:extLst>
      <p:ext uri="{BB962C8B-B14F-4D97-AF65-F5344CB8AC3E}">
        <p14:creationId xmlns:p14="http://schemas.microsoft.com/office/powerpoint/2010/main" val="16469531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11" name="Freeform 6" title="scalloped circle"/>
          <p:cNvSpPr/>
          <p:nvPr/>
        </p:nvSpPr>
        <p:spPr bwMode="auto">
          <a:xfrm>
            <a:off x="3557016" y="630936"/>
            <a:ext cx="5235575" cy="5229225"/>
          </a:xfrm>
          <a:custGeom>
            <a:avLst/>
            <a:gdLst/>
            <a:ahLst/>
            <a:cxnLst/>
            <a:rect l="0" t="0" r="r" b="b"/>
            <a:pathLst>
              <a:path w="3298" h="3294">
                <a:moveTo>
                  <a:pt x="1649" y="0"/>
                </a:moveTo>
                <a:lnTo>
                  <a:pt x="1681" y="3"/>
                </a:lnTo>
                <a:lnTo>
                  <a:pt x="1712" y="11"/>
                </a:lnTo>
                <a:lnTo>
                  <a:pt x="1742" y="23"/>
                </a:lnTo>
                <a:lnTo>
                  <a:pt x="1773" y="38"/>
                </a:lnTo>
                <a:lnTo>
                  <a:pt x="1802" y="55"/>
                </a:lnTo>
                <a:lnTo>
                  <a:pt x="1832" y="73"/>
                </a:lnTo>
                <a:lnTo>
                  <a:pt x="1862" y="89"/>
                </a:lnTo>
                <a:lnTo>
                  <a:pt x="1892" y="105"/>
                </a:lnTo>
                <a:lnTo>
                  <a:pt x="1921" y="117"/>
                </a:lnTo>
                <a:lnTo>
                  <a:pt x="1953" y="125"/>
                </a:lnTo>
                <a:lnTo>
                  <a:pt x="1984" y="129"/>
                </a:lnTo>
                <a:lnTo>
                  <a:pt x="2017" y="129"/>
                </a:lnTo>
                <a:lnTo>
                  <a:pt x="2051" y="127"/>
                </a:lnTo>
                <a:lnTo>
                  <a:pt x="2085" y="123"/>
                </a:lnTo>
                <a:lnTo>
                  <a:pt x="2119" y="118"/>
                </a:lnTo>
                <a:lnTo>
                  <a:pt x="2153" y="114"/>
                </a:lnTo>
                <a:lnTo>
                  <a:pt x="2187" y="111"/>
                </a:lnTo>
                <a:lnTo>
                  <a:pt x="2219" y="112"/>
                </a:lnTo>
                <a:lnTo>
                  <a:pt x="2250" y="116"/>
                </a:lnTo>
                <a:lnTo>
                  <a:pt x="2280" y="125"/>
                </a:lnTo>
                <a:lnTo>
                  <a:pt x="2305" y="138"/>
                </a:lnTo>
                <a:lnTo>
                  <a:pt x="2329" y="155"/>
                </a:lnTo>
                <a:lnTo>
                  <a:pt x="2350" y="175"/>
                </a:lnTo>
                <a:lnTo>
                  <a:pt x="2371" y="198"/>
                </a:lnTo>
                <a:lnTo>
                  <a:pt x="2390" y="222"/>
                </a:lnTo>
                <a:lnTo>
                  <a:pt x="2409" y="247"/>
                </a:lnTo>
                <a:lnTo>
                  <a:pt x="2428" y="272"/>
                </a:lnTo>
                <a:lnTo>
                  <a:pt x="2447" y="296"/>
                </a:lnTo>
                <a:lnTo>
                  <a:pt x="2467" y="319"/>
                </a:lnTo>
                <a:lnTo>
                  <a:pt x="2490" y="339"/>
                </a:lnTo>
                <a:lnTo>
                  <a:pt x="2512" y="357"/>
                </a:lnTo>
                <a:lnTo>
                  <a:pt x="2537" y="371"/>
                </a:lnTo>
                <a:lnTo>
                  <a:pt x="2564" y="383"/>
                </a:lnTo>
                <a:lnTo>
                  <a:pt x="2593" y="393"/>
                </a:lnTo>
                <a:lnTo>
                  <a:pt x="2623" y="402"/>
                </a:lnTo>
                <a:lnTo>
                  <a:pt x="2653" y="410"/>
                </a:lnTo>
                <a:lnTo>
                  <a:pt x="2684" y="418"/>
                </a:lnTo>
                <a:lnTo>
                  <a:pt x="2713" y="427"/>
                </a:lnTo>
                <a:lnTo>
                  <a:pt x="2742" y="437"/>
                </a:lnTo>
                <a:lnTo>
                  <a:pt x="2769" y="449"/>
                </a:lnTo>
                <a:lnTo>
                  <a:pt x="2793" y="464"/>
                </a:lnTo>
                <a:lnTo>
                  <a:pt x="2815" y="482"/>
                </a:lnTo>
                <a:lnTo>
                  <a:pt x="2833" y="504"/>
                </a:lnTo>
                <a:lnTo>
                  <a:pt x="2848" y="528"/>
                </a:lnTo>
                <a:lnTo>
                  <a:pt x="2860" y="555"/>
                </a:lnTo>
                <a:lnTo>
                  <a:pt x="2870" y="584"/>
                </a:lnTo>
                <a:lnTo>
                  <a:pt x="2879" y="613"/>
                </a:lnTo>
                <a:lnTo>
                  <a:pt x="2887" y="644"/>
                </a:lnTo>
                <a:lnTo>
                  <a:pt x="2895" y="674"/>
                </a:lnTo>
                <a:lnTo>
                  <a:pt x="2904" y="704"/>
                </a:lnTo>
                <a:lnTo>
                  <a:pt x="2914" y="733"/>
                </a:lnTo>
                <a:lnTo>
                  <a:pt x="2926" y="760"/>
                </a:lnTo>
                <a:lnTo>
                  <a:pt x="2940" y="785"/>
                </a:lnTo>
                <a:lnTo>
                  <a:pt x="2958" y="807"/>
                </a:lnTo>
                <a:lnTo>
                  <a:pt x="2978" y="830"/>
                </a:lnTo>
                <a:lnTo>
                  <a:pt x="3001" y="850"/>
                </a:lnTo>
                <a:lnTo>
                  <a:pt x="3025" y="869"/>
                </a:lnTo>
                <a:lnTo>
                  <a:pt x="3051" y="888"/>
                </a:lnTo>
                <a:lnTo>
                  <a:pt x="3076" y="907"/>
                </a:lnTo>
                <a:lnTo>
                  <a:pt x="3100" y="926"/>
                </a:lnTo>
                <a:lnTo>
                  <a:pt x="3123" y="947"/>
                </a:lnTo>
                <a:lnTo>
                  <a:pt x="3143" y="968"/>
                </a:lnTo>
                <a:lnTo>
                  <a:pt x="3160" y="992"/>
                </a:lnTo>
                <a:lnTo>
                  <a:pt x="3173" y="1017"/>
                </a:lnTo>
                <a:lnTo>
                  <a:pt x="3182" y="1047"/>
                </a:lnTo>
                <a:lnTo>
                  <a:pt x="3186" y="1078"/>
                </a:lnTo>
                <a:lnTo>
                  <a:pt x="3187" y="1110"/>
                </a:lnTo>
                <a:lnTo>
                  <a:pt x="3184" y="1144"/>
                </a:lnTo>
                <a:lnTo>
                  <a:pt x="3180" y="1178"/>
                </a:lnTo>
                <a:lnTo>
                  <a:pt x="3175" y="1212"/>
                </a:lnTo>
                <a:lnTo>
                  <a:pt x="3171" y="1246"/>
                </a:lnTo>
                <a:lnTo>
                  <a:pt x="3169" y="1280"/>
                </a:lnTo>
                <a:lnTo>
                  <a:pt x="3169" y="1313"/>
                </a:lnTo>
                <a:lnTo>
                  <a:pt x="3173" y="1344"/>
                </a:lnTo>
                <a:lnTo>
                  <a:pt x="3181" y="1375"/>
                </a:lnTo>
                <a:lnTo>
                  <a:pt x="3193" y="1404"/>
                </a:lnTo>
                <a:lnTo>
                  <a:pt x="3209" y="1434"/>
                </a:lnTo>
                <a:lnTo>
                  <a:pt x="3225" y="1464"/>
                </a:lnTo>
                <a:lnTo>
                  <a:pt x="3243" y="1494"/>
                </a:lnTo>
                <a:lnTo>
                  <a:pt x="3260" y="1523"/>
                </a:lnTo>
                <a:lnTo>
                  <a:pt x="3275" y="1554"/>
                </a:lnTo>
                <a:lnTo>
                  <a:pt x="3287" y="1584"/>
                </a:lnTo>
                <a:lnTo>
                  <a:pt x="3295" y="1615"/>
                </a:lnTo>
                <a:lnTo>
                  <a:pt x="3298" y="1647"/>
                </a:lnTo>
                <a:lnTo>
                  <a:pt x="3295" y="1679"/>
                </a:lnTo>
                <a:lnTo>
                  <a:pt x="3287" y="1710"/>
                </a:lnTo>
                <a:lnTo>
                  <a:pt x="3275" y="1740"/>
                </a:lnTo>
                <a:lnTo>
                  <a:pt x="3260" y="1771"/>
                </a:lnTo>
                <a:lnTo>
                  <a:pt x="3243" y="1800"/>
                </a:lnTo>
                <a:lnTo>
                  <a:pt x="3225" y="1830"/>
                </a:lnTo>
                <a:lnTo>
                  <a:pt x="3209" y="1860"/>
                </a:lnTo>
                <a:lnTo>
                  <a:pt x="3193" y="1890"/>
                </a:lnTo>
                <a:lnTo>
                  <a:pt x="3181" y="1919"/>
                </a:lnTo>
                <a:lnTo>
                  <a:pt x="3173" y="1950"/>
                </a:lnTo>
                <a:lnTo>
                  <a:pt x="3169" y="1981"/>
                </a:lnTo>
                <a:lnTo>
                  <a:pt x="3169" y="2014"/>
                </a:lnTo>
                <a:lnTo>
                  <a:pt x="3171" y="2048"/>
                </a:lnTo>
                <a:lnTo>
                  <a:pt x="3175" y="2082"/>
                </a:lnTo>
                <a:lnTo>
                  <a:pt x="3180" y="2116"/>
                </a:lnTo>
                <a:lnTo>
                  <a:pt x="3184" y="2150"/>
                </a:lnTo>
                <a:lnTo>
                  <a:pt x="3187" y="2184"/>
                </a:lnTo>
                <a:lnTo>
                  <a:pt x="3186" y="2216"/>
                </a:lnTo>
                <a:lnTo>
                  <a:pt x="3182" y="2247"/>
                </a:lnTo>
                <a:lnTo>
                  <a:pt x="3173" y="2277"/>
                </a:lnTo>
                <a:lnTo>
                  <a:pt x="3160" y="2302"/>
                </a:lnTo>
                <a:lnTo>
                  <a:pt x="3143" y="2326"/>
                </a:lnTo>
                <a:lnTo>
                  <a:pt x="3123" y="2347"/>
                </a:lnTo>
                <a:lnTo>
                  <a:pt x="3100" y="2368"/>
                </a:lnTo>
                <a:lnTo>
                  <a:pt x="3076" y="2387"/>
                </a:lnTo>
                <a:lnTo>
                  <a:pt x="3051" y="2406"/>
                </a:lnTo>
                <a:lnTo>
                  <a:pt x="3025" y="2425"/>
                </a:lnTo>
                <a:lnTo>
                  <a:pt x="3001" y="2444"/>
                </a:lnTo>
                <a:lnTo>
                  <a:pt x="2978" y="2464"/>
                </a:lnTo>
                <a:lnTo>
                  <a:pt x="2958" y="2487"/>
                </a:lnTo>
                <a:lnTo>
                  <a:pt x="2940" y="2509"/>
                </a:lnTo>
                <a:lnTo>
                  <a:pt x="2926" y="2534"/>
                </a:lnTo>
                <a:lnTo>
                  <a:pt x="2914" y="2561"/>
                </a:lnTo>
                <a:lnTo>
                  <a:pt x="2904" y="2590"/>
                </a:lnTo>
                <a:lnTo>
                  <a:pt x="2895" y="2620"/>
                </a:lnTo>
                <a:lnTo>
                  <a:pt x="2887" y="2650"/>
                </a:lnTo>
                <a:lnTo>
                  <a:pt x="2879" y="2681"/>
                </a:lnTo>
                <a:lnTo>
                  <a:pt x="2870" y="2710"/>
                </a:lnTo>
                <a:lnTo>
                  <a:pt x="2860" y="2739"/>
                </a:lnTo>
                <a:lnTo>
                  <a:pt x="2848" y="2766"/>
                </a:lnTo>
                <a:lnTo>
                  <a:pt x="2833" y="2790"/>
                </a:lnTo>
                <a:lnTo>
                  <a:pt x="2815" y="2812"/>
                </a:lnTo>
                <a:lnTo>
                  <a:pt x="2793" y="2830"/>
                </a:lnTo>
                <a:lnTo>
                  <a:pt x="2769" y="2845"/>
                </a:lnTo>
                <a:lnTo>
                  <a:pt x="2742" y="2857"/>
                </a:lnTo>
                <a:lnTo>
                  <a:pt x="2713" y="2867"/>
                </a:lnTo>
                <a:lnTo>
                  <a:pt x="2684" y="2876"/>
                </a:lnTo>
                <a:lnTo>
                  <a:pt x="2653" y="2884"/>
                </a:lnTo>
                <a:lnTo>
                  <a:pt x="2623" y="2892"/>
                </a:lnTo>
                <a:lnTo>
                  <a:pt x="2593" y="2901"/>
                </a:lnTo>
                <a:lnTo>
                  <a:pt x="2564" y="2911"/>
                </a:lnTo>
                <a:lnTo>
                  <a:pt x="2537" y="2923"/>
                </a:lnTo>
                <a:lnTo>
                  <a:pt x="2512" y="2937"/>
                </a:lnTo>
                <a:lnTo>
                  <a:pt x="2490" y="2955"/>
                </a:lnTo>
                <a:lnTo>
                  <a:pt x="2467" y="2975"/>
                </a:lnTo>
                <a:lnTo>
                  <a:pt x="2447" y="2998"/>
                </a:lnTo>
                <a:lnTo>
                  <a:pt x="2428" y="3022"/>
                </a:lnTo>
                <a:lnTo>
                  <a:pt x="2409" y="3047"/>
                </a:lnTo>
                <a:lnTo>
                  <a:pt x="2390" y="3072"/>
                </a:lnTo>
                <a:lnTo>
                  <a:pt x="2371" y="3096"/>
                </a:lnTo>
                <a:lnTo>
                  <a:pt x="2350" y="3119"/>
                </a:lnTo>
                <a:lnTo>
                  <a:pt x="2329" y="3139"/>
                </a:lnTo>
                <a:lnTo>
                  <a:pt x="2305" y="3156"/>
                </a:lnTo>
                <a:lnTo>
                  <a:pt x="2280" y="3169"/>
                </a:lnTo>
                <a:lnTo>
                  <a:pt x="2250" y="3178"/>
                </a:lnTo>
                <a:lnTo>
                  <a:pt x="2219" y="3182"/>
                </a:lnTo>
                <a:lnTo>
                  <a:pt x="2187" y="3183"/>
                </a:lnTo>
                <a:lnTo>
                  <a:pt x="2153" y="3180"/>
                </a:lnTo>
                <a:lnTo>
                  <a:pt x="2119" y="3176"/>
                </a:lnTo>
                <a:lnTo>
                  <a:pt x="2085" y="3171"/>
                </a:lnTo>
                <a:lnTo>
                  <a:pt x="2051" y="3167"/>
                </a:lnTo>
                <a:lnTo>
                  <a:pt x="2017" y="3165"/>
                </a:lnTo>
                <a:lnTo>
                  <a:pt x="1984" y="3165"/>
                </a:lnTo>
                <a:lnTo>
                  <a:pt x="1953" y="3169"/>
                </a:lnTo>
                <a:lnTo>
                  <a:pt x="1921" y="3177"/>
                </a:lnTo>
                <a:lnTo>
                  <a:pt x="1892" y="3189"/>
                </a:lnTo>
                <a:lnTo>
                  <a:pt x="1862" y="3205"/>
                </a:lnTo>
                <a:lnTo>
                  <a:pt x="1832" y="3221"/>
                </a:lnTo>
                <a:lnTo>
                  <a:pt x="1802" y="3239"/>
                </a:lnTo>
                <a:lnTo>
                  <a:pt x="1773" y="3256"/>
                </a:lnTo>
                <a:lnTo>
                  <a:pt x="1742" y="3271"/>
                </a:lnTo>
                <a:lnTo>
                  <a:pt x="1712" y="3283"/>
                </a:lnTo>
                <a:lnTo>
                  <a:pt x="1681" y="3291"/>
                </a:lnTo>
                <a:lnTo>
                  <a:pt x="1649" y="3294"/>
                </a:lnTo>
                <a:lnTo>
                  <a:pt x="1617" y="3291"/>
                </a:lnTo>
                <a:lnTo>
                  <a:pt x="1586" y="3283"/>
                </a:lnTo>
                <a:lnTo>
                  <a:pt x="1556" y="3271"/>
                </a:lnTo>
                <a:lnTo>
                  <a:pt x="1525" y="3256"/>
                </a:lnTo>
                <a:lnTo>
                  <a:pt x="1496" y="3239"/>
                </a:lnTo>
                <a:lnTo>
                  <a:pt x="1466" y="3221"/>
                </a:lnTo>
                <a:lnTo>
                  <a:pt x="1436" y="3205"/>
                </a:lnTo>
                <a:lnTo>
                  <a:pt x="1406" y="3189"/>
                </a:lnTo>
                <a:lnTo>
                  <a:pt x="1376" y="3177"/>
                </a:lnTo>
                <a:lnTo>
                  <a:pt x="1345" y="3169"/>
                </a:lnTo>
                <a:lnTo>
                  <a:pt x="1314" y="3165"/>
                </a:lnTo>
                <a:lnTo>
                  <a:pt x="1281" y="3165"/>
                </a:lnTo>
                <a:lnTo>
                  <a:pt x="1247" y="3167"/>
                </a:lnTo>
                <a:lnTo>
                  <a:pt x="1213" y="3171"/>
                </a:lnTo>
                <a:lnTo>
                  <a:pt x="1179" y="3176"/>
                </a:lnTo>
                <a:lnTo>
                  <a:pt x="1145" y="3180"/>
                </a:lnTo>
                <a:lnTo>
                  <a:pt x="1111" y="3183"/>
                </a:lnTo>
                <a:lnTo>
                  <a:pt x="1079" y="3182"/>
                </a:lnTo>
                <a:lnTo>
                  <a:pt x="1048" y="3178"/>
                </a:lnTo>
                <a:lnTo>
                  <a:pt x="1018" y="3169"/>
                </a:lnTo>
                <a:lnTo>
                  <a:pt x="993" y="3156"/>
                </a:lnTo>
                <a:lnTo>
                  <a:pt x="969" y="3139"/>
                </a:lnTo>
                <a:lnTo>
                  <a:pt x="948" y="3119"/>
                </a:lnTo>
                <a:lnTo>
                  <a:pt x="927" y="3096"/>
                </a:lnTo>
                <a:lnTo>
                  <a:pt x="908" y="3072"/>
                </a:lnTo>
                <a:lnTo>
                  <a:pt x="889" y="3047"/>
                </a:lnTo>
                <a:lnTo>
                  <a:pt x="870" y="3022"/>
                </a:lnTo>
                <a:lnTo>
                  <a:pt x="851" y="2998"/>
                </a:lnTo>
                <a:lnTo>
                  <a:pt x="831" y="2975"/>
                </a:lnTo>
                <a:lnTo>
                  <a:pt x="808" y="2955"/>
                </a:lnTo>
                <a:lnTo>
                  <a:pt x="786" y="2937"/>
                </a:lnTo>
                <a:lnTo>
                  <a:pt x="761" y="2923"/>
                </a:lnTo>
                <a:lnTo>
                  <a:pt x="734" y="2911"/>
                </a:lnTo>
                <a:lnTo>
                  <a:pt x="705" y="2901"/>
                </a:lnTo>
                <a:lnTo>
                  <a:pt x="675" y="2892"/>
                </a:lnTo>
                <a:lnTo>
                  <a:pt x="645" y="2884"/>
                </a:lnTo>
                <a:lnTo>
                  <a:pt x="614" y="2876"/>
                </a:lnTo>
                <a:lnTo>
                  <a:pt x="585" y="2867"/>
                </a:lnTo>
                <a:lnTo>
                  <a:pt x="556" y="2857"/>
                </a:lnTo>
                <a:lnTo>
                  <a:pt x="529" y="2845"/>
                </a:lnTo>
                <a:lnTo>
                  <a:pt x="505" y="2830"/>
                </a:lnTo>
                <a:lnTo>
                  <a:pt x="483" y="2812"/>
                </a:lnTo>
                <a:lnTo>
                  <a:pt x="465" y="2790"/>
                </a:lnTo>
                <a:lnTo>
                  <a:pt x="450" y="2766"/>
                </a:lnTo>
                <a:lnTo>
                  <a:pt x="438" y="2739"/>
                </a:lnTo>
                <a:lnTo>
                  <a:pt x="428" y="2710"/>
                </a:lnTo>
                <a:lnTo>
                  <a:pt x="419" y="2681"/>
                </a:lnTo>
                <a:lnTo>
                  <a:pt x="411" y="2650"/>
                </a:lnTo>
                <a:lnTo>
                  <a:pt x="403" y="2620"/>
                </a:lnTo>
                <a:lnTo>
                  <a:pt x="394" y="2590"/>
                </a:lnTo>
                <a:lnTo>
                  <a:pt x="384" y="2561"/>
                </a:lnTo>
                <a:lnTo>
                  <a:pt x="372" y="2534"/>
                </a:lnTo>
                <a:lnTo>
                  <a:pt x="358" y="2509"/>
                </a:lnTo>
                <a:lnTo>
                  <a:pt x="340" y="2487"/>
                </a:lnTo>
                <a:lnTo>
                  <a:pt x="320" y="2464"/>
                </a:lnTo>
                <a:lnTo>
                  <a:pt x="297" y="2444"/>
                </a:lnTo>
                <a:lnTo>
                  <a:pt x="272" y="2425"/>
                </a:lnTo>
                <a:lnTo>
                  <a:pt x="247" y="2406"/>
                </a:lnTo>
                <a:lnTo>
                  <a:pt x="222" y="2387"/>
                </a:lnTo>
                <a:lnTo>
                  <a:pt x="198" y="2368"/>
                </a:lnTo>
                <a:lnTo>
                  <a:pt x="175" y="2347"/>
                </a:lnTo>
                <a:lnTo>
                  <a:pt x="155" y="2326"/>
                </a:lnTo>
                <a:lnTo>
                  <a:pt x="138" y="2302"/>
                </a:lnTo>
                <a:lnTo>
                  <a:pt x="125" y="2277"/>
                </a:lnTo>
                <a:lnTo>
                  <a:pt x="116" y="2247"/>
                </a:lnTo>
                <a:lnTo>
                  <a:pt x="112" y="2216"/>
                </a:lnTo>
                <a:lnTo>
                  <a:pt x="111" y="2184"/>
                </a:lnTo>
                <a:lnTo>
                  <a:pt x="114" y="2150"/>
                </a:lnTo>
                <a:lnTo>
                  <a:pt x="118" y="2116"/>
                </a:lnTo>
                <a:lnTo>
                  <a:pt x="123" y="2082"/>
                </a:lnTo>
                <a:lnTo>
                  <a:pt x="127" y="2048"/>
                </a:lnTo>
                <a:lnTo>
                  <a:pt x="129" y="2014"/>
                </a:lnTo>
                <a:lnTo>
                  <a:pt x="129" y="1981"/>
                </a:lnTo>
                <a:lnTo>
                  <a:pt x="125" y="1950"/>
                </a:lnTo>
                <a:lnTo>
                  <a:pt x="117" y="1919"/>
                </a:lnTo>
                <a:lnTo>
                  <a:pt x="105" y="1890"/>
                </a:lnTo>
                <a:lnTo>
                  <a:pt x="90" y="1860"/>
                </a:lnTo>
                <a:lnTo>
                  <a:pt x="73" y="1830"/>
                </a:lnTo>
                <a:lnTo>
                  <a:pt x="55" y="1800"/>
                </a:lnTo>
                <a:lnTo>
                  <a:pt x="38" y="1771"/>
                </a:lnTo>
                <a:lnTo>
                  <a:pt x="23" y="1740"/>
                </a:lnTo>
                <a:lnTo>
                  <a:pt x="11" y="1710"/>
                </a:lnTo>
                <a:lnTo>
                  <a:pt x="3" y="1679"/>
                </a:lnTo>
                <a:lnTo>
                  <a:pt x="0" y="1647"/>
                </a:lnTo>
                <a:lnTo>
                  <a:pt x="3" y="1615"/>
                </a:lnTo>
                <a:lnTo>
                  <a:pt x="11" y="1584"/>
                </a:lnTo>
                <a:lnTo>
                  <a:pt x="23" y="1554"/>
                </a:lnTo>
                <a:lnTo>
                  <a:pt x="38" y="1523"/>
                </a:lnTo>
                <a:lnTo>
                  <a:pt x="55" y="1494"/>
                </a:lnTo>
                <a:lnTo>
                  <a:pt x="73" y="1464"/>
                </a:lnTo>
                <a:lnTo>
                  <a:pt x="90" y="1434"/>
                </a:lnTo>
                <a:lnTo>
                  <a:pt x="105" y="1404"/>
                </a:lnTo>
                <a:lnTo>
                  <a:pt x="117" y="1375"/>
                </a:lnTo>
                <a:lnTo>
                  <a:pt x="125" y="1344"/>
                </a:lnTo>
                <a:lnTo>
                  <a:pt x="129" y="1313"/>
                </a:lnTo>
                <a:lnTo>
                  <a:pt x="129" y="1280"/>
                </a:lnTo>
                <a:lnTo>
                  <a:pt x="127" y="1246"/>
                </a:lnTo>
                <a:lnTo>
                  <a:pt x="123" y="1212"/>
                </a:lnTo>
                <a:lnTo>
                  <a:pt x="118" y="1178"/>
                </a:lnTo>
                <a:lnTo>
                  <a:pt x="114" y="1144"/>
                </a:lnTo>
                <a:lnTo>
                  <a:pt x="111" y="1110"/>
                </a:lnTo>
                <a:lnTo>
                  <a:pt x="112" y="1078"/>
                </a:lnTo>
                <a:lnTo>
                  <a:pt x="116" y="1047"/>
                </a:lnTo>
                <a:lnTo>
                  <a:pt x="125" y="1017"/>
                </a:lnTo>
                <a:lnTo>
                  <a:pt x="138" y="992"/>
                </a:lnTo>
                <a:lnTo>
                  <a:pt x="155" y="968"/>
                </a:lnTo>
                <a:lnTo>
                  <a:pt x="175" y="947"/>
                </a:lnTo>
                <a:lnTo>
                  <a:pt x="198" y="926"/>
                </a:lnTo>
                <a:lnTo>
                  <a:pt x="222" y="907"/>
                </a:lnTo>
                <a:lnTo>
                  <a:pt x="247" y="888"/>
                </a:lnTo>
                <a:lnTo>
                  <a:pt x="272" y="869"/>
                </a:lnTo>
                <a:lnTo>
                  <a:pt x="297" y="850"/>
                </a:lnTo>
                <a:lnTo>
                  <a:pt x="320" y="830"/>
                </a:lnTo>
                <a:lnTo>
                  <a:pt x="340" y="807"/>
                </a:lnTo>
                <a:lnTo>
                  <a:pt x="358" y="785"/>
                </a:lnTo>
                <a:lnTo>
                  <a:pt x="372" y="760"/>
                </a:lnTo>
                <a:lnTo>
                  <a:pt x="384" y="733"/>
                </a:lnTo>
                <a:lnTo>
                  <a:pt x="394" y="704"/>
                </a:lnTo>
                <a:lnTo>
                  <a:pt x="403" y="674"/>
                </a:lnTo>
                <a:lnTo>
                  <a:pt x="411" y="644"/>
                </a:lnTo>
                <a:lnTo>
                  <a:pt x="419" y="613"/>
                </a:lnTo>
                <a:lnTo>
                  <a:pt x="428" y="584"/>
                </a:lnTo>
                <a:lnTo>
                  <a:pt x="438" y="555"/>
                </a:lnTo>
                <a:lnTo>
                  <a:pt x="450" y="528"/>
                </a:lnTo>
                <a:lnTo>
                  <a:pt x="465" y="504"/>
                </a:lnTo>
                <a:lnTo>
                  <a:pt x="483" y="482"/>
                </a:lnTo>
                <a:lnTo>
                  <a:pt x="505" y="464"/>
                </a:lnTo>
                <a:lnTo>
                  <a:pt x="529" y="449"/>
                </a:lnTo>
                <a:lnTo>
                  <a:pt x="556" y="437"/>
                </a:lnTo>
                <a:lnTo>
                  <a:pt x="585" y="427"/>
                </a:lnTo>
                <a:lnTo>
                  <a:pt x="614" y="418"/>
                </a:lnTo>
                <a:lnTo>
                  <a:pt x="645" y="410"/>
                </a:lnTo>
                <a:lnTo>
                  <a:pt x="675" y="402"/>
                </a:lnTo>
                <a:lnTo>
                  <a:pt x="705" y="393"/>
                </a:lnTo>
                <a:lnTo>
                  <a:pt x="734" y="383"/>
                </a:lnTo>
                <a:lnTo>
                  <a:pt x="761" y="371"/>
                </a:lnTo>
                <a:lnTo>
                  <a:pt x="786" y="357"/>
                </a:lnTo>
                <a:lnTo>
                  <a:pt x="808" y="339"/>
                </a:lnTo>
                <a:lnTo>
                  <a:pt x="831" y="319"/>
                </a:lnTo>
                <a:lnTo>
                  <a:pt x="851" y="296"/>
                </a:lnTo>
                <a:lnTo>
                  <a:pt x="870" y="272"/>
                </a:lnTo>
                <a:lnTo>
                  <a:pt x="889" y="247"/>
                </a:lnTo>
                <a:lnTo>
                  <a:pt x="908" y="222"/>
                </a:lnTo>
                <a:lnTo>
                  <a:pt x="927" y="198"/>
                </a:lnTo>
                <a:lnTo>
                  <a:pt x="948" y="175"/>
                </a:lnTo>
                <a:lnTo>
                  <a:pt x="969" y="155"/>
                </a:lnTo>
                <a:lnTo>
                  <a:pt x="993" y="138"/>
                </a:lnTo>
                <a:lnTo>
                  <a:pt x="1018" y="125"/>
                </a:lnTo>
                <a:lnTo>
                  <a:pt x="1048" y="116"/>
                </a:lnTo>
                <a:lnTo>
                  <a:pt x="1079" y="112"/>
                </a:lnTo>
                <a:lnTo>
                  <a:pt x="1111" y="111"/>
                </a:lnTo>
                <a:lnTo>
                  <a:pt x="1145" y="114"/>
                </a:lnTo>
                <a:lnTo>
                  <a:pt x="1179" y="118"/>
                </a:lnTo>
                <a:lnTo>
                  <a:pt x="1213" y="123"/>
                </a:lnTo>
                <a:lnTo>
                  <a:pt x="1247" y="127"/>
                </a:lnTo>
                <a:lnTo>
                  <a:pt x="1281" y="129"/>
                </a:lnTo>
                <a:lnTo>
                  <a:pt x="1314" y="129"/>
                </a:lnTo>
                <a:lnTo>
                  <a:pt x="1345" y="125"/>
                </a:lnTo>
                <a:lnTo>
                  <a:pt x="1376" y="117"/>
                </a:lnTo>
                <a:lnTo>
                  <a:pt x="1406" y="105"/>
                </a:lnTo>
                <a:lnTo>
                  <a:pt x="1436" y="89"/>
                </a:lnTo>
                <a:lnTo>
                  <a:pt x="1466" y="73"/>
                </a:lnTo>
                <a:lnTo>
                  <a:pt x="1496" y="55"/>
                </a:lnTo>
                <a:lnTo>
                  <a:pt x="1525" y="38"/>
                </a:lnTo>
                <a:lnTo>
                  <a:pt x="1556" y="23"/>
                </a:lnTo>
                <a:lnTo>
                  <a:pt x="1586" y="11"/>
                </a:lnTo>
                <a:lnTo>
                  <a:pt x="1617" y="3"/>
                </a:lnTo>
                <a:lnTo>
                  <a:pt x="1649" y="0"/>
                </a:lnTo>
                <a:close/>
              </a:path>
            </a:pathLst>
          </a:custGeom>
          <a:solidFill>
            <a:schemeClr val="bg2"/>
          </a:solidFill>
          <a:ln w="0">
            <a:noFill/>
            <a:prstDash val="solid"/>
            <a:round/>
            <a:headEnd/>
            <a:tailEnd/>
          </a:ln>
        </p:spPr>
      </p:sp>
      <p:sp>
        <p:nvSpPr>
          <p:cNvPr id="2" name="Title 1"/>
          <p:cNvSpPr>
            <a:spLocks noGrp="1"/>
          </p:cNvSpPr>
          <p:nvPr>
            <p:ph type="ctrTitle"/>
          </p:nvPr>
        </p:nvSpPr>
        <p:spPr>
          <a:xfrm>
            <a:off x="1078523" y="1098388"/>
            <a:ext cx="10318418" cy="4394988"/>
          </a:xfrm>
        </p:spPr>
        <p:txBody>
          <a:bodyPr anchor="ctr">
            <a:noAutofit/>
          </a:bodyPr>
          <a:lstStyle>
            <a:lvl1pPr algn="ctr">
              <a:defRPr sz="10000" spc="800" baseline="0"/>
            </a:lvl1pPr>
          </a:lstStyle>
          <a:p>
            <a:r>
              <a:rPr lang="en-US" smtClean="0"/>
              <a:t>Click to edit Master title style</a:t>
            </a:r>
            <a:endParaRPr lang="en-US" dirty="0"/>
          </a:p>
        </p:txBody>
      </p:sp>
      <p:sp>
        <p:nvSpPr>
          <p:cNvPr id="3" name="Subtitle 2"/>
          <p:cNvSpPr>
            <a:spLocks noGrp="1"/>
          </p:cNvSpPr>
          <p:nvPr>
            <p:ph type="subTitle" idx="1"/>
          </p:nvPr>
        </p:nvSpPr>
        <p:spPr>
          <a:xfrm>
            <a:off x="2215045" y="5979196"/>
            <a:ext cx="8045373" cy="742279"/>
          </a:xfrm>
        </p:spPr>
        <p:txBody>
          <a:bodyPr anchor="t">
            <a:normAutofit/>
          </a:bodyPr>
          <a:lstStyle>
            <a:lvl1pPr marL="0" indent="0" algn="ctr">
              <a:lnSpc>
                <a:spcPct val="100000"/>
              </a:lnSpc>
              <a:buNone/>
              <a:defRPr sz="2000" b="1" i="0" cap="all" spc="4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dirty="0"/>
          </a:p>
        </p:txBody>
      </p:sp>
      <p:sp>
        <p:nvSpPr>
          <p:cNvPr id="4" name="Date Placeholder 3"/>
          <p:cNvSpPr>
            <a:spLocks noGrp="1"/>
          </p:cNvSpPr>
          <p:nvPr>
            <p:ph type="dt" sz="half" idx="10"/>
          </p:nvPr>
        </p:nvSpPr>
        <p:spPr>
          <a:xfrm>
            <a:off x="1078523" y="6375679"/>
            <a:ext cx="2329722" cy="348462"/>
          </a:xfrm>
        </p:spPr>
        <p:txBody>
          <a:bodyPr/>
          <a:lstStyle>
            <a:lvl1pPr>
              <a:defRPr baseline="0">
                <a:solidFill>
                  <a:schemeClr val="accent1">
                    <a:lumMod val="50000"/>
                  </a:schemeClr>
                </a:solidFill>
              </a:defRPr>
            </a:lvl1pPr>
          </a:lstStyle>
          <a:p>
            <a:fld id="{9334D819-9F07-4261-B09B-9E467E5D9002}" type="datetimeFigureOut">
              <a:rPr lang="en-US" dirty="0"/>
              <a:pPr/>
              <a:t>3/2/2026</a:t>
            </a:fld>
            <a:endParaRPr lang="en-US" dirty="0"/>
          </a:p>
        </p:txBody>
      </p:sp>
      <p:sp>
        <p:nvSpPr>
          <p:cNvPr id="5" name="Footer Placeholder 4"/>
          <p:cNvSpPr>
            <a:spLocks noGrp="1"/>
          </p:cNvSpPr>
          <p:nvPr>
            <p:ph type="ftr" sz="quarter" idx="11"/>
          </p:nvPr>
        </p:nvSpPr>
        <p:spPr>
          <a:xfrm>
            <a:off x="4180332" y="6375679"/>
            <a:ext cx="4114800" cy="345796"/>
          </a:xfrm>
        </p:spPr>
        <p:txBody>
          <a:bodyPr/>
          <a:lstStyle>
            <a:lvl1pPr>
              <a:defRPr baseline="0">
                <a:solidFill>
                  <a:schemeClr val="accent1">
                    <a:lumMod val="50000"/>
                  </a:schemeClr>
                </a:solidFill>
              </a:defRPr>
            </a:lvl1pPr>
          </a:lstStyle>
          <a:p>
            <a:endParaRPr lang="en-US" dirty="0"/>
          </a:p>
        </p:txBody>
      </p:sp>
      <p:sp>
        <p:nvSpPr>
          <p:cNvPr id="6" name="Slide Number Placeholder 5"/>
          <p:cNvSpPr>
            <a:spLocks noGrp="1"/>
          </p:cNvSpPr>
          <p:nvPr>
            <p:ph type="sldNum" sz="quarter" idx="12"/>
          </p:nvPr>
        </p:nvSpPr>
        <p:spPr>
          <a:xfrm>
            <a:off x="9067218" y="6375679"/>
            <a:ext cx="2329723" cy="345796"/>
          </a:xfrm>
        </p:spPr>
        <p:txBody>
          <a:bodyPr/>
          <a:lstStyle>
            <a:lvl1pPr>
              <a:defRPr baseline="0">
                <a:solidFill>
                  <a:schemeClr val="accent1">
                    <a:lumMod val="50000"/>
                  </a:schemeClr>
                </a:solidFill>
              </a:defRPr>
            </a:lvl1pPr>
          </a:lstStyle>
          <a:p>
            <a:fld id="{71766878-3199-4EAB-94E7-2D6D11070E14}" type="slidenum">
              <a:rPr lang="en-US" dirty="0"/>
              <a:pPr/>
              <a:t>‹#›</a:t>
            </a:fld>
            <a:endParaRPr lang="en-US" dirty="0"/>
          </a:p>
        </p:txBody>
      </p:sp>
      <p:sp>
        <p:nvSpPr>
          <p:cNvPr id="13" name="Rectangle 12" title="left edge border"/>
          <p:cNvSpPr/>
          <p:nvPr/>
        </p:nvSpPr>
        <p:spPr>
          <a:xfrm>
            <a:off x="0" y="0"/>
            <a:ext cx="283464"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251678" y="382385"/>
            <a:ext cx="10178322" cy="931260"/>
          </a:xfrm>
        </p:spPr>
        <p:txBody>
          <a:bodyPr/>
          <a:lstStyle/>
          <a:p>
            <a:r>
              <a:rPr lang="en-US" dirty="0" smtClean="0"/>
              <a:t>Click to edit Master title style</a:t>
            </a:r>
            <a:endParaRPr lang="en-US" dirty="0"/>
          </a:p>
        </p:txBody>
      </p:sp>
      <p:sp>
        <p:nvSpPr>
          <p:cNvPr id="3" name="Content Placeholder 2"/>
          <p:cNvSpPr>
            <a:spLocks noGrp="1"/>
          </p:cNvSpPr>
          <p:nvPr>
            <p:ph idx="1"/>
          </p:nvPr>
        </p:nvSpPr>
        <p:spPr>
          <a:xfrm>
            <a:off x="1251678" y="1506829"/>
            <a:ext cx="10178322" cy="5214646"/>
          </a:xfrm>
        </p:spPr>
        <p:txBody>
          <a:bodyPr>
            <a:normAutofit/>
          </a:bodyPr>
          <a:lstStyle>
            <a:lvl1pPr>
              <a:defRPr sz="1800">
                <a:latin typeface="Georgia" panose="02040502050405020303" pitchFamily="18" charset="0"/>
              </a:defRPr>
            </a:lvl1pPr>
            <a:lvl2pPr>
              <a:defRPr sz="1800">
                <a:latin typeface="Georgia" panose="02040502050405020303" pitchFamily="18" charset="0"/>
              </a:defRPr>
            </a:lvl2pPr>
            <a:lvl3pPr>
              <a:defRPr sz="1800">
                <a:latin typeface="Georgia" panose="02040502050405020303" pitchFamily="18" charset="0"/>
              </a:defRPr>
            </a:lvl3pPr>
            <a:lvl4pPr>
              <a:defRPr sz="1800">
                <a:latin typeface="Georgia" panose="02040502050405020303" pitchFamily="18" charset="0"/>
              </a:defRPr>
            </a:lvl4pPr>
            <a:lvl5pPr>
              <a:defRPr sz="1800">
                <a:latin typeface="Georgia" panose="02040502050405020303" pitchFamily="18" charset="0"/>
              </a:defRPr>
            </a:lvl5pPr>
          </a:lstStyle>
          <a:p>
            <a:pPr lvl="0"/>
            <a:r>
              <a:rPr lang="en-US" dirty="0" smtClean="0"/>
              <a:t>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242929" y="1073888"/>
            <a:ext cx="8187071" cy="4064627"/>
          </a:xfrm>
        </p:spPr>
        <p:txBody>
          <a:bodyPr anchor="b">
            <a:normAutofit/>
          </a:bodyPr>
          <a:lstStyle>
            <a:lvl1pPr>
              <a:defRPr sz="8400" spc="800" baseline="0">
                <a:solidFill>
                  <a:schemeClr val="tx2"/>
                </a:solidFill>
              </a:defRPr>
            </a:lvl1pPr>
          </a:lstStyle>
          <a:p>
            <a:r>
              <a:rPr lang="en-US" smtClean="0"/>
              <a:t>Click to edit Master title style</a:t>
            </a:r>
            <a:endParaRPr lang="en-US" dirty="0"/>
          </a:p>
        </p:txBody>
      </p:sp>
      <p:sp>
        <p:nvSpPr>
          <p:cNvPr id="3" name="Text Placeholder 2"/>
          <p:cNvSpPr>
            <a:spLocks noGrp="1"/>
          </p:cNvSpPr>
          <p:nvPr>
            <p:ph type="body" idx="1"/>
          </p:nvPr>
        </p:nvSpPr>
        <p:spPr>
          <a:xfrm>
            <a:off x="3242930" y="5159781"/>
            <a:ext cx="7017488" cy="951135"/>
          </a:xfrm>
        </p:spPr>
        <p:txBody>
          <a:bodyPr>
            <a:normAutofit/>
          </a:bodyPr>
          <a:lstStyle>
            <a:lvl1pPr marL="0" indent="0">
              <a:lnSpc>
                <a:spcPct val="100000"/>
              </a:lnSpc>
              <a:buNone/>
              <a:defRPr sz="2000" b="1" i="0" cap="all" spc="400" baseline="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a:xfrm>
            <a:off x="3236546" y="6375679"/>
            <a:ext cx="1493947" cy="348462"/>
          </a:xfrm>
        </p:spPr>
        <p:txBody>
          <a:bodyPr/>
          <a:lstStyle>
            <a:lvl1pPr>
              <a:defRPr baseline="0">
                <a:solidFill>
                  <a:schemeClr val="tx2"/>
                </a:solidFill>
              </a:defRPr>
            </a:lvl1pPr>
          </a:lstStyle>
          <a:p>
            <a:fld id="{9334D819-9F07-4261-B09B-9E467E5D9002}" type="datetimeFigureOut">
              <a:rPr lang="en-US" dirty="0"/>
              <a:pPr/>
              <a:t>3/2/2026</a:t>
            </a:fld>
            <a:endParaRPr lang="en-US" dirty="0"/>
          </a:p>
        </p:txBody>
      </p:sp>
      <p:sp>
        <p:nvSpPr>
          <p:cNvPr id="5" name="Footer Placeholder 4"/>
          <p:cNvSpPr>
            <a:spLocks noGrp="1"/>
          </p:cNvSpPr>
          <p:nvPr>
            <p:ph type="ftr" sz="quarter" idx="11"/>
          </p:nvPr>
        </p:nvSpPr>
        <p:spPr>
          <a:xfrm>
            <a:off x="5279064" y="6375679"/>
            <a:ext cx="4114800" cy="345796"/>
          </a:xfrm>
        </p:spPr>
        <p:txBody>
          <a:bodyPr/>
          <a:lstStyle>
            <a:lvl1pPr>
              <a:defRPr baseline="0">
                <a:solidFill>
                  <a:schemeClr val="tx2"/>
                </a:solidFill>
              </a:defRPr>
            </a:lvl1pPr>
          </a:lstStyle>
          <a:p>
            <a:endParaRPr lang="en-US" dirty="0"/>
          </a:p>
        </p:txBody>
      </p:sp>
      <p:sp>
        <p:nvSpPr>
          <p:cNvPr id="6" name="Slide Number Placeholder 5"/>
          <p:cNvSpPr>
            <a:spLocks noGrp="1"/>
          </p:cNvSpPr>
          <p:nvPr>
            <p:ph type="sldNum" sz="quarter" idx="12"/>
          </p:nvPr>
        </p:nvSpPr>
        <p:spPr>
          <a:xfrm>
            <a:off x="9942434" y="6375679"/>
            <a:ext cx="1487566" cy="345796"/>
          </a:xfrm>
        </p:spPr>
        <p:txBody>
          <a:bodyPr/>
          <a:lstStyle>
            <a:lvl1pPr>
              <a:defRPr baseline="0">
                <a:solidFill>
                  <a:schemeClr val="tx2"/>
                </a:solidFill>
              </a:defRPr>
            </a:lvl1pPr>
          </a:lstStyle>
          <a:p>
            <a:fld id="{71766878-3199-4EAB-94E7-2D6D11070E14}" type="slidenum">
              <a:rPr lang="en-US" dirty="0"/>
              <a:pPr/>
              <a:t>‹#›</a:t>
            </a:fld>
            <a:endParaRPr lang="en-US" dirty="0"/>
          </a:p>
        </p:txBody>
      </p:sp>
      <p:grpSp>
        <p:nvGrpSpPr>
          <p:cNvPr id="7" name="Group 6" title="left scallop shape"/>
          <p:cNvGrpSpPr/>
          <p:nvPr/>
        </p:nvGrpSpPr>
        <p:grpSpPr>
          <a:xfrm>
            <a:off x="0" y="0"/>
            <a:ext cx="2814638" cy="6858000"/>
            <a:chOff x="0" y="0"/>
            <a:chExt cx="2814638" cy="6858000"/>
          </a:xfrm>
        </p:grpSpPr>
        <p:sp>
          <p:nvSpPr>
            <p:cNvPr id="11" name="Freeform 6" title="left scallop shape"/>
            <p:cNvSpPr/>
            <p:nvPr/>
          </p:nvSpPr>
          <p:spPr bwMode="auto">
            <a:xfrm>
              <a:off x="0" y="0"/>
              <a:ext cx="2814638" cy="6858000"/>
            </a:xfrm>
            <a:custGeom>
              <a:avLst/>
              <a:gdLst/>
              <a:ahLst/>
              <a:cxnLst/>
              <a:rect l="0" t="0" r="r" b="b"/>
              <a:pathLst>
                <a:path w="1773" h="4320">
                  <a:moveTo>
                    <a:pt x="0" y="0"/>
                  </a:moveTo>
                  <a:lnTo>
                    <a:pt x="891" y="0"/>
                  </a:lnTo>
                  <a:lnTo>
                    <a:pt x="906" y="56"/>
                  </a:lnTo>
                  <a:lnTo>
                    <a:pt x="921" y="111"/>
                  </a:lnTo>
                  <a:lnTo>
                    <a:pt x="938" y="165"/>
                  </a:lnTo>
                  <a:lnTo>
                    <a:pt x="957" y="217"/>
                  </a:lnTo>
                  <a:lnTo>
                    <a:pt x="980" y="266"/>
                  </a:lnTo>
                  <a:lnTo>
                    <a:pt x="1007" y="312"/>
                  </a:lnTo>
                  <a:lnTo>
                    <a:pt x="1036" y="351"/>
                  </a:lnTo>
                  <a:lnTo>
                    <a:pt x="1069" y="387"/>
                  </a:lnTo>
                  <a:lnTo>
                    <a:pt x="1105" y="422"/>
                  </a:lnTo>
                  <a:lnTo>
                    <a:pt x="1145" y="456"/>
                  </a:lnTo>
                  <a:lnTo>
                    <a:pt x="1185" y="487"/>
                  </a:lnTo>
                  <a:lnTo>
                    <a:pt x="1227" y="520"/>
                  </a:lnTo>
                  <a:lnTo>
                    <a:pt x="1270" y="551"/>
                  </a:lnTo>
                  <a:lnTo>
                    <a:pt x="1311" y="584"/>
                  </a:lnTo>
                  <a:lnTo>
                    <a:pt x="1352" y="617"/>
                  </a:lnTo>
                  <a:lnTo>
                    <a:pt x="1390" y="651"/>
                  </a:lnTo>
                  <a:lnTo>
                    <a:pt x="1425" y="687"/>
                  </a:lnTo>
                  <a:lnTo>
                    <a:pt x="1456" y="725"/>
                  </a:lnTo>
                  <a:lnTo>
                    <a:pt x="1484" y="765"/>
                  </a:lnTo>
                  <a:lnTo>
                    <a:pt x="1505" y="808"/>
                  </a:lnTo>
                  <a:lnTo>
                    <a:pt x="1521" y="856"/>
                  </a:lnTo>
                  <a:lnTo>
                    <a:pt x="1530" y="907"/>
                  </a:lnTo>
                  <a:lnTo>
                    <a:pt x="1534" y="960"/>
                  </a:lnTo>
                  <a:lnTo>
                    <a:pt x="1534" y="1013"/>
                  </a:lnTo>
                  <a:lnTo>
                    <a:pt x="1530" y="1068"/>
                  </a:lnTo>
                  <a:lnTo>
                    <a:pt x="1523" y="1125"/>
                  </a:lnTo>
                  <a:lnTo>
                    <a:pt x="1515" y="1181"/>
                  </a:lnTo>
                  <a:lnTo>
                    <a:pt x="1508" y="1237"/>
                  </a:lnTo>
                  <a:lnTo>
                    <a:pt x="1501" y="1293"/>
                  </a:lnTo>
                  <a:lnTo>
                    <a:pt x="1496" y="1350"/>
                  </a:lnTo>
                  <a:lnTo>
                    <a:pt x="1494" y="1405"/>
                  </a:lnTo>
                  <a:lnTo>
                    <a:pt x="1497" y="1458"/>
                  </a:lnTo>
                  <a:lnTo>
                    <a:pt x="1504" y="1511"/>
                  </a:lnTo>
                  <a:lnTo>
                    <a:pt x="1517" y="1560"/>
                  </a:lnTo>
                  <a:lnTo>
                    <a:pt x="1535" y="1610"/>
                  </a:lnTo>
                  <a:lnTo>
                    <a:pt x="1557" y="1659"/>
                  </a:lnTo>
                  <a:lnTo>
                    <a:pt x="1583" y="1708"/>
                  </a:lnTo>
                  <a:lnTo>
                    <a:pt x="1611" y="1757"/>
                  </a:lnTo>
                  <a:lnTo>
                    <a:pt x="1640" y="1807"/>
                  </a:lnTo>
                  <a:lnTo>
                    <a:pt x="1669" y="1855"/>
                  </a:lnTo>
                  <a:lnTo>
                    <a:pt x="1696" y="1905"/>
                  </a:lnTo>
                  <a:lnTo>
                    <a:pt x="1721" y="1954"/>
                  </a:lnTo>
                  <a:lnTo>
                    <a:pt x="1742" y="2006"/>
                  </a:lnTo>
                  <a:lnTo>
                    <a:pt x="1759" y="2057"/>
                  </a:lnTo>
                  <a:lnTo>
                    <a:pt x="1769" y="2108"/>
                  </a:lnTo>
                  <a:lnTo>
                    <a:pt x="1773" y="2160"/>
                  </a:lnTo>
                  <a:lnTo>
                    <a:pt x="1769" y="2212"/>
                  </a:lnTo>
                  <a:lnTo>
                    <a:pt x="1759" y="2263"/>
                  </a:lnTo>
                  <a:lnTo>
                    <a:pt x="1742" y="2314"/>
                  </a:lnTo>
                  <a:lnTo>
                    <a:pt x="1721" y="2366"/>
                  </a:lnTo>
                  <a:lnTo>
                    <a:pt x="1696" y="2415"/>
                  </a:lnTo>
                  <a:lnTo>
                    <a:pt x="1669" y="2465"/>
                  </a:lnTo>
                  <a:lnTo>
                    <a:pt x="1640" y="2513"/>
                  </a:lnTo>
                  <a:lnTo>
                    <a:pt x="1611" y="2563"/>
                  </a:lnTo>
                  <a:lnTo>
                    <a:pt x="1583" y="2612"/>
                  </a:lnTo>
                  <a:lnTo>
                    <a:pt x="1557" y="2661"/>
                  </a:lnTo>
                  <a:lnTo>
                    <a:pt x="1535" y="2710"/>
                  </a:lnTo>
                  <a:lnTo>
                    <a:pt x="1517" y="2760"/>
                  </a:lnTo>
                  <a:lnTo>
                    <a:pt x="1504" y="2809"/>
                  </a:lnTo>
                  <a:lnTo>
                    <a:pt x="1497" y="2862"/>
                  </a:lnTo>
                  <a:lnTo>
                    <a:pt x="1494" y="2915"/>
                  </a:lnTo>
                  <a:lnTo>
                    <a:pt x="1496" y="2970"/>
                  </a:lnTo>
                  <a:lnTo>
                    <a:pt x="1501" y="3027"/>
                  </a:lnTo>
                  <a:lnTo>
                    <a:pt x="1508" y="3083"/>
                  </a:lnTo>
                  <a:lnTo>
                    <a:pt x="1515" y="3139"/>
                  </a:lnTo>
                  <a:lnTo>
                    <a:pt x="1523" y="3195"/>
                  </a:lnTo>
                  <a:lnTo>
                    <a:pt x="1530" y="3252"/>
                  </a:lnTo>
                  <a:lnTo>
                    <a:pt x="1534" y="3307"/>
                  </a:lnTo>
                  <a:lnTo>
                    <a:pt x="1534" y="3360"/>
                  </a:lnTo>
                  <a:lnTo>
                    <a:pt x="1530" y="3413"/>
                  </a:lnTo>
                  <a:lnTo>
                    <a:pt x="1521" y="3464"/>
                  </a:lnTo>
                  <a:lnTo>
                    <a:pt x="1505" y="3512"/>
                  </a:lnTo>
                  <a:lnTo>
                    <a:pt x="1484" y="3555"/>
                  </a:lnTo>
                  <a:lnTo>
                    <a:pt x="1456" y="3595"/>
                  </a:lnTo>
                  <a:lnTo>
                    <a:pt x="1425" y="3633"/>
                  </a:lnTo>
                  <a:lnTo>
                    <a:pt x="1390" y="3669"/>
                  </a:lnTo>
                  <a:lnTo>
                    <a:pt x="1352" y="3703"/>
                  </a:lnTo>
                  <a:lnTo>
                    <a:pt x="1311" y="3736"/>
                  </a:lnTo>
                  <a:lnTo>
                    <a:pt x="1270" y="3769"/>
                  </a:lnTo>
                  <a:lnTo>
                    <a:pt x="1227" y="3800"/>
                  </a:lnTo>
                  <a:lnTo>
                    <a:pt x="1185" y="3833"/>
                  </a:lnTo>
                  <a:lnTo>
                    <a:pt x="1145" y="3864"/>
                  </a:lnTo>
                  <a:lnTo>
                    <a:pt x="1105" y="3898"/>
                  </a:lnTo>
                  <a:lnTo>
                    <a:pt x="1069" y="3933"/>
                  </a:lnTo>
                  <a:lnTo>
                    <a:pt x="1036" y="3969"/>
                  </a:lnTo>
                  <a:lnTo>
                    <a:pt x="1007" y="4008"/>
                  </a:lnTo>
                  <a:lnTo>
                    <a:pt x="980" y="4054"/>
                  </a:lnTo>
                  <a:lnTo>
                    <a:pt x="957" y="4103"/>
                  </a:lnTo>
                  <a:lnTo>
                    <a:pt x="938" y="4155"/>
                  </a:lnTo>
                  <a:lnTo>
                    <a:pt x="921" y="4209"/>
                  </a:lnTo>
                  <a:lnTo>
                    <a:pt x="906" y="4264"/>
                  </a:lnTo>
                  <a:lnTo>
                    <a:pt x="891" y="4320"/>
                  </a:lnTo>
                  <a:lnTo>
                    <a:pt x="0" y="4320"/>
                  </a:lnTo>
                  <a:lnTo>
                    <a:pt x="0" y="0"/>
                  </a:lnTo>
                  <a:close/>
                </a:path>
              </a:pathLst>
            </a:custGeom>
            <a:solidFill>
              <a:schemeClr val="tx2"/>
            </a:solidFill>
            <a:ln w="0">
              <a:noFill/>
              <a:prstDash val="solid"/>
              <a:round/>
              <a:headEnd/>
              <a:tailEnd/>
            </a:ln>
          </p:spPr>
        </p:sp>
        <p:sp>
          <p:nvSpPr>
            <p:cNvPr id="16" name="Freeform 11" title="left scallop inline"/>
            <p:cNvSpPr/>
            <p:nvPr/>
          </p:nvSpPr>
          <p:spPr bwMode="auto">
            <a:xfrm>
              <a:off x="874382" y="0"/>
              <a:ext cx="1646238" cy="6858000"/>
            </a:xfrm>
            <a:custGeom>
              <a:avLst/>
              <a:gdLst/>
              <a:ahLst/>
              <a:cxnLst/>
              <a:rect l="0" t="0" r="r" b="b"/>
              <a:pathLst>
                <a:path w="1037" h="4320">
                  <a:moveTo>
                    <a:pt x="0" y="0"/>
                  </a:moveTo>
                  <a:lnTo>
                    <a:pt x="171" y="0"/>
                  </a:lnTo>
                  <a:lnTo>
                    <a:pt x="188" y="55"/>
                  </a:lnTo>
                  <a:lnTo>
                    <a:pt x="204" y="110"/>
                  </a:lnTo>
                  <a:lnTo>
                    <a:pt x="220" y="166"/>
                  </a:lnTo>
                  <a:lnTo>
                    <a:pt x="234" y="223"/>
                  </a:lnTo>
                  <a:lnTo>
                    <a:pt x="251" y="278"/>
                  </a:lnTo>
                  <a:lnTo>
                    <a:pt x="269" y="331"/>
                  </a:lnTo>
                  <a:lnTo>
                    <a:pt x="292" y="381"/>
                  </a:lnTo>
                  <a:lnTo>
                    <a:pt x="319" y="427"/>
                  </a:lnTo>
                  <a:lnTo>
                    <a:pt x="349" y="466"/>
                  </a:lnTo>
                  <a:lnTo>
                    <a:pt x="382" y="503"/>
                  </a:lnTo>
                  <a:lnTo>
                    <a:pt x="420" y="537"/>
                  </a:lnTo>
                  <a:lnTo>
                    <a:pt x="460" y="571"/>
                  </a:lnTo>
                  <a:lnTo>
                    <a:pt x="502" y="603"/>
                  </a:lnTo>
                  <a:lnTo>
                    <a:pt x="544" y="635"/>
                  </a:lnTo>
                  <a:lnTo>
                    <a:pt x="587" y="668"/>
                  </a:lnTo>
                  <a:lnTo>
                    <a:pt x="628" y="700"/>
                  </a:lnTo>
                  <a:lnTo>
                    <a:pt x="667" y="734"/>
                  </a:lnTo>
                  <a:lnTo>
                    <a:pt x="703" y="771"/>
                  </a:lnTo>
                  <a:lnTo>
                    <a:pt x="736" y="808"/>
                  </a:lnTo>
                  <a:lnTo>
                    <a:pt x="763" y="848"/>
                  </a:lnTo>
                  <a:lnTo>
                    <a:pt x="786" y="893"/>
                  </a:lnTo>
                  <a:lnTo>
                    <a:pt x="800" y="937"/>
                  </a:lnTo>
                  <a:lnTo>
                    <a:pt x="809" y="986"/>
                  </a:lnTo>
                  <a:lnTo>
                    <a:pt x="813" y="1034"/>
                  </a:lnTo>
                  <a:lnTo>
                    <a:pt x="812" y="1085"/>
                  </a:lnTo>
                  <a:lnTo>
                    <a:pt x="808" y="1136"/>
                  </a:lnTo>
                  <a:lnTo>
                    <a:pt x="803" y="1189"/>
                  </a:lnTo>
                  <a:lnTo>
                    <a:pt x="796" y="1242"/>
                  </a:lnTo>
                  <a:lnTo>
                    <a:pt x="788" y="1295"/>
                  </a:lnTo>
                  <a:lnTo>
                    <a:pt x="782" y="1348"/>
                  </a:lnTo>
                  <a:lnTo>
                    <a:pt x="778" y="1401"/>
                  </a:lnTo>
                  <a:lnTo>
                    <a:pt x="775" y="1452"/>
                  </a:lnTo>
                  <a:lnTo>
                    <a:pt x="778" y="1502"/>
                  </a:lnTo>
                  <a:lnTo>
                    <a:pt x="784" y="1551"/>
                  </a:lnTo>
                  <a:lnTo>
                    <a:pt x="797" y="1602"/>
                  </a:lnTo>
                  <a:lnTo>
                    <a:pt x="817" y="1652"/>
                  </a:lnTo>
                  <a:lnTo>
                    <a:pt x="841" y="1702"/>
                  </a:lnTo>
                  <a:lnTo>
                    <a:pt x="868" y="1752"/>
                  </a:lnTo>
                  <a:lnTo>
                    <a:pt x="896" y="1801"/>
                  </a:lnTo>
                  <a:lnTo>
                    <a:pt x="926" y="1851"/>
                  </a:lnTo>
                  <a:lnTo>
                    <a:pt x="953" y="1901"/>
                  </a:lnTo>
                  <a:lnTo>
                    <a:pt x="980" y="1952"/>
                  </a:lnTo>
                  <a:lnTo>
                    <a:pt x="1003" y="2003"/>
                  </a:lnTo>
                  <a:lnTo>
                    <a:pt x="1021" y="2054"/>
                  </a:lnTo>
                  <a:lnTo>
                    <a:pt x="1031" y="2106"/>
                  </a:lnTo>
                  <a:lnTo>
                    <a:pt x="1037" y="2160"/>
                  </a:lnTo>
                  <a:lnTo>
                    <a:pt x="1031" y="2214"/>
                  </a:lnTo>
                  <a:lnTo>
                    <a:pt x="1021" y="2266"/>
                  </a:lnTo>
                  <a:lnTo>
                    <a:pt x="1003" y="2317"/>
                  </a:lnTo>
                  <a:lnTo>
                    <a:pt x="980" y="2368"/>
                  </a:lnTo>
                  <a:lnTo>
                    <a:pt x="953" y="2419"/>
                  </a:lnTo>
                  <a:lnTo>
                    <a:pt x="926" y="2469"/>
                  </a:lnTo>
                  <a:lnTo>
                    <a:pt x="896" y="2519"/>
                  </a:lnTo>
                  <a:lnTo>
                    <a:pt x="868" y="2568"/>
                  </a:lnTo>
                  <a:lnTo>
                    <a:pt x="841" y="2618"/>
                  </a:lnTo>
                  <a:lnTo>
                    <a:pt x="817" y="2668"/>
                  </a:lnTo>
                  <a:lnTo>
                    <a:pt x="797" y="2718"/>
                  </a:lnTo>
                  <a:lnTo>
                    <a:pt x="784" y="2769"/>
                  </a:lnTo>
                  <a:lnTo>
                    <a:pt x="778" y="2818"/>
                  </a:lnTo>
                  <a:lnTo>
                    <a:pt x="775" y="2868"/>
                  </a:lnTo>
                  <a:lnTo>
                    <a:pt x="778" y="2919"/>
                  </a:lnTo>
                  <a:lnTo>
                    <a:pt x="782" y="2972"/>
                  </a:lnTo>
                  <a:lnTo>
                    <a:pt x="788" y="3025"/>
                  </a:lnTo>
                  <a:lnTo>
                    <a:pt x="796" y="3078"/>
                  </a:lnTo>
                  <a:lnTo>
                    <a:pt x="803" y="3131"/>
                  </a:lnTo>
                  <a:lnTo>
                    <a:pt x="808" y="3184"/>
                  </a:lnTo>
                  <a:lnTo>
                    <a:pt x="812" y="3235"/>
                  </a:lnTo>
                  <a:lnTo>
                    <a:pt x="813" y="3286"/>
                  </a:lnTo>
                  <a:lnTo>
                    <a:pt x="809" y="3334"/>
                  </a:lnTo>
                  <a:lnTo>
                    <a:pt x="800" y="3383"/>
                  </a:lnTo>
                  <a:lnTo>
                    <a:pt x="786" y="3427"/>
                  </a:lnTo>
                  <a:lnTo>
                    <a:pt x="763" y="3472"/>
                  </a:lnTo>
                  <a:lnTo>
                    <a:pt x="736" y="3512"/>
                  </a:lnTo>
                  <a:lnTo>
                    <a:pt x="703" y="3549"/>
                  </a:lnTo>
                  <a:lnTo>
                    <a:pt x="667" y="3586"/>
                  </a:lnTo>
                  <a:lnTo>
                    <a:pt x="628" y="3620"/>
                  </a:lnTo>
                  <a:lnTo>
                    <a:pt x="587" y="3652"/>
                  </a:lnTo>
                  <a:lnTo>
                    <a:pt x="544" y="3685"/>
                  </a:lnTo>
                  <a:lnTo>
                    <a:pt x="502" y="3717"/>
                  </a:lnTo>
                  <a:lnTo>
                    <a:pt x="460" y="3749"/>
                  </a:lnTo>
                  <a:lnTo>
                    <a:pt x="420" y="3783"/>
                  </a:lnTo>
                  <a:lnTo>
                    <a:pt x="382" y="3817"/>
                  </a:lnTo>
                  <a:lnTo>
                    <a:pt x="349" y="3854"/>
                  </a:lnTo>
                  <a:lnTo>
                    <a:pt x="319" y="3893"/>
                  </a:lnTo>
                  <a:lnTo>
                    <a:pt x="292" y="3939"/>
                  </a:lnTo>
                  <a:lnTo>
                    <a:pt x="269" y="3989"/>
                  </a:lnTo>
                  <a:lnTo>
                    <a:pt x="251" y="4042"/>
                  </a:lnTo>
                  <a:lnTo>
                    <a:pt x="234" y="4097"/>
                  </a:lnTo>
                  <a:lnTo>
                    <a:pt x="220" y="4154"/>
                  </a:lnTo>
                  <a:lnTo>
                    <a:pt x="204" y="4210"/>
                  </a:lnTo>
                  <a:lnTo>
                    <a:pt x="188" y="4265"/>
                  </a:lnTo>
                  <a:lnTo>
                    <a:pt x="171" y="4320"/>
                  </a:lnTo>
                  <a:lnTo>
                    <a:pt x="0" y="4320"/>
                  </a:lnTo>
                  <a:lnTo>
                    <a:pt x="17" y="4278"/>
                  </a:lnTo>
                  <a:lnTo>
                    <a:pt x="33" y="4232"/>
                  </a:lnTo>
                  <a:lnTo>
                    <a:pt x="46" y="4183"/>
                  </a:lnTo>
                  <a:lnTo>
                    <a:pt x="60" y="4131"/>
                  </a:lnTo>
                  <a:lnTo>
                    <a:pt x="75" y="4075"/>
                  </a:lnTo>
                  <a:lnTo>
                    <a:pt x="90" y="4019"/>
                  </a:lnTo>
                  <a:lnTo>
                    <a:pt x="109" y="3964"/>
                  </a:lnTo>
                  <a:lnTo>
                    <a:pt x="129" y="3909"/>
                  </a:lnTo>
                  <a:lnTo>
                    <a:pt x="156" y="3855"/>
                  </a:lnTo>
                  <a:lnTo>
                    <a:pt x="186" y="3804"/>
                  </a:lnTo>
                  <a:lnTo>
                    <a:pt x="222" y="3756"/>
                  </a:lnTo>
                  <a:lnTo>
                    <a:pt x="261" y="3713"/>
                  </a:lnTo>
                  <a:lnTo>
                    <a:pt x="303" y="3672"/>
                  </a:lnTo>
                  <a:lnTo>
                    <a:pt x="348" y="3634"/>
                  </a:lnTo>
                  <a:lnTo>
                    <a:pt x="392" y="3599"/>
                  </a:lnTo>
                  <a:lnTo>
                    <a:pt x="438" y="3565"/>
                  </a:lnTo>
                  <a:lnTo>
                    <a:pt x="482" y="3531"/>
                  </a:lnTo>
                  <a:lnTo>
                    <a:pt x="523" y="3499"/>
                  </a:lnTo>
                  <a:lnTo>
                    <a:pt x="561" y="3466"/>
                  </a:lnTo>
                  <a:lnTo>
                    <a:pt x="594" y="3434"/>
                  </a:lnTo>
                  <a:lnTo>
                    <a:pt x="620" y="3400"/>
                  </a:lnTo>
                  <a:lnTo>
                    <a:pt x="638" y="3367"/>
                  </a:lnTo>
                  <a:lnTo>
                    <a:pt x="647" y="3336"/>
                  </a:lnTo>
                  <a:lnTo>
                    <a:pt x="652" y="3302"/>
                  </a:lnTo>
                  <a:lnTo>
                    <a:pt x="654" y="3265"/>
                  </a:lnTo>
                  <a:lnTo>
                    <a:pt x="651" y="3224"/>
                  </a:lnTo>
                  <a:lnTo>
                    <a:pt x="647" y="3181"/>
                  </a:lnTo>
                  <a:lnTo>
                    <a:pt x="642" y="3137"/>
                  </a:lnTo>
                  <a:lnTo>
                    <a:pt x="637" y="3091"/>
                  </a:lnTo>
                  <a:lnTo>
                    <a:pt x="626" y="3021"/>
                  </a:lnTo>
                  <a:lnTo>
                    <a:pt x="620" y="2952"/>
                  </a:lnTo>
                  <a:lnTo>
                    <a:pt x="616" y="2881"/>
                  </a:lnTo>
                  <a:lnTo>
                    <a:pt x="618" y="2809"/>
                  </a:lnTo>
                  <a:lnTo>
                    <a:pt x="628" y="2737"/>
                  </a:lnTo>
                  <a:lnTo>
                    <a:pt x="642" y="2681"/>
                  </a:lnTo>
                  <a:lnTo>
                    <a:pt x="661" y="2626"/>
                  </a:lnTo>
                  <a:lnTo>
                    <a:pt x="685" y="2574"/>
                  </a:lnTo>
                  <a:lnTo>
                    <a:pt x="711" y="2521"/>
                  </a:lnTo>
                  <a:lnTo>
                    <a:pt x="739" y="2472"/>
                  </a:lnTo>
                  <a:lnTo>
                    <a:pt x="767" y="2423"/>
                  </a:lnTo>
                  <a:lnTo>
                    <a:pt x="791" y="2381"/>
                  </a:lnTo>
                  <a:lnTo>
                    <a:pt x="813" y="2342"/>
                  </a:lnTo>
                  <a:lnTo>
                    <a:pt x="834" y="2303"/>
                  </a:lnTo>
                  <a:lnTo>
                    <a:pt x="851" y="2265"/>
                  </a:lnTo>
                  <a:lnTo>
                    <a:pt x="864" y="2228"/>
                  </a:lnTo>
                  <a:lnTo>
                    <a:pt x="873" y="2194"/>
                  </a:lnTo>
                  <a:lnTo>
                    <a:pt x="876" y="2160"/>
                  </a:lnTo>
                  <a:lnTo>
                    <a:pt x="873" y="2126"/>
                  </a:lnTo>
                  <a:lnTo>
                    <a:pt x="864" y="2092"/>
                  </a:lnTo>
                  <a:lnTo>
                    <a:pt x="851" y="2055"/>
                  </a:lnTo>
                  <a:lnTo>
                    <a:pt x="834" y="2017"/>
                  </a:lnTo>
                  <a:lnTo>
                    <a:pt x="813" y="1978"/>
                  </a:lnTo>
                  <a:lnTo>
                    <a:pt x="791" y="1939"/>
                  </a:lnTo>
                  <a:lnTo>
                    <a:pt x="767" y="1897"/>
                  </a:lnTo>
                  <a:lnTo>
                    <a:pt x="739" y="1848"/>
                  </a:lnTo>
                  <a:lnTo>
                    <a:pt x="711" y="1799"/>
                  </a:lnTo>
                  <a:lnTo>
                    <a:pt x="685" y="1746"/>
                  </a:lnTo>
                  <a:lnTo>
                    <a:pt x="661" y="1694"/>
                  </a:lnTo>
                  <a:lnTo>
                    <a:pt x="642" y="1639"/>
                  </a:lnTo>
                  <a:lnTo>
                    <a:pt x="628" y="1583"/>
                  </a:lnTo>
                  <a:lnTo>
                    <a:pt x="618" y="1511"/>
                  </a:lnTo>
                  <a:lnTo>
                    <a:pt x="616" y="1439"/>
                  </a:lnTo>
                  <a:lnTo>
                    <a:pt x="620" y="1368"/>
                  </a:lnTo>
                  <a:lnTo>
                    <a:pt x="626" y="1299"/>
                  </a:lnTo>
                  <a:lnTo>
                    <a:pt x="637" y="1229"/>
                  </a:lnTo>
                  <a:lnTo>
                    <a:pt x="642" y="1183"/>
                  </a:lnTo>
                  <a:lnTo>
                    <a:pt x="647" y="1139"/>
                  </a:lnTo>
                  <a:lnTo>
                    <a:pt x="651" y="1096"/>
                  </a:lnTo>
                  <a:lnTo>
                    <a:pt x="654" y="1055"/>
                  </a:lnTo>
                  <a:lnTo>
                    <a:pt x="652" y="1018"/>
                  </a:lnTo>
                  <a:lnTo>
                    <a:pt x="647" y="984"/>
                  </a:lnTo>
                  <a:lnTo>
                    <a:pt x="638" y="953"/>
                  </a:lnTo>
                  <a:lnTo>
                    <a:pt x="620" y="920"/>
                  </a:lnTo>
                  <a:lnTo>
                    <a:pt x="594" y="886"/>
                  </a:lnTo>
                  <a:lnTo>
                    <a:pt x="561" y="854"/>
                  </a:lnTo>
                  <a:lnTo>
                    <a:pt x="523" y="822"/>
                  </a:lnTo>
                  <a:lnTo>
                    <a:pt x="482" y="789"/>
                  </a:lnTo>
                  <a:lnTo>
                    <a:pt x="438" y="755"/>
                  </a:lnTo>
                  <a:lnTo>
                    <a:pt x="392" y="721"/>
                  </a:lnTo>
                  <a:lnTo>
                    <a:pt x="348" y="686"/>
                  </a:lnTo>
                  <a:lnTo>
                    <a:pt x="303" y="648"/>
                  </a:lnTo>
                  <a:lnTo>
                    <a:pt x="261" y="607"/>
                  </a:lnTo>
                  <a:lnTo>
                    <a:pt x="222" y="564"/>
                  </a:lnTo>
                  <a:lnTo>
                    <a:pt x="186" y="516"/>
                  </a:lnTo>
                  <a:lnTo>
                    <a:pt x="156" y="465"/>
                  </a:lnTo>
                  <a:lnTo>
                    <a:pt x="129" y="411"/>
                  </a:lnTo>
                  <a:lnTo>
                    <a:pt x="109" y="356"/>
                  </a:lnTo>
                  <a:lnTo>
                    <a:pt x="90" y="301"/>
                  </a:lnTo>
                  <a:lnTo>
                    <a:pt x="75" y="245"/>
                  </a:lnTo>
                  <a:lnTo>
                    <a:pt x="60" y="189"/>
                  </a:lnTo>
                  <a:lnTo>
                    <a:pt x="46" y="137"/>
                  </a:lnTo>
                  <a:lnTo>
                    <a:pt x="33" y="88"/>
                  </a:lnTo>
                  <a:lnTo>
                    <a:pt x="17" y="42"/>
                  </a:lnTo>
                  <a:lnTo>
                    <a:pt x="0" y="0"/>
                  </a:lnTo>
                  <a:lnTo>
                    <a:pt x="0" y="0"/>
                  </a:lnTo>
                  <a:close/>
                </a:path>
              </a:pathLst>
            </a:custGeom>
            <a:solidFill>
              <a:schemeClr val="accent1"/>
            </a:solidFill>
            <a:ln w="0">
              <a:noFill/>
              <a:prstDash val="solid"/>
              <a:round/>
              <a:headEnd/>
              <a:tailEnd/>
            </a:ln>
          </p:spPr>
        </p:sp>
      </p:gr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257300" y="2286000"/>
            <a:ext cx="4800600" cy="36195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647796" y="2286000"/>
            <a:ext cx="4800600" cy="36195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9334D819-9F07-4261-B09B-9E467E5D9002}" type="datetimeFigureOut">
              <a:rPr lang="en-US" dirty="0"/>
              <a:t>3/2/2026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extLst mod="1">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252728" y="381000"/>
            <a:ext cx="10172700" cy="1493517"/>
          </a:xfrm>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1251678" y="2199633"/>
            <a:ext cx="4800600" cy="632529"/>
          </a:xfrm>
        </p:spPr>
        <p:txBody>
          <a:bodyPr anchor="b">
            <a:noAutofit/>
          </a:bodyPr>
          <a:lstStyle>
            <a:lvl1pPr marL="0" indent="0">
              <a:lnSpc>
                <a:spcPct val="100000"/>
              </a:lnSpc>
              <a:buNone/>
              <a:defRPr sz="1900" b="1" cap="all" spc="200" baseline="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1257300" y="2909102"/>
            <a:ext cx="4800600" cy="299639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633864" y="2199633"/>
            <a:ext cx="4800600" cy="632529"/>
          </a:xfrm>
        </p:spPr>
        <p:txBody>
          <a:bodyPr anchor="b">
            <a:noAutofit/>
          </a:bodyPr>
          <a:lstStyle>
            <a:lvl1pPr marL="0" indent="0">
              <a:lnSpc>
                <a:spcPct val="100000"/>
              </a:lnSpc>
              <a:buNone/>
              <a:defRPr sz="1900" b="1" cap="all" spc="200" baseline="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633864" y="2909102"/>
            <a:ext cx="4800600" cy="299639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9334D819-9F07-4261-B09B-9E467E5D9002}" type="datetimeFigureOut">
              <a:rPr lang="en-US" dirty="0"/>
              <a:t>3/2/2026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extLst mod="1">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9334D819-9F07-4261-B09B-9E467E5D9002}" type="datetimeFigureOut">
              <a:rPr lang="en-US" dirty="0"/>
              <a:t>3/2/2026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334D819-9F07-4261-B09B-9E467E5D9002}" type="datetimeFigureOut">
              <a:rPr lang="en-US" dirty="0"/>
              <a:t>3/2/2026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17"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2" name="Title 1"/>
          <p:cNvSpPr>
            <a:spLocks noGrp="1"/>
          </p:cNvSpPr>
          <p:nvPr>
            <p:ph type="title"/>
          </p:nvPr>
        </p:nvSpPr>
        <p:spPr>
          <a:xfrm>
            <a:off x="8337884" y="457199"/>
            <a:ext cx="3092115" cy="1196671"/>
          </a:xfrm>
        </p:spPr>
        <p:txBody>
          <a:bodyPr anchor="b">
            <a:normAutofit/>
          </a:bodyPr>
          <a:lstStyle>
            <a:lvl1pPr>
              <a:lnSpc>
                <a:spcPct val="100000"/>
              </a:lnSpc>
              <a:defRPr sz="1900" b="1" i="0" cap="all" spc="300" baseline="0">
                <a:solidFill>
                  <a:schemeClr val="accent1"/>
                </a:solidFill>
                <a:latin typeface="+mn-lt"/>
              </a:defRPr>
            </a:lvl1pPr>
          </a:lstStyle>
          <a:p>
            <a:r>
              <a:rPr lang="en-US" smtClean="0"/>
              <a:t>Click to edit Master title style</a:t>
            </a:r>
            <a:endParaRPr lang="en-US" dirty="0"/>
          </a:p>
        </p:txBody>
      </p:sp>
      <p:sp>
        <p:nvSpPr>
          <p:cNvPr id="3" name="Content Placeholder 2"/>
          <p:cNvSpPr>
            <a:spLocks noGrp="1"/>
          </p:cNvSpPr>
          <p:nvPr>
            <p:ph idx="1"/>
          </p:nvPr>
        </p:nvSpPr>
        <p:spPr>
          <a:xfrm>
            <a:off x="765051" y="920377"/>
            <a:ext cx="6158418" cy="498512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8337885" y="1741336"/>
            <a:ext cx="3092115"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a:xfrm>
            <a:off x="765051" y="6375679"/>
            <a:ext cx="1233355" cy="348462"/>
          </a:xfrm>
        </p:spPr>
        <p:txBody>
          <a:bodyPr/>
          <a:lstStyle/>
          <a:p>
            <a:fld id="{9334D819-9F07-4261-B09B-9E467E5D9002}" type="datetimeFigureOut">
              <a:rPr lang="en-US" dirty="0"/>
              <a:t>3/2/2026</a:t>
            </a:fld>
            <a:endParaRPr lang="en-US" dirty="0"/>
          </a:p>
        </p:txBody>
      </p:sp>
      <p:sp>
        <p:nvSpPr>
          <p:cNvPr id="6" name="Footer Placeholder 5"/>
          <p:cNvSpPr>
            <a:spLocks noGrp="1"/>
          </p:cNvSpPr>
          <p:nvPr>
            <p:ph type="ftr" sz="quarter" idx="11"/>
          </p:nvPr>
        </p:nvSpPr>
        <p:spPr>
          <a:xfrm>
            <a:off x="2103620" y="6375679"/>
            <a:ext cx="3482179" cy="345796"/>
          </a:xfrm>
        </p:spPr>
        <p:txBody>
          <a:bodyPr/>
          <a:lstStyle/>
          <a:p>
            <a:endParaRPr lang="en-US" dirty="0"/>
          </a:p>
        </p:txBody>
      </p:sp>
      <p:sp>
        <p:nvSpPr>
          <p:cNvPr id="7" name="Slide Number Placeholder 6"/>
          <p:cNvSpPr>
            <a:spLocks noGrp="1"/>
          </p:cNvSpPr>
          <p:nvPr>
            <p:ph type="sldNum" sz="quarter" idx="12"/>
          </p:nvPr>
        </p:nvSpPr>
        <p:spPr>
          <a:xfrm>
            <a:off x="5691014" y="6375679"/>
            <a:ext cx="1232456" cy="345796"/>
          </a:xfrm>
        </p:spPr>
        <p:txBody>
          <a:bodyPr/>
          <a:lstStyle/>
          <a:p>
            <a:fld id="{71766878-3199-4EAB-94E7-2D6D11070E14}" type="slidenum">
              <a:rPr lang="en-US" dirty="0"/>
              <a:t>‹#›</a:t>
            </a:fld>
            <a:endParaRPr lang="en-US" dirty="0"/>
          </a:p>
        </p:txBody>
      </p:sp>
      <p:sp>
        <p:nvSpPr>
          <p:cNvPr id="8" name="Rectangle 7"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extLst mod="1">
    <p:ext uri="{DCECCB84-F9BA-43D5-87BE-67443E8EF086}">
      <p15:sldGuideLst xmlns:p15="http://schemas.microsoft.com/office/powerpoint/2012/main">
        <p15:guide id="1" orient="horz" pos="69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3" name="Picture Placeholder 2"/>
          <p:cNvSpPr>
            <a:spLocks noGrp="1" noChangeAspect="1"/>
          </p:cNvSpPr>
          <p:nvPr>
            <p:ph type="pic" idx="1"/>
          </p:nvPr>
        </p:nvSpPr>
        <p:spPr>
          <a:xfrm>
            <a:off x="283464" y="0"/>
            <a:ext cx="7355585" cy="685799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11"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12" name="Rectangle 11"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337883" y="457200"/>
            <a:ext cx="3092117" cy="1196670"/>
          </a:xfrm>
        </p:spPr>
        <p:txBody>
          <a:bodyPr anchor="b">
            <a:normAutofit/>
          </a:bodyPr>
          <a:lstStyle>
            <a:lvl1pPr>
              <a:lnSpc>
                <a:spcPct val="100000"/>
              </a:lnSpc>
              <a:defRPr sz="1900" b="1" i="0" spc="300" baseline="0">
                <a:solidFill>
                  <a:schemeClr val="accent1"/>
                </a:solidFill>
                <a:latin typeface="+mn-lt"/>
              </a:defRPr>
            </a:lvl1pPr>
          </a:lstStyle>
          <a:p>
            <a:r>
              <a:rPr lang="en-US" smtClean="0"/>
              <a:t>Click to edit Master title style</a:t>
            </a:r>
            <a:endParaRPr lang="en-US" dirty="0"/>
          </a:p>
        </p:txBody>
      </p:sp>
      <p:sp>
        <p:nvSpPr>
          <p:cNvPr id="4" name="Text Placeholder 3"/>
          <p:cNvSpPr>
            <a:spLocks noGrp="1"/>
          </p:cNvSpPr>
          <p:nvPr>
            <p:ph type="body" sz="half" idx="2"/>
          </p:nvPr>
        </p:nvSpPr>
        <p:spPr>
          <a:xfrm>
            <a:off x="8337883" y="1741336"/>
            <a:ext cx="3092117"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a:xfrm>
            <a:off x="765950" y="6375679"/>
            <a:ext cx="1232456" cy="348462"/>
          </a:xfrm>
        </p:spPr>
        <p:txBody>
          <a:bodyPr/>
          <a:lstStyle/>
          <a:p>
            <a:fld id="{9334D819-9F07-4261-B09B-9E467E5D9002}" type="datetimeFigureOut">
              <a:rPr lang="en-US" dirty="0"/>
              <a:t>3/2/2026</a:t>
            </a:fld>
            <a:endParaRPr lang="en-US" dirty="0"/>
          </a:p>
        </p:txBody>
      </p:sp>
      <p:sp>
        <p:nvSpPr>
          <p:cNvPr id="6" name="Footer Placeholder 5"/>
          <p:cNvSpPr>
            <a:spLocks noGrp="1"/>
          </p:cNvSpPr>
          <p:nvPr>
            <p:ph type="ftr" sz="quarter" idx="11"/>
          </p:nvPr>
        </p:nvSpPr>
        <p:spPr>
          <a:xfrm>
            <a:off x="2103621" y="6375679"/>
            <a:ext cx="3482178" cy="345796"/>
          </a:xfrm>
        </p:spPr>
        <p:txBody>
          <a:bodyPr/>
          <a:lstStyle/>
          <a:p>
            <a:endParaRPr lang="en-US" dirty="0"/>
          </a:p>
        </p:txBody>
      </p:sp>
      <p:sp>
        <p:nvSpPr>
          <p:cNvPr id="7" name="Slide Number Placeholder 6"/>
          <p:cNvSpPr>
            <a:spLocks noGrp="1"/>
          </p:cNvSpPr>
          <p:nvPr>
            <p:ph type="sldNum" sz="quarter" idx="12"/>
          </p:nvPr>
        </p:nvSpPr>
        <p:spPr>
          <a:xfrm>
            <a:off x="5687568" y="6375679"/>
            <a:ext cx="1234440" cy="345796"/>
          </a:xfrm>
        </p:spPr>
        <p:txBody>
          <a:bodyPr/>
          <a:lstStyle/>
          <a:p>
            <a:fld id="{71766878-3199-4EAB-94E7-2D6D11070E14}"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dirty="0"/>
              <a:t>3/2/2026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066321" y="382386"/>
            <a:ext cx="1492132" cy="5600404"/>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1257300" y="382385"/>
            <a:ext cx="8392585" cy="5600405"/>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dirty="0"/>
              <a:t>3/2/2026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2024</a:t>
            </a:r>
          </a:p>
        </p:txBody>
      </p:sp>
      <p:sp>
        <p:nvSpPr>
          <p:cNvPr id="3" name="Footer Placeholder 2"/>
          <p:cNvSpPr>
            <a:spLocks noGrp="1"/>
          </p:cNvSpPr>
          <p:nvPr>
            <p:ph type="ftr" sz="quarter" idx="11"/>
          </p:nvPr>
        </p:nvSpPr>
        <p:spPr/>
        <p:txBody>
          <a:bodyPr/>
          <a:lstStyle/>
          <a:p>
            <a:r>
              <a:rPr lang="en-US"/>
              <a:t>Data Structures and Algorithms</a:t>
            </a:r>
          </a:p>
        </p:txBody>
      </p:sp>
      <p:sp>
        <p:nvSpPr>
          <p:cNvPr id="4" name="Slide Number Placeholder 3"/>
          <p:cNvSpPr>
            <a:spLocks noGrp="1"/>
          </p:cNvSpPr>
          <p:nvPr>
            <p:ph type="sldNum" sz="quarter" idx="12"/>
          </p:nvPr>
        </p:nvSpPr>
        <p:spPr/>
        <p:txBody>
          <a:bodyPr/>
          <a:lstStyle/>
          <a:p>
            <a:fld id="{EB1023CF-B329-E444-9BAC-9F50F1C2498A}" type="slidenum">
              <a:rPr lang="en-US" smtClean="0"/>
              <a:pPr/>
              <a:t>‹#›</a:t>
            </a:fld>
            <a:endParaRPr lang="en-US"/>
          </a:p>
        </p:txBody>
      </p:sp>
      <p:sp>
        <p:nvSpPr>
          <p:cNvPr id="5" name="Title Placeholder 1">
            <a:extLst>
              <a:ext uri="{FF2B5EF4-FFF2-40B4-BE49-F238E27FC236}">
                <a16:creationId xmlns:a16="http://schemas.microsoft.com/office/drawing/2014/main" id="{7E9BCB5A-9765-46B3-8024-522FDFBD4395}"/>
              </a:ext>
            </a:extLst>
          </p:cNvPr>
          <p:cNvSpPr>
            <a:spLocks noGrp="1"/>
          </p:cNvSpPr>
          <p:nvPr>
            <p:ph type="title"/>
          </p:nvPr>
        </p:nvSpPr>
        <p:spPr>
          <a:xfrm>
            <a:off x="762000" y="427039"/>
            <a:ext cx="10972800" cy="1143000"/>
          </a:xfrm>
          <a:prstGeom prst="rect">
            <a:avLst/>
          </a:prstGeom>
        </p:spPr>
        <p:txBody>
          <a:bodyPr vert="horz" lIns="91438" tIns="45719" rIns="91438" bIns="45719" rtlCol="0" anchor="ctr">
            <a:normAutofit/>
          </a:bodyPr>
          <a:lstStyle/>
          <a:p>
            <a:r>
              <a:rPr lang="en-US" dirty="0"/>
              <a:t>Click to edit Master title style</a:t>
            </a:r>
          </a:p>
        </p:txBody>
      </p:sp>
      <p:sp>
        <p:nvSpPr>
          <p:cNvPr id="6" name="Text Placeholder 2">
            <a:extLst>
              <a:ext uri="{FF2B5EF4-FFF2-40B4-BE49-F238E27FC236}">
                <a16:creationId xmlns:a16="http://schemas.microsoft.com/office/drawing/2014/main" id="{ABC7395B-BA29-4C79-BEEB-EE53CCFC2685}"/>
              </a:ext>
            </a:extLst>
          </p:cNvPr>
          <p:cNvSpPr>
            <a:spLocks noGrp="1"/>
          </p:cNvSpPr>
          <p:nvPr>
            <p:ph idx="1" hasCustomPrompt="1"/>
          </p:nvPr>
        </p:nvSpPr>
        <p:spPr>
          <a:xfrm>
            <a:off x="762000" y="1752601"/>
            <a:ext cx="10972800" cy="4525963"/>
          </a:xfrm>
          <a:prstGeom prst="rect">
            <a:avLst/>
          </a:prstGeom>
        </p:spPr>
        <p:txBody>
          <a:bodyPr vert="horz" lIns="91438" tIns="45719" rIns="91438" bIns="45719" rtlCol="0">
            <a:normAutofit/>
          </a:bodyPr>
          <a:lstStyle>
            <a:lvl1pPr>
              <a:defRPr/>
            </a:lvl1pPr>
          </a:lstStyle>
          <a:p>
            <a:pPr lvl="0"/>
            <a:r>
              <a:rPr lang="en-US" dirty="0"/>
              <a:t>Text</a:t>
            </a:r>
          </a:p>
        </p:txBody>
      </p:sp>
      <p:sp>
        <p:nvSpPr>
          <p:cNvPr id="8" name="Slide Number Placeholder 5">
            <a:extLst>
              <a:ext uri="{FF2B5EF4-FFF2-40B4-BE49-F238E27FC236}">
                <a16:creationId xmlns:a16="http://schemas.microsoft.com/office/drawing/2014/main" id="{6A950C3E-4668-4901-9878-0DF46FD8E602}"/>
              </a:ext>
            </a:extLst>
          </p:cNvPr>
          <p:cNvSpPr txBox="1">
            <a:spLocks/>
          </p:cNvSpPr>
          <p:nvPr userDrawn="1"/>
        </p:nvSpPr>
        <p:spPr>
          <a:xfrm>
            <a:off x="8890000" y="6508752"/>
            <a:ext cx="2844800" cy="365125"/>
          </a:xfrm>
          <a:prstGeom prst="rect">
            <a:avLst/>
          </a:prstGeom>
        </p:spPr>
        <p:txBody>
          <a:bodyPr vert="horz" lIns="91438" tIns="45719" rIns="91438" bIns="45719" rtlCol="0" anchor="ctr"/>
          <a:lstStyle>
            <a:defPPr>
              <a:defRPr lang="en-US"/>
            </a:defPPr>
            <a:lvl1pPr marL="0" algn="r" defTabSz="457189" rtl="0" eaLnBrk="1" latinLnBrk="0" hangingPunct="1">
              <a:defRPr sz="1200" kern="1200">
                <a:solidFill>
                  <a:schemeClr val="tx1">
                    <a:tint val="75000"/>
                  </a:schemeClr>
                </a:solidFill>
                <a:latin typeface="+mn-lt"/>
                <a:ea typeface="+mn-ea"/>
                <a:cs typeface="+mn-cs"/>
              </a:defRPr>
            </a:lvl1pPr>
            <a:lvl2pPr marL="457189" algn="l" defTabSz="457189" rtl="0" eaLnBrk="1" latinLnBrk="0" hangingPunct="1">
              <a:defRPr sz="1900" kern="1200">
                <a:solidFill>
                  <a:schemeClr val="tx1"/>
                </a:solidFill>
                <a:latin typeface="+mn-lt"/>
                <a:ea typeface="+mn-ea"/>
                <a:cs typeface="+mn-cs"/>
              </a:defRPr>
            </a:lvl2pPr>
            <a:lvl3pPr marL="914377" algn="l" defTabSz="457189" rtl="0" eaLnBrk="1" latinLnBrk="0" hangingPunct="1">
              <a:defRPr sz="1900" kern="1200">
                <a:solidFill>
                  <a:schemeClr val="tx1"/>
                </a:solidFill>
                <a:latin typeface="+mn-lt"/>
                <a:ea typeface="+mn-ea"/>
                <a:cs typeface="+mn-cs"/>
              </a:defRPr>
            </a:lvl3pPr>
            <a:lvl4pPr marL="1371566" algn="l" defTabSz="457189" rtl="0" eaLnBrk="1" latinLnBrk="0" hangingPunct="1">
              <a:defRPr sz="1900" kern="1200">
                <a:solidFill>
                  <a:schemeClr val="tx1"/>
                </a:solidFill>
                <a:latin typeface="+mn-lt"/>
                <a:ea typeface="+mn-ea"/>
                <a:cs typeface="+mn-cs"/>
              </a:defRPr>
            </a:lvl4pPr>
            <a:lvl5pPr marL="1828754" algn="l" defTabSz="457189" rtl="0" eaLnBrk="1" latinLnBrk="0" hangingPunct="1">
              <a:defRPr sz="1900" kern="1200">
                <a:solidFill>
                  <a:schemeClr val="tx1"/>
                </a:solidFill>
                <a:latin typeface="+mn-lt"/>
                <a:ea typeface="+mn-ea"/>
                <a:cs typeface="+mn-cs"/>
              </a:defRPr>
            </a:lvl5pPr>
            <a:lvl6pPr marL="2285943" algn="l" defTabSz="457189" rtl="0" eaLnBrk="1" latinLnBrk="0" hangingPunct="1">
              <a:defRPr sz="1900" kern="1200">
                <a:solidFill>
                  <a:schemeClr val="tx1"/>
                </a:solidFill>
                <a:latin typeface="+mn-lt"/>
                <a:ea typeface="+mn-ea"/>
                <a:cs typeface="+mn-cs"/>
              </a:defRPr>
            </a:lvl6pPr>
            <a:lvl7pPr marL="2743131" algn="l" defTabSz="457189" rtl="0" eaLnBrk="1" latinLnBrk="0" hangingPunct="1">
              <a:defRPr sz="1900" kern="1200">
                <a:solidFill>
                  <a:schemeClr val="tx1"/>
                </a:solidFill>
                <a:latin typeface="+mn-lt"/>
                <a:ea typeface="+mn-ea"/>
                <a:cs typeface="+mn-cs"/>
              </a:defRPr>
            </a:lvl7pPr>
            <a:lvl8pPr marL="3200320" algn="l" defTabSz="457189" rtl="0" eaLnBrk="1" latinLnBrk="0" hangingPunct="1">
              <a:defRPr sz="1900" kern="1200">
                <a:solidFill>
                  <a:schemeClr val="tx1"/>
                </a:solidFill>
                <a:latin typeface="+mn-lt"/>
                <a:ea typeface="+mn-ea"/>
                <a:cs typeface="+mn-cs"/>
              </a:defRPr>
            </a:lvl8pPr>
            <a:lvl9pPr marL="3657509" algn="l" defTabSz="457189" rtl="0" eaLnBrk="1" latinLnBrk="0" hangingPunct="1">
              <a:defRPr sz="1900" kern="1200">
                <a:solidFill>
                  <a:schemeClr val="tx1"/>
                </a:solidFill>
                <a:latin typeface="+mn-lt"/>
                <a:ea typeface="+mn-ea"/>
                <a:cs typeface="+mn-cs"/>
              </a:defRPr>
            </a:lvl9pPr>
          </a:lstStyle>
          <a:p>
            <a:fld id="{EB1023CF-B329-E444-9BAC-9F50F1C2498A}" type="slidenum">
              <a:rPr lang="en-US" smtClean="0"/>
              <a:pPr/>
              <a:t>‹#›</a:t>
            </a:fld>
            <a:endParaRPr lang="en-US"/>
          </a:p>
        </p:txBody>
      </p:sp>
    </p:spTree>
    <p:extLst>
      <p:ext uri="{BB962C8B-B14F-4D97-AF65-F5344CB8AC3E}">
        <p14:creationId xmlns:p14="http://schemas.microsoft.com/office/powerpoint/2010/main" val="423258577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C73FB-2D72-9945-BF45-5347690BBEBB}"/>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6D93C615-989D-9D44-8501-FCE01FCEDC63}"/>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DA9E5F24-53F9-054C-A9F8-3DCFACAB9877}"/>
              </a:ext>
            </a:extLst>
          </p:cNvPr>
          <p:cNvSpPr>
            <a:spLocks noGrp="1"/>
          </p:cNvSpPr>
          <p:nvPr>
            <p:ph type="dt" sz="half" idx="10"/>
          </p:nvPr>
        </p:nvSpPr>
        <p:spPr>
          <a:xfrm>
            <a:off x="838200" y="6356350"/>
            <a:ext cx="2743200" cy="365125"/>
          </a:xfrm>
          <a:prstGeom prst="rect">
            <a:avLst/>
          </a:prstGeom>
        </p:spPr>
        <p:txBody>
          <a:bodyPr/>
          <a:lstStyle/>
          <a:p>
            <a:r>
              <a:rPr lang="en-US"/>
              <a:t>2024</a:t>
            </a:r>
            <a:endParaRPr lang="en-US" dirty="0"/>
          </a:p>
        </p:txBody>
      </p:sp>
      <p:sp>
        <p:nvSpPr>
          <p:cNvPr id="5" name="Footer Placeholder 4">
            <a:extLst>
              <a:ext uri="{FF2B5EF4-FFF2-40B4-BE49-F238E27FC236}">
                <a16:creationId xmlns:a16="http://schemas.microsoft.com/office/drawing/2014/main" id="{69BE7FB8-C70E-584A-A086-8852BD639520}"/>
              </a:ext>
            </a:extLst>
          </p:cNvPr>
          <p:cNvSpPr>
            <a:spLocks noGrp="1"/>
          </p:cNvSpPr>
          <p:nvPr>
            <p:ph type="ftr" sz="quarter" idx="11"/>
          </p:nvPr>
        </p:nvSpPr>
        <p:spPr>
          <a:xfrm>
            <a:off x="4038600" y="6356350"/>
            <a:ext cx="4114800" cy="365125"/>
          </a:xfrm>
          <a:prstGeom prst="rect">
            <a:avLst/>
          </a:prstGeom>
        </p:spPr>
        <p:txBody>
          <a:bodyPr/>
          <a:lstStyle/>
          <a:p>
            <a:r>
              <a:rPr lang="en-US"/>
              <a:t>Data Structures and Algorithms</a:t>
            </a:r>
            <a:endParaRPr lang="en-US" dirty="0"/>
          </a:p>
        </p:txBody>
      </p:sp>
      <p:sp>
        <p:nvSpPr>
          <p:cNvPr id="6" name="Slide Number Placeholder 5">
            <a:extLst>
              <a:ext uri="{FF2B5EF4-FFF2-40B4-BE49-F238E27FC236}">
                <a16:creationId xmlns:a16="http://schemas.microsoft.com/office/drawing/2014/main" id="{E755C156-1A78-7A4C-AB86-BCA1B1785D83}"/>
              </a:ext>
            </a:extLst>
          </p:cNvPr>
          <p:cNvSpPr>
            <a:spLocks noGrp="1"/>
          </p:cNvSpPr>
          <p:nvPr>
            <p:ph type="sldNum" sz="quarter" idx="12"/>
          </p:nvPr>
        </p:nvSpPr>
        <p:spPr>
          <a:xfrm>
            <a:off x="8610600" y="6356350"/>
            <a:ext cx="2743200" cy="365125"/>
          </a:xfrm>
          <a:prstGeom prst="rect">
            <a:avLst/>
          </a:prstGeom>
        </p:spPr>
        <p:txBody>
          <a:bodyPr/>
          <a:lstStyle/>
          <a:p>
            <a:fld id="{CF45BD75-B1E6-DE4E-8CD3-58B4BE092B5A}" type="slidenum">
              <a:rPr lang="en-US" smtClean="0"/>
              <a:t>‹#›</a:t>
            </a:fld>
            <a:endParaRPr lang="en-US" dirty="0"/>
          </a:p>
        </p:txBody>
      </p:sp>
    </p:spTree>
    <p:extLst>
      <p:ext uri="{BB962C8B-B14F-4D97-AF65-F5344CB8AC3E}">
        <p14:creationId xmlns:p14="http://schemas.microsoft.com/office/powerpoint/2010/main" val="33433089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6975329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2024</a:t>
            </a:r>
          </a:p>
        </p:txBody>
      </p:sp>
      <p:sp>
        <p:nvSpPr>
          <p:cNvPr id="3" name="Footer Placeholder 2"/>
          <p:cNvSpPr>
            <a:spLocks noGrp="1"/>
          </p:cNvSpPr>
          <p:nvPr>
            <p:ph type="ftr" sz="quarter" idx="11"/>
          </p:nvPr>
        </p:nvSpPr>
        <p:spPr/>
        <p:txBody>
          <a:bodyPr/>
          <a:lstStyle/>
          <a:p>
            <a:r>
              <a:rPr lang="en-US"/>
              <a:t>Data Structures and Algorithms</a:t>
            </a:r>
          </a:p>
        </p:txBody>
      </p:sp>
      <p:sp>
        <p:nvSpPr>
          <p:cNvPr id="4" name="Slide Number Placeholder 3"/>
          <p:cNvSpPr>
            <a:spLocks noGrp="1"/>
          </p:cNvSpPr>
          <p:nvPr>
            <p:ph type="sldNum" sz="quarter" idx="12"/>
          </p:nvPr>
        </p:nvSpPr>
        <p:spPr/>
        <p:txBody>
          <a:bodyPr/>
          <a:lstStyle/>
          <a:p>
            <a:fld id="{EB1023CF-B329-E444-9BAC-9F50F1C2498A}" type="slidenum">
              <a:rPr lang="en-US" smtClean="0"/>
              <a:pPr/>
              <a:t>‹#›</a:t>
            </a:fld>
            <a:endParaRPr lang="en-US"/>
          </a:p>
        </p:txBody>
      </p:sp>
      <p:sp>
        <p:nvSpPr>
          <p:cNvPr id="5" name="Title Placeholder 1">
            <a:extLst>
              <a:ext uri="{FF2B5EF4-FFF2-40B4-BE49-F238E27FC236}">
                <a16:creationId xmlns:a16="http://schemas.microsoft.com/office/drawing/2014/main" id="{7E9BCB5A-9765-46B3-8024-522FDFBD4395}"/>
              </a:ext>
            </a:extLst>
          </p:cNvPr>
          <p:cNvSpPr>
            <a:spLocks noGrp="1"/>
          </p:cNvSpPr>
          <p:nvPr>
            <p:ph type="title"/>
          </p:nvPr>
        </p:nvSpPr>
        <p:spPr>
          <a:xfrm>
            <a:off x="762000" y="427039"/>
            <a:ext cx="10972800" cy="1143000"/>
          </a:xfrm>
          <a:prstGeom prst="rect">
            <a:avLst/>
          </a:prstGeom>
        </p:spPr>
        <p:txBody>
          <a:bodyPr vert="horz" lIns="91438" tIns="45719" rIns="91438" bIns="45719" rtlCol="0" anchor="ctr">
            <a:normAutofit/>
          </a:bodyPr>
          <a:lstStyle/>
          <a:p>
            <a:r>
              <a:rPr lang="en-US" dirty="0"/>
              <a:t>Click to edit Master title style</a:t>
            </a:r>
          </a:p>
        </p:txBody>
      </p:sp>
      <p:sp>
        <p:nvSpPr>
          <p:cNvPr id="6" name="Text Placeholder 2">
            <a:extLst>
              <a:ext uri="{FF2B5EF4-FFF2-40B4-BE49-F238E27FC236}">
                <a16:creationId xmlns:a16="http://schemas.microsoft.com/office/drawing/2014/main" id="{ABC7395B-BA29-4C79-BEEB-EE53CCFC2685}"/>
              </a:ext>
            </a:extLst>
          </p:cNvPr>
          <p:cNvSpPr>
            <a:spLocks noGrp="1"/>
          </p:cNvSpPr>
          <p:nvPr>
            <p:ph idx="1" hasCustomPrompt="1"/>
          </p:nvPr>
        </p:nvSpPr>
        <p:spPr>
          <a:xfrm>
            <a:off x="762000" y="1752601"/>
            <a:ext cx="10972800" cy="4525963"/>
          </a:xfrm>
          <a:prstGeom prst="rect">
            <a:avLst/>
          </a:prstGeom>
        </p:spPr>
        <p:txBody>
          <a:bodyPr vert="horz" lIns="91438" tIns="45719" rIns="91438" bIns="45719" rtlCol="0">
            <a:normAutofit/>
          </a:bodyPr>
          <a:lstStyle>
            <a:lvl1pPr>
              <a:defRPr/>
            </a:lvl1pPr>
          </a:lstStyle>
          <a:p>
            <a:pPr lvl="0"/>
            <a:r>
              <a:rPr lang="en-US" dirty="0"/>
              <a:t>Text</a:t>
            </a:r>
          </a:p>
        </p:txBody>
      </p:sp>
      <p:sp>
        <p:nvSpPr>
          <p:cNvPr id="8" name="Slide Number Placeholder 5">
            <a:extLst>
              <a:ext uri="{FF2B5EF4-FFF2-40B4-BE49-F238E27FC236}">
                <a16:creationId xmlns:a16="http://schemas.microsoft.com/office/drawing/2014/main" id="{6A950C3E-4668-4901-9878-0DF46FD8E602}"/>
              </a:ext>
            </a:extLst>
          </p:cNvPr>
          <p:cNvSpPr txBox="1">
            <a:spLocks/>
          </p:cNvSpPr>
          <p:nvPr userDrawn="1"/>
        </p:nvSpPr>
        <p:spPr>
          <a:xfrm>
            <a:off x="8890000" y="6508752"/>
            <a:ext cx="2844800" cy="365125"/>
          </a:xfrm>
          <a:prstGeom prst="rect">
            <a:avLst/>
          </a:prstGeom>
        </p:spPr>
        <p:txBody>
          <a:bodyPr vert="horz" lIns="91438" tIns="45719" rIns="91438" bIns="45719" rtlCol="0" anchor="ctr"/>
          <a:lstStyle>
            <a:defPPr>
              <a:defRPr lang="en-US"/>
            </a:defPPr>
            <a:lvl1pPr marL="0" algn="r" defTabSz="457189" rtl="0" eaLnBrk="1" latinLnBrk="0" hangingPunct="1">
              <a:defRPr sz="1200" kern="1200">
                <a:solidFill>
                  <a:schemeClr val="tx1">
                    <a:tint val="75000"/>
                  </a:schemeClr>
                </a:solidFill>
                <a:latin typeface="+mn-lt"/>
                <a:ea typeface="+mn-ea"/>
                <a:cs typeface="+mn-cs"/>
              </a:defRPr>
            </a:lvl1pPr>
            <a:lvl2pPr marL="457189" algn="l" defTabSz="457189" rtl="0" eaLnBrk="1" latinLnBrk="0" hangingPunct="1">
              <a:defRPr sz="1900" kern="1200">
                <a:solidFill>
                  <a:schemeClr val="tx1"/>
                </a:solidFill>
                <a:latin typeface="+mn-lt"/>
                <a:ea typeface="+mn-ea"/>
                <a:cs typeface="+mn-cs"/>
              </a:defRPr>
            </a:lvl2pPr>
            <a:lvl3pPr marL="914377" algn="l" defTabSz="457189" rtl="0" eaLnBrk="1" latinLnBrk="0" hangingPunct="1">
              <a:defRPr sz="1900" kern="1200">
                <a:solidFill>
                  <a:schemeClr val="tx1"/>
                </a:solidFill>
                <a:latin typeface="+mn-lt"/>
                <a:ea typeface="+mn-ea"/>
                <a:cs typeface="+mn-cs"/>
              </a:defRPr>
            </a:lvl3pPr>
            <a:lvl4pPr marL="1371566" algn="l" defTabSz="457189" rtl="0" eaLnBrk="1" latinLnBrk="0" hangingPunct="1">
              <a:defRPr sz="1900" kern="1200">
                <a:solidFill>
                  <a:schemeClr val="tx1"/>
                </a:solidFill>
                <a:latin typeface="+mn-lt"/>
                <a:ea typeface="+mn-ea"/>
                <a:cs typeface="+mn-cs"/>
              </a:defRPr>
            </a:lvl4pPr>
            <a:lvl5pPr marL="1828754" algn="l" defTabSz="457189" rtl="0" eaLnBrk="1" latinLnBrk="0" hangingPunct="1">
              <a:defRPr sz="1900" kern="1200">
                <a:solidFill>
                  <a:schemeClr val="tx1"/>
                </a:solidFill>
                <a:latin typeface="+mn-lt"/>
                <a:ea typeface="+mn-ea"/>
                <a:cs typeface="+mn-cs"/>
              </a:defRPr>
            </a:lvl5pPr>
            <a:lvl6pPr marL="2285943" algn="l" defTabSz="457189" rtl="0" eaLnBrk="1" latinLnBrk="0" hangingPunct="1">
              <a:defRPr sz="1900" kern="1200">
                <a:solidFill>
                  <a:schemeClr val="tx1"/>
                </a:solidFill>
                <a:latin typeface="+mn-lt"/>
                <a:ea typeface="+mn-ea"/>
                <a:cs typeface="+mn-cs"/>
              </a:defRPr>
            </a:lvl6pPr>
            <a:lvl7pPr marL="2743131" algn="l" defTabSz="457189" rtl="0" eaLnBrk="1" latinLnBrk="0" hangingPunct="1">
              <a:defRPr sz="1900" kern="1200">
                <a:solidFill>
                  <a:schemeClr val="tx1"/>
                </a:solidFill>
                <a:latin typeface="+mn-lt"/>
                <a:ea typeface="+mn-ea"/>
                <a:cs typeface="+mn-cs"/>
              </a:defRPr>
            </a:lvl7pPr>
            <a:lvl8pPr marL="3200320" algn="l" defTabSz="457189" rtl="0" eaLnBrk="1" latinLnBrk="0" hangingPunct="1">
              <a:defRPr sz="1900" kern="1200">
                <a:solidFill>
                  <a:schemeClr val="tx1"/>
                </a:solidFill>
                <a:latin typeface="+mn-lt"/>
                <a:ea typeface="+mn-ea"/>
                <a:cs typeface="+mn-cs"/>
              </a:defRPr>
            </a:lvl8pPr>
            <a:lvl9pPr marL="3657509" algn="l" defTabSz="457189" rtl="0" eaLnBrk="1" latinLnBrk="0" hangingPunct="1">
              <a:defRPr sz="1900" kern="1200">
                <a:solidFill>
                  <a:schemeClr val="tx1"/>
                </a:solidFill>
                <a:latin typeface="+mn-lt"/>
                <a:ea typeface="+mn-ea"/>
                <a:cs typeface="+mn-cs"/>
              </a:defRPr>
            </a:lvl9pPr>
          </a:lstStyle>
          <a:p>
            <a:fld id="{EB1023CF-B329-E444-9BAC-9F50F1C2498A}" type="slidenum">
              <a:rPr lang="en-US" smtClean="0"/>
              <a:pPr/>
              <a:t>‹#›</a:t>
            </a:fld>
            <a:endParaRPr lang="en-US"/>
          </a:p>
        </p:txBody>
      </p:sp>
    </p:spTree>
    <p:extLst>
      <p:ext uri="{BB962C8B-B14F-4D97-AF65-F5344CB8AC3E}">
        <p14:creationId xmlns:p14="http://schemas.microsoft.com/office/powerpoint/2010/main" val="296263967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D6F06934-40D6-139A-9D30-3EE88EA39AD4}"/>
              </a:ext>
            </a:extLst>
          </p:cNvPr>
          <p:cNvSpPr>
            <a:spLocks noGrp="1" noChangeArrowheads="1"/>
          </p:cNvSpPr>
          <p:nvPr>
            <p:ph type="sldNum" sz="quarter" idx="10"/>
          </p:nvPr>
        </p:nvSpPr>
        <p:spPr/>
        <p:txBody>
          <a:bodyPr/>
          <a:lstStyle>
            <a:lvl1pPr>
              <a:defRPr/>
            </a:lvl1pPr>
          </a:lstStyle>
          <a:p>
            <a:fld id="{B104788A-CE21-4633-BC6D-82D49D694E0F}" type="slidenum">
              <a:rPr lang="en-US" altLang="en-US"/>
              <a:pPr/>
              <a:t>‹#›</a:t>
            </a:fld>
            <a:endParaRPr lang="en-US" altLang="en-US"/>
          </a:p>
        </p:txBody>
      </p:sp>
    </p:spTree>
    <p:extLst>
      <p:ext uri="{BB962C8B-B14F-4D97-AF65-F5344CB8AC3E}">
        <p14:creationId xmlns:p14="http://schemas.microsoft.com/office/powerpoint/2010/main" val="226967951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cSld name="2_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CF26AA9-FF37-1D12-F055-BDCD7AE05708}"/>
              </a:ext>
            </a:extLst>
          </p:cNvPr>
          <p:cNvSpPr>
            <a:spLocks noGrp="1"/>
          </p:cNvSpPr>
          <p:nvPr>
            <p:ph type="dt" sz="half" idx="10"/>
          </p:nvPr>
        </p:nvSpPr>
        <p:spPr/>
        <p:txBody>
          <a:bodyPr/>
          <a:lstStyle>
            <a:lvl1pPr>
              <a:defRPr/>
            </a:lvl1pPr>
          </a:lstStyle>
          <a:p>
            <a:endParaRPr lang="en-US" altLang="en-US"/>
          </a:p>
        </p:txBody>
      </p:sp>
      <p:sp>
        <p:nvSpPr>
          <p:cNvPr id="3" name="Footer Placeholder 2">
            <a:extLst>
              <a:ext uri="{FF2B5EF4-FFF2-40B4-BE49-F238E27FC236}">
                <a16:creationId xmlns:a16="http://schemas.microsoft.com/office/drawing/2014/main" id="{651D26DA-F837-A803-D2F8-8B7A04BC9C4A}"/>
              </a:ext>
            </a:extLst>
          </p:cNvPr>
          <p:cNvSpPr>
            <a:spLocks noGrp="1"/>
          </p:cNvSpPr>
          <p:nvPr>
            <p:ph type="ftr" sz="quarter" idx="11"/>
          </p:nvPr>
        </p:nvSpPr>
        <p:spPr/>
        <p:txBody>
          <a:bodyPr/>
          <a:lstStyle>
            <a:lvl1pPr>
              <a:defRPr/>
            </a:lvl1pPr>
          </a:lstStyle>
          <a:p>
            <a:endParaRPr lang="en-US" altLang="en-US"/>
          </a:p>
        </p:txBody>
      </p:sp>
      <p:sp>
        <p:nvSpPr>
          <p:cNvPr id="4" name="Slide Number Placeholder 3">
            <a:extLst>
              <a:ext uri="{FF2B5EF4-FFF2-40B4-BE49-F238E27FC236}">
                <a16:creationId xmlns:a16="http://schemas.microsoft.com/office/drawing/2014/main" id="{B02360A2-2BC8-23CB-AEEA-F5952F6CB9AE}"/>
              </a:ext>
            </a:extLst>
          </p:cNvPr>
          <p:cNvSpPr>
            <a:spLocks noGrp="1"/>
          </p:cNvSpPr>
          <p:nvPr>
            <p:ph type="sldNum" sz="quarter" idx="12"/>
          </p:nvPr>
        </p:nvSpPr>
        <p:spPr/>
        <p:txBody>
          <a:bodyPr/>
          <a:lstStyle>
            <a:lvl1pPr>
              <a:defRPr/>
            </a:lvl1pPr>
          </a:lstStyle>
          <a:p>
            <a:fld id="{B6F51C61-A0C9-418C-B928-49BFD96D270F}" type="slidenum">
              <a:rPr lang="en-US" altLang="en-US"/>
              <a:pPr/>
              <a:t>‹#›</a:t>
            </a:fld>
            <a:endParaRPr lang="en-US" altLang="en-US"/>
          </a:p>
        </p:txBody>
      </p:sp>
    </p:spTree>
    <p:extLst>
      <p:ext uri="{BB962C8B-B14F-4D97-AF65-F5344CB8AC3E}">
        <p14:creationId xmlns:p14="http://schemas.microsoft.com/office/powerpoint/2010/main" val="84782846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434C58-4249-6760-B233-285D3C98F0DE}"/>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57528CF1-6ED8-4A06-A906-43C2758809D8}"/>
              </a:ext>
            </a:extLst>
          </p:cNvPr>
          <p:cNvSpPr>
            <a:spLocks noGrp="1"/>
          </p:cNvSpPr>
          <p:nvPr>
            <p:ph type="dt" sz="half" idx="10"/>
          </p:nvPr>
        </p:nvSpPr>
        <p:spPr/>
        <p:txBody>
          <a:bodyPr/>
          <a:lstStyle>
            <a:lvl1pPr>
              <a:defRPr/>
            </a:lvl1pPr>
          </a:lstStyle>
          <a:p>
            <a:endParaRPr lang="en-US" altLang="en-US"/>
          </a:p>
        </p:txBody>
      </p:sp>
      <p:sp>
        <p:nvSpPr>
          <p:cNvPr id="4" name="Footer Placeholder 3">
            <a:extLst>
              <a:ext uri="{FF2B5EF4-FFF2-40B4-BE49-F238E27FC236}">
                <a16:creationId xmlns:a16="http://schemas.microsoft.com/office/drawing/2014/main" id="{9E6A55A7-0BB1-945B-E7B1-1F0FE60C4FD2}"/>
              </a:ext>
            </a:extLst>
          </p:cNvPr>
          <p:cNvSpPr>
            <a:spLocks noGrp="1"/>
          </p:cNvSpPr>
          <p:nvPr>
            <p:ph type="ftr" sz="quarter" idx="11"/>
          </p:nvPr>
        </p:nvSpPr>
        <p:spPr/>
        <p:txBody>
          <a:bodyPr/>
          <a:lstStyle>
            <a:lvl1pPr>
              <a:defRPr/>
            </a:lvl1pPr>
          </a:lstStyle>
          <a:p>
            <a:endParaRPr lang="en-US" altLang="en-US"/>
          </a:p>
        </p:txBody>
      </p:sp>
      <p:sp>
        <p:nvSpPr>
          <p:cNvPr id="5" name="Slide Number Placeholder 4">
            <a:extLst>
              <a:ext uri="{FF2B5EF4-FFF2-40B4-BE49-F238E27FC236}">
                <a16:creationId xmlns:a16="http://schemas.microsoft.com/office/drawing/2014/main" id="{D4A6D43B-79E4-9430-0A15-26085912CD9D}"/>
              </a:ext>
            </a:extLst>
          </p:cNvPr>
          <p:cNvSpPr>
            <a:spLocks noGrp="1"/>
          </p:cNvSpPr>
          <p:nvPr>
            <p:ph type="sldNum" sz="quarter" idx="12"/>
          </p:nvPr>
        </p:nvSpPr>
        <p:spPr/>
        <p:txBody>
          <a:bodyPr/>
          <a:lstStyle>
            <a:lvl1pPr>
              <a:defRPr/>
            </a:lvl1pPr>
          </a:lstStyle>
          <a:p>
            <a:fld id="{17C0A65D-6B44-4D17-8ED3-32710F24ED68}" type="slidenum">
              <a:rPr lang="en-US" altLang="en-US"/>
              <a:pPr/>
              <a:t>‹#›</a:t>
            </a:fld>
            <a:endParaRPr lang="en-US" altLang="en-US"/>
          </a:p>
        </p:txBody>
      </p:sp>
    </p:spTree>
    <p:extLst>
      <p:ext uri="{BB962C8B-B14F-4D97-AF65-F5344CB8AC3E}">
        <p14:creationId xmlns:p14="http://schemas.microsoft.com/office/powerpoint/2010/main" val="428227349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83B9EA5-CE9A-4950-A80C-5ADF06B45BB8}" type="slidenum">
              <a:rPr lang="en-US" smtClean="0"/>
              <a:t>‹#›</a:t>
            </a:fld>
            <a:endParaRPr lang="en-US"/>
          </a:p>
        </p:txBody>
      </p:sp>
    </p:spTree>
    <p:extLst>
      <p:ext uri="{BB962C8B-B14F-4D97-AF65-F5344CB8AC3E}">
        <p14:creationId xmlns:p14="http://schemas.microsoft.com/office/powerpoint/2010/main" val="15090385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4" Type="http://schemas.openxmlformats.org/officeDocument/2006/relationships/slideLayout" Target="../slideLayouts/slideLayout16.xml"/><Relationship Id="rId9"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251678" y="382385"/>
            <a:ext cx="10178322" cy="1492132"/>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1251678" y="2286001"/>
            <a:ext cx="10178322" cy="3593591"/>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1251678" y="6375679"/>
            <a:ext cx="2329722" cy="348462"/>
          </a:xfrm>
          <a:prstGeom prst="rect">
            <a:avLst/>
          </a:prstGeom>
        </p:spPr>
        <p:txBody>
          <a:bodyPr vert="horz" lIns="91440" tIns="45720" rIns="91440" bIns="45720" rtlCol="0" anchor="ctr"/>
          <a:lstStyle>
            <a:lvl1pPr algn="l">
              <a:defRPr sz="1200">
                <a:solidFill>
                  <a:schemeClr val="tx1">
                    <a:lumMod val="65000"/>
                    <a:lumOff val="35000"/>
                  </a:schemeClr>
                </a:solidFill>
              </a:defRPr>
            </a:lvl1pPr>
          </a:lstStyle>
          <a:p>
            <a:fld id="{9334D819-9F07-4261-B09B-9E467E5D9002}" type="datetimeFigureOut">
              <a:rPr lang="en-US" dirty="0"/>
              <a:pPr/>
              <a:t>3/2/2026</a:t>
            </a:fld>
            <a:endParaRPr lang="en-US" dirty="0"/>
          </a:p>
        </p:txBody>
      </p:sp>
      <p:sp>
        <p:nvSpPr>
          <p:cNvPr id="5" name="Footer Placeholder 4"/>
          <p:cNvSpPr>
            <a:spLocks noGrp="1"/>
          </p:cNvSpPr>
          <p:nvPr>
            <p:ph type="ftr" sz="quarter" idx="3"/>
          </p:nvPr>
        </p:nvSpPr>
        <p:spPr>
          <a:xfrm>
            <a:off x="4038600" y="6375679"/>
            <a:ext cx="4114800" cy="345796"/>
          </a:xfrm>
          <a:prstGeom prst="rect">
            <a:avLst/>
          </a:prstGeom>
        </p:spPr>
        <p:txBody>
          <a:bodyPr vert="horz" lIns="91440" tIns="45720" rIns="91440" bIns="45720" rtlCol="0" anchor="ctr"/>
          <a:lstStyle>
            <a:lvl1pPr algn="ctr">
              <a:defRPr sz="1200">
                <a:solidFill>
                  <a:schemeClr val="tx1">
                    <a:lumMod val="65000"/>
                    <a:lumOff val="35000"/>
                  </a:schemeClr>
                </a:solidFill>
              </a:defRPr>
            </a:lvl1pPr>
          </a:lstStyle>
          <a:p>
            <a:endParaRPr lang="en-US" dirty="0"/>
          </a:p>
        </p:txBody>
      </p:sp>
      <p:sp>
        <p:nvSpPr>
          <p:cNvPr id="6" name="Slide Number Placeholder 5"/>
          <p:cNvSpPr>
            <a:spLocks noGrp="1"/>
          </p:cNvSpPr>
          <p:nvPr>
            <p:ph type="sldNum" sz="quarter" idx="4"/>
          </p:nvPr>
        </p:nvSpPr>
        <p:spPr>
          <a:xfrm>
            <a:off x="8610601" y="6375679"/>
            <a:ext cx="2819399" cy="345796"/>
          </a:xfrm>
          <a:prstGeom prst="rect">
            <a:avLst/>
          </a:prstGeom>
        </p:spPr>
        <p:txBody>
          <a:bodyPr vert="horz" lIns="91440" tIns="45720" rIns="91440" bIns="45720" rtlCol="0" anchor="ctr"/>
          <a:lstStyle>
            <a:lvl1pPr algn="r">
              <a:defRPr sz="1200">
                <a:solidFill>
                  <a:schemeClr val="tx1">
                    <a:lumMod val="65000"/>
                    <a:lumOff val="35000"/>
                  </a:schemeClr>
                </a:solidFill>
              </a:defRPr>
            </a:lvl1pPr>
          </a:lstStyle>
          <a:p>
            <a:fld id="{71766878-3199-4EAB-94E7-2D6D11070E14}" type="slidenum">
              <a:rPr lang="en-US" dirty="0"/>
              <a:pPr/>
              <a:t>‹#›</a:t>
            </a:fld>
            <a:endParaRPr lang="en-US" dirty="0"/>
          </a:p>
        </p:txBody>
      </p:sp>
      <p:sp>
        <p:nvSpPr>
          <p:cNvPr id="11" name="Freeform 6" title="Left scallop edge"/>
          <p:cNvSpPr/>
          <p:nvPr/>
        </p:nvSpPr>
        <p:spPr bwMode="auto">
          <a:xfrm>
            <a:off x="0" y="0"/>
            <a:ext cx="885825" cy="6858000"/>
          </a:xfrm>
          <a:custGeom>
            <a:avLst/>
            <a:gdLst/>
            <a:ahLst/>
            <a:cxnLst/>
            <a:rect l="0" t="0" r="r" b="b"/>
            <a:pathLst>
              <a:path w="558" h="4320">
                <a:moveTo>
                  <a:pt x="0" y="0"/>
                </a:moveTo>
                <a:lnTo>
                  <a:pt x="447" y="0"/>
                </a:lnTo>
                <a:lnTo>
                  <a:pt x="448" y="43"/>
                </a:lnTo>
                <a:lnTo>
                  <a:pt x="453" y="81"/>
                </a:lnTo>
                <a:lnTo>
                  <a:pt x="460" y="114"/>
                </a:lnTo>
                <a:lnTo>
                  <a:pt x="469" y="143"/>
                </a:lnTo>
                <a:lnTo>
                  <a:pt x="479" y="169"/>
                </a:lnTo>
                <a:lnTo>
                  <a:pt x="491" y="192"/>
                </a:lnTo>
                <a:lnTo>
                  <a:pt x="503" y="216"/>
                </a:lnTo>
                <a:lnTo>
                  <a:pt x="515" y="240"/>
                </a:lnTo>
                <a:lnTo>
                  <a:pt x="525" y="263"/>
                </a:lnTo>
                <a:lnTo>
                  <a:pt x="535" y="289"/>
                </a:lnTo>
                <a:lnTo>
                  <a:pt x="545" y="318"/>
                </a:lnTo>
                <a:lnTo>
                  <a:pt x="552" y="351"/>
                </a:lnTo>
                <a:lnTo>
                  <a:pt x="556" y="389"/>
                </a:lnTo>
                <a:lnTo>
                  <a:pt x="558" y="432"/>
                </a:lnTo>
                <a:lnTo>
                  <a:pt x="556" y="475"/>
                </a:lnTo>
                <a:lnTo>
                  <a:pt x="552" y="513"/>
                </a:lnTo>
                <a:lnTo>
                  <a:pt x="545" y="546"/>
                </a:lnTo>
                <a:lnTo>
                  <a:pt x="535" y="575"/>
                </a:lnTo>
                <a:lnTo>
                  <a:pt x="525" y="601"/>
                </a:lnTo>
                <a:lnTo>
                  <a:pt x="515" y="624"/>
                </a:lnTo>
                <a:lnTo>
                  <a:pt x="503" y="648"/>
                </a:lnTo>
                <a:lnTo>
                  <a:pt x="491" y="672"/>
                </a:lnTo>
                <a:lnTo>
                  <a:pt x="479" y="695"/>
                </a:lnTo>
                <a:lnTo>
                  <a:pt x="469" y="721"/>
                </a:lnTo>
                <a:lnTo>
                  <a:pt x="460" y="750"/>
                </a:lnTo>
                <a:lnTo>
                  <a:pt x="453" y="783"/>
                </a:lnTo>
                <a:lnTo>
                  <a:pt x="448" y="821"/>
                </a:lnTo>
                <a:lnTo>
                  <a:pt x="447" y="864"/>
                </a:lnTo>
                <a:lnTo>
                  <a:pt x="448" y="907"/>
                </a:lnTo>
                <a:lnTo>
                  <a:pt x="453" y="945"/>
                </a:lnTo>
                <a:lnTo>
                  <a:pt x="460" y="978"/>
                </a:lnTo>
                <a:lnTo>
                  <a:pt x="469" y="1007"/>
                </a:lnTo>
                <a:lnTo>
                  <a:pt x="479" y="1033"/>
                </a:lnTo>
                <a:lnTo>
                  <a:pt x="491" y="1056"/>
                </a:lnTo>
                <a:lnTo>
                  <a:pt x="503" y="1080"/>
                </a:lnTo>
                <a:lnTo>
                  <a:pt x="515" y="1104"/>
                </a:lnTo>
                <a:lnTo>
                  <a:pt x="525" y="1127"/>
                </a:lnTo>
                <a:lnTo>
                  <a:pt x="535" y="1153"/>
                </a:lnTo>
                <a:lnTo>
                  <a:pt x="545" y="1182"/>
                </a:lnTo>
                <a:lnTo>
                  <a:pt x="552" y="1215"/>
                </a:lnTo>
                <a:lnTo>
                  <a:pt x="556" y="1253"/>
                </a:lnTo>
                <a:lnTo>
                  <a:pt x="558" y="1296"/>
                </a:lnTo>
                <a:lnTo>
                  <a:pt x="556" y="1339"/>
                </a:lnTo>
                <a:lnTo>
                  <a:pt x="552" y="1377"/>
                </a:lnTo>
                <a:lnTo>
                  <a:pt x="545" y="1410"/>
                </a:lnTo>
                <a:lnTo>
                  <a:pt x="535" y="1439"/>
                </a:lnTo>
                <a:lnTo>
                  <a:pt x="525" y="1465"/>
                </a:lnTo>
                <a:lnTo>
                  <a:pt x="515" y="1488"/>
                </a:lnTo>
                <a:lnTo>
                  <a:pt x="503" y="1512"/>
                </a:lnTo>
                <a:lnTo>
                  <a:pt x="491" y="1536"/>
                </a:lnTo>
                <a:lnTo>
                  <a:pt x="479" y="1559"/>
                </a:lnTo>
                <a:lnTo>
                  <a:pt x="469" y="1585"/>
                </a:lnTo>
                <a:lnTo>
                  <a:pt x="460" y="1614"/>
                </a:lnTo>
                <a:lnTo>
                  <a:pt x="453" y="1647"/>
                </a:lnTo>
                <a:lnTo>
                  <a:pt x="448" y="1685"/>
                </a:lnTo>
                <a:lnTo>
                  <a:pt x="447" y="1728"/>
                </a:lnTo>
                <a:lnTo>
                  <a:pt x="448" y="1771"/>
                </a:lnTo>
                <a:lnTo>
                  <a:pt x="453" y="1809"/>
                </a:lnTo>
                <a:lnTo>
                  <a:pt x="460" y="1842"/>
                </a:lnTo>
                <a:lnTo>
                  <a:pt x="469" y="1871"/>
                </a:lnTo>
                <a:lnTo>
                  <a:pt x="479" y="1897"/>
                </a:lnTo>
                <a:lnTo>
                  <a:pt x="491" y="1920"/>
                </a:lnTo>
                <a:lnTo>
                  <a:pt x="503" y="1944"/>
                </a:lnTo>
                <a:lnTo>
                  <a:pt x="515" y="1968"/>
                </a:lnTo>
                <a:lnTo>
                  <a:pt x="525" y="1991"/>
                </a:lnTo>
                <a:lnTo>
                  <a:pt x="535" y="2017"/>
                </a:lnTo>
                <a:lnTo>
                  <a:pt x="545" y="2046"/>
                </a:lnTo>
                <a:lnTo>
                  <a:pt x="552" y="2079"/>
                </a:lnTo>
                <a:lnTo>
                  <a:pt x="556" y="2117"/>
                </a:lnTo>
                <a:lnTo>
                  <a:pt x="558" y="2159"/>
                </a:lnTo>
                <a:lnTo>
                  <a:pt x="556" y="2203"/>
                </a:lnTo>
                <a:lnTo>
                  <a:pt x="552" y="2241"/>
                </a:lnTo>
                <a:lnTo>
                  <a:pt x="545" y="2274"/>
                </a:lnTo>
                <a:lnTo>
                  <a:pt x="535" y="2303"/>
                </a:lnTo>
                <a:lnTo>
                  <a:pt x="525" y="2329"/>
                </a:lnTo>
                <a:lnTo>
                  <a:pt x="515" y="2352"/>
                </a:lnTo>
                <a:lnTo>
                  <a:pt x="503" y="2376"/>
                </a:lnTo>
                <a:lnTo>
                  <a:pt x="491" y="2400"/>
                </a:lnTo>
                <a:lnTo>
                  <a:pt x="479" y="2423"/>
                </a:lnTo>
                <a:lnTo>
                  <a:pt x="469" y="2449"/>
                </a:lnTo>
                <a:lnTo>
                  <a:pt x="460" y="2478"/>
                </a:lnTo>
                <a:lnTo>
                  <a:pt x="453" y="2511"/>
                </a:lnTo>
                <a:lnTo>
                  <a:pt x="448" y="2549"/>
                </a:lnTo>
                <a:lnTo>
                  <a:pt x="447" y="2592"/>
                </a:lnTo>
                <a:lnTo>
                  <a:pt x="448" y="2635"/>
                </a:lnTo>
                <a:lnTo>
                  <a:pt x="453" y="2673"/>
                </a:lnTo>
                <a:lnTo>
                  <a:pt x="460" y="2706"/>
                </a:lnTo>
                <a:lnTo>
                  <a:pt x="469" y="2735"/>
                </a:lnTo>
                <a:lnTo>
                  <a:pt x="479" y="2761"/>
                </a:lnTo>
                <a:lnTo>
                  <a:pt x="491" y="2784"/>
                </a:lnTo>
                <a:lnTo>
                  <a:pt x="515" y="2832"/>
                </a:lnTo>
                <a:lnTo>
                  <a:pt x="525" y="2855"/>
                </a:lnTo>
                <a:lnTo>
                  <a:pt x="535" y="2881"/>
                </a:lnTo>
                <a:lnTo>
                  <a:pt x="545" y="2910"/>
                </a:lnTo>
                <a:lnTo>
                  <a:pt x="552" y="2943"/>
                </a:lnTo>
                <a:lnTo>
                  <a:pt x="556" y="2981"/>
                </a:lnTo>
                <a:lnTo>
                  <a:pt x="558" y="3024"/>
                </a:lnTo>
                <a:lnTo>
                  <a:pt x="556" y="3067"/>
                </a:lnTo>
                <a:lnTo>
                  <a:pt x="552" y="3105"/>
                </a:lnTo>
                <a:lnTo>
                  <a:pt x="545" y="3138"/>
                </a:lnTo>
                <a:lnTo>
                  <a:pt x="535" y="3167"/>
                </a:lnTo>
                <a:lnTo>
                  <a:pt x="525" y="3193"/>
                </a:lnTo>
                <a:lnTo>
                  <a:pt x="515" y="3216"/>
                </a:lnTo>
                <a:lnTo>
                  <a:pt x="503" y="3240"/>
                </a:lnTo>
                <a:lnTo>
                  <a:pt x="491" y="3264"/>
                </a:lnTo>
                <a:lnTo>
                  <a:pt x="479" y="3287"/>
                </a:lnTo>
                <a:lnTo>
                  <a:pt x="469" y="3313"/>
                </a:lnTo>
                <a:lnTo>
                  <a:pt x="460" y="3342"/>
                </a:lnTo>
                <a:lnTo>
                  <a:pt x="453" y="3375"/>
                </a:lnTo>
                <a:lnTo>
                  <a:pt x="448" y="3413"/>
                </a:lnTo>
                <a:lnTo>
                  <a:pt x="447" y="3456"/>
                </a:lnTo>
                <a:lnTo>
                  <a:pt x="448" y="3499"/>
                </a:lnTo>
                <a:lnTo>
                  <a:pt x="453" y="3537"/>
                </a:lnTo>
                <a:lnTo>
                  <a:pt x="460" y="3570"/>
                </a:lnTo>
                <a:lnTo>
                  <a:pt x="469" y="3599"/>
                </a:lnTo>
                <a:lnTo>
                  <a:pt x="479" y="3625"/>
                </a:lnTo>
                <a:lnTo>
                  <a:pt x="491" y="3648"/>
                </a:lnTo>
                <a:lnTo>
                  <a:pt x="503" y="3672"/>
                </a:lnTo>
                <a:lnTo>
                  <a:pt x="515" y="3696"/>
                </a:lnTo>
                <a:lnTo>
                  <a:pt x="525" y="3719"/>
                </a:lnTo>
                <a:lnTo>
                  <a:pt x="535" y="3745"/>
                </a:lnTo>
                <a:lnTo>
                  <a:pt x="545" y="3774"/>
                </a:lnTo>
                <a:lnTo>
                  <a:pt x="552" y="3807"/>
                </a:lnTo>
                <a:lnTo>
                  <a:pt x="556" y="3845"/>
                </a:lnTo>
                <a:lnTo>
                  <a:pt x="558" y="3888"/>
                </a:lnTo>
                <a:lnTo>
                  <a:pt x="556" y="3931"/>
                </a:lnTo>
                <a:lnTo>
                  <a:pt x="552" y="3969"/>
                </a:lnTo>
                <a:lnTo>
                  <a:pt x="545" y="4002"/>
                </a:lnTo>
                <a:lnTo>
                  <a:pt x="535" y="4031"/>
                </a:lnTo>
                <a:lnTo>
                  <a:pt x="525" y="4057"/>
                </a:lnTo>
                <a:lnTo>
                  <a:pt x="515" y="4080"/>
                </a:lnTo>
                <a:lnTo>
                  <a:pt x="503" y="4104"/>
                </a:lnTo>
                <a:lnTo>
                  <a:pt x="491" y="4128"/>
                </a:lnTo>
                <a:lnTo>
                  <a:pt x="479" y="4151"/>
                </a:lnTo>
                <a:lnTo>
                  <a:pt x="469" y="4177"/>
                </a:lnTo>
                <a:lnTo>
                  <a:pt x="460" y="4206"/>
                </a:lnTo>
                <a:lnTo>
                  <a:pt x="453" y="4239"/>
                </a:lnTo>
                <a:lnTo>
                  <a:pt x="448" y="4277"/>
                </a:lnTo>
                <a:lnTo>
                  <a:pt x="447" y="4320"/>
                </a:lnTo>
                <a:lnTo>
                  <a:pt x="0" y="4320"/>
                </a:lnTo>
                <a:lnTo>
                  <a:pt x="0" y="0"/>
                </a:lnTo>
                <a:close/>
              </a:path>
            </a:pathLst>
          </a:custGeom>
          <a:solidFill>
            <a:schemeClr val="tx2"/>
          </a:solidFill>
          <a:ln w="0">
            <a:noFill/>
            <a:prstDash val="solid"/>
            <a:round/>
            <a:headEnd/>
            <a:tailEnd/>
          </a:ln>
        </p:spPr>
      </p:sp>
      <p:sp>
        <p:nvSpPr>
          <p:cNvPr id="12" name="Rectangle 11" title="right edge border"/>
          <p:cNvSpPr/>
          <p:nvPr/>
        </p:nvSpPr>
        <p:spPr>
          <a:xfrm>
            <a:off x="11908536"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5100" kern="1200" cap="all" spc="200" baseline="0">
          <a:solidFill>
            <a:schemeClr val="tx2"/>
          </a:solidFill>
          <a:latin typeface="+mj-lt"/>
          <a:ea typeface="+mj-ea"/>
          <a:cs typeface="+mj-cs"/>
        </a:defRPr>
      </a:lvl1pPr>
    </p:titleStyle>
    <p:bodyStyle>
      <a:lvl1pPr marL="228600" indent="-228600" algn="l" defTabSz="914400" rtl="0" eaLnBrk="1" latinLnBrk="0" hangingPunct="1">
        <a:lnSpc>
          <a:spcPct val="110000"/>
        </a:lnSpc>
        <a:spcBef>
          <a:spcPts val="700"/>
        </a:spcBef>
        <a:buClr>
          <a:schemeClr val="tx2"/>
        </a:buClr>
        <a:buFont typeface="Arial" panose="020B0604020202020204" pitchFamily="34" charset="0"/>
        <a:buChar char="•"/>
        <a:defRPr sz="2000" kern="1200">
          <a:solidFill>
            <a:schemeClr val="tx1">
              <a:lumMod val="65000"/>
              <a:lumOff val="35000"/>
            </a:schemeClr>
          </a:solidFill>
          <a:latin typeface="+mn-lt"/>
          <a:ea typeface="+mn-ea"/>
          <a:cs typeface="+mn-cs"/>
        </a:defRPr>
      </a:lvl1pPr>
      <a:lvl2pPr marL="685800" indent="-228600" algn="l" defTabSz="914400" rtl="0" eaLnBrk="1" latinLnBrk="0" hangingPunct="1">
        <a:lnSpc>
          <a:spcPct val="110000"/>
        </a:lnSpc>
        <a:spcBef>
          <a:spcPts val="700"/>
        </a:spcBef>
        <a:buClr>
          <a:schemeClr val="tx2"/>
        </a:buClr>
        <a:buFont typeface="Gill Sans MT" panose="020B0502020104020203" pitchFamily="34" charset="0"/>
        <a:buChar char="–"/>
        <a:defRPr sz="1800" kern="1200">
          <a:solidFill>
            <a:schemeClr val="tx1">
              <a:lumMod val="65000"/>
              <a:lumOff val="35000"/>
            </a:schemeClr>
          </a:solidFill>
          <a:latin typeface="+mn-lt"/>
          <a:ea typeface="+mn-ea"/>
          <a:cs typeface="+mn-cs"/>
        </a:defRPr>
      </a:lvl2pPr>
      <a:lvl3pPr marL="1143000" indent="-228600" algn="l" defTabSz="914400" rtl="0" eaLnBrk="1" latinLnBrk="0" hangingPunct="1">
        <a:lnSpc>
          <a:spcPct val="110000"/>
        </a:lnSpc>
        <a:spcBef>
          <a:spcPts val="700"/>
        </a:spcBef>
        <a:buClr>
          <a:schemeClr val="tx2"/>
        </a:buClr>
        <a:buFont typeface="Arial" panose="020B0604020202020204" pitchFamily="34" charset="0"/>
        <a:buChar char="•"/>
        <a:defRPr sz="1600" kern="1200">
          <a:solidFill>
            <a:schemeClr val="tx1">
              <a:lumMod val="65000"/>
              <a:lumOff val="35000"/>
            </a:schemeClr>
          </a:solidFill>
          <a:latin typeface="+mn-lt"/>
          <a:ea typeface="+mn-ea"/>
          <a:cs typeface="+mn-cs"/>
        </a:defRPr>
      </a:lvl3pPr>
      <a:lvl4pPr marL="16002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4pPr>
      <a:lvl5pPr marL="20574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baseline="0">
          <a:solidFill>
            <a:schemeClr val="tx1">
              <a:lumMod val="65000"/>
              <a:lumOff val="35000"/>
            </a:schemeClr>
          </a:solidFill>
          <a:latin typeface="+mn-lt"/>
          <a:ea typeface="+mn-ea"/>
          <a:cs typeface="+mn-cs"/>
        </a:defRPr>
      </a:lvl8pPr>
      <a:lvl9pPr marL="38862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baseline="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792">
          <p15:clr>
            <a:srgbClr val="F26B43"/>
          </p15:clr>
        </p15:guide>
        <p15:guide id="2" pos="7200">
          <p15:clr>
            <a:srgbClr val="F26B43"/>
          </p15:clr>
        </p15:guide>
        <p15:guide id="3" orient="horz" pos="4008">
          <p15:clr>
            <a:srgbClr val="F26B43"/>
          </p15:clr>
        </p15:guide>
        <p15:guide id="4" orient="horz" pos="1440">
          <p15:clr>
            <a:srgbClr val="F26B43"/>
          </p15:clr>
        </p15:guide>
        <p15:guide id="5" orient="horz" pos="3720">
          <p15:clr>
            <a:srgbClr val="F26B43"/>
          </p15:clr>
        </p15:guide>
        <p15:guide id="6" orient="horz" pos="24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2C0DC26-5D78-6140-BF89-41378C4365C1}"/>
              </a:ext>
            </a:extLst>
          </p:cNvPr>
          <p:cNvSpPr/>
          <p:nvPr userDrawn="1"/>
        </p:nvSpPr>
        <p:spPr>
          <a:xfrm>
            <a:off x="98853" y="86497"/>
            <a:ext cx="11998411" cy="6685005"/>
          </a:xfrm>
          <a:prstGeom prst="rect">
            <a:avLst/>
          </a:prstGeom>
          <a:noFill/>
          <a:ln w="28575">
            <a:solidFill>
              <a:srgbClr val="46B0F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descr="A picture containing text, clipart&#10;&#10;Description automatically generated">
            <a:extLst>
              <a:ext uri="{FF2B5EF4-FFF2-40B4-BE49-F238E27FC236}">
                <a16:creationId xmlns:a16="http://schemas.microsoft.com/office/drawing/2014/main" id="{C5EF86C0-A360-484B-B595-7CC69137B538}"/>
              </a:ext>
            </a:extLst>
          </p:cNvPr>
          <p:cNvPicPr>
            <a:picLocks noChangeAspect="1"/>
          </p:cNvPicPr>
          <p:nvPr userDrawn="1"/>
        </p:nvPicPr>
        <p:blipFill rotWithShape="1">
          <a:blip r:embed="rId9"/>
          <a:srcRect t="12813" r="7454"/>
          <a:stretch/>
        </p:blipFill>
        <p:spPr>
          <a:xfrm>
            <a:off x="10718090" y="127821"/>
            <a:ext cx="1336257" cy="540774"/>
          </a:xfrm>
          <a:prstGeom prst="rect">
            <a:avLst/>
          </a:prstGeom>
        </p:spPr>
      </p:pic>
    </p:spTree>
    <p:extLst>
      <p:ext uri="{BB962C8B-B14F-4D97-AF65-F5344CB8AC3E}">
        <p14:creationId xmlns:p14="http://schemas.microsoft.com/office/powerpoint/2010/main" val="2076059132"/>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vmlDrawing" Target="../drawings/vmlDrawing1.vml"/><Relationship Id="rId4" Type="http://schemas.openxmlformats.org/officeDocument/2006/relationships/image" Target="../media/image11.wmf"/></Relationships>
</file>

<file path=ppt/slides/_rels/slide16.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Layout" Target="../slideLayouts/slideLayout2.xml"/><Relationship Id="rId1" Type="http://schemas.openxmlformats.org/officeDocument/2006/relationships/vmlDrawing" Target="../drawings/vmlDrawing2.vml"/><Relationship Id="rId4" Type="http://schemas.openxmlformats.org/officeDocument/2006/relationships/image" Target="../media/image12.wmf"/></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8.xml"/></Relationships>
</file>

<file path=ppt/slides/_rels/slide38.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hyperlink" Target="https://questions.examside.com/past-years/gate/question/pconsider-the-queues-qsub1sub-containing-four-element-gate-cse-theory-of-computation-finite-automata-and-regular-language-sozflytewkqwhc7j" TargetMode="External"/><Relationship Id="rId2" Type="http://schemas.openxmlformats.org/officeDocument/2006/relationships/hyperlink" Target="https://www.geeksforgeeks.org/data-structure-gq/top-mcqs-on-stack-data-strcuture-with-answers/" TargetMode="External"/><Relationship Id="rId1" Type="http://schemas.openxmlformats.org/officeDocument/2006/relationships/slideLayout" Target="../slideLayouts/slideLayout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smtClean="0"/>
              <a:t>Stack &amp; Queue</a:t>
            </a:r>
            <a:endParaRPr lang="en-US" dirty="0"/>
          </a:p>
        </p:txBody>
      </p:sp>
      <p:sp>
        <p:nvSpPr>
          <p:cNvPr id="3" name="Subtitle 2"/>
          <p:cNvSpPr>
            <a:spLocks noGrp="1"/>
          </p:cNvSpPr>
          <p:nvPr>
            <p:ph type="subTitle" idx="1"/>
          </p:nvPr>
        </p:nvSpPr>
        <p:spPr/>
        <p:txBody>
          <a:bodyPr/>
          <a:lstStyle/>
          <a:p>
            <a:r>
              <a:rPr lang="en-US" dirty="0" smtClean="0"/>
              <a:t> </a:t>
            </a:r>
            <a:endParaRPr lang="en-US" dirty="0"/>
          </a:p>
        </p:txBody>
      </p:sp>
    </p:spTree>
    <p:extLst>
      <p:ext uri="{BB962C8B-B14F-4D97-AF65-F5344CB8AC3E}">
        <p14:creationId xmlns:p14="http://schemas.microsoft.com/office/powerpoint/2010/main" val="49743540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Stack Data Structure</a:t>
            </a:r>
          </a:p>
        </p:txBody>
      </p:sp>
      <p:sp>
        <p:nvSpPr>
          <p:cNvPr id="3" name="Content Placeholder 2"/>
          <p:cNvSpPr>
            <a:spLocks noGrp="1"/>
          </p:cNvSpPr>
          <p:nvPr>
            <p:ph idx="1"/>
          </p:nvPr>
        </p:nvSpPr>
        <p:spPr/>
        <p:txBody>
          <a:bodyPr/>
          <a:lstStyle/>
          <a:p>
            <a:pPr marL="0" indent="0">
              <a:buNone/>
            </a:pPr>
            <a:r>
              <a:rPr lang="en-US" dirty="0">
                <a:solidFill>
                  <a:schemeClr val="tx1"/>
                </a:solidFill>
              </a:rPr>
              <a:t>Stack is a linear data structure which follows a particular order in which the operations are performed. The order may be LIFO(Last In First Out) or FILO(First In Last Out</a:t>
            </a:r>
            <a:r>
              <a:rPr lang="en-US" dirty="0" smtClean="0">
                <a:solidFill>
                  <a:schemeClr val="tx1"/>
                </a:solidFill>
              </a:rPr>
              <a:t>).</a:t>
            </a:r>
          </a:p>
          <a:p>
            <a:pPr marL="0" indent="0" fontAlgn="base">
              <a:buNone/>
            </a:pPr>
            <a:r>
              <a:rPr lang="en-US" dirty="0">
                <a:solidFill>
                  <a:schemeClr val="tx1"/>
                </a:solidFill>
              </a:rPr>
              <a:t>Mainly the following </a:t>
            </a:r>
            <a:r>
              <a:rPr lang="en-US" dirty="0" smtClean="0">
                <a:solidFill>
                  <a:schemeClr val="tx1"/>
                </a:solidFill>
              </a:rPr>
              <a:t>basic </a:t>
            </a:r>
            <a:r>
              <a:rPr lang="en-US" dirty="0">
                <a:solidFill>
                  <a:schemeClr val="tx1"/>
                </a:solidFill>
              </a:rPr>
              <a:t>operations are performed in the stack:</a:t>
            </a:r>
          </a:p>
          <a:p>
            <a:pPr fontAlgn="base"/>
            <a:r>
              <a:rPr lang="en-US" b="1" dirty="0">
                <a:solidFill>
                  <a:schemeClr val="tx1"/>
                </a:solidFill>
              </a:rPr>
              <a:t>Push: </a:t>
            </a:r>
            <a:r>
              <a:rPr lang="en-US" dirty="0">
                <a:solidFill>
                  <a:schemeClr val="tx1"/>
                </a:solidFill>
              </a:rPr>
              <a:t>Adds an item in the stack. If the stack is full, then it is said to be an Overflow condition.</a:t>
            </a:r>
          </a:p>
          <a:p>
            <a:pPr fontAlgn="base"/>
            <a:r>
              <a:rPr lang="en-US" b="1" dirty="0">
                <a:solidFill>
                  <a:schemeClr val="tx1"/>
                </a:solidFill>
              </a:rPr>
              <a:t>Pop:</a:t>
            </a:r>
            <a:r>
              <a:rPr lang="en-US" dirty="0">
                <a:solidFill>
                  <a:schemeClr val="tx1"/>
                </a:solidFill>
              </a:rPr>
              <a:t> Removes an item from the stack. The items are popped in the reversed order in which they are pushed. If the stack is empty, then it is said to be an Underflow condition.</a:t>
            </a:r>
          </a:p>
          <a:p>
            <a:pPr fontAlgn="base"/>
            <a:r>
              <a:rPr lang="en-US" b="1" dirty="0">
                <a:solidFill>
                  <a:schemeClr val="tx1"/>
                </a:solidFill>
              </a:rPr>
              <a:t>Peek or Top</a:t>
            </a:r>
            <a:r>
              <a:rPr lang="en-US" dirty="0">
                <a:solidFill>
                  <a:schemeClr val="tx1"/>
                </a:solidFill>
              </a:rPr>
              <a:t>: Returns top element of stack.</a:t>
            </a:r>
          </a:p>
          <a:p>
            <a:pPr fontAlgn="base"/>
            <a:r>
              <a:rPr lang="en-US" b="1" dirty="0" err="1">
                <a:solidFill>
                  <a:schemeClr val="tx1"/>
                </a:solidFill>
              </a:rPr>
              <a:t>isEmpty</a:t>
            </a:r>
            <a:r>
              <a:rPr lang="en-US" b="1" dirty="0">
                <a:solidFill>
                  <a:schemeClr val="tx1"/>
                </a:solidFill>
              </a:rPr>
              <a:t>: </a:t>
            </a:r>
            <a:r>
              <a:rPr lang="en-US" dirty="0">
                <a:solidFill>
                  <a:schemeClr val="tx1"/>
                </a:solidFill>
              </a:rPr>
              <a:t>Returns true if stack is empty, else </a:t>
            </a:r>
            <a:r>
              <a:rPr lang="en-US" dirty="0" smtClean="0">
                <a:solidFill>
                  <a:schemeClr val="tx1"/>
                </a:solidFill>
              </a:rPr>
              <a:t>false.</a:t>
            </a:r>
          </a:p>
          <a:p>
            <a:pPr fontAlgn="base"/>
            <a:r>
              <a:rPr lang="en-US" b="1" dirty="0" err="1" smtClean="0">
                <a:solidFill>
                  <a:schemeClr val="tx1"/>
                </a:solidFill>
              </a:rPr>
              <a:t>Isfull</a:t>
            </a:r>
            <a:r>
              <a:rPr lang="en-US" b="1" dirty="0" smtClean="0">
                <a:solidFill>
                  <a:schemeClr val="tx1"/>
                </a:solidFill>
              </a:rPr>
              <a:t>: </a:t>
            </a:r>
            <a:r>
              <a:rPr lang="en-US" dirty="0">
                <a:solidFill>
                  <a:schemeClr val="tx1"/>
                </a:solidFill>
              </a:rPr>
              <a:t>Returns true if stack is </a:t>
            </a:r>
            <a:r>
              <a:rPr lang="en-US" dirty="0" smtClean="0">
                <a:solidFill>
                  <a:schemeClr val="tx1"/>
                </a:solidFill>
              </a:rPr>
              <a:t>full, </a:t>
            </a:r>
            <a:r>
              <a:rPr lang="en-US" dirty="0">
                <a:solidFill>
                  <a:schemeClr val="tx1"/>
                </a:solidFill>
              </a:rPr>
              <a:t>else false.</a:t>
            </a:r>
          </a:p>
          <a:p>
            <a:pPr fontAlgn="base"/>
            <a:endParaRPr lang="en-US" b="1" dirty="0" smtClean="0">
              <a:solidFill>
                <a:schemeClr val="tx1"/>
              </a:solidFill>
            </a:endParaRPr>
          </a:p>
          <a:p>
            <a:pPr marL="0" indent="0" fontAlgn="base">
              <a:buNone/>
            </a:pPr>
            <a:endParaRPr lang="en-US" dirty="0">
              <a:solidFill>
                <a:schemeClr val="tx1"/>
              </a:solidFill>
            </a:endParaRPr>
          </a:p>
          <a:p>
            <a:endParaRPr lang="en-US" dirty="0">
              <a:solidFill>
                <a:schemeClr val="tx1"/>
              </a:solidFill>
            </a:endParaRPr>
          </a:p>
        </p:txBody>
      </p:sp>
      <p:pic>
        <p:nvPicPr>
          <p:cNvPr id="4" name="Picture 3"/>
          <p:cNvPicPr>
            <a:picLocks noChangeAspect="1"/>
          </p:cNvPicPr>
          <p:nvPr/>
        </p:nvPicPr>
        <p:blipFill>
          <a:blip r:embed="rId2"/>
          <a:stretch>
            <a:fillRect/>
          </a:stretch>
        </p:blipFill>
        <p:spPr>
          <a:xfrm>
            <a:off x="2297486" y="5038725"/>
            <a:ext cx="6010275" cy="1541088"/>
          </a:xfrm>
          <a:prstGeom prst="rect">
            <a:avLst/>
          </a:prstGeom>
        </p:spPr>
      </p:pic>
    </p:spTree>
    <p:extLst>
      <p:ext uri="{BB962C8B-B14F-4D97-AF65-F5344CB8AC3E}">
        <p14:creationId xmlns:p14="http://schemas.microsoft.com/office/powerpoint/2010/main" val="194326208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dirty="0"/>
              <a:t>Stack Data Structure</a:t>
            </a:r>
          </a:p>
        </p:txBody>
      </p:sp>
      <p:sp>
        <p:nvSpPr>
          <p:cNvPr id="3" name="Content Placeholder 2"/>
          <p:cNvSpPr>
            <a:spLocks noGrp="1"/>
          </p:cNvSpPr>
          <p:nvPr>
            <p:ph idx="1"/>
          </p:nvPr>
        </p:nvSpPr>
        <p:spPr/>
        <p:txBody>
          <a:bodyPr>
            <a:normAutofit/>
          </a:bodyPr>
          <a:lstStyle/>
          <a:p>
            <a:pPr marL="0" indent="0">
              <a:buNone/>
            </a:pPr>
            <a:r>
              <a:rPr lang="en-US" b="1" dirty="0">
                <a:solidFill>
                  <a:srgbClr val="002060"/>
                </a:solidFill>
              </a:rPr>
              <a:t>How to understand a stack practically?</a:t>
            </a:r>
            <a:r>
              <a:rPr lang="en-US" dirty="0">
                <a:solidFill>
                  <a:srgbClr val="002060"/>
                </a:solidFill>
              </a:rPr>
              <a:t/>
            </a:r>
            <a:br>
              <a:rPr lang="en-US" dirty="0">
                <a:solidFill>
                  <a:srgbClr val="002060"/>
                </a:solidFill>
              </a:rPr>
            </a:br>
            <a:r>
              <a:rPr lang="en-US" dirty="0">
                <a:solidFill>
                  <a:schemeClr val="tx1"/>
                </a:solidFill>
              </a:rPr>
              <a:t>There are many real life examples of stack. Consider the simple example of plates stacked over one another in canteen. The plate which is at the top is the first one to be removed, i.e. the plate which has been placed at the </a:t>
            </a:r>
            <a:r>
              <a:rPr lang="en-US" dirty="0" smtClean="0">
                <a:solidFill>
                  <a:schemeClr val="tx1"/>
                </a:solidFill>
              </a:rPr>
              <a:t>bottom most </a:t>
            </a:r>
            <a:r>
              <a:rPr lang="en-US" dirty="0">
                <a:solidFill>
                  <a:schemeClr val="tx1"/>
                </a:solidFill>
              </a:rPr>
              <a:t>position remains in the stack for the longest period of time. So, it can be simply seen to follow LIFO/FILO order</a:t>
            </a:r>
            <a:r>
              <a:rPr lang="en-US" dirty="0" smtClean="0">
                <a:solidFill>
                  <a:schemeClr val="tx1"/>
                </a:solidFill>
              </a:rPr>
              <a:t>.</a:t>
            </a:r>
          </a:p>
          <a:p>
            <a:pPr marL="0" indent="0" fontAlgn="base">
              <a:buNone/>
            </a:pPr>
            <a:r>
              <a:rPr lang="en-US" b="1" dirty="0">
                <a:solidFill>
                  <a:srgbClr val="002060"/>
                </a:solidFill>
              </a:rPr>
              <a:t>Time Complexities of operations on stack:</a:t>
            </a:r>
            <a:endParaRPr lang="en-US" dirty="0">
              <a:solidFill>
                <a:srgbClr val="002060"/>
              </a:solidFill>
            </a:endParaRPr>
          </a:p>
          <a:p>
            <a:pPr marL="0" indent="0" fontAlgn="base">
              <a:buNone/>
            </a:pPr>
            <a:r>
              <a:rPr lang="en-US" dirty="0">
                <a:solidFill>
                  <a:schemeClr val="tx1"/>
                </a:solidFill>
              </a:rPr>
              <a:t>push(), pop(), </a:t>
            </a:r>
            <a:r>
              <a:rPr lang="en-US" dirty="0" err="1">
                <a:solidFill>
                  <a:schemeClr val="tx1"/>
                </a:solidFill>
              </a:rPr>
              <a:t>i</a:t>
            </a:r>
            <a:r>
              <a:rPr lang="en-US" dirty="0" err="1" smtClean="0">
                <a:solidFill>
                  <a:schemeClr val="tx1"/>
                </a:solidFill>
              </a:rPr>
              <a:t>sEmpty</a:t>
            </a:r>
            <a:r>
              <a:rPr lang="en-US" dirty="0">
                <a:solidFill>
                  <a:schemeClr val="tx1"/>
                </a:solidFill>
              </a:rPr>
              <a:t>() and peek() all take O(1) time. We do not run any loop in any of these operations</a:t>
            </a:r>
            <a:r>
              <a:rPr lang="en-US" dirty="0" smtClean="0">
                <a:solidFill>
                  <a:schemeClr val="tx1"/>
                </a:solidFill>
              </a:rPr>
              <a:t>.</a:t>
            </a:r>
          </a:p>
          <a:p>
            <a:endParaRPr lang="en-US" dirty="0"/>
          </a:p>
        </p:txBody>
      </p:sp>
    </p:spTree>
    <p:extLst>
      <p:ext uri="{BB962C8B-B14F-4D97-AF65-F5344CB8AC3E}">
        <p14:creationId xmlns:p14="http://schemas.microsoft.com/office/powerpoint/2010/main" val="197918932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Stack Data Structure</a:t>
            </a:r>
          </a:p>
        </p:txBody>
      </p:sp>
      <p:sp>
        <p:nvSpPr>
          <p:cNvPr id="3" name="Content Placeholder 2"/>
          <p:cNvSpPr>
            <a:spLocks noGrp="1"/>
          </p:cNvSpPr>
          <p:nvPr>
            <p:ph idx="1"/>
          </p:nvPr>
        </p:nvSpPr>
        <p:spPr/>
        <p:txBody>
          <a:bodyPr/>
          <a:lstStyle/>
          <a:p>
            <a:pPr marL="0" indent="0">
              <a:buNone/>
            </a:pPr>
            <a:r>
              <a:rPr lang="en-US" b="1" dirty="0">
                <a:solidFill>
                  <a:srgbClr val="C00000"/>
                </a:solidFill>
              </a:rPr>
              <a:t>Real life examples of stack are: </a:t>
            </a:r>
            <a:r>
              <a:rPr lang="en-US" dirty="0">
                <a:solidFill>
                  <a:srgbClr val="C00000"/>
                </a:solidFill>
              </a:rPr>
              <a:t> </a:t>
            </a:r>
          </a:p>
          <a:p>
            <a:r>
              <a:rPr lang="en-US" dirty="0">
                <a:solidFill>
                  <a:schemeClr val="tx1"/>
                </a:solidFill>
              </a:rPr>
              <a:t>To </a:t>
            </a:r>
            <a:r>
              <a:rPr lang="en-US" b="1" dirty="0">
                <a:solidFill>
                  <a:srgbClr val="002060"/>
                </a:solidFill>
              </a:rPr>
              <a:t>reverse a word</a:t>
            </a:r>
            <a:r>
              <a:rPr lang="en-US" dirty="0">
                <a:solidFill>
                  <a:schemeClr val="tx1"/>
                </a:solidFill>
              </a:rPr>
              <a:t>. You push a given word to stack - letter by letter - and then pop letters from the stack.</a:t>
            </a:r>
          </a:p>
          <a:p>
            <a:r>
              <a:rPr lang="en-US" dirty="0">
                <a:solidFill>
                  <a:schemeClr val="tx1"/>
                </a:solidFill>
              </a:rPr>
              <a:t>An </a:t>
            </a:r>
            <a:r>
              <a:rPr lang="en-US" b="1" dirty="0">
                <a:solidFill>
                  <a:schemeClr val="tx1"/>
                </a:solidFill>
              </a:rPr>
              <a:t>"</a:t>
            </a:r>
            <a:r>
              <a:rPr lang="en-US" b="1" dirty="0">
                <a:solidFill>
                  <a:srgbClr val="002060"/>
                </a:solidFill>
              </a:rPr>
              <a:t>undo</a:t>
            </a:r>
            <a:r>
              <a:rPr lang="en-US" b="1" dirty="0">
                <a:solidFill>
                  <a:schemeClr val="tx1"/>
                </a:solidFill>
              </a:rPr>
              <a:t>"</a:t>
            </a:r>
            <a:r>
              <a:rPr lang="en-US" dirty="0">
                <a:solidFill>
                  <a:schemeClr val="tx1"/>
                </a:solidFill>
              </a:rPr>
              <a:t> mechanism in text editors; this operation is accomplished by keeping all text changes in a stack.</a:t>
            </a:r>
          </a:p>
          <a:p>
            <a:pPr lvl="1"/>
            <a:r>
              <a:rPr lang="en-US" dirty="0">
                <a:solidFill>
                  <a:schemeClr val="tx1"/>
                </a:solidFill>
              </a:rPr>
              <a:t>Undo/Redo stacks in Excel or Word.</a:t>
            </a:r>
          </a:p>
          <a:p>
            <a:r>
              <a:rPr lang="en-US" b="1" dirty="0">
                <a:solidFill>
                  <a:srgbClr val="002060"/>
                </a:solidFill>
              </a:rPr>
              <a:t>Language processing</a:t>
            </a:r>
            <a:r>
              <a:rPr lang="en-US" dirty="0">
                <a:solidFill>
                  <a:srgbClr val="002060"/>
                </a:solidFill>
              </a:rPr>
              <a:t> </a:t>
            </a:r>
            <a:r>
              <a:rPr lang="en-US" dirty="0">
                <a:solidFill>
                  <a:schemeClr val="tx1"/>
                </a:solidFill>
              </a:rPr>
              <a:t>:</a:t>
            </a:r>
          </a:p>
          <a:p>
            <a:pPr lvl="1"/>
            <a:r>
              <a:rPr lang="en-US" dirty="0">
                <a:solidFill>
                  <a:schemeClr val="tx1"/>
                </a:solidFill>
              </a:rPr>
              <a:t>space for parameters and local variables is created internally using a stack.</a:t>
            </a:r>
          </a:p>
          <a:p>
            <a:pPr lvl="1"/>
            <a:r>
              <a:rPr lang="en-US" dirty="0">
                <a:solidFill>
                  <a:schemeClr val="tx1"/>
                </a:solidFill>
              </a:rPr>
              <a:t>compiler's syntax check for matching braces is implemented by using stack.</a:t>
            </a:r>
          </a:p>
          <a:p>
            <a:r>
              <a:rPr lang="en-US" dirty="0">
                <a:solidFill>
                  <a:schemeClr val="tx1"/>
                </a:solidFill>
              </a:rPr>
              <a:t>A </a:t>
            </a:r>
            <a:r>
              <a:rPr lang="en-US" b="1" dirty="0">
                <a:solidFill>
                  <a:srgbClr val="002060"/>
                </a:solidFill>
              </a:rPr>
              <a:t>stack of plates/books</a:t>
            </a:r>
            <a:r>
              <a:rPr lang="en-US" dirty="0">
                <a:solidFill>
                  <a:schemeClr val="tx1"/>
                </a:solidFill>
              </a:rPr>
              <a:t> in a cupboard.</a:t>
            </a:r>
          </a:p>
          <a:p>
            <a:r>
              <a:rPr lang="en-US" dirty="0">
                <a:solidFill>
                  <a:schemeClr val="tx1"/>
                </a:solidFill>
              </a:rPr>
              <a:t>Wearing/Removing </a:t>
            </a:r>
            <a:r>
              <a:rPr lang="en-US" b="1" dirty="0">
                <a:solidFill>
                  <a:srgbClr val="002060"/>
                </a:solidFill>
              </a:rPr>
              <a:t>Bangles</a:t>
            </a:r>
            <a:r>
              <a:rPr lang="en-US" dirty="0">
                <a:solidFill>
                  <a:schemeClr val="tx1"/>
                </a:solidFill>
              </a:rPr>
              <a:t>.</a:t>
            </a:r>
          </a:p>
          <a:p>
            <a:r>
              <a:rPr lang="en-US" dirty="0">
                <a:solidFill>
                  <a:schemeClr val="tx1"/>
                </a:solidFill>
              </a:rPr>
              <a:t>Support for</a:t>
            </a:r>
            <a:r>
              <a:rPr lang="en-US" b="1" dirty="0">
                <a:solidFill>
                  <a:schemeClr val="tx1"/>
                </a:solidFill>
              </a:rPr>
              <a:t> </a:t>
            </a:r>
            <a:r>
              <a:rPr lang="en-US" b="1" dirty="0">
                <a:solidFill>
                  <a:srgbClr val="002060"/>
                </a:solidFill>
              </a:rPr>
              <a:t>recursion</a:t>
            </a:r>
            <a:endParaRPr lang="en-US" dirty="0">
              <a:solidFill>
                <a:srgbClr val="002060"/>
              </a:solidFill>
            </a:endParaRPr>
          </a:p>
          <a:p>
            <a:pPr lvl="1"/>
            <a:r>
              <a:rPr lang="en-US" dirty="0">
                <a:solidFill>
                  <a:schemeClr val="tx1"/>
                </a:solidFill>
              </a:rPr>
              <a:t>Activation records of method calls.</a:t>
            </a:r>
          </a:p>
        </p:txBody>
      </p:sp>
    </p:spTree>
    <p:extLst>
      <p:ext uri="{BB962C8B-B14F-4D97-AF65-F5344CB8AC3E}">
        <p14:creationId xmlns:p14="http://schemas.microsoft.com/office/powerpoint/2010/main" val="251226700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6">
            <a:extLst>
              <a:ext uri="{FF2B5EF4-FFF2-40B4-BE49-F238E27FC236}">
                <a16:creationId xmlns:a16="http://schemas.microsoft.com/office/drawing/2014/main" id="{ED567498-20F4-4694-07F4-B7D325EB383B}"/>
              </a:ext>
            </a:extLst>
          </p:cNvPr>
          <p:cNvSpPr/>
          <p:nvPr/>
        </p:nvSpPr>
        <p:spPr>
          <a:xfrm>
            <a:off x="1524000" y="235973"/>
            <a:ext cx="9144000" cy="1066800"/>
          </a:xfrm>
          <a:prstGeom prst="roundRect">
            <a:avLst>
              <a:gd name="adj" fmla="val 0"/>
            </a:avLst>
          </a:prstGeom>
          <a:solidFill>
            <a:schemeClr val="tx2">
              <a:lumMod val="75000"/>
            </a:schemeClr>
          </a:solidFill>
          <a:ln>
            <a:solidFill>
              <a:schemeClr val="accent3">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anchor="ctr"/>
          <a:lstStyle>
            <a:lvl1pPr eaLnBrk="0" hangingPunct="0">
              <a:defRPr>
                <a:solidFill>
                  <a:schemeClr val="tx1"/>
                </a:solidFill>
                <a:latin typeface="Constantia" pitchFamily="18" charset="0"/>
                <a:cs typeface="Arial" charset="0"/>
              </a:defRPr>
            </a:lvl1pPr>
            <a:lvl2pPr marL="742950" indent="-285750" eaLnBrk="0" hangingPunct="0">
              <a:defRPr>
                <a:solidFill>
                  <a:schemeClr val="tx1"/>
                </a:solidFill>
                <a:latin typeface="Constantia" pitchFamily="18" charset="0"/>
                <a:cs typeface="Arial" charset="0"/>
              </a:defRPr>
            </a:lvl2pPr>
            <a:lvl3pPr marL="1143000" indent="-228600" eaLnBrk="0" hangingPunct="0">
              <a:defRPr>
                <a:solidFill>
                  <a:schemeClr val="tx1"/>
                </a:solidFill>
                <a:latin typeface="Constantia" pitchFamily="18" charset="0"/>
                <a:cs typeface="Arial" charset="0"/>
              </a:defRPr>
            </a:lvl3pPr>
            <a:lvl4pPr marL="1600200" indent="-228600" eaLnBrk="0" hangingPunct="0">
              <a:defRPr>
                <a:solidFill>
                  <a:schemeClr val="tx1"/>
                </a:solidFill>
                <a:latin typeface="Constantia" pitchFamily="18" charset="0"/>
                <a:cs typeface="Arial" charset="0"/>
              </a:defRPr>
            </a:lvl4pPr>
            <a:lvl5pPr marL="2057400" indent="-228600" eaLnBrk="0" hangingPunct="0">
              <a:defRPr>
                <a:solidFill>
                  <a:schemeClr val="tx1"/>
                </a:solidFill>
                <a:latin typeface="Constantia" pitchFamily="18" charset="0"/>
                <a:cs typeface="Arial" charset="0"/>
              </a:defRPr>
            </a:lvl5pPr>
            <a:lvl6pPr marL="2514600" indent="-228600" eaLnBrk="0" fontAlgn="base" hangingPunct="0">
              <a:spcBef>
                <a:spcPct val="0"/>
              </a:spcBef>
              <a:spcAft>
                <a:spcPct val="0"/>
              </a:spcAft>
              <a:defRPr>
                <a:solidFill>
                  <a:schemeClr val="tx1"/>
                </a:solidFill>
                <a:latin typeface="Constantia" pitchFamily="18" charset="0"/>
                <a:cs typeface="Arial" charset="0"/>
              </a:defRPr>
            </a:lvl6pPr>
            <a:lvl7pPr marL="2971800" indent="-228600" eaLnBrk="0" fontAlgn="base" hangingPunct="0">
              <a:spcBef>
                <a:spcPct val="0"/>
              </a:spcBef>
              <a:spcAft>
                <a:spcPct val="0"/>
              </a:spcAft>
              <a:defRPr>
                <a:solidFill>
                  <a:schemeClr val="tx1"/>
                </a:solidFill>
                <a:latin typeface="Constantia" pitchFamily="18" charset="0"/>
                <a:cs typeface="Arial" charset="0"/>
              </a:defRPr>
            </a:lvl7pPr>
            <a:lvl8pPr marL="3429000" indent="-228600" eaLnBrk="0" fontAlgn="base" hangingPunct="0">
              <a:spcBef>
                <a:spcPct val="0"/>
              </a:spcBef>
              <a:spcAft>
                <a:spcPct val="0"/>
              </a:spcAft>
              <a:defRPr>
                <a:solidFill>
                  <a:schemeClr val="tx1"/>
                </a:solidFill>
                <a:latin typeface="Constantia" pitchFamily="18" charset="0"/>
                <a:cs typeface="Arial" charset="0"/>
              </a:defRPr>
            </a:lvl8pPr>
            <a:lvl9pPr marL="3886200" indent="-228600" eaLnBrk="0" fontAlgn="base" hangingPunct="0">
              <a:spcBef>
                <a:spcPct val="0"/>
              </a:spcBef>
              <a:spcAft>
                <a:spcPct val="0"/>
              </a:spcAft>
              <a:defRPr>
                <a:solidFill>
                  <a:schemeClr val="tx1"/>
                </a:solidFill>
                <a:latin typeface="Constantia" pitchFamily="18" charset="0"/>
                <a:cs typeface="Arial" charset="0"/>
              </a:defRPr>
            </a:lvl9pPr>
          </a:lstStyle>
          <a:p>
            <a:pPr algn="ctr" eaLnBrk="1" hangingPunct="1">
              <a:defRPr/>
            </a:pPr>
            <a:r>
              <a:rPr lang="en-US" altLang="en-US" sz="4800">
                <a:solidFill>
                  <a:schemeClr val="bg1"/>
                </a:solidFill>
                <a:latin typeface="Calibri" pitchFamily="34" charset="0"/>
              </a:rPr>
              <a:t>Push Operation</a:t>
            </a:r>
          </a:p>
        </p:txBody>
      </p:sp>
      <p:sp>
        <p:nvSpPr>
          <p:cNvPr id="5" name="Rectangle 3">
            <a:extLst>
              <a:ext uri="{FF2B5EF4-FFF2-40B4-BE49-F238E27FC236}">
                <a16:creationId xmlns:a16="http://schemas.microsoft.com/office/drawing/2014/main" id="{EC65698A-D07A-105A-E6F0-356CF65206E6}"/>
              </a:ext>
            </a:extLst>
          </p:cNvPr>
          <p:cNvSpPr txBox="1">
            <a:spLocks noChangeArrowheads="1"/>
          </p:cNvSpPr>
          <p:nvPr/>
        </p:nvSpPr>
        <p:spPr bwMode="auto">
          <a:xfrm>
            <a:off x="1752600" y="1378973"/>
            <a:ext cx="8915400" cy="297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eaLnBrk="0" hangingPunct="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eaLnBrk="0" hangingPunct="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r>
              <a:rPr lang="en-US" altLang="en-US" sz="2400"/>
              <a:t>The push operation is used to insert an element in to the stack. </a:t>
            </a:r>
          </a:p>
          <a:p>
            <a:pPr eaLnBrk="1" hangingPunct="1"/>
            <a:r>
              <a:rPr lang="en-US" altLang="en-US" sz="2400"/>
              <a:t>The new element is added at the topmost position of the stack. </a:t>
            </a:r>
          </a:p>
          <a:p>
            <a:pPr eaLnBrk="1" hangingPunct="1"/>
            <a:r>
              <a:rPr lang="en-US" altLang="en-US" sz="2400"/>
              <a:t>First check if TOP==MAX-1.  </a:t>
            </a:r>
            <a:br>
              <a:rPr lang="en-US" altLang="en-US" sz="2400"/>
            </a:br>
            <a:r>
              <a:rPr lang="en-US" altLang="en-US" sz="2400"/>
              <a:t>If true, then it means the stack is full and no more insertions can further be added, an </a:t>
            </a:r>
            <a:r>
              <a:rPr lang="en-US" altLang="en-US" sz="2400">
                <a:solidFill>
                  <a:srgbClr val="FF0000"/>
                </a:solidFill>
              </a:rPr>
              <a:t>OVERFLOW</a:t>
            </a:r>
            <a:r>
              <a:rPr lang="en-US" altLang="en-US" sz="2400"/>
              <a:t> message is printed. </a:t>
            </a:r>
          </a:p>
          <a:p>
            <a:pPr eaLnBrk="1" hangingPunct="1"/>
            <a:r>
              <a:rPr lang="en-US" altLang="en-US" sz="2400"/>
              <a:t>If not true, increase TOP by 1, then add the element at TOP position</a:t>
            </a:r>
          </a:p>
        </p:txBody>
      </p:sp>
      <p:graphicFrame>
        <p:nvGraphicFramePr>
          <p:cNvPr id="6" name="Group 57">
            <a:extLst>
              <a:ext uri="{FF2B5EF4-FFF2-40B4-BE49-F238E27FC236}">
                <a16:creationId xmlns:a16="http://schemas.microsoft.com/office/drawing/2014/main" id="{03F25248-CF30-5FC4-8DC7-6832EBE815C2}"/>
              </a:ext>
            </a:extLst>
          </p:cNvPr>
          <p:cNvGraphicFramePr>
            <a:graphicFrameLocks noGrp="1"/>
          </p:cNvGraphicFramePr>
          <p:nvPr/>
        </p:nvGraphicFramePr>
        <p:xfrm>
          <a:off x="2819401" y="4198373"/>
          <a:ext cx="5624513" cy="517588"/>
        </p:xfrm>
        <a:graphic>
          <a:graphicData uri="http://schemas.openxmlformats.org/drawingml/2006/table">
            <a:tbl>
              <a:tblPr/>
              <a:tblGrid>
                <a:gridCol w="555625">
                  <a:extLst>
                    <a:ext uri="{9D8B030D-6E8A-4147-A177-3AD203B41FA5}">
                      <a16:colId xmlns:a16="http://schemas.microsoft.com/office/drawing/2014/main" val="20000"/>
                    </a:ext>
                  </a:extLst>
                </a:gridCol>
                <a:gridCol w="587375">
                  <a:extLst>
                    <a:ext uri="{9D8B030D-6E8A-4147-A177-3AD203B41FA5}">
                      <a16:colId xmlns:a16="http://schemas.microsoft.com/office/drawing/2014/main" val="20001"/>
                    </a:ext>
                  </a:extLst>
                </a:gridCol>
                <a:gridCol w="530225">
                  <a:extLst>
                    <a:ext uri="{9D8B030D-6E8A-4147-A177-3AD203B41FA5}">
                      <a16:colId xmlns:a16="http://schemas.microsoft.com/office/drawing/2014/main" val="20002"/>
                    </a:ext>
                  </a:extLst>
                </a:gridCol>
                <a:gridCol w="561975">
                  <a:extLst>
                    <a:ext uri="{9D8B030D-6E8A-4147-A177-3AD203B41FA5}">
                      <a16:colId xmlns:a16="http://schemas.microsoft.com/office/drawing/2014/main" val="20003"/>
                    </a:ext>
                  </a:extLst>
                </a:gridCol>
                <a:gridCol w="611188">
                  <a:extLst>
                    <a:ext uri="{9D8B030D-6E8A-4147-A177-3AD203B41FA5}">
                      <a16:colId xmlns:a16="http://schemas.microsoft.com/office/drawing/2014/main" val="20004"/>
                    </a:ext>
                  </a:extLst>
                </a:gridCol>
                <a:gridCol w="555625">
                  <a:extLst>
                    <a:ext uri="{9D8B030D-6E8A-4147-A177-3AD203B41FA5}">
                      <a16:colId xmlns:a16="http://schemas.microsoft.com/office/drawing/2014/main" val="20005"/>
                    </a:ext>
                  </a:extLst>
                </a:gridCol>
                <a:gridCol w="555625">
                  <a:extLst>
                    <a:ext uri="{9D8B030D-6E8A-4147-A177-3AD203B41FA5}">
                      <a16:colId xmlns:a16="http://schemas.microsoft.com/office/drawing/2014/main" val="20006"/>
                    </a:ext>
                  </a:extLst>
                </a:gridCol>
                <a:gridCol w="555625">
                  <a:extLst>
                    <a:ext uri="{9D8B030D-6E8A-4147-A177-3AD203B41FA5}">
                      <a16:colId xmlns:a16="http://schemas.microsoft.com/office/drawing/2014/main" val="20007"/>
                    </a:ext>
                  </a:extLst>
                </a:gridCol>
                <a:gridCol w="555625">
                  <a:extLst>
                    <a:ext uri="{9D8B030D-6E8A-4147-A177-3AD203B41FA5}">
                      <a16:colId xmlns:a16="http://schemas.microsoft.com/office/drawing/2014/main" val="20008"/>
                    </a:ext>
                  </a:extLst>
                </a:gridCol>
                <a:gridCol w="555625">
                  <a:extLst>
                    <a:ext uri="{9D8B030D-6E8A-4147-A177-3AD203B41FA5}">
                      <a16:colId xmlns:a16="http://schemas.microsoft.com/office/drawing/2014/main" val="20009"/>
                    </a:ext>
                  </a:extLst>
                </a:gridCol>
              </a:tblGrid>
              <a:tr h="517525">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993300"/>
                          </a:solidFill>
                          <a:effectLst/>
                          <a:latin typeface="Times New Roman" pitchFamily="18" charset="0"/>
                          <a:cs typeface="Times New Roman" pitchFamily="18" charset="0"/>
                        </a:rPr>
                        <a:t>A</a:t>
                      </a:r>
                      <a:endParaRPr kumimoji="0" lang="en-US" altLang="en-US" sz="1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993300"/>
                          </a:solidFill>
                          <a:effectLst/>
                          <a:latin typeface="Times New Roman" pitchFamily="18" charset="0"/>
                          <a:cs typeface="Times New Roman" pitchFamily="18" charset="0"/>
                        </a:rPr>
                        <a:t>B</a:t>
                      </a:r>
                      <a:endParaRPr kumimoji="0" lang="en-US" altLang="en-US" sz="1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993300"/>
                          </a:solidFill>
                          <a:effectLst/>
                          <a:latin typeface="Times New Roman" pitchFamily="18" charset="0"/>
                          <a:cs typeface="Times New Roman" pitchFamily="18" charset="0"/>
                        </a:rPr>
                        <a:t>C</a:t>
                      </a:r>
                      <a:endParaRPr kumimoji="0" lang="en-US" altLang="en-US" sz="1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993300"/>
                          </a:solidFill>
                          <a:effectLst/>
                          <a:latin typeface="Times New Roman" pitchFamily="18" charset="0"/>
                          <a:cs typeface="Times New Roman" pitchFamily="18" charset="0"/>
                        </a:rPr>
                        <a:t>D</a:t>
                      </a:r>
                      <a:endParaRPr kumimoji="0" lang="en-US" altLang="en-US" sz="1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993300"/>
                          </a:solidFill>
                          <a:effectLst/>
                          <a:latin typeface="Times New Roman" pitchFamily="18" charset="0"/>
                          <a:cs typeface="Times New Roman" pitchFamily="18" charset="0"/>
                        </a:rPr>
                        <a:t>E</a:t>
                      </a:r>
                      <a:endParaRPr kumimoji="0" lang="en-US" altLang="en-US" sz="1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altLang="en-US" sz="2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altLang="en-US" sz="2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altLang="en-US" sz="2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altLang="en-US" sz="2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altLang="en-US" sz="2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0"/>
                  </a:ext>
                </a:extLst>
              </a:tr>
            </a:tbl>
          </a:graphicData>
        </a:graphic>
      </p:graphicFrame>
      <p:sp>
        <p:nvSpPr>
          <p:cNvPr id="7" name="Rectangle 28">
            <a:extLst>
              <a:ext uri="{FF2B5EF4-FFF2-40B4-BE49-F238E27FC236}">
                <a16:creationId xmlns:a16="http://schemas.microsoft.com/office/drawing/2014/main" id="{C0461028-5F28-EC14-7F96-9C92FE21BDBC}"/>
              </a:ext>
            </a:extLst>
          </p:cNvPr>
          <p:cNvSpPr>
            <a:spLocks noChangeArrowheads="1"/>
          </p:cNvSpPr>
          <p:nvPr/>
        </p:nvSpPr>
        <p:spPr bwMode="auto">
          <a:xfrm>
            <a:off x="2895601" y="4807974"/>
            <a:ext cx="5534025" cy="244475"/>
          </a:xfrm>
          <a:prstGeom prst="rect">
            <a:avLst/>
          </a:prstGeom>
          <a:solidFill>
            <a:srgbClr val="0033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eaLnBrk="0" hangingPunct="0">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eaLnBrk="0" hangingPunct="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eaLnBrk="0" hangingPunct="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just" eaLnBrk="1" hangingPunct="1">
              <a:spcBef>
                <a:spcPct val="0"/>
              </a:spcBef>
              <a:buFontTx/>
              <a:buNone/>
            </a:pPr>
            <a:r>
              <a:rPr lang="en-US" altLang="en-US" sz="1000">
                <a:solidFill>
                  <a:srgbClr val="FFCC99"/>
                </a:solidFill>
                <a:latin typeface="Constantia" panose="02030602050306030303" pitchFamily="18" charset="0"/>
                <a:cs typeface="Times New Roman" panose="02020603050405020304" pitchFamily="18" charset="0"/>
              </a:rPr>
              <a:t>0                  1	        2               3           </a:t>
            </a:r>
            <a:r>
              <a:rPr lang="en-US" altLang="en-US" sz="1000" b="1">
                <a:solidFill>
                  <a:srgbClr val="FFCC99"/>
                </a:solidFill>
                <a:latin typeface="Constantia" panose="02030602050306030303" pitchFamily="18" charset="0"/>
                <a:cs typeface="Times New Roman" panose="02020603050405020304" pitchFamily="18" charset="0"/>
              </a:rPr>
              <a:t>TOP = 4</a:t>
            </a:r>
            <a:r>
              <a:rPr lang="en-US" altLang="en-US" sz="1000">
                <a:solidFill>
                  <a:srgbClr val="FFCC99"/>
                </a:solidFill>
                <a:latin typeface="Constantia" panose="02030602050306030303" pitchFamily="18" charset="0"/>
                <a:cs typeface="Times New Roman" panose="02020603050405020304" pitchFamily="18" charset="0"/>
              </a:rPr>
              <a:t>          5                 6              7                  8                  9</a:t>
            </a:r>
            <a:endParaRPr lang="en-US" altLang="en-US" sz="1800">
              <a:solidFill>
                <a:srgbClr val="FFCC99"/>
              </a:solidFill>
              <a:latin typeface="Constantia" panose="02030602050306030303" pitchFamily="18" charset="0"/>
            </a:endParaRPr>
          </a:p>
        </p:txBody>
      </p:sp>
      <p:graphicFrame>
        <p:nvGraphicFramePr>
          <p:cNvPr id="8" name="Group 29">
            <a:extLst>
              <a:ext uri="{FF2B5EF4-FFF2-40B4-BE49-F238E27FC236}">
                <a16:creationId xmlns:a16="http://schemas.microsoft.com/office/drawing/2014/main" id="{402C4EF8-9486-0A6F-4C16-18C289EDDA13}"/>
              </a:ext>
            </a:extLst>
          </p:cNvPr>
          <p:cNvGraphicFramePr>
            <a:graphicFrameLocks noGrp="1"/>
          </p:cNvGraphicFramePr>
          <p:nvPr/>
        </p:nvGraphicFramePr>
        <p:xfrm>
          <a:off x="2895600" y="5188973"/>
          <a:ext cx="5619750" cy="517588"/>
        </p:xfrm>
        <a:graphic>
          <a:graphicData uri="http://schemas.openxmlformats.org/drawingml/2006/table">
            <a:tbl>
              <a:tblPr/>
              <a:tblGrid>
                <a:gridCol w="525463">
                  <a:extLst>
                    <a:ext uri="{9D8B030D-6E8A-4147-A177-3AD203B41FA5}">
                      <a16:colId xmlns:a16="http://schemas.microsoft.com/office/drawing/2014/main" val="20000"/>
                    </a:ext>
                  </a:extLst>
                </a:gridCol>
                <a:gridCol w="598487">
                  <a:extLst>
                    <a:ext uri="{9D8B030D-6E8A-4147-A177-3AD203B41FA5}">
                      <a16:colId xmlns:a16="http://schemas.microsoft.com/office/drawing/2014/main" val="20001"/>
                    </a:ext>
                  </a:extLst>
                </a:gridCol>
                <a:gridCol w="561975">
                  <a:extLst>
                    <a:ext uri="{9D8B030D-6E8A-4147-A177-3AD203B41FA5}">
                      <a16:colId xmlns:a16="http://schemas.microsoft.com/office/drawing/2014/main" val="20002"/>
                    </a:ext>
                  </a:extLst>
                </a:gridCol>
                <a:gridCol w="561975">
                  <a:extLst>
                    <a:ext uri="{9D8B030D-6E8A-4147-A177-3AD203B41FA5}">
                      <a16:colId xmlns:a16="http://schemas.microsoft.com/office/drawing/2014/main" val="20003"/>
                    </a:ext>
                  </a:extLst>
                </a:gridCol>
                <a:gridCol w="561975">
                  <a:extLst>
                    <a:ext uri="{9D8B030D-6E8A-4147-A177-3AD203B41FA5}">
                      <a16:colId xmlns:a16="http://schemas.microsoft.com/office/drawing/2014/main" val="20004"/>
                    </a:ext>
                  </a:extLst>
                </a:gridCol>
                <a:gridCol w="561975">
                  <a:extLst>
                    <a:ext uri="{9D8B030D-6E8A-4147-A177-3AD203B41FA5}">
                      <a16:colId xmlns:a16="http://schemas.microsoft.com/office/drawing/2014/main" val="20005"/>
                    </a:ext>
                  </a:extLst>
                </a:gridCol>
                <a:gridCol w="561975">
                  <a:extLst>
                    <a:ext uri="{9D8B030D-6E8A-4147-A177-3AD203B41FA5}">
                      <a16:colId xmlns:a16="http://schemas.microsoft.com/office/drawing/2014/main" val="20006"/>
                    </a:ext>
                  </a:extLst>
                </a:gridCol>
                <a:gridCol w="561975">
                  <a:extLst>
                    <a:ext uri="{9D8B030D-6E8A-4147-A177-3AD203B41FA5}">
                      <a16:colId xmlns:a16="http://schemas.microsoft.com/office/drawing/2014/main" val="20007"/>
                    </a:ext>
                  </a:extLst>
                </a:gridCol>
                <a:gridCol w="561975">
                  <a:extLst>
                    <a:ext uri="{9D8B030D-6E8A-4147-A177-3AD203B41FA5}">
                      <a16:colId xmlns:a16="http://schemas.microsoft.com/office/drawing/2014/main" val="20008"/>
                    </a:ext>
                  </a:extLst>
                </a:gridCol>
                <a:gridCol w="561975">
                  <a:extLst>
                    <a:ext uri="{9D8B030D-6E8A-4147-A177-3AD203B41FA5}">
                      <a16:colId xmlns:a16="http://schemas.microsoft.com/office/drawing/2014/main" val="20009"/>
                    </a:ext>
                  </a:extLst>
                </a:gridCol>
              </a:tblGrid>
              <a:tr h="517525">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993300"/>
                          </a:solidFill>
                          <a:effectLst/>
                          <a:latin typeface="Times New Roman" pitchFamily="18" charset="0"/>
                          <a:cs typeface="Times New Roman" pitchFamily="18" charset="0"/>
                        </a:rPr>
                        <a:t>A</a:t>
                      </a:r>
                      <a:endParaRPr kumimoji="0" lang="en-US" altLang="en-US" sz="1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993300"/>
                          </a:solidFill>
                          <a:effectLst/>
                          <a:latin typeface="Times New Roman" pitchFamily="18" charset="0"/>
                          <a:cs typeface="Times New Roman" pitchFamily="18" charset="0"/>
                        </a:rPr>
                        <a:t>B</a:t>
                      </a:r>
                      <a:endParaRPr kumimoji="0" lang="en-US" altLang="en-US" sz="1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993300"/>
                          </a:solidFill>
                          <a:effectLst/>
                          <a:latin typeface="Times New Roman" pitchFamily="18" charset="0"/>
                          <a:cs typeface="Times New Roman" pitchFamily="18" charset="0"/>
                        </a:rPr>
                        <a:t>C</a:t>
                      </a:r>
                      <a:endParaRPr kumimoji="0" lang="en-US" altLang="en-US" sz="1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993300"/>
                          </a:solidFill>
                          <a:effectLst/>
                          <a:latin typeface="Times New Roman" pitchFamily="18" charset="0"/>
                          <a:cs typeface="Times New Roman" pitchFamily="18" charset="0"/>
                        </a:rPr>
                        <a:t>D</a:t>
                      </a:r>
                      <a:endParaRPr kumimoji="0" lang="en-US" altLang="en-US" sz="1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993300"/>
                          </a:solidFill>
                          <a:effectLst/>
                          <a:latin typeface="Times New Roman" pitchFamily="18" charset="0"/>
                          <a:cs typeface="Times New Roman" pitchFamily="18" charset="0"/>
                        </a:rPr>
                        <a:t>E</a:t>
                      </a:r>
                      <a:endParaRPr kumimoji="0" lang="en-US" altLang="en-US" sz="1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993300"/>
                          </a:solidFill>
                          <a:effectLst/>
                          <a:latin typeface="Times New Roman" pitchFamily="18" charset="0"/>
                          <a:cs typeface="Times New Roman" pitchFamily="18" charset="0"/>
                        </a:rPr>
                        <a:t>F</a:t>
                      </a:r>
                      <a:endParaRPr kumimoji="0" lang="en-US" altLang="en-US" sz="1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altLang="en-US" sz="2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altLang="en-US" sz="2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altLang="en-US" sz="2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altLang="en-US" sz="2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0"/>
                  </a:ext>
                </a:extLst>
              </a:tr>
            </a:tbl>
          </a:graphicData>
        </a:graphic>
      </p:graphicFrame>
      <p:sp>
        <p:nvSpPr>
          <p:cNvPr id="9" name="Rectangle 53">
            <a:extLst>
              <a:ext uri="{FF2B5EF4-FFF2-40B4-BE49-F238E27FC236}">
                <a16:creationId xmlns:a16="http://schemas.microsoft.com/office/drawing/2014/main" id="{B2D4044C-F4D6-7E87-FD14-1433E652E5EF}"/>
              </a:ext>
            </a:extLst>
          </p:cNvPr>
          <p:cNvSpPr>
            <a:spLocks noChangeArrowheads="1"/>
          </p:cNvSpPr>
          <p:nvPr/>
        </p:nvSpPr>
        <p:spPr bwMode="auto">
          <a:xfrm>
            <a:off x="2895600" y="5798574"/>
            <a:ext cx="5557838" cy="244475"/>
          </a:xfrm>
          <a:prstGeom prst="rect">
            <a:avLst/>
          </a:prstGeom>
          <a:solidFill>
            <a:srgbClr val="0033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eaLnBrk="0" hangingPunct="0">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eaLnBrk="0" hangingPunct="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eaLnBrk="0" hangingPunct="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just" eaLnBrk="1" hangingPunct="1">
              <a:spcBef>
                <a:spcPct val="0"/>
              </a:spcBef>
              <a:buFontTx/>
              <a:buNone/>
            </a:pPr>
            <a:r>
              <a:rPr lang="en-US" altLang="en-US" sz="1000">
                <a:solidFill>
                  <a:srgbClr val="FFCC99"/>
                </a:solidFill>
                <a:latin typeface="Constantia" panose="02030602050306030303" pitchFamily="18" charset="0"/>
                <a:cs typeface="Times New Roman" panose="02020603050405020304" pitchFamily="18" charset="0"/>
              </a:rPr>
              <a:t>0                  1	        2               3                     </a:t>
            </a:r>
            <a:r>
              <a:rPr lang="en-US" altLang="en-US" sz="1000" b="1">
                <a:solidFill>
                  <a:srgbClr val="FFCC99"/>
                </a:solidFill>
                <a:latin typeface="Constantia" panose="02030602050306030303" pitchFamily="18" charset="0"/>
                <a:cs typeface="Times New Roman" panose="02020603050405020304" pitchFamily="18" charset="0"/>
              </a:rPr>
              <a:t>4</a:t>
            </a:r>
            <a:r>
              <a:rPr lang="en-US" altLang="en-US" sz="1000">
                <a:solidFill>
                  <a:srgbClr val="FFCC99"/>
                </a:solidFill>
                <a:latin typeface="Constantia" panose="02030602050306030303" pitchFamily="18" charset="0"/>
                <a:cs typeface="Times New Roman" panose="02020603050405020304" pitchFamily="18" charset="0"/>
              </a:rPr>
              <a:t>          TOP =5             6             7              8                   9</a:t>
            </a:r>
            <a:endParaRPr lang="en-US" altLang="en-US" sz="1800">
              <a:solidFill>
                <a:srgbClr val="FFCC99"/>
              </a:solidFill>
              <a:latin typeface="Constantia" panose="02030602050306030303" pitchFamily="18" charset="0"/>
            </a:endParaRPr>
          </a:p>
        </p:txBody>
      </p:sp>
    </p:spTree>
    <p:extLst>
      <p:ext uri="{BB962C8B-B14F-4D97-AF65-F5344CB8AC3E}">
        <p14:creationId xmlns:p14="http://schemas.microsoft.com/office/powerpoint/2010/main" val="108845700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6">
            <a:extLst>
              <a:ext uri="{FF2B5EF4-FFF2-40B4-BE49-F238E27FC236}">
                <a16:creationId xmlns:a16="http://schemas.microsoft.com/office/drawing/2014/main" id="{41A8C0B0-15A1-90FA-D4B5-7543E54ADC33}"/>
              </a:ext>
            </a:extLst>
          </p:cNvPr>
          <p:cNvSpPr/>
          <p:nvPr/>
        </p:nvSpPr>
        <p:spPr>
          <a:xfrm>
            <a:off x="1524000" y="221223"/>
            <a:ext cx="9144000" cy="1066800"/>
          </a:xfrm>
          <a:prstGeom prst="roundRect">
            <a:avLst>
              <a:gd name="adj" fmla="val 0"/>
            </a:avLst>
          </a:prstGeom>
          <a:solidFill>
            <a:schemeClr val="tx2">
              <a:lumMod val="75000"/>
            </a:schemeClr>
          </a:solidFill>
          <a:ln>
            <a:solidFill>
              <a:schemeClr val="accent3">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anchor="ctr"/>
          <a:lstStyle>
            <a:lvl1pPr eaLnBrk="0" hangingPunct="0">
              <a:defRPr>
                <a:solidFill>
                  <a:schemeClr val="tx1"/>
                </a:solidFill>
                <a:latin typeface="Constantia" pitchFamily="18" charset="0"/>
                <a:cs typeface="Arial" charset="0"/>
              </a:defRPr>
            </a:lvl1pPr>
            <a:lvl2pPr marL="742950" indent="-285750" eaLnBrk="0" hangingPunct="0">
              <a:defRPr>
                <a:solidFill>
                  <a:schemeClr val="tx1"/>
                </a:solidFill>
                <a:latin typeface="Constantia" pitchFamily="18" charset="0"/>
                <a:cs typeface="Arial" charset="0"/>
              </a:defRPr>
            </a:lvl2pPr>
            <a:lvl3pPr marL="1143000" indent="-228600" eaLnBrk="0" hangingPunct="0">
              <a:defRPr>
                <a:solidFill>
                  <a:schemeClr val="tx1"/>
                </a:solidFill>
                <a:latin typeface="Constantia" pitchFamily="18" charset="0"/>
                <a:cs typeface="Arial" charset="0"/>
              </a:defRPr>
            </a:lvl3pPr>
            <a:lvl4pPr marL="1600200" indent="-228600" eaLnBrk="0" hangingPunct="0">
              <a:defRPr>
                <a:solidFill>
                  <a:schemeClr val="tx1"/>
                </a:solidFill>
                <a:latin typeface="Constantia" pitchFamily="18" charset="0"/>
                <a:cs typeface="Arial" charset="0"/>
              </a:defRPr>
            </a:lvl4pPr>
            <a:lvl5pPr marL="2057400" indent="-228600" eaLnBrk="0" hangingPunct="0">
              <a:defRPr>
                <a:solidFill>
                  <a:schemeClr val="tx1"/>
                </a:solidFill>
                <a:latin typeface="Constantia" pitchFamily="18" charset="0"/>
                <a:cs typeface="Arial" charset="0"/>
              </a:defRPr>
            </a:lvl5pPr>
            <a:lvl6pPr marL="2514600" indent="-228600" eaLnBrk="0" fontAlgn="base" hangingPunct="0">
              <a:spcBef>
                <a:spcPct val="0"/>
              </a:spcBef>
              <a:spcAft>
                <a:spcPct val="0"/>
              </a:spcAft>
              <a:defRPr>
                <a:solidFill>
                  <a:schemeClr val="tx1"/>
                </a:solidFill>
                <a:latin typeface="Constantia" pitchFamily="18" charset="0"/>
                <a:cs typeface="Arial" charset="0"/>
              </a:defRPr>
            </a:lvl6pPr>
            <a:lvl7pPr marL="2971800" indent="-228600" eaLnBrk="0" fontAlgn="base" hangingPunct="0">
              <a:spcBef>
                <a:spcPct val="0"/>
              </a:spcBef>
              <a:spcAft>
                <a:spcPct val="0"/>
              </a:spcAft>
              <a:defRPr>
                <a:solidFill>
                  <a:schemeClr val="tx1"/>
                </a:solidFill>
                <a:latin typeface="Constantia" pitchFamily="18" charset="0"/>
                <a:cs typeface="Arial" charset="0"/>
              </a:defRPr>
            </a:lvl7pPr>
            <a:lvl8pPr marL="3429000" indent="-228600" eaLnBrk="0" fontAlgn="base" hangingPunct="0">
              <a:spcBef>
                <a:spcPct val="0"/>
              </a:spcBef>
              <a:spcAft>
                <a:spcPct val="0"/>
              </a:spcAft>
              <a:defRPr>
                <a:solidFill>
                  <a:schemeClr val="tx1"/>
                </a:solidFill>
                <a:latin typeface="Constantia" pitchFamily="18" charset="0"/>
                <a:cs typeface="Arial" charset="0"/>
              </a:defRPr>
            </a:lvl8pPr>
            <a:lvl9pPr marL="3886200" indent="-228600" eaLnBrk="0" fontAlgn="base" hangingPunct="0">
              <a:spcBef>
                <a:spcPct val="0"/>
              </a:spcBef>
              <a:spcAft>
                <a:spcPct val="0"/>
              </a:spcAft>
              <a:defRPr>
                <a:solidFill>
                  <a:schemeClr val="tx1"/>
                </a:solidFill>
                <a:latin typeface="Constantia" pitchFamily="18" charset="0"/>
                <a:cs typeface="Arial" charset="0"/>
              </a:defRPr>
            </a:lvl9pPr>
          </a:lstStyle>
          <a:p>
            <a:pPr algn="ctr" eaLnBrk="1" hangingPunct="1">
              <a:defRPr/>
            </a:pPr>
            <a:r>
              <a:rPr lang="en-US" altLang="en-US" sz="4800">
                <a:solidFill>
                  <a:schemeClr val="bg1"/>
                </a:solidFill>
                <a:latin typeface="Calibri" pitchFamily="34" charset="0"/>
              </a:rPr>
              <a:t>Pop Operation</a:t>
            </a:r>
          </a:p>
        </p:txBody>
      </p:sp>
      <p:sp>
        <p:nvSpPr>
          <p:cNvPr id="5" name="Rectangle 3">
            <a:extLst>
              <a:ext uri="{FF2B5EF4-FFF2-40B4-BE49-F238E27FC236}">
                <a16:creationId xmlns:a16="http://schemas.microsoft.com/office/drawing/2014/main" id="{8C932BD9-D066-E42A-D4ED-BD69BE17201D}"/>
              </a:ext>
            </a:extLst>
          </p:cNvPr>
          <p:cNvSpPr txBox="1">
            <a:spLocks noChangeArrowheads="1"/>
          </p:cNvSpPr>
          <p:nvPr/>
        </p:nvSpPr>
        <p:spPr bwMode="auto">
          <a:xfrm>
            <a:off x="1516063" y="1364223"/>
            <a:ext cx="8915401" cy="2743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eaLnBrk="0" hangingPunct="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eaLnBrk="0" hangingPunct="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lnSpc>
                <a:spcPct val="110000"/>
              </a:lnSpc>
            </a:pPr>
            <a:r>
              <a:rPr lang="en-US" altLang="en-US" sz="2400"/>
              <a:t>The pop operation is used to delete the topmost element from the stack. </a:t>
            </a:r>
          </a:p>
          <a:p>
            <a:pPr eaLnBrk="1" hangingPunct="1">
              <a:lnSpc>
                <a:spcPct val="110000"/>
              </a:lnSpc>
            </a:pPr>
            <a:r>
              <a:rPr lang="en-US" altLang="en-US" sz="2400"/>
              <a:t>First check if TOP == -1.   </a:t>
            </a:r>
            <a:br>
              <a:rPr lang="en-US" altLang="en-US" sz="2400"/>
            </a:br>
            <a:r>
              <a:rPr lang="en-US" altLang="en-US" sz="2400"/>
              <a:t>If true then it means the stack is empty so no more deletions can further be done, an </a:t>
            </a:r>
            <a:r>
              <a:rPr lang="en-US" altLang="en-US" sz="2400">
                <a:solidFill>
                  <a:srgbClr val="FF0000"/>
                </a:solidFill>
              </a:rPr>
              <a:t>UNDERFLOW</a:t>
            </a:r>
            <a:r>
              <a:rPr lang="en-US" altLang="en-US" sz="2400"/>
              <a:t> message is printed. </a:t>
            </a:r>
            <a:br>
              <a:rPr lang="en-US" altLang="en-US" sz="2400"/>
            </a:br>
            <a:r>
              <a:rPr lang="en-US" altLang="en-US" sz="2400"/>
              <a:t>If not true,  get the value of the top element, decrease TOP by one. </a:t>
            </a:r>
          </a:p>
        </p:txBody>
      </p:sp>
      <p:graphicFrame>
        <p:nvGraphicFramePr>
          <p:cNvPr id="6" name="Group 5">
            <a:extLst>
              <a:ext uri="{FF2B5EF4-FFF2-40B4-BE49-F238E27FC236}">
                <a16:creationId xmlns:a16="http://schemas.microsoft.com/office/drawing/2014/main" id="{3A193A7E-0E32-6F54-E512-F4314234215C}"/>
              </a:ext>
            </a:extLst>
          </p:cNvPr>
          <p:cNvGraphicFramePr>
            <a:graphicFrameLocks noGrp="1"/>
          </p:cNvGraphicFramePr>
          <p:nvPr/>
        </p:nvGraphicFramePr>
        <p:xfrm>
          <a:off x="3519488" y="4448736"/>
          <a:ext cx="5624512" cy="517588"/>
        </p:xfrm>
        <a:graphic>
          <a:graphicData uri="http://schemas.openxmlformats.org/drawingml/2006/table">
            <a:tbl>
              <a:tblPr/>
              <a:tblGrid>
                <a:gridCol w="555625">
                  <a:extLst>
                    <a:ext uri="{9D8B030D-6E8A-4147-A177-3AD203B41FA5}">
                      <a16:colId xmlns:a16="http://schemas.microsoft.com/office/drawing/2014/main" val="20000"/>
                    </a:ext>
                  </a:extLst>
                </a:gridCol>
                <a:gridCol w="558800">
                  <a:extLst>
                    <a:ext uri="{9D8B030D-6E8A-4147-A177-3AD203B41FA5}">
                      <a16:colId xmlns:a16="http://schemas.microsoft.com/office/drawing/2014/main" val="20001"/>
                    </a:ext>
                  </a:extLst>
                </a:gridCol>
                <a:gridCol w="558800">
                  <a:extLst>
                    <a:ext uri="{9D8B030D-6E8A-4147-A177-3AD203B41FA5}">
                      <a16:colId xmlns:a16="http://schemas.microsoft.com/office/drawing/2014/main" val="20002"/>
                    </a:ext>
                  </a:extLst>
                </a:gridCol>
                <a:gridCol w="561975">
                  <a:extLst>
                    <a:ext uri="{9D8B030D-6E8A-4147-A177-3AD203B41FA5}">
                      <a16:colId xmlns:a16="http://schemas.microsoft.com/office/drawing/2014/main" val="20003"/>
                    </a:ext>
                  </a:extLst>
                </a:gridCol>
                <a:gridCol w="611187">
                  <a:extLst>
                    <a:ext uri="{9D8B030D-6E8A-4147-A177-3AD203B41FA5}">
                      <a16:colId xmlns:a16="http://schemas.microsoft.com/office/drawing/2014/main" val="20004"/>
                    </a:ext>
                  </a:extLst>
                </a:gridCol>
                <a:gridCol w="555625">
                  <a:extLst>
                    <a:ext uri="{9D8B030D-6E8A-4147-A177-3AD203B41FA5}">
                      <a16:colId xmlns:a16="http://schemas.microsoft.com/office/drawing/2014/main" val="20005"/>
                    </a:ext>
                  </a:extLst>
                </a:gridCol>
                <a:gridCol w="555625">
                  <a:extLst>
                    <a:ext uri="{9D8B030D-6E8A-4147-A177-3AD203B41FA5}">
                      <a16:colId xmlns:a16="http://schemas.microsoft.com/office/drawing/2014/main" val="20006"/>
                    </a:ext>
                  </a:extLst>
                </a:gridCol>
                <a:gridCol w="555625">
                  <a:extLst>
                    <a:ext uri="{9D8B030D-6E8A-4147-A177-3AD203B41FA5}">
                      <a16:colId xmlns:a16="http://schemas.microsoft.com/office/drawing/2014/main" val="20007"/>
                    </a:ext>
                  </a:extLst>
                </a:gridCol>
                <a:gridCol w="555625">
                  <a:extLst>
                    <a:ext uri="{9D8B030D-6E8A-4147-A177-3AD203B41FA5}">
                      <a16:colId xmlns:a16="http://schemas.microsoft.com/office/drawing/2014/main" val="20008"/>
                    </a:ext>
                  </a:extLst>
                </a:gridCol>
                <a:gridCol w="555625">
                  <a:extLst>
                    <a:ext uri="{9D8B030D-6E8A-4147-A177-3AD203B41FA5}">
                      <a16:colId xmlns:a16="http://schemas.microsoft.com/office/drawing/2014/main" val="20009"/>
                    </a:ext>
                  </a:extLst>
                </a:gridCol>
              </a:tblGrid>
              <a:tr h="517525">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993300"/>
                          </a:solidFill>
                          <a:effectLst/>
                          <a:latin typeface="Times New Roman" pitchFamily="18" charset="0"/>
                          <a:cs typeface="Times New Roman" pitchFamily="18" charset="0"/>
                        </a:rPr>
                        <a:t>A</a:t>
                      </a:r>
                      <a:endParaRPr kumimoji="0" lang="en-US" altLang="en-US" sz="1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993300"/>
                          </a:solidFill>
                          <a:effectLst/>
                          <a:latin typeface="Times New Roman" pitchFamily="18" charset="0"/>
                          <a:cs typeface="Times New Roman" pitchFamily="18" charset="0"/>
                        </a:rPr>
                        <a:t>B</a:t>
                      </a:r>
                      <a:endParaRPr kumimoji="0" lang="en-US" altLang="en-US" sz="1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993300"/>
                          </a:solidFill>
                          <a:effectLst/>
                          <a:latin typeface="Times New Roman" pitchFamily="18" charset="0"/>
                          <a:cs typeface="Times New Roman" pitchFamily="18" charset="0"/>
                        </a:rPr>
                        <a:t>C</a:t>
                      </a:r>
                      <a:endParaRPr kumimoji="0" lang="en-US" altLang="en-US" sz="1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993300"/>
                          </a:solidFill>
                          <a:effectLst/>
                          <a:latin typeface="Times New Roman" pitchFamily="18" charset="0"/>
                          <a:cs typeface="Times New Roman" pitchFamily="18" charset="0"/>
                        </a:rPr>
                        <a:t>D</a:t>
                      </a:r>
                      <a:endParaRPr kumimoji="0" lang="en-US" altLang="en-US" sz="1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993300"/>
                          </a:solidFill>
                          <a:effectLst/>
                          <a:latin typeface="Times New Roman" pitchFamily="18" charset="0"/>
                          <a:cs typeface="Times New Roman" pitchFamily="18" charset="0"/>
                        </a:rPr>
                        <a:t>E</a:t>
                      </a:r>
                      <a:endParaRPr kumimoji="0" lang="en-US" altLang="en-US" sz="1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altLang="en-US" sz="2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altLang="en-US" sz="2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altLang="en-US" sz="2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altLang="en-US" sz="2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altLang="en-US" sz="2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0"/>
                  </a:ext>
                </a:extLst>
              </a:tr>
            </a:tbl>
          </a:graphicData>
        </a:graphic>
      </p:graphicFrame>
      <p:sp>
        <p:nvSpPr>
          <p:cNvPr id="7" name="Rectangle 29">
            <a:extLst>
              <a:ext uri="{FF2B5EF4-FFF2-40B4-BE49-F238E27FC236}">
                <a16:creationId xmlns:a16="http://schemas.microsoft.com/office/drawing/2014/main" id="{C106914D-0538-5745-8C7B-22667AAF9A45}"/>
              </a:ext>
            </a:extLst>
          </p:cNvPr>
          <p:cNvSpPr>
            <a:spLocks noChangeArrowheads="1"/>
          </p:cNvSpPr>
          <p:nvPr/>
        </p:nvSpPr>
        <p:spPr bwMode="auto">
          <a:xfrm>
            <a:off x="3505200" y="5021824"/>
            <a:ext cx="5562600" cy="244475"/>
          </a:xfrm>
          <a:prstGeom prst="rect">
            <a:avLst/>
          </a:prstGeom>
          <a:solidFill>
            <a:srgbClr val="0033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eaLnBrk="0" hangingPunct="0">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eaLnBrk="0" hangingPunct="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eaLnBrk="0" hangingPunct="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1000" b="1">
                <a:solidFill>
                  <a:srgbClr val="FFCC99"/>
                </a:solidFill>
                <a:latin typeface="Constantia" panose="02030602050306030303" pitchFamily="18" charset="0"/>
                <a:cs typeface="Times New Roman" panose="02020603050405020304" pitchFamily="18" charset="0"/>
              </a:rPr>
              <a:t>  0             1              2              3           TOP = 4        5             6              7           8                   9</a:t>
            </a:r>
            <a:endParaRPr lang="en-US" altLang="en-US" sz="1400" b="1">
              <a:solidFill>
                <a:srgbClr val="FFCC99"/>
              </a:solidFill>
              <a:latin typeface="Constantia" panose="02030602050306030303" pitchFamily="18" charset="0"/>
            </a:endParaRPr>
          </a:p>
        </p:txBody>
      </p:sp>
      <p:graphicFrame>
        <p:nvGraphicFramePr>
          <p:cNvPr id="8" name="Group 31">
            <a:extLst>
              <a:ext uri="{FF2B5EF4-FFF2-40B4-BE49-F238E27FC236}">
                <a16:creationId xmlns:a16="http://schemas.microsoft.com/office/drawing/2014/main" id="{D6C1AC09-659B-E4D8-870B-D240EA4944C3}"/>
              </a:ext>
            </a:extLst>
          </p:cNvPr>
          <p:cNvGraphicFramePr>
            <a:graphicFrameLocks noGrp="1"/>
          </p:cNvGraphicFramePr>
          <p:nvPr/>
        </p:nvGraphicFramePr>
        <p:xfrm>
          <a:off x="3505200" y="5402823"/>
          <a:ext cx="5619750" cy="517588"/>
        </p:xfrm>
        <a:graphic>
          <a:graphicData uri="http://schemas.openxmlformats.org/drawingml/2006/table">
            <a:tbl>
              <a:tblPr/>
              <a:tblGrid>
                <a:gridCol w="561975">
                  <a:extLst>
                    <a:ext uri="{9D8B030D-6E8A-4147-A177-3AD203B41FA5}">
                      <a16:colId xmlns:a16="http://schemas.microsoft.com/office/drawing/2014/main" val="20000"/>
                    </a:ext>
                  </a:extLst>
                </a:gridCol>
                <a:gridCol w="561975">
                  <a:extLst>
                    <a:ext uri="{9D8B030D-6E8A-4147-A177-3AD203B41FA5}">
                      <a16:colId xmlns:a16="http://schemas.microsoft.com/office/drawing/2014/main" val="20001"/>
                    </a:ext>
                  </a:extLst>
                </a:gridCol>
                <a:gridCol w="561975">
                  <a:extLst>
                    <a:ext uri="{9D8B030D-6E8A-4147-A177-3AD203B41FA5}">
                      <a16:colId xmlns:a16="http://schemas.microsoft.com/office/drawing/2014/main" val="20002"/>
                    </a:ext>
                  </a:extLst>
                </a:gridCol>
                <a:gridCol w="561975">
                  <a:extLst>
                    <a:ext uri="{9D8B030D-6E8A-4147-A177-3AD203B41FA5}">
                      <a16:colId xmlns:a16="http://schemas.microsoft.com/office/drawing/2014/main" val="20003"/>
                    </a:ext>
                  </a:extLst>
                </a:gridCol>
                <a:gridCol w="561975">
                  <a:extLst>
                    <a:ext uri="{9D8B030D-6E8A-4147-A177-3AD203B41FA5}">
                      <a16:colId xmlns:a16="http://schemas.microsoft.com/office/drawing/2014/main" val="20004"/>
                    </a:ext>
                  </a:extLst>
                </a:gridCol>
                <a:gridCol w="561975">
                  <a:extLst>
                    <a:ext uri="{9D8B030D-6E8A-4147-A177-3AD203B41FA5}">
                      <a16:colId xmlns:a16="http://schemas.microsoft.com/office/drawing/2014/main" val="20005"/>
                    </a:ext>
                  </a:extLst>
                </a:gridCol>
                <a:gridCol w="561975">
                  <a:extLst>
                    <a:ext uri="{9D8B030D-6E8A-4147-A177-3AD203B41FA5}">
                      <a16:colId xmlns:a16="http://schemas.microsoft.com/office/drawing/2014/main" val="20006"/>
                    </a:ext>
                  </a:extLst>
                </a:gridCol>
                <a:gridCol w="561975">
                  <a:extLst>
                    <a:ext uri="{9D8B030D-6E8A-4147-A177-3AD203B41FA5}">
                      <a16:colId xmlns:a16="http://schemas.microsoft.com/office/drawing/2014/main" val="20007"/>
                    </a:ext>
                  </a:extLst>
                </a:gridCol>
                <a:gridCol w="561975">
                  <a:extLst>
                    <a:ext uri="{9D8B030D-6E8A-4147-A177-3AD203B41FA5}">
                      <a16:colId xmlns:a16="http://schemas.microsoft.com/office/drawing/2014/main" val="20008"/>
                    </a:ext>
                  </a:extLst>
                </a:gridCol>
                <a:gridCol w="561975">
                  <a:extLst>
                    <a:ext uri="{9D8B030D-6E8A-4147-A177-3AD203B41FA5}">
                      <a16:colId xmlns:a16="http://schemas.microsoft.com/office/drawing/2014/main" val="20009"/>
                    </a:ext>
                  </a:extLst>
                </a:gridCol>
              </a:tblGrid>
              <a:tr h="517525">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993300"/>
                          </a:solidFill>
                          <a:effectLst/>
                          <a:latin typeface="Times New Roman" pitchFamily="18" charset="0"/>
                          <a:cs typeface="Times New Roman" pitchFamily="18" charset="0"/>
                        </a:rPr>
                        <a:t>A</a:t>
                      </a:r>
                      <a:endParaRPr kumimoji="0" lang="en-US" altLang="en-US" sz="1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993300"/>
                          </a:solidFill>
                          <a:effectLst/>
                          <a:latin typeface="Times New Roman" pitchFamily="18" charset="0"/>
                          <a:cs typeface="Times New Roman" pitchFamily="18" charset="0"/>
                        </a:rPr>
                        <a:t>B</a:t>
                      </a:r>
                      <a:endParaRPr kumimoji="0" lang="en-US" altLang="en-US" sz="1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993300"/>
                          </a:solidFill>
                          <a:effectLst/>
                          <a:latin typeface="Times New Roman" pitchFamily="18" charset="0"/>
                          <a:cs typeface="Times New Roman" pitchFamily="18" charset="0"/>
                        </a:rPr>
                        <a:t>C</a:t>
                      </a:r>
                      <a:endParaRPr kumimoji="0" lang="en-US" altLang="en-US" sz="1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100" b="1" i="0" u="none" strike="noStrike" cap="none" normalizeH="0" baseline="0">
                          <a:ln>
                            <a:noFill/>
                          </a:ln>
                          <a:solidFill>
                            <a:srgbClr val="993300"/>
                          </a:solidFill>
                          <a:effectLst/>
                          <a:latin typeface="Times New Roman" pitchFamily="18" charset="0"/>
                          <a:cs typeface="Times New Roman" pitchFamily="18" charset="0"/>
                        </a:rPr>
                        <a:t>D</a:t>
                      </a:r>
                      <a:endParaRPr kumimoji="0" lang="en-US" altLang="en-US" sz="1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altLang="en-US" sz="2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altLang="en-US" sz="2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altLang="en-US" sz="2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altLang="en-US" sz="2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altLang="en-US" sz="2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altLang="en-US" sz="2800" b="1" i="0" u="none" strike="noStrike" cap="none" normalizeH="0" baseline="0">
                        <a:ln>
                          <a:noFill/>
                        </a:ln>
                        <a:solidFill>
                          <a:srgbClr val="993300"/>
                        </a:solidFill>
                        <a:effectLst/>
                        <a:latin typeface="Arial" charset="0"/>
                        <a:cs typeface="Arial" charset="0"/>
                      </a:endParaRPr>
                    </a:p>
                  </a:txBody>
                  <a:tcPr marT="45434" marB="45434"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0"/>
                  </a:ext>
                </a:extLst>
              </a:tr>
            </a:tbl>
          </a:graphicData>
        </a:graphic>
      </p:graphicFrame>
      <p:sp>
        <p:nvSpPr>
          <p:cNvPr id="9" name="Rectangle 55">
            <a:extLst>
              <a:ext uri="{FF2B5EF4-FFF2-40B4-BE49-F238E27FC236}">
                <a16:creationId xmlns:a16="http://schemas.microsoft.com/office/drawing/2014/main" id="{CBA3481E-76A9-A997-A027-B0B2416B57EA}"/>
              </a:ext>
            </a:extLst>
          </p:cNvPr>
          <p:cNvSpPr>
            <a:spLocks noChangeArrowheads="1"/>
          </p:cNvSpPr>
          <p:nvPr/>
        </p:nvSpPr>
        <p:spPr bwMode="auto">
          <a:xfrm>
            <a:off x="3429000" y="6004487"/>
            <a:ext cx="5638800" cy="244475"/>
          </a:xfrm>
          <a:prstGeom prst="rect">
            <a:avLst/>
          </a:prstGeom>
          <a:solidFill>
            <a:srgbClr val="0033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eaLnBrk="0" hangingPunct="0">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eaLnBrk="0" hangingPunct="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eaLnBrk="0" hangingPunct="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1000" b="1">
                <a:solidFill>
                  <a:srgbClr val="FFCC99"/>
                </a:solidFill>
                <a:latin typeface="Constantia" panose="02030602050306030303" pitchFamily="18" charset="0"/>
                <a:cs typeface="Times New Roman" panose="02020603050405020304" pitchFamily="18" charset="0"/>
              </a:rPr>
              <a:t>      0               1	             2           TOP = 3        4                  5                     6               7	     8             9</a:t>
            </a:r>
            <a:endParaRPr lang="en-US" altLang="en-US" sz="1400" b="1">
              <a:solidFill>
                <a:srgbClr val="FFCC99"/>
              </a:solidFill>
              <a:latin typeface="Constantia" panose="02030602050306030303" pitchFamily="18" charset="0"/>
            </a:endParaRPr>
          </a:p>
        </p:txBody>
      </p:sp>
    </p:spTree>
    <p:extLst>
      <p:ext uri="{BB962C8B-B14F-4D97-AF65-F5344CB8AC3E}">
        <p14:creationId xmlns:p14="http://schemas.microsoft.com/office/powerpoint/2010/main" val="4137147791"/>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 name="Picture 3"/>
          <p:cNvPicPr>
            <a:picLocks noChangeAspect="1"/>
          </p:cNvPicPr>
          <p:nvPr/>
        </p:nvPicPr>
        <p:blipFill>
          <a:blip r:embed="rId2"/>
          <a:stretch>
            <a:fillRect/>
          </a:stretch>
        </p:blipFill>
        <p:spPr>
          <a:xfrm>
            <a:off x="676275" y="427039"/>
            <a:ext cx="11125200" cy="5851525"/>
          </a:xfrm>
          <a:prstGeom prst="rect">
            <a:avLst/>
          </a:prstGeom>
        </p:spPr>
      </p:pic>
    </p:spTree>
    <p:extLst>
      <p:ext uri="{BB962C8B-B14F-4D97-AF65-F5344CB8AC3E}">
        <p14:creationId xmlns:p14="http://schemas.microsoft.com/office/powerpoint/2010/main" val="257004368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 name="Picture 3"/>
          <p:cNvPicPr>
            <a:picLocks noChangeAspect="1"/>
          </p:cNvPicPr>
          <p:nvPr/>
        </p:nvPicPr>
        <p:blipFill>
          <a:blip r:embed="rId2"/>
          <a:stretch>
            <a:fillRect/>
          </a:stretch>
        </p:blipFill>
        <p:spPr>
          <a:xfrm>
            <a:off x="695326" y="427040"/>
            <a:ext cx="11039474" cy="6278560"/>
          </a:xfrm>
          <a:prstGeom prst="rect">
            <a:avLst/>
          </a:prstGeom>
        </p:spPr>
      </p:pic>
    </p:spTree>
    <p:extLst>
      <p:ext uri="{BB962C8B-B14F-4D97-AF65-F5344CB8AC3E}">
        <p14:creationId xmlns:p14="http://schemas.microsoft.com/office/powerpoint/2010/main" val="290729540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 name="Picture 3"/>
          <p:cNvPicPr>
            <a:picLocks noChangeAspect="1"/>
          </p:cNvPicPr>
          <p:nvPr/>
        </p:nvPicPr>
        <p:blipFill>
          <a:blip r:embed="rId2"/>
          <a:stretch>
            <a:fillRect/>
          </a:stretch>
        </p:blipFill>
        <p:spPr>
          <a:xfrm>
            <a:off x="762000" y="427040"/>
            <a:ext cx="11096625" cy="5992810"/>
          </a:xfrm>
          <a:prstGeom prst="rect">
            <a:avLst/>
          </a:prstGeom>
        </p:spPr>
      </p:pic>
    </p:spTree>
    <p:extLst>
      <p:ext uri="{BB962C8B-B14F-4D97-AF65-F5344CB8AC3E}">
        <p14:creationId xmlns:p14="http://schemas.microsoft.com/office/powerpoint/2010/main" val="258262538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 name="Picture 3"/>
          <p:cNvPicPr>
            <a:picLocks noChangeAspect="1"/>
          </p:cNvPicPr>
          <p:nvPr/>
        </p:nvPicPr>
        <p:blipFill>
          <a:blip r:embed="rId2"/>
          <a:stretch>
            <a:fillRect/>
          </a:stretch>
        </p:blipFill>
        <p:spPr>
          <a:xfrm>
            <a:off x="762000" y="427039"/>
            <a:ext cx="10972800" cy="5851525"/>
          </a:xfrm>
          <a:prstGeom prst="rect">
            <a:avLst/>
          </a:prstGeom>
        </p:spPr>
      </p:pic>
    </p:spTree>
    <p:extLst>
      <p:ext uri="{BB962C8B-B14F-4D97-AF65-F5344CB8AC3E}">
        <p14:creationId xmlns:p14="http://schemas.microsoft.com/office/powerpoint/2010/main" val="305805462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dirty="0"/>
          </a:p>
        </p:txBody>
      </p:sp>
      <p:pic>
        <p:nvPicPr>
          <p:cNvPr id="4" name="Picture 3"/>
          <p:cNvPicPr>
            <a:picLocks noChangeAspect="1"/>
          </p:cNvPicPr>
          <p:nvPr/>
        </p:nvPicPr>
        <p:blipFill>
          <a:blip r:embed="rId2"/>
          <a:stretch>
            <a:fillRect/>
          </a:stretch>
        </p:blipFill>
        <p:spPr>
          <a:xfrm>
            <a:off x="762000" y="427039"/>
            <a:ext cx="10972800" cy="6164261"/>
          </a:xfrm>
          <a:prstGeom prst="rect">
            <a:avLst/>
          </a:prstGeom>
        </p:spPr>
      </p:pic>
    </p:spTree>
    <p:extLst>
      <p:ext uri="{BB962C8B-B14F-4D97-AF65-F5344CB8AC3E}">
        <p14:creationId xmlns:p14="http://schemas.microsoft.com/office/powerpoint/2010/main" val="588041326"/>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 name="Picture 3"/>
          <p:cNvPicPr>
            <a:picLocks noChangeAspect="1"/>
          </p:cNvPicPr>
          <p:nvPr/>
        </p:nvPicPr>
        <p:blipFill>
          <a:blip r:embed="rId2"/>
          <a:stretch>
            <a:fillRect/>
          </a:stretch>
        </p:blipFill>
        <p:spPr>
          <a:xfrm>
            <a:off x="1533526" y="504825"/>
            <a:ext cx="9982200" cy="5773739"/>
          </a:xfrm>
          <a:prstGeom prst="rect">
            <a:avLst/>
          </a:prstGeom>
        </p:spPr>
      </p:pic>
    </p:spTree>
    <p:extLst>
      <p:ext uri="{BB962C8B-B14F-4D97-AF65-F5344CB8AC3E}">
        <p14:creationId xmlns:p14="http://schemas.microsoft.com/office/powerpoint/2010/main" val="328486621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Content Placeholder 3"/>
          <p:cNvPicPr>
            <a:picLocks noGrp="1" noChangeAspect="1"/>
          </p:cNvPicPr>
          <p:nvPr>
            <p:ph idx="1"/>
          </p:nvPr>
        </p:nvPicPr>
        <p:blipFill>
          <a:blip r:embed="rId2"/>
          <a:stretch>
            <a:fillRect/>
          </a:stretch>
        </p:blipFill>
        <p:spPr>
          <a:xfrm>
            <a:off x="828675" y="552450"/>
            <a:ext cx="10639425" cy="6048375"/>
          </a:xfrm>
          <a:prstGeom prst="rect">
            <a:avLst/>
          </a:prstGeom>
        </p:spPr>
      </p:pic>
    </p:spTree>
    <p:extLst>
      <p:ext uri="{BB962C8B-B14F-4D97-AF65-F5344CB8AC3E}">
        <p14:creationId xmlns:p14="http://schemas.microsoft.com/office/powerpoint/2010/main" val="1615255313"/>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Content Placeholder 3"/>
          <p:cNvPicPr>
            <a:picLocks noGrp="1" noChangeAspect="1"/>
          </p:cNvPicPr>
          <p:nvPr>
            <p:ph idx="1"/>
          </p:nvPr>
        </p:nvPicPr>
        <p:blipFill>
          <a:blip r:embed="rId2"/>
          <a:stretch>
            <a:fillRect/>
          </a:stretch>
        </p:blipFill>
        <p:spPr>
          <a:xfrm>
            <a:off x="857250" y="427040"/>
            <a:ext cx="10877550" cy="6430960"/>
          </a:xfrm>
          <a:prstGeom prst="rect">
            <a:avLst/>
          </a:prstGeom>
        </p:spPr>
      </p:pic>
    </p:spTree>
    <p:extLst>
      <p:ext uri="{BB962C8B-B14F-4D97-AF65-F5344CB8AC3E}">
        <p14:creationId xmlns:p14="http://schemas.microsoft.com/office/powerpoint/2010/main" val="230906155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400" dirty="0"/>
              <a:t>Stack implementation using </a:t>
            </a:r>
            <a:r>
              <a:rPr lang="en-US" sz="4400" dirty="0" smtClean="0"/>
              <a:t>Array</a:t>
            </a:r>
            <a:endParaRPr lang="en-US" sz="4000" dirty="0"/>
          </a:p>
        </p:txBody>
      </p:sp>
      <p:sp>
        <p:nvSpPr>
          <p:cNvPr id="4" name="Content Placeholder 3"/>
          <p:cNvSpPr txBox="1">
            <a:spLocks noGrp="1"/>
          </p:cNvSpPr>
          <p:nvPr>
            <p:ph idx="1"/>
          </p:nvPr>
        </p:nvSpPr>
        <p:spPr>
          <a:xfrm>
            <a:off x="1251678" y="1506829"/>
            <a:ext cx="3375740" cy="890007"/>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vert="horz" lIns="91440" tIns="45720" rIns="91440" bIns="45720" rtlCol="0" anchor="ctr">
            <a:normAutofit/>
          </a:bodyPr>
          <a:lstStyle>
            <a:lvl1pPr marL="228600" indent="-228600" algn="l" defTabSz="914400" rtl="0" eaLnBrk="1" latinLnBrk="0" hangingPunct="1">
              <a:lnSpc>
                <a:spcPct val="110000"/>
              </a:lnSpc>
              <a:spcBef>
                <a:spcPts val="700"/>
              </a:spcBef>
              <a:buClr>
                <a:schemeClr val="tx2"/>
              </a:buClr>
              <a:buFont typeface="Arial" panose="020B0604020202020204" pitchFamily="34" charset="0"/>
              <a:buChar char="•"/>
              <a:defRPr sz="1800" kern="1200">
                <a:solidFill>
                  <a:schemeClr val="lt1"/>
                </a:solidFill>
                <a:latin typeface="Georgia" panose="02040502050405020303" pitchFamily="18" charset="0"/>
                <a:ea typeface="+mn-ea"/>
                <a:cs typeface="+mn-cs"/>
              </a:defRPr>
            </a:lvl1pPr>
            <a:lvl2pPr marL="685800" indent="-228600" algn="l" defTabSz="914400" rtl="0" eaLnBrk="1" latinLnBrk="0" hangingPunct="1">
              <a:lnSpc>
                <a:spcPct val="110000"/>
              </a:lnSpc>
              <a:spcBef>
                <a:spcPts val="700"/>
              </a:spcBef>
              <a:buClr>
                <a:schemeClr val="tx2"/>
              </a:buClr>
              <a:buFont typeface="Gill Sans MT" panose="020B0502020104020203" pitchFamily="34" charset="0"/>
              <a:buChar char="–"/>
              <a:defRPr sz="1800" kern="1200">
                <a:solidFill>
                  <a:schemeClr val="lt1"/>
                </a:solidFill>
                <a:latin typeface="Georgia" panose="02040502050405020303" pitchFamily="18" charset="0"/>
                <a:ea typeface="+mn-ea"/>
                <a:cs typeface="+mn-cs"/>
              </a:defRPr>
            </a:lvl2pPr>
            <a:lvl3pPr marL="1143000" indent="-228600" algn="l" defTabSz="914400" rtl="0" eaLnBrk="1" latinLnBrk="0" hangingPunct="1">
              <a:lnSpc>
                <a:spcPct val="110000"/>
              </a:lnSpc>
              <a:spcBef>
                <a:spcPts val="700"/>
              </a:spcBef>
              <a:buClr>
                <a:schemeClr val="tx2"/>
              </a:buClr>
              <a:buFont typeface="Arial" panose="020B0604020202020204" pitchFamily="34" charset="0"/>
              <a:buChar char="•"/>
              <a:defRPr sz="1800" kern="1200">
                <a:solidFill>
                  <a:schemeClr val="lt1"/>
                </a:solidFill>
                <a:latin typeface="Georgia" panose="02040502050405020303" pitchFamily="18" charset="0"/>
                <a:ea typeface="+mn-ea"/>
                <a:cs typeface="+mn-cs"/>
              </a:defRPr>
            </a:lvl3pPr>
            <a:lvl4pPr marL="1600200" indent="-228600" algn="l" defTabSz="914400" rtl="0" eaLnBrk="1" latinLnBrk="0" hangingPunct="1">
              <a:lnSpc>
                <a:spcPct val="110000"/>
              </a:lnSpc>
              <a:spcBef>
                <a:spcPts val="700"/>
              </a:spcBef>
              <a:buClr>
                <a:schemeClr val="tx2"/>
              </a:buClr>
              <a:buFont typeface="Gill Sans MT" panose="020B0502020104020203" pitchFamily="34" charset="0"/>
              <a:buChar char="–"/>
              <a:defRPr sz="1800" kern="1200">
                <a:solidFill>
                  <a:schemeClr val="lt1"/>
                </a:solidFill>
                <a:latin typeface="Georgia" panose="02040502050405020303" pitchFamily="18" charset="0"/>
                <a:ea typeface="+mn-ea"/>
                <a:cs typeface="+mn-cs"/>
              </a:defRPr>
            </a:lvl4pPr>
            <a:lvl5pPr marL="2057400" indent="-228600" algn="l" defTabSz="914400" rtl="0" eaLnBrk="1" latinLnBrk="0" hangingPunct="1">
              <a:lnSpc>
                <a:spcPct val="110000"/>
              </a:lnSpc>
              <a:spcBef>
                <a:spcPts val="700"/>
              </a:spcBef>
              <a:buClr>
                <a:schemeClr val="tx2"/>
              </a:buClr>
              <a:buFont typeface="Arial" panose="020B0604020202020204" pitchFamily="34" charset="0"/>
              <a:buChar char="•"/>
              <a:defRPr sz="1800" kern="1200">
                <a:solidFill>
                  <a:schemeClr val="lt1"/>
                </a:solidFill>
                <a:latin typeface="Georgia" panose="02040502050405020303" pitchFamily="18" charset="0"/>
                <a:ea typeface="+mn-ea"/>
                <a:cs typeface="+mn-cs"/>
              </a:defRPr>
            </a:lvl5pPr>
            <a:lvl6pPr marL="25146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lt1"/>
                </a:solidFill>
                <a:latin typeface="+mn-lt"/>
                <a:ea typeface="+mn-ea"/>
                <a:cs typeface="+mn-cs"/>
              </a:defRPr>
            </a:lvl6pPr>
            <a:lvl7pPr marL="29718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lt1"/>
                </a:solidFill>
                <a:latin typeface="+mn-lt"/>
                <a:ea typeface="+mn-ea"/>
                <a:cs typeface="+mn-cs"/>
              </a:defRPr>
            </a:lvl7pPr>
            <a:lvl8pPr marL="34290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baseline="0">
                <a:solidFill>
                  <a:schemeClr val="lt1"/>
                </a:solidFill>
                <a:latin typeface="+mn-lt"/>
                <a:ea typeface="+mn-ea"/>
                <a:cs typeface="+mn-cs"/>
              </a:defRPr>
            </a:lvl8pPr>
            <a:lvl9pPr marL="38862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baseline="0">
                <a:solidFill>
                  <a:schemeClr val="lt1"/>
                </a:solidFill>
                <a:latin typeface="+mn-lt"/>
                <a:ea typeface="+mn-ea"/>
                <a:cs typeface="+mn-cs"/>
              </a:defRPr>
            </a:lvl9pPr>
          </a:lstStyle>
          <a:p>
            <a:pPr algn="ctr"/>
            <a:r>
              <a:rPr lang="en-US" dirty="0" smtClean="0"/>
              <a:t>Refer Program here</a:t>
            </a:r>
            <a:endParaRPr 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2544199964"/>
              </p:ext>
            </p:extLst>
          </p:nvPr>
        </p:nvGraphicFramePr>
        <p:xfrm>
          <a:off x="5224463" y="1712913"/>
          <a:ext cx="469900" cy="481012"/>
        </p:xfrm>
        <a:graphic>
          <a:graphicData uri="http://schemas.openxmlformats.org/presentationml/2006/ole">
            <mc:AlternateContent xmlns:mc="http://schemas.openxmlformats.org/markup-compatibility/2006">
              <mc:Choice xmlns:v="urn:schemas-microsoft-com:vml" Requires="v">
                <p:oleObj spid="_x0000_s6212" name="Packager Shell Object" showAsIcon="1" r:id="rId3" imgW="469440" imgH="481320" progId="Package">
                  <p:embed/>
                </p:oleObj>
              </mc:Choice>
              <mc:Fallback>
                <p:oleObj name="Packager Shell Object" showAsIcon="1" r:id="rId3" imgW="469440" imgH="481320" progId="Package">
                  <p:embed/>
                  <p:pic>
                    <p:nvPicPr>
                      <p:cNvPr id="0" name=""/>
                      <p:cNvPicPr/>
                      <p:nvPr/>
                    </p:nvPicPr>
                    <p:blipFill>
                      <a:blip r:embed="rId4"/>
                      <a:stretch>
                        <a:fillRect/>
                      </a:stretch>
                    </p:blipFill>
                    <p:spPr>
                      <a:xfrm>
                        <a:off x="5224463" y="1712913"/>
                        <a:ext cx="469900" cy="481012"/>
                      </a:xfrm>
                      <a:prstGeom prst="rect">
                        <a:avLst/>
                      </a:prstGeom>
                    </p:spPr>
                  </p:pic>
                </p:oleObj>
              </mc:Fallback>
            </mc:AlternateContent>
          </a:graphicData>
        </a:graphic>
      </p:graphicFrame>
    </p:spTree>
    <p:extLst>
      <p:ext uri="{BB962C8B-B14F-4D97-AF65-F5344CB8AC3E}">
        <p14:creationId xmlns:p14="http://schemas.microsoft.com/office/powerpoint/2010/main" val="351003006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dirty="0" smtClean="0"/>
              <a:t>Stack implementation using linked list</a:t>
            </a:r>
            <a:endParaRPr lang="en-US" sz="3600" dirty="0"/>
          </a:p>
        </p:txBody>
      </p:sp>
      <p:sp>
        <p:nvSpPr>
          <p:cNvPr id="3" name="Content Placeholder 2"/>
          <p:cNvSpPr>
            <a:spLocks noGrp="1"/>
          </p:cNvSpPr>
          <p:nvPr>
            <p:ph idx="1"/>
          </p:nvPr>
        </p:nvSpPr>
        <p:spPr/>
        <p:txBody>
          <a:bodyPr/>
          <a:lstStyle/>
          <a:p>
            <a:r>
              <a:rPr lang="en-US" dirty="0" smtClean="0">
                <a:solidFill>
                  <a:schemeClr val="tx1"/>
                </a:solidFill>
              </a:rPr>
              <a:t>Stack </a:t>
            </a:r>
            <a:r>
              <a:rPr lang="en-US" dirty="0">
                <a:solidFill>
                  <a:schemeClr val="tx1"/>
                </a:solidFill>
              </a:rPr>
              <a:t>is </a:t>
            </a:r>
            <a:r>
              <a:rPr lang="en-US" dirty="0" smtClean="0">
                <a:solidFill>
                  <a:schemeClr val="tx1"/>
                </a:solidFill>
              </a:rPr>
              <a:t>an area </a:t>
            </a:r>
            <a:r>
              <a:rPr lang="en-US" dirty="0">
                <a:solidFill>
                  <a:schemeClr val="tx1"/>
                </a:solidFill>
              </a:rPr>
              <a:t>of memory that holds all local variables and parameters used by any function, and remembers the order in which functions are called so that function returns occur </a:t>
            </a:r>
            <a:r>
              <a:rPr lang="en-US" dirty="0" smtClean="0">
                <a:solidFill>
                  <a:schemeClr val="tx1"/>
                </a:solidFill>
              </a:rPr>
              <a:t>correctly.</a:t>
            </a:r>
          </a:p>
          <a:p>
            <a:r>
              <a:rPr lang="en-US" dirty="0" smtClean="0">
                <a:solidFill>
                  <a:schemeClr val="tx1"/>
                </a:solidFill>
              </a:rPr>
              <a:t>Each </a:t>
            </a:r>
            <a:r>
              <a:rPr lang="en-US" dirty="0">
                <a:solidFill>
                  <a:schemeClr val="tx1"/>
                </a:solidFill>
              </a:rPr>
              <a:t>time a function is called, its local variables and parameters are “pushed onto” the stack. When the function </a:t>
            </a:r>
            <a:r>
              <a:rPr lang="en-US" dirty="0" smtClean="0">
                <a:solidFill>
                  <a:schemeClr val="tx1"/>
                </a:solidFill>
              </a:rPr>
              <a:t>returns these </a:t>
            </a:r>
            <a:r>
              <a:rPr lang="en-US" dirty="0">
                <a:solidFill>
                  <a:schemeClr val="tx1"/>
                </a:solidFill>
              </a:rPr>
              <a:t>locals and parameters are “popped.” Because of this, the size of a program’s stack fluctuates constantly as the program is running, but it has some maximum size. </a:t>
            </a:r>
            <a:endParaRPr lang="en-US" dirty="0" smtClean="0">
              <a:solidFill>
                <a:schemeClr val="tx1"/>
              </a:solidFill>
            </a:endParaRPr>
          </a:p>
          <a:p>
            <a:r>
              <a:rPr lang="en-US" dirty="0" smtClean="0">
                <a:solidFill>
                  <a:schemeClr val="tx1"/>
                </a:solidFill>
              </a:rPr>
              <a:t>A list with the restriction that insertion and deletion can be performed only from one end.</a:t>
            </a:r>
          </a:p>
          <a:p>
            <a:r>
              <a:rPr lang="en-US" dirty="0" smtClean="0">
                <a:solidFill>
                  <a:schemeClr val="tx1"/>
                </a:solidFill>
              </a:rPr>
              <a:t>stack </a:t>
            </a:r>
            <a:r>
              <a:rPr lang="en-US" dirty="0">
                <a:solidFill>
                  <a:schemeClr val="tx1"/>
                </a:solidFill>
              </a:rPr>
              <a:t>is as a last in, first out (LIFO) abstract data type and linear data structure. </a:t>
            </a:r>
            <a:endParaRPr lang="en-US" dirty="0" smtClean="0">
              <a:solidFill>
                <a:schemeClr val="tx1"/>
              </a:solidFill>
            </a:endParaRPr>
          </a:p>
          <a:p>
            <a:r>
              <a:rPr lang="en-US" dirty="0" smtClean="0">
                <a:solidFill>
                  <a:schemeClr val="tx1"/>
                </a:solidFill>
              </a:rPr>
              <a:t>Linked </a:t>
            </a:r>
            <a:r>
              <a:rPr lang="en-US" dirty="0">
                <a:solidFill>
                  <a:schemeClr val="tx1"/>
                </a:solidFill>
              </a:rPr>
              <a:t>list is a data structure consisting of a group of nodes which together represent a sequence. </a:t>
            </a:r>
            <a:endParaRPr lang="en-US" dirty="0" smtClean="0">
              <a:solidFill>
                <a:schemeClr val="tx1"/>
              </a:solidFill>
            </a:endParaRPr>
          </a:p>
          <a:p>
            <a:r>
              <a:rPr lang="en-US" dirty="0" smtClean="0">
                <a:solidFill>
                  <a:srgbClr val="002060"/>
                </a:solidFill>
              </a:rPr>
              <a:t>Here </a:t>
            </a:r>
            <a:r>
              <a:rPr lang="en-US" dirty="0">
                <a:solidFill>
                  <a:srgbClr val="002060"/>
                </a:solidFill>
              </a:rPr>
              <a:t>we need to apply the application of </a:t>
            </a:r>
            <a:r>
              <a:rPr lang="en-US" dirty="0" smtClean="0">
                <a:solidFill>
                  <a:srgbClr val="002060"/>
                </a:solidFill>
              </a:rPr>
              <a:t>linked list </a:t>
            </a:r>
            <a:r>
              <a:rPr lang="en-US" dirty="0">
                <a:solidFill>
                  <a:srgbClr val="002060"/>
                </a:solidFill>
              </a:rPr>
              <a:t>to perform basic operations of stack</a:t>
            </a:r>
            <a:r>
              <a:rPr lang="en-US" dirty="0" smtClean="0">
                <a:solidFill>
                  <a:srgbClr val="002060"/>
                </a:solidFill>
              </a:rPr>
              <a:t>.</a:t>
            </a:r>
          </a:p>
          <a:p>
            <a:endParaRPr lang="en-US" dirty="0">
              <a:solidFill>
                <a:srgbClr val="002060"/>
              </a:solidFill>
            </a:endParaRPr>
          </a:p>
        </p:txBody>
      </p:sp>
      <p:sp>
        <p:nvSpPr>
          <p:cNvPr id="4" name="Content Placeholder 3"/>
          <p:cNvSpPr txBox="1">
            <a:spLocks/>
          </p:cNvSpPr>
          <p:nvPr/>
        </p:nvSpPr>
        <p:spPr>
          <a:xfrm>
            <a:off x="1758833" y="5377528"/>
            <a:ext cx="3643051" cy="1343947"/>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vert="horz" lIns="91440" tIns="45720" rIns="91440" bIns="45720" rtlCol="0" anchor="ctr">
            <a:normAutofit/>
          </a:bodyPr>
          <a:lstStyle>
            <a:lvl1pPr marL="228600" indent="-228600" algn="l" defTabSz="914400" rtl="0" eaLnBrk="1" latinLnBrk="0" hangingPunct="1">
              <a:lnSpc>
                <a:spcPct val="110000"/>
              </a:lnSpc>
              <a:spcBef>
                <a:spcPts val="700"/>
              </a:spcBef>
              <a:buClr>
                <a:schemeClr val="tx2"/>
              </a:buClr>
              <a:buFont typeface="Arial" panose="020B0604020202020204" pitchFamily="34" charset="0"/>
              <a:buChar char="•"/>
              <a:defRPr sz="1800" kern="1200">
                <a:solidFill>
                  <a:schemeClr val="lt1"/>
                </a:solidFill>
                <a:latin typeface="Georgia" panose="02040502050405020303" pitchFamily="18" charset="0"/>
                <a:ea typeface="+mn-ea"/>
                <a:cs typeface="+mn-cs"/>
              </a:defRPr>
            </a:lvl1pPr>
            <a:lvl2pPr marL="685800" indent="-228600" algn="l" defTabSz="914400" rtl="0" eaLnBrk="1" latinLnBrk="0" hangingPunct="1">
              <a:lnSpc>
                <a:spcPct val="110000"/>
              </a:lnSpc>
              <a:spcBef>
                <a:spcPts val="700"/>
              </a:spcBef>
              <a:buClr>
                <a:schemeClr val="tx2"/>
              </a:buClr>
              <a:buFont typeface="Gill Sans MT" panose="020B0502020104020203" pitchFamily="34" charset="0"/>
              <a:buChar char="–"/>
              <a:defRPr sz="1800" kern="1200">
                <a:solidFill>
                  <a:schemeClr val="lt1"/>
                </a:solidFill>
                <a:latin typeface="Georgia" panose="02040502050405020303" pitchFamily="18" charset="0"/>
                <a:ea typeface="+mn-ea"/>
                <a:cs typeface="+mn-cs"/>
              </a:defRPr>
            </a:lvl2pPr>
            <a:lvl3pPr marL="1143000" indent="-228600" algn="l" defTabSz="914400" rtl="0" eaLnBrk="1" latinLnBrk="0" hangingPunct="1">
              <a:lnSpc>
                <a:spcPct val="110000"/>
              </a:lnSpc>
              <a:spcBef>
                <a:spcPts val="700"/>
              </a:spcBef>
              <a:buClr>
                <a:schemeClr val="tx2"/>
              </a:buClr>
              <a:buFont typeface="Arial" panose="020B0604020202020204" pitchFamily="34" charset="0"/>
              <a:buChar char="•"/>
              <a:defRPr sz="1800" kern="1200">
                <a:solidFill>
                  <a:schemeClr val="lt1"/>
                </a:solidFill>
                <a:latin typeface="Georgia" panose="02040502050405020303" pitchFamily="18" charset="0"/>
                <a:ea typeface="+mn-ea"/>
                <a:cs typeface="+mn-cs"/>
              </a:defRPr>
            </a:lvl3pPr>
            <a:lvl4pPr marL="1600200" indent="-228600" algn="l" defTabSz="914400" rtl="0" eaLnBrk="1" latinLnBrk="0" hangingPunct="1">
              <a:lnSpc>
                <a:spcPct val="110000"/>
              </a:lnSpc>
              <a:spcBef>
                <a:spcPts val="700"/>
              </a:spcBef>
              <a:buClr>
                <a:schemeClr val="tx2"/>
              </a:buClr>
              <a:buFont typeface="Gill Sans MT" panose="020B0502020104020203" pitchFamily="34" charset="0"/>
              <a:buChar char="–"/>
              <a:defRPr sz="1800" kern="1200">
                <a:solidFill>
                  <a:schemeClr val="lt1"/>
                </a:solidFill>
                <a:latin typeface="Georgia" panose="02040502050405020303" pitchFamily="18" charset="0"/>
                <a:ea typeface="+mn-ea"/>
                <a:cs typeface="+mn-cs"/>
              </a:defRPr>
            </a:lvl4pPr>
            <a:lvl5pPr marL="2057400" indent="-228600" algn="l" defTabSz="914400" rtl="0" eaLnBrk="1" latinLnBrk="0" hangingPunct="1">
              <a:lnSpc>
                <a:spcPct val="110000"/>
              </a:lnSpc>
              <a:spcBef>
                <a:spcPts val="700"/>
              </a:spcBef>
              <a:buClr>
                <a:schemeClr val="tx2"/>
              </a:buClr>
              <a:buFont typeface="Arial" panose="020B0604020202020204" pitchFamily="34" charset="0"/>
              <a:buChar char="•"/>
              <a:defRPr sz="1800" kern="1200">
                <a:solidFill>
                  <a:schemeClr val="lt1"/>
                </a:solidFill>
                <a:latin typeface="Georgia" panose="02040502050405020303" pitchFamily="18" charset="0"/>
                <a:ea typeface="+mn-ea"/>
                <a:cs typeface="+mn-cs"/>
              </a:defRPr>
            </a:lvl5pPr>
            <a:lvl6pPr marL="25146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lt1"/>
                </a:solidFill>
                <a:latin typeface="+mn-lt"/>
                <a:ea typeface="+mn-ea"/>
                <a:cs typeface="+mn-cs"/>
              </a:defRPr>
            </a:lvl6pPr>
            <a:lvl7pPr marL="29718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lt1"/>
                </a:solidFill>
                <a:latin typeface="+mn-lt"/>
                <a:ea typeface="+mn-ea"/>
                <a:cs typeface="+mn-cs"/>
              </a:defRPr>
            </a:lvl7pPr>
            <a:lvl8pPr marL="34290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baseline="0">
                <a:solidFill>
                  <a:schemeClr val="lt1"/>
                </a:solidFill>
                <a:latin typeface="+mn-lt"/>
                <a:ea typeface="+mn-ea"/>
                <a:cs typeface="+mn-cs"/>
              </a:defRPr>
            </a:lvl8pPr>
            <a:lvl9pPr marL="38862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baseline="0">
                <a:solidFill>
                  <a:schemeClr val="lt1"/>
                </a:solidFill>
                <a:latin typeface="+mn-lt"/>
                <a:ea typeface="+mn-ea"/>
                <a:cs typeface="+mn-cs"/>
              </a:defRPr>
            </a:lvl9pPr>
          </a:lstStyle>
          <a:p>
            <a:pPr algn="ctr"/>
            <a:r>
              <a:rPr lang="en-US" dirty="0" smtClean="0"/>
              <a:t>Refer Program here</a:t>
            </a:r>
            <a:endParaRPr 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3021079195"/>
              </p:ext>
            </p:extLst>
          </p:nvPr>
        </p:nvGraphicFramePr>
        <p:xfrm>
          <a:off x="5905500" y="5810250"/>
          <a:ext cx="439738" cy="481013"/>
        </p:xfrm>
        <a:graphic>
          <a:graphicData uri="http://schemas.openxmlformats.org/presentationml/2006/ole">
            <mc:AlternateContent xmlns:mc="http://schemas.openxmlformats.org/markup-compatibility/2006">
              <mc:Choice xmlns:v="urn:schemas-microsoft-com:vml" Requires="v">
                <p:oleObj spid="_x0000_s7236" name="Packager Shell Object" showAsIcon="1" r:id="rId3" imgW="440280" imgH="481320" progId="Package">
                  <p:embed/>
                </p:oleObj>
              </mc:Choice>
              <mc:Fallback>
                <p:oleObj name="Packager Shell Object" showAsIcon="1" r:id="rId3" imgW="440280" imgH="481320" progId="Package">
                  <p:embed/>
                  <p:pic>
                    <p:nvPicPr>
                      <p:cNvPr id="0" name=""/>
                      <p:cNvPicPr/>
                      <p:nvPr/>
                    </p:nvPicPr>
                    <p:blipFill>
                      <a:blip r:embed="rId4"/>
                      <a:stretch>
                        <a:fillRect/>
                      </a:stretch>
                    </p:blipFill>
                    <p:spPr>
                      <a:xfrm>
                        <a:off x="5905500" y="5810250"/>
                        <a:ext cx="439738" cy="481013"/>
                      </a:xfrm>
                      <a:prstGeom prst="rect">
                        <a:avLst/>
                      </a:prstGeom>
                    </p:spPr>
                  </p:pic>
                </p:oleObj>
              </mc:Fallback>
            </mc:AlternateContent>
          </a:graphicData>
        </a:graphic>
      </p:graphicFrame>
    </p:spTree>
    <p:extLst>
      <p:ext uri="{BB962C8B-B14F-4D97-AF65-F5344CB8AC3E}">
        <p14:creationId xmlns:p14="http://schemas.microsoft.com/office/powerpoint/2010/main" val="4174691002"/>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The Polish Notation</a:t>
            </a:r>
            <a:endParaRPr lang="en-US" dirty="0"/>
          </a:p>
        </p:txBody>
      </p:sp>
      <p:pic>
        <p:nvPicPr>
          <p:cNvPr id="9218" name="Picture 2" descr="C:\Users\sanwarul\Desktop\1.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646081" y="1276021"/>
            <a:ext cx="8735644" cy="50489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56703125"/>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r>
              <a:rPr lang="en-US" altLang="en-US"/>
              <a:t>Infix  Notation</a:t>
            </a:r>
          </a:p>
        </p:txBody>
      </p:sp>
      <p:sp>
        <p:nvSpPr>
          <p:cNvPr id="5123" name="Rectangle 3"/>
          <p:cNvSpPr>
            <a:spLocks noGrp="1" noChangeArrowheads="1"/>
          </p:cNvSpPr>
          <p:nvPr>
            <p:ph type="body" idx="1"/>
          </p:nvPr>
        </p:nvSpPr>
        <p:spPr/>
        <p:txBody>
          <a:bodyPr/>
          <a:lstStyle/>
          <a:p>
            <a:r>
              <a:rPr lang="en-US" altLang="en-US"/>
              <a:t>To add A, B, we write</a:t>
            </a:r>
          </a:p>
          <a:p>
            <a:pPr>
              <a:buFont typeface="Monotype Sorts" pitchFamily="32" charset="2"/>
              <a:buNone/>
            </a:pPr>
            <a:r>
              <a:rPr lang="en-US" altLang="en-US"/>
              <a:t>				A+B</a:t>
            </a:r>
          </a:p>
          <a:p>
            <a:r>
              <a:rPr lang="en-US" altLang="en-US"/>
              <a:t>To multiply A, B, we write</a:t>
            </a:r>
          </a:p>
          <a:p>
            <a:pPr>
              <a:buFont typeface="Monotype Sorts" pitchFamily="32" charset="2"/>
              <a:buNone/>
            </a:pPr>
            <a:r>
              <a:rPr lang="en-US" altLang="en-US"/>
              <a:t>				A*B</a:t>
            </a:r>
          </a:p>
          <a:p>
            <a:r>
              <a:rPr lang="en-US" altLang="en-US"/>
              <a:t>The operators ('+' and '*') go in between the operands ('A' and 'B')</a:t>
            </a:r>
          </a:p>
          <a:p>
            <a:r>
              <a:rPr lang="en-US" altLang="en-US"/>
              <a:t>This is </a:t>
            </a:r>
            <a:r>
              <a:rPr lang="en-US" altLang="en-US" i="1"/>
              <a:t>"Infix"</a:t>
            </a:r>
            <a:r>
              <a:rPr lang="en-US" altLang="en-US"/>
              <a:t> notation.</a:t>
            </a:r>
          </a:p>
        </p:txBody>
      </p:sp>
    </p:spTree>
    <p:extLst>
      <p:ext uri="{BB962C8B-B14F-4D97-AF65-F5344CB8AC3E}">
        <p14:creationId xmlns:p14="http://schemas.microsoft.com/office/powerpoint/2010/main" val="107569854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123">
                                            <p:txEl>
                                              <p:pRg st="0" end="0"/>
                                            </p:txEl>
                                          </p:spTgt>
                                        </p:tgtEl>
                                        <p:attrNameLst>
                                          <p:attrName>style.visibility</p:attrName>
                                        </p:attrNameLst>
                                      </p:cBhvr>
                                      <p:to>
                                        <p:strVal val="visible"/>
                                      </p:to>
                                    </p:set>
                                    <p:animEffect transition="in" filter="dissolve">
                                      <p:cBhvr>
                                        <p:cTn id="7" dur="500"/>
                                        <p:tgtEl>
                                          <p:spTgt spid="5123">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5123">
                                            <p:txEl>
                                              <p:pRg st="1" end="1"/>
                                            </p:txEl>
                                          </p:spTgt>
                                        </p:tgtEl>
                                        <p:attrNameLst>
                                          <p:attrName>style.visibility</p:attrName>
                                        </p:attrNameLst>
                                      </p:cBhvr>
                                      <p:to>
                                        <p:strVal val="visible"/>
                                      </p:to>
                                    </p:set>
                                    <p:animEffect transition="in" filter="dissolve">
                                      <p:cBhvr>
                                        <p:cTn id="12" dur="500"/>
                                        <p:tgtEl>
                                          <p:spTgt spid="5123">
                                            <p:txEl>
                                              <p:pRg st="1" end="1"/>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5123">
                                            <p:txEl>
                                              <p:pRg st="2" end="2"/>
                                            </p:txEl>
                                          </p:spTgt>
                                        </p:tgtEl>
                                        <p:attrNameLst>
                                          <p:attrName>style.visibility</p:attrName>
                                        </p:attrNameLst>
                                      </p:cBhvr>
                                      <p:to>
                                        <p:strVal val="visible"/>
                                      </p:to>
                                    </p:set>
                                    <p:animEffect transition="in" filter="dissolve">
                                      <p:cBhvr>
                                        <p:cTn id="17" dur="500"/>
                                        <p:tgtEl>
                                          <p:spTgt spid="5123">
                                            <p:txEl>
                                              <p:pRg st="2" end="2"/>
                                            </p:txEl>
                                          </p:spTgt>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5123">
                                            <p:txEl>
                                              <p:pRg st="3" end="3"/>
                                            </p:txEl>
                                          </p:spTgt>
                                        </p:tgtEl>
                                        <p:attrNameLst>
                                          <p:attrName>style.visibility</p:attrName>
                                        </p:attrNameLst>
                                      </p:cBhvr>
                                      <p:to>
                                        <p:strVal val="visible"/>
                                      </p:to>
                                    </p:set>
                                    <p:animEffect transition="in" filter="dissolve">
                                      <p:cBhvr>
                                        <p:cTn id="22" dur="500"/>
                                        <p:tgtEl>
                                          <p:spTgt spid="5123">
                                            <p:txEl>
                                              <p:pRg st="3" end="3"/>
                                            </p:txEl>
                                          </p:spTgt>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5123">
                                            <p:txEl>
                                              <p:pRg st="4" end="4"/>
                                            </p:txEl>
                                          </p:spTgt>
                                        </p:tgtEl>
                                        <p:attrNameLst>
                                          <p:attrName>style.visibility</p:attrName>
                                        </p:attrNameLst>
                                      </p:cBhvr>
                                      <p:to>
                                        <p:strVal val="visible"/>
                                      </p:to>
                                    </p:set>
                                    <p:animEffect transition="in" filter="dissolve">
                                      <p:cBhvr>
                                        <p:cTn id="27" dur="500"/>
                                        <p:tgtEl>
                                          <p:spTgt spid="5123">
                                            <p:txEl>
                                              <p:pRg st="4" end="4"/>
                                            </p:txEl>
                                          </p:spTgt>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5123">
                                            <p:txEl>
                                              <p:pRg st="5" end="5"/>
                                            </p:txEl>
                                          </p:spTgt>
                                        </p:tgtEl>
                                        <p:attrNameLst>
                                          <p:attrName>style.visibility</p:attrName>
                                        </p:attrNameLst>
                                      </p:cBhvr>
                                      <p:to>
                                        <p:strVal val="visible"/>
                                      </p:to>
                                    </p:set>
                                    <p:animEffect transition="in" filter="dissolve">
                                      <p:cBhvr>
                                        <p:cTn id="32" dur="500"/>
                                        <p:tgtEl>
                                          <p:spTgt spid="512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3"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p:txBody>
          <a:bodyPr/>
          <a:lstStyle/>
          <a:p>
            <a:r>
              <a:rPr lang="en-US" altLang="en-US"/>
              <a:t>Prefix Notation</a:t>
            </a:r>
          </a:p>
        </p:txBody>
      </p:sp>
      <p:sp>
        <p:nvSpPr>
          <p:cNvPr id="1027" name="Rectangle 3"/>
          <p:cNvSpPr>
            <a:spLocks noGrp="1" noChangeArrowheads="1"/>
          </p:cNvSpPr>
          <p:nvPr>
            <p:ph type="body" idx="1"/>
          </p:nvPr>
        </p:nvSpPr>
        <p:spPr/>
        <p:txBody>
          <a:bodyPr/>
          <a:lstStyle/>
          <a:p>
            <a:r>
              <a:rPr lang="en-US" altLang="en-US"/>
              <a:t>Instead of saying "A plus B", we could say "add A,B " and write</a:t>
            </a:r>
          </a:p>
          <a:p>
            <a:pPr>
              <a:buFont typeface="Monotype Sorts" pitchFamily="32" charset="2"/>
              <a:buNone/>
            </a:pPr>
            <a:r>
              <a:rPr lang="en-US" altLang="en-US"/>
              <a:t>				+ A B</a:t>
            </a:r>
          </a:p>
          <a:p>
            <a:r>
              <a:rPr lang="en-US" altLang="en-US"/>
              <a:t>"Multiply A,B" would be written</a:t>
            </a:r>
          </a:p>
          <a:p>
            <a:pPr>
              <a:buFont typeface="Monotype Sorts" pitchFamily="32" charset="2"/>
              <a:buNone/>
            </a:pPr>
            <a:r>
              <a:rPr lang="en-US" altLang="en-US"/>
              <a:t>				* A B</a:t>
            </a:r>
          </a:p>
          <a:p>
            <a:r>
              <a:rPr lang="en-US" altLang="en-US"/>
              <a:t>This is </a:t>
            </a:r>
            <a:r>
              <a:rPr lang="en-US" altLang="en-US" i="1"/>
              <a:t>Prefix</a:t>
            </a:r>
            <a:r>
              <a:rPr lang="en-US" altLang="en-US"/>
              <a:t> notation.</a:t>
            </a:r>
          </a:p>
          <a:p>
            <a:pPr>
              <a:buFont typeface="Monotype Sorts" pitchFamily="32" charset="2"/>
              <a:buNone/>
            </a:pPr>
            <a:endParaRPr lang="en-US" altLang="en-US"/>
          </a:p>
        </p:txBody>
      </p:sp>
    </p:spTree>
    <p:extLst>
      <p:ext uri="{BB962C8B-B14F-4D97-AF65-F5344CB8AC3E}">
        <p14:creationId xmlns:p14="http://schemas.microsoft.com/office/powerpoint/2010/main" val="293453543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027">
                                            <p:txEl>
                                              <p:pRg st="0" end="0"/>
                                            </p:txEl>
                                          </p:spTgt>
                                        </p:tgtEl>
                                        <p:attrNameLst>
                                          <p:attrName>style.visibility</p:attrName>
                                        </p:attrNameLst>
                                      </p:cBhvr>
                                      <p:to>
                                        <p:strVal val="visible"/>
                                      </p:to>
                                    </p:set>
                                    <p:animEffect transition="in" filter="dissolve">
                                      <p:cBhvr>
                                        <p:cTn id="7" dur="500"/>
                                        <p:tgtEl>
                                          <p:spTgt spid="1027">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027">
                                            <p:txEl>
                                              <p:pRg st="1" end="1"/>
                                            </p:txEl>
                                          </p:spTgt>
                                        </p:tgtEl>
                                        <p:attrNameLst>
                                          <p:attrName>style.visibility</p:attrName>
                                        </p:attrNameLst>
                                      </p:cBhvr>
                                      <p:to>
                                        <p:strVal val="visible"/>
                                      </p:to>
                                    </p:set>
                                    <p:animEffect transition="in" filter="dissolve">
                                      <p:cBhvr>
                                        <p:cTn id="12" dur="500"/>
                                        <p:tgtEl>
                                          <p:spTgt spid="1027">
                                            <p:txEl>
                                              <p:pRg st="1" end="1"/>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027">
                                            <p:txEl>
                                              <p:pRg st="2" end="2"/>
                                            </p:txEl>
                                          </p:spTgt>
                                        </p:tgtEl>
                                        <p:attrNameLst>
                                          <p:attrName>style.visibility</p:attrName>
                                        </p:attrNameLst>
                                      </p:cBhvr>
                                      <p:to>
                                        <p:strVal val="visible"/>
                                      </p:to>
                                    </p:set>
                                    <p:animEffect transition="in" filter="dissolve">
                                      <p:cBhvr>
                                        <p:cTn id="17" dur="500"/>
                                        <p:tgtEl>
                                          <p:spTgt spid="1027">
                                            <p:txEl>
                                              <p:pRg st="2" end="2"/>
                                            </p:txEl>
                                          </p:spTgt>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1027">
                                            <p:txEl>
                                              <p:pRg st="3" end="3"/>
                                            </p:txEl>
                                          </p:spTgt>
                                        </p:tgtEl>
                                        <p:attrNameLst>
                                          <p:attrName>style.visibility</p:attrName>
                                        </p:attrNameLst>
                                      </p:cBhvr>
                                      <p:to>
                                        <p:strVal val="visible"/>
                                      </p:to>
                                    </p:set>
                                    <p:animEffect transition="in" filter="dissolve">
                                      <p:cBhvr>
                                        <p:cTn id="22" dur="500"/>
                                        <p:tgtEl>
                                          <p:spTgt spid="1027">
                                            <p:txEl>
                                              <p:pRg st="3" end="3"/>
                                            </p:txEl>
                                          </p:spTgt>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1027">
                                            <p:txEl>
                                              <p:pRg st="4" end="4"/>
                                            </p:txEl>
                                          </p:spTgt>
                                        </p:tgtEl>
                                        <p:attrNameLst>
                                          <p:attrName>style.visibility</p:attrName>
                                        </p:attrNameLst>
                                      </p:cBhvr>
                                      <p:to>
                                        <p:strVal val="visible"/>
                                      </p:to>
                                    </p:set>
                                    <p:animEffect transition="in" filter="dissolve">
                                      <p:cBhvr>
                                        <p:cTn id="27" dur="500"/>
                                        <p:tgtEl>
                                          <p:spTgt spid="102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7"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r>
              <a:rPr lang="en-US" altLang="en-US"/>
              <a:t>Postfix Notation</a:t>
            </a:r>
          </a:p>
        </p:txBody>
      </p:sp>
      <p:sp>
        <p:nvSpPr>
          <p:cNvPr id="6147" name="Rectangle 3"/>
          <p:cNvSpPr>
            <a:spLocks noGrp="1" noChangeArrowheads="1"/>
          </p:cNvSpPr>
          <p:nvPr>
            <p:ph type="body" idx="1"/>
          </p:nvPr>
        </p:nvSpPr>
        <p:spPr/>
        <p:txBody>
          <a:bodyPr/>
          <a:lstStyle/>
          <a:p>
            <a:r>
              <a:rPr lang="en-US" altLang="en-US"/>
              <a:t>Another alternative is to put the operators after the operands as in</a:t>
            </a:r>
          </a:p>
          <a:p>
            <a:pPr>
              <a:buFont typeface="Monotype Sorts" pitchFamily="32" charset="2"/>
              <a:buNone/>
            </a:pPr>
            <a:r>
              <a:rPr lang="en-US" altLang="en-US"/>
              <a:t>				A B +</a:t>
            </a:r>
          </a:p>
          <a:p>
            <a:pPr>
              <a:buFont typeface="Monotype Sorts" pitchFamily="32" charset="2"/>
              <a:buNone/>
            </a:pPr>
            <a:r>
              <a:rPr lang="en-US" altLang="en-US"/>
              <a:t>and</a:t>
            </a:r>
          </a:p>
          <a:p>
            <a:pPr>
              <a:buFont typeface="Monotype Sorts" pitchFamily="32" charset="2"/>
              <a:buNone/>
            </a:pPr>
            <a:r>
              <a:rPr lang="en-US" altLang="en-US"/>
              <a:t>				A B *</a:t>
            </a:r>
          </a:p>
          <a:p>
            <a:r>
              <a:rPr lang="en-US" altLang="en-US"/>
              <a:t>This is </a:t>
            </a:r>
            <a:r>
              <a:rPr lang="en-US" altLang="en-US" i="1"/>
              <a:t>Postfix</a:t>
            </a:r>
            <a:r>
              <a:rPr lang="en-US" altLang="en-US"/>
              <a:t> notation.</a:t>
            </a:r>
          </a:p>
        </p:txBody>
      </p:sp>
    </p:spTree>
    <p:extLst>
      <p:ext uri="{BB962C8B-B14F-4D97-AF65-F5344CB8AC3E}">
        <p14:creationId xmlns:p14="http://schemas.microsoft.com/office/powerpoint/2010/main" val="195566002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147">
                                            <p:txEl>
                                              <p:pRg st="0" end="0"/>
                                            </p:txEl>
                                          </p:spTgt>
                                        </p:tgtEl>
                                        <p:attrNameLst>
                                          <p:attrName>style.visibility</p:attrName>
                                        </p:attrNameLst>
                                      </p:cBhvr>
                                      <p:to>
                                        <p:strVal val="visible"/>
                                      </p:to>
                                    </p:set>
                                    <p:animEffect transition="in" filter="dissolve">
                                      <p:cBhvr>
                                        <p:cTn id="7" dur="500"/>
                                        <p:tgtEl>
                                          <p:spTgt spid="6147">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6147">
                                            <p:txEl>
                                              <p:pRg st="1" end="1"/>
                                            </p:txEl>
                                          </p:spTgt>
                                        </p:tgtEl>
                                        <p:attrNameLst>
                                          <p:attrName>style.visibility</p:attrName>
                                        </p:attrNameLst>
                                      </p:cBhvr>
                                      <p:to>
                                        <p:strVal val="visible"/>
                                      </p:to>
                                    </p:set>
                                    <p:animEffect transition="in" filter="dissolve">
                                      <p:cBhvr>
                                        <p:cTn id="12" dur="500"/>
                                        <p:tgtEl>
                                          <p:spTgt spid="6147">
                                            <p:txEl>
                                              <p:pRg st="1" end="1"/>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6147">
                                            <p:txEl>
                                              <p:pRg st="2" end="2"/>
                                            </p:txEl>
                                          </p:spTgt>
                                        </p:tgtEl>
                                        <p:attrNameLst>
                                          <p:attrName>style.visibility</p:attrName>
                                        </p:attrNameLst>
                                      </p:cBhvr>
                                      <p:to>
                                        <p:strVal val="visible"/>
                                      </p:to>
                                    </p:set>
                                    <p:animEffect transition="in" filter="dissolve">
                                      <p:cBhvr>
                                        <p:cTn id="17" dur="500"/>
                                        <p:tgtEl>
                                          <p:spTgt spid="6147">
                                            <p:txEl>
                                              <p:pRg st="2" end="2"/>
                                            </p:txEl>
                                          </p:spTgt>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6147">
                                            <p:txEl>
                                              <p:pRg st="3" end="3"/>
                                            </p:txEl>
                                          </p:spTgt>
                                        </p:tgtEl>
                                        <p:attrNameLst>
                                          <p:attrName>style.visibility</p:attrName>
                                        </p:attrNameLst>
                                      </p:cBhvr>
                                      <p:to>
                                        <p:strVal val="visible"/>
                                      </p:to>
                                    </p:set>
                                    <p:animEffect transition="in" filter="dissolve">
                                      <p:cBhvr>
                                        <p:cTn id="22" dur="500"/>
                                        <p:tgtEl>
                                          <p:spTgt spid="6147">
                                            <p:txEl>
                                              <p:pRg st="3" end="3"/>
                                            </p:txEl>
                                          </p:spTgt>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6147">
                                            <p:txEl>
                                              <p:pRg st="4" end="4"/>
                                            </p:txEl>
                                          </p:spTgt>
                                        </p:tgtEl>
                                        <p:attrNameLst>
                                          <p:attrName>style.visibility</p:attrName>
                                        </p:attrNameLst>
                                      </p:cBhvr>
                                      <p:to>
                                        <p:strVal val="visible"/>
                                      </p:to>
                                    </p:set>
                                    <p:animEffect transition="in" filter="dissolve">
                                      <p:cBhvr>
                                        <p:cTn id="27" dur="500"/>
                                        <p:tgtEl>
                                          <p:spTgt spid="614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7"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 name="Picture 3"/>
          <p:cNvPicPr>
            <a:picLocks noChangeAspect="1"/>
          </p:cNvPicPr>
          <p:nvPr/>
        </p:nvPicPr>
        <p:blipFill>
          <a:blip r:embed="rId2"/>
          <a:stretch>
            <a:fillRect/>
          </a:stretch>
        </p:blipFill>
        <p:spPr>
          <a:xfrm>
            <a:off x="1251678" y="382386"/>
            <a:ext cx="10178322" cy="6227964"/>
          </a:xfrm>
          <a:prstGeom prst="rect">
            <a:avLst/>
          </a:prstGeom>
        </p:spPr>
      </p:pic>
    </p:spTree>
    <p:extLst>
      <p:ext uri="{BB962C8B-B14F-4D97-AF65-F5344CB8AC3E}">
        <p14:creationId xmlns:p14="http://schemas.microsoft.com/office/powerpoint/2010/main" val="3222628500"/>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US" altLang="en-US"/>
              <a:t>Parentheses</a:t>
            </a:r>
          </a:p>
        </p:txBody>
      </p:sp>
      <p:sp>
        <p:nvSpPr>
          <p:cNvPr id="8195" name="Rectangle 3"/>
          <p:cNvSpPr>
            <a:spLocks noGrp="1" noChangeArrowheads="1"/>
          </p:cNvSpPr>
          <p:nvPr>
            <p:ph type="body" idx="1"/>
          </p:nvPr>
        </p:nvSpPr>
        <p:spPr/>
        <p:txBody>
          <a:bodyPr/>
          <a:lstStyle/>
          <a:p>
            <a:r>
              <a:rPr lang="en-US" altLang="en-US"/>
              <a:t>Evaluate 2+3*5.</a:t>
            </a:r>
          </a:p>
          <a:p>
            <a:r>
              <a:rPr lang="en-US" altLang="en-US"/>
              <a:t>+ First: </a:t>
            </a:r>
          </a:p>
          <a:p>
            <a:pPr>
              <a:buFont typeface="Monotype Sorts" pitchFamily="32" charset="2"/>
              <a:buNone/>
            </a:pPr>
            <a:r>
              <a:rPr lang="en-US" altLang="en-US"/>
              <a:t>			(2+3)*5 = 5*5 = 25</a:t>
            </a:r>
          </a:p>
          <a:p>
            <a:r>
              <a:rPr lang="en-US" altLang="en-US"/>
              <a:t>* First: </a:t>
            </a:r>
          </a:p>
          <a:p>
            <a:pPr>
              <a:buFont typeface="Monotype Sorts" pitchFamily="32" charset="2"/>
              <a:buNone/>
            </a:pPr>
            <a:r>
              <a:rPr lang="en-US" altLang="en-US"/>
              <a:t>			2+(3*5) = 2+15 = 17</a:t>
            </a:r>
          </a:p>
          <a:p>
            <a:r>
              <a:rPr lang="en-US" altLang="en-US"/>
              <a:t>Infix notation requires Parentheses.</a:t>
            </a:r>
          </a:p>
        </p:txBody>
      </p:sp>
    </p:spTree>
    <p:extLst>
      <p:ext uri="{BB962C8B-B14F-4D97-AF65-F5344CB8AC3E}">
        <p14:creationId xmlns:p14="http://schemas.microsoft.com/office/powerpoint/2010/main" val="377562273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9" presetClass="entr" presetSubtype="0" fill="hold" grpId="0" nodeType="clickEffect">
                                  <p:stCondLst>
                                    <p:cond delay="0"/>
                                  </p:stCondLst>
                                  <p:childTnLst>
                                    <p:set>
                                      <p:cBhvr>
                                        <p:cTn id="6" dur="1" fill="hold">
                                          <p:stCondLst>
                                            <p:cond delay="0"/>
                                          </p:stCondLst>
                                        </p:cTn>
                                        <p:tgtEl>
                                          <p:spTgt spid="8195">
                                            <p:txEl>
                                              <p:pRg st="0" end="0"/>
                                            </p:txEl>
                                          </p:spTgt>
                                        </p:tgtEl>
                                        <p:attrNameLst>
                                          <p:attrName>style.visibility</p:attrName>
                                        </p:attrNameLst>
                                      </p:cBhvr>
                                      <p:to>
                                        <p:strVal val="visible"/>
                                      </p:to>
                                    </p:set>
                                    <p:animEffect transition="in" filter="dissolve">
                                      <p:cBhvr>
                                        <p:cTn id="7" dur="500"/>
                                        <p:tgtEl>
                                          <p:spTgt spid="8195">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8195">
                                            <p:txEl>
                                              <p:pRg st="1" end="1"/>
                                            </p:txEl>
                                          </p:spTgt>
                                        </p:tgtEl>
                                        <p:attrNameLst>
                                          <p:attrName>style.visibility</p:attrName>
                                        </p:attrNameLst>
                                      </p:cBhvr>
                                      <p:to>
                                        <p:strVal val="visible"/>
                                      </p:to>
                                    </p:set>
                                    <p:animEffect transition="in" filter="dissolve">
                                      <p:cBhvr>
                                        <p:cTn id="12" dur="500"/>
                                        <p:tgtEl>
                                          <p:spTgt spid="8195">
                                            <p:txEl>
                                              <p:pRg st="1" end="1"/>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8195">
                                            <p:txEl>
                                              <p:pRg st="2" end="2"/>
                                            </p:txEl>
                                          </p:spTgt>
                                        </p:tgtEl>
                                        <p:attrNameLst>
                                          <p:attrName>style.visibility</p:attrName>
                                        </p:attrNameLst>
                                      </p:cBhvr>
                                      <p:to>
                                        <p:strVal val="visible"/>
                                      </p:to>
                                    </p:set>
                                    <p:animEffect transition="in" filter="dissolve">
                                      <p:cBhvr>
                                        <p:cTn id="17" dur="500"/>
                                        <p:tgtEl>
                                          <p:spTgt spid="8195">
                                            <p:txEl>
                                              <p:pRg st="2" end="2"/>
                                            </p:txEl>
                                          </p:spTgt>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8195">
                                            <p:txEl>
                                              <p:pRg st="3" end="3"/>
                                            </p:txEl>
                                          </p:spTgt>
                                        </p:tgtEl>
                                        <p:attrNameLst>
                                          <p:attrName>style.visibility</p:attrName>
                                        </p:attrNameLst>
                                      </p:cBhvr>
                                      <p:to>
                                        <p:strVal val="visible"/>
                                      </p:to>
                                    </p:set>
                                    <p:animEffect transition="in" filter="dissolve">
                                      <p:cBhvr>
                                        <p:cTn id="22" dur="500"/>
                                        <p:tgtEl>
                                          <p:spTgt spid="8195">
                                            <p:txEl>
                                              <p:pRg st="3" end="3"/>
                                            </p:txEl>
                                          </p:spTgt>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8195">
                                            <p:txEl>
                                              <p:pRg st="4" end="4"/>
                                            </p:txEl>
                                          </p:spTgt>
                                        </p:tgtEl>
                                        <p:attrNameLst>
                                          <p:attrName>style.visibility</p:attrName>
                                        </p:attrNameLst>
                                      </p:cBhvr>
                                      <p:to>
                                        <p:strVal val="visible"/>
                                      </p:to>
                                    </p:set>
                                    <p:animEffect transition="in" filter="dissolve">
                                      <p:cBhvr>
                                        <p:cTn id="27" dur="500"/>
                                        <p:tgtEl>
                                          <p:spTgt spid="8195">
                                            <p:txEl>
                                              <p:pRg st="4" end="4"/>
                                            </p:txEl>
                                          </p:spTgt>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8195">
                                            <p:txEl>
                                              <p:pRg st="5" end="5"/>
                                            </p:txEl>
                                          </p:spTgt>
                                        </p:tgtEl>
                                        <p:attrNameLst>
                                          <p:attrName>style.visibility</p:attrName>
                                        </p:attrNameLst>
                                      </p:cBhvr>
                                      <p:to>
                                        <p:strVal val="visible"/>
                                      </p:to>
                                    </p:set>
                                    <p:animEffect transition="in" filter="dissolve">
                                      <p:cBhvr>
                                        <p:cTn id="32" dur="500"/>
                                        <p:tgtEl>
                                          <p:spTgt spid="819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5"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r>
              <a:rPr lang="en-US" altLang="en-US"/>
              <a:t>What about Prefix Notation?</a:t>
            </a:r>
          </a:p>
        </p:txBody>
      </p:sp>
      <p:sp>
        <p:nvSpPr>
          <p:cNvPr id="9219" name="Rectangle 3"/>
          <p:cNvSpPr>
            <a:spLocks noGrp="1" noChangeArrowheads="1"/>
          </p:cNvSpPr>
          <p:nvPr>
            <p:ph type="body" idx="1"/>
          </p:nvPr>
        </p:nvSpPr>
        <p:spPr/>
        <p:txBody>
          <a:bodyPr/>
          <a:lstStyle/>
          <a:p>
            <a:r>
              <a:rPr lang="en-US" altLang="en-US"/>
              <a:t> + 2 * 3 5 =</a:t>
            </a:r>
          </a:p>
          <a:p>
            <a:pPr>
              <a:buFont typeface="Monotype Sorts" pitchFamily="32" charset="2"/>
              <a:buNone/>
            </a:pPr>
            <a:r>
              <a:rPr lang="en-US" altLang="en-US"/>
              <a:t>			   = + 2 </a:t>
            </a:r>
            <a:r>
              <a:rPr lang="en-US" altLang="en-US" u="sng"/>
              <a:t>* 3 5</a:t>
            </a:r>
            <a:r>
              <a:rPr lang="en-US" altLang="en-US"/>
              <a:t> </a:t>
            </a:r>
          </a:p>
          <a:p>
            <a:pPr>
              <a:buFont typeface="Monotype Sorts" pitchFamily="32" charset="2"/>
              <a:buNone/>
            </a:pPr>
            <a:r>
              <a:rPr lang="en-US" altLang="en-US"/>
              <a:t>			   = </a:t>
            </a:r>
            <a:r>
              <a:rPr lang="en-US" altLang="en-US" u="sng"/>
              <a:t>+ 2 15</a:t>
            </a:r>
            <a:r>
              <a:rPr lang="en-US" altLang="en-US"/>
              <a:t> = 17</a:t>
            </a:r>
          </a:p>
          <a:p>
            <a:r>
              <a:rPr lang="en-US" altLang="en-US"/>
              <a:t> * + 2 3 5 =</a:t>
            </a:r>
          </a:p>
          <a:p>
            <a:pPr>
              <a:buFont typeface="Monotype Sorts" pitchFamily="32" charset="2"/>
              <a:buNone/>
            </a:pPr>
            <a:r>
              <a:rPr lang="en-US" altLang="en-US"/>
              <a:t>			   = * </a:t>
            </a:r>
            <a:r>
              <a:rPr lang="en-US" altLang="en-US" u="sng"/>
              <a:t>+ 2 3</a:t>
            </a:r>
            <a:r>
              <a:rPr lang="en-US" altLang="en-US"/>
              <a:t> 5</a:t>
            </a:r>
          </a:p>
          <a:p>
            <a:pPr>
              <a:buFont typeface="Monotype Sorts" pitchFamily="32" charset="2"/>
              <a:buNone/>
            </a:pPr>
            <a:r>
              <a:rPr lang="en-US" altLang="en-US"/>
              <a:t>			   = </a:t>
            </a:r>
            <a:r>
              <a:rPr lang="en-US" altLang="en-US" u="sng"/>
              <a:t>* 5 5</a:t>
            </a:r>
            <a:r>
              <a:rPr lang="en-US" altLang="en-US"/>
              <a:t>  = 25</a:t>
            </a:r>
          </a:p>
          <a:p>
            <a:r>
              <a:rPr lang="en-US" altLang="en-US"/>
              <a:t>No parentheses needed!</a:t>
            </a:r>
          </a:p>
        </p:txBody>
      </p:sp>
    </p:spTree>
    <p:extLst>
      <p:ext uri="{BB962C8B-B14F-4D97-AF65-F5344CB8AC3E}">
        <p14:creationId xmlns:p14="http://schemas.microsoft.com/office/powerpoint/2010/main" val="19030960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9" presetClass="entr" presetSubtype="0" fill="hold" grpId="0" nodeType="clickEffect">
                                  <p:stCondLst>
                                    <p:cond delay="0"/>
                                  </p:stCondLst>
                                  <p:childTnLst>
                                    <p:set>
                                      <p:cBhvr>
                                        <p:cTn id="6" dur="1" fill="hold">
                                          <p:stCondLst>
                                            <p:cond delay="0"/>
                                          </p:stCondLst>
                                        </p:cTn>
                                        <p:tgtEl>
                                          <p:spTgt spid="9219">
                                            <p:txEl>
                                              <p:pRg st="0" end="0"/>
                                            </p:txEl>
                                          </p:spTgt>
                                        </p:tgtEl>
                                        <p:attrNameLst>
                                          <p:attrName>style.visibility</p:attrName>
                                        </p:attrNameLst>
                                      </p:cBhvr>
                                      <p:to>
                                        <p:strVal val="visible"/>
                                      </p:to>
                                    </p:set>
                                    <p:animEffect transition="in" filter="dissolve">
                                      <p:cBhvr>
                                        <p:cTn id="7" dur="500"/>
                                        <p:tgtEl>
                                          <p:spTgt spid="9219">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9219">
                                            <p:txEl>
                                              <p:pRg st="1" end="1"/>
                                            </p:txEl>
                                          </p:spTgt>
                                        </p:tgtEl>
                                        <p:attrNameLst>
                                          <p:attrName>style.visibility</p:attrName>
                                        </p:attrNameLst>
                                      </p:cBhvr>
                                      <p:to>
                                        <p:strVal val="visible"/>
                                      </p:to>
                                    </p:set>
                                    <p:animEffect transition="in" filter="dissolve">
                                      <p:cBhvr>
                                        <p:cTn id="12" dur="500"/>
                                        <p:tgtEl>
                                          <p:spTgt spid="9219">
                                            <p:txEl>
                                              <p:pRg st="1" end="1"/>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9219">
                                            <p:txEl>
                                              <p:pRg st="2" end="2"/>
                                            </p:txEl>
                                          </p:spTgt>
                                        </p:tgtEl>
                                        <p:attrNameLst>
                                          <p:attrName>style.visibility</p:attrName>
                                        </p:attrNameLst>
                                      </p:cBhvr>
                                      <p:to>
                                        <p:strVal val="visible"/>
                                      </p:to>
                                    </p:set>
                                    <p:animEffect transition="in" filter="dissolve">
                                      <p:cBhvr>
                                        <p:cTn id="17" dur="500"/>
                                        <p:tgtEl>
                                          <p:spTgt spid="9219">
                                            <p:txEl>
                                              <p:pRg st="2" end="2"/>
                                            </p:txEl>
                                          </p:spTgt>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9219">
                                            <p:txEl>
                                              <p:pRg st="3" end="3"/>
                                            </p:txEl>
                                          </p:spTgt>
                                        </p:tgtEl>
                                        <p:attrNameLst>
                                          <p:attrName>style.visibility</p:attrName>
                                        </p:attrNameLst>
                                      </p:cBhvr>
                                      <p:to>
                                        <p:strVal val="visible"/>
                                      </p:to>
                                    </p:set>
                                    <p:animEffect transition="in" filter="dissolve">
                                      <p:cBhvr>
                                        <p:cTn id="22" dur="500"/>
                                        <p:tgtEl>
                                          <p:spTgt spid="9219">
                                            <p:txEl>
                                              <p:pRg st="3" end="3"/>
                                            </p:txEl>
                                          </p:spTgt>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9219">
                                            <p:txEl>
                                              <p:pRg st="4" end="4"/>
                                            </p:txEl>
                                          </p:spTgt>
                                        </p:tgtEl>
                                        <p:attrNameLst>
                                          <p:attrName>style.visibility</p:attrName>
                                        </p:attrNameLst>
                                      </p:cBhvr>
                                      <p:to>
                                        <p:strVal val="visible"/>
                                      </p:to>
                                    </p:set>
                                    <p:animEffect transition="in" filter="dissolve">
                                      <p:cBhvr>
                                        <p:cTn id="27" dur="500"/>
                                        <p:tgtEl>
                                          <p:spTgt spid="9219">
                                            <p:txEl>
                                              <p:pRg st="4" end="4"/>
                                            </p:txEl>
                                          </p:spTgt>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9219">
                                            <p:txEl>
                                              <p:pRg st="5" end="5"/>
                                            </p:txEl>
                                          </p:spTgt>
                                        </p:tgtEl>
                                        <p:attrNameLst>
                                          <p:attrName>style.visibility</p:attrName>
                                        </p:attrNameLst>
                                      </p:cBhvr>
                                      <p:to>
                                        <p:strVal val="visible"/>
                                      </p:to>
                                    </p:set>
                                    <p:animEffect transition="in" filter="dissolve">
                                      <p:cBhvr>
                                        <p:cTn id="32" dur="500"/>
                                        <p:tgtEl>
                                          <p:spTgt spid="9219">
                                            <p:txEl>
                                              <p:pRg st="5" end="5"/>
                                            </p:txEl>
                                          </p:spTgt>
                                        </p:tgtEl>
                                      </p:cBhvr>
                                    </p:animEffect>
                                  </p:childTnLst>
                                </p:cTn>
                              </p:par>
                            </p:childTnLst>
                          </p:cTn>
                        </p:par>
                      </p:childTnLst>
                    </p:cTn>
                  </p:par>
                  <p:par>
                    <p:cTn id="33" fill="hold" nodeType="clickPar">
                      <p:stCondLst>
                        <p:cond delay="indefinite"/>
                      </p:stCondLst>
                      <p:childTnLst>
                        <p:par>
                          <p:cTn id="34" fill="hold" nodeType="withGroup">
                            <p:stCondLst>
                              <p:cond delay="0"/>
                            </p:stCondLst>
                            <p:childTnLst>
                              <p:par>
                                <p:cTn id="35" presetID="9" presetClass="entr" presetSubtype="0" fill="hold" grpId="0" nodeType="clickEffect">
                                  <p:stCondLst>
                                    <p:cond delay="0"/>
                                  </p:stCondLst>
                                  <p:childTnLst>
                                    <p:set>
                                      <p:cBhvr>
                                        <p:cTn id="36" dur="1" fill="hold">
                                          <p:stCondLst>
                                            <p:cond delay="0"/>
                                          </p:stCondLst>
                                        </p:cTn>
                                        <p:tgtEl>
                                          <p:spTgt spid="9219">
                                            <p:txEl>
                                              <p:pRg st="6" end="6"/>
                                            </p:txEl>
                                          </p:spTgt>
                                        </p:tgtEl>
                                        <p:attrNameLst>
                                          <p:attrName>style.visibility</p:attrName>
                                        </p:attrNameLst>
                                      </p:cBhvr>
                                      <p:to>
                                        <p:strVal val="visible"/>
                                      </p:to>
                                    </p:set>
                                    <p:animEffect transition="in" filter="dissolve">
                                      <p:cBhvr>
                                        <p:cTn id="37" dur="500"/>
                                        <p:tgtEl>
                                          <p:spTgt spid="9219">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19"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r>
              <a:rPr lang="en-US" altLang="en-US"/>
              <a:t>Postfix Notation</a:t>
            </a:r>
          </a:p>
        </p:txBody>
      </p:sp>
      <p:sp>
        <p:nvSpPr>
          <p:cNvPr id="10243" name="Rectangle 3"/>
          <p:cNvSpPr>
            <a:spLocks noGrp="1" noChangeArrowheads="1"/>
          </p:cNvSpPr>
          <p:nvPr>
            <p:ph type="body" idx="1"/>
          </p:nvPr>
        </p:nvSpPr>
        <p:spPr/>
        <p:txBody>
          <a:bodyPr/>
          <a:lstStyle/>
          <a:p>
            <a:r>
              <a:rPr lang="en-US" altLang="en-US"/>
              <a:t> 2 3 5 * + =</a:t>
            </a:r>
          </a:p>
          <a:p>
            <a:pPr>
              <a:buFont typeface="Monotype Sorts" pitchFamily="32" charset="2"/>
              <a:buNone/>
            </a:pPr>
            <a:r>
              <a:rPr lang="en-US" altLang="en-US"/>
              <a:t>			   = 2 </a:t>
            </a:r>
            <a:r>
              <a:rPr lang="en-US" altLang="en-US" u="sng"/>
              <a:t>3 5 *</a:t>
            </a:r>
            <a:r>
              <a:rPr lang="en-US" altLang="en-US"/>
              <a:t> + </a:t>
            </a:r>
          </a:p>
          <a:p>
            <a:pPr>
              <a:buFont typeface="Monotype Sorts" pitchFamily="32" charset="2"/>
              <a:buNone/>
            </a:pPr>
            <a:r>
              <a:rPr lang="en-US" altLang="en-US"/>
              <a:t>			   = </a:t>
            </a:r>
            <a:r>
              <a:rPr lang="en-US" altLang="en-US" u="sng"/>
              <a:t>2 15 +</a:t>
            </a:r>
            <a:r>
              <a:rPr lang="en-US" altLang="en-US"/>
              <a:t> = 17</a:t>
            </a:r>
          </a:p>
          <a:p>
            <a:r>
              <a:rPr lang="en-US" altLang="en-US"/>
              <a:t> 2 3 + 5 * =</a:t>
            </a:r>
          </a:p>
          <a:p>
            <a:pPr>
              <a:buFont typeface="Monotype Sorts" pitchFamily="32" charset="2"/>
              <a:buNone/>
            </a:pPr>
            <a:r>
              <a:rPr lang="en-US" altLang="en-US"/>
              <a:t>			   = </a:t>
            </a:r>
            <a:r>
              <a:rPr lang="en-US" altLang="en-US" u="sng"/>
              <a:t>2 3 +</a:t>
            </a:r>
            <a:r>
              <a:rPr lang="en-US" altLang="en-US"/>
              <a:t> 5 *</a:t>
            </a:r>
          </a:p>
          <a:p>
            <a:pPr>
              <a:buFont typeface="Monotype Sorts" pitchFamily="32" charset="2"/>
              <a:buNone/>
            </a:pPr>
            <a:r>
              <a:rPr lang="en-US" altLang="en-US"/>
              <a:t>			   = </a:t>
            </a:r>
            <a:r>
              <a:rPr lang="en-US" altLang="en-US" u="sng"/>
              <a:t>5 5 *</a:t>
            </a:r>
            <a:r>
              <a:rPr lang="en-US" altLang="en-US"/>
              <a:t> = 25</a:t>
            </a:r>
          </a:p>
          <a:p>
            <a:r>
              <a:rPr lang="en-US" altLang="en-US"/>
              <a:t>No parentheses needed here either!</a:t>
            </a:r>
          </a:p>
        </p:txBody>
      </p:sp>
    </p:spTree>
    <p:extLst>
      <p:ext uri="{BB962C8B-B14F-4D97-AF65-F5344CB8AC3E}">
        <p14:creationId xmlns:p14="http://schemas.microsoft.com/office/powerpoint/2010/main" val="131612925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0243">
                                            <p:txEl>
                                              <p:pRg st="0" end="0"/>
                                            </p:txEl>
                                          </p:spTgt>
                                        </p:tgtEl>
                                        <p:attrNameLst>
                                          <p:attrName>style.visibility</p:attrName>
                                        </p:attrNameLst>
                                      </p:cBhvr>
                                      <p:to>
                                        <p:strVal val="visible"/>
                                      </p:to>
                                    </p:set>
                                    <p:animEffect transition="in" filter="dissolve">
                                      <p:cBhvr>
                                        <p:cTn id="7" dur="500"/>
                                        <p:tgtEl>
                                          <p:spTgt spid="10243">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0243">
                                            <p:txEl>
                                              <p:pRg st="1" end="1"/>
                                            </p:txEl>
                                          </p:spTgt>
                                        </p:tgtEl>
                                        <p:attrNameLst>
                                          <p:attrName>style.visibility</p:attrName>
                                        </p:attrNameLst>
                                      </p:cBhvr>
                                      <p:to>
                                        <p:strVal val="visible"/>
                                      </p:to>
                                    </p:set>
                                    <p:animEffect transition="in" filter="dissolve">
                                      <p:cBhvr>
                                        <p:cTn id="12" dur="500"/>
                                        <p:tgtEl>
                                          <p:spTgt spid="10243">
                                            <p:txEl>
                                              <p:pRg st="1" end="1"/>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0243">
                                            <p:txEl>
                                              <p:pRg st="2" end="2"/>
                                            </p:txEl>
                                          </p:spTgt>
                                        </p:tgtEl>
                                        <p:attrNameLst>
                                          <p:attrName>style.visibility</p:attrName>
                                        </p:attrNameLst>
                                      </p:cBhvr>
                                      <p:to>
                                        <p:strVal val="visible"/>
                                      </p:to>
                                    </p:set>
                                    <p:animEffect transition="in" filter="dissolve">
                                      <p:cBhvr>
                                        <p:cTn id="17" dur="500"/>
                                        <p:tgtEl>
                                          <p:spTgt spid="10243">
                                            <p:txEl>
                                              <p:pRg st="2" end="2"/>
                                            </p:txEl>
                                          </p:spTgt>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10243">
                                            <p:txEl>
                                              <p:pRg st="3" end="3"/>
                                            </p:txEl>
                                          </p:spTgt>
                                        </p:tgtEl>
                                        <p:attrNameLst>
                                          <p:attrName>style.visibility</p:attrName>
                                        </p:attrNameLst>
                                      </p:cBhvr>
                                      <p:to>
                                        <p:strVal val="visible"/>
                                      </p:to>
                                    </p:set>
                                    <p:animEffect transition="in" filter="dissolve">
                                      <p:cBhvr>
                                        <p:cTn id="22" dur="500"/>
                                        <p:tgtEl>
                                          <p:spTgt spid="10243">
                                            <p:txEl>
                                              <p:pRg st="3" end="3"/>
                                            </p:txEl>
                                          </p:spTgt>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10243">
                                            <p:txEl>
                                              <p:pRg st="4" end="4"/>
                                            </p:txEl>
                                          </p:spTgt>
                                        </p:tgtEl>
                                        <p:attrNameLst>
                                          <p:attrName>style.visibility</p:attrName>
                                        </p:attrNameLst>
                                      </p:cBhvr>
                                      <p:to>
                                        <p:strVal val="visible"/>
                                      </p:to>
                                    </p:set>
                                    <p:animEffect transition="in" filter="dissolve">
                                      <p:cBhvr>
                                        <p:cTn id="27" dur="500"/>
                                        <p:tgtEl>
                                          <p:spTgt spid="10243">
                                            <p:txEl>
                                              <p:pRg st="4" end="4"/>
                                            </p:txEl>
                                          </p:spTgt>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10243">
                                            <p:txEl>
                                              <p:pRg st="5" end="5"/>
                                            </p:txEl>
                                          </p:spTgt>
                                        </p:tgtEl>
                                        <p:attrNameLst>
                                          <p:attrName>style.visibility</p:attrName>
                                        </p:attrNameLst>
                                      </p:cBhvr>
                                      <p:to>
                                        <p:strVal val="visible"/>
                                      </p:to>
                                    </p:set>
                                    <p:animEffect transition="in" filter="dissolve">
                                      <p:cBhvr>
                                        <p:cTn id="32" dur="500"/>
                                        <p:tgtEl>
                                          <p:spTgt spid="10243">
                                            <p:txEl>
                                              <p:pRg st="5" end="5"/>
                                            </p:txEl>
                                          </p:spTgt>
                                        </p:tgtEl>
                                      </p:cBhvr>
                                    </p:animEffect>
                                  </p:childTnLst>
                                </p:cTn>
                              </p:par>
                            </p:childTnLst>
                          </p:cTn>
                        </p:par>
                      </p:childTnLst>
                    </p:cTn>
                  </p:par>
                  <p:par>
                    <p:cTn id="33" fill="hold" nodeType="clickPar">
                      <p:stCondLst>
                        <p:cond delay="indefinite"/>
                      </p:stCondLst>
                      <p:childTnLst>
                        <p:par>
                          <p:cTn id="34" fill="hold" nodeType="withGroup">
                            <p:stCondLst>
                              <p:cond delay="0"/>
                            </p:stCondLst>
                            <p:childTnLst>
                              <p:par>
                                <p:cTn id="35" presetID="9" presetClass="entr" presetSubtype="0" fill="hold" grpId="0" nodeType="clickEffect">
                                  <p:stCondLst>
                                    <p:cond delay="0"/>
                                  </p:stCondLst>
                                  <p:childTnLst>
                                    <p:set>
                                      <p:cBhvr>
                                        <p:cTn id="36" dur="1" fill="hold">
                                          <p:stCondLst>
                                            <p:cond delay="0"/>
                                          </p:stCondLst>
                                        </p:cTn>
                                        <p:tgtEl>
                                          <p:spTgt spid="10243">
                                            <p:txEl>
                                              <p:pRg st="6" end="6"/>
                                            </p:txEl>
                                          </p:spTgt>
                                        </p:tgtEl>
                                        <p:attrNameLst>
                                          <p:attrName>style.visibility</p:attrName>
                                        </p:attrNameLst>
                                      </p:cBhvr>
                                      <p:to>
                                        <p:strVal val="visible"/>
                                      </p:to>
                                    </p:set>
                                    <p:animEffect transition="in" filter="dissolve">
                                      <p:cBhvr>
                                        <p:cTn id="37" dur="500"/>
                                        <p:tgtEl>
                                          <p:spTgt spid="1024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4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r>
              <a:rPr lang="en-US" altLang="en-US"/>
              <a:t>Conclusion:</a:t>
            </a:r>
          </a:p>
        </p:txBody>
      </p:sp>
      <p:sp>
        <p:nvSpPr>
          <p:cNvPr id="11267" name="Rectangle 3"/>
          <p:cNvSpPr>
            <a:spLocks noGrp="1" noChangeArrowheads="1"/>
          </p:cNvSpPr>
          <p:nvPr>
            <p:ph type="body" idx="1"/>
          </p:nvPr>
        </p:nvSpPr>
        <p:spPr/>
        <p:txBody>
          <a:bodyPr/>
          <a:lstStyle/>
          <a:p>
            <a:r>
              <a:rPr lang="en-US" altLang="en-US"/>
              <a:t>Infix is the only notation that requires parentheses in order to change the order in which the operations are done.</a:t>
            </a:r>
          </a:p>
        </p:txBody>
      </p:sp>
    </p:spTree>
    <p:extLst>
      <p:ext uri="{BB962C8B-B14F-4D97-AF65-F5344CB8AC3E}">
        <p14:creationId xmlns:p14="http://schemas.microsoft.com/office/powerpoint/2010/main" val="171518865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1267">
                                            <p:txEl>
                                              <p:pRg st="0" end="0"/>
                                            </p:txEl>
                                          </p:spTgt>
                                        </p:tgtEl>
                                        <p:attrNameLst>
                                          <p:attrName>style.visibility</p:attrName>
                                        </p:attrNameLst>
                                      </p:cBhvr>
                                      <p:to>
                                        <p:strVal val="visible"/>
                                      </p:to>
                                    </p:set>
                                    <p:animEffect transition="in" filter="dissolve">
                                      <p:cBhvr>
                                        <p:cTn id="7" dur="500"/>
                                        <p:tgtEl>
                                          <p:spTgt spid="1126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67"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normAutofit fontScale="90000"/>
          </a:bodyPr>
          <a:lstStyle/>
          <a:p>
            <a:r>
              <a:rPr lang="en-US" altLang="en-US" dirty="0"/>
              <a:t>Fully Parenthesized </a:t>
            </a:r>
            <a:r>
              <a:rPr lang="en-US" altLang="en-US" dirty="0" smtClean="0"/>
              <a:t>Expression</a:t>
            </a:r>
            <a:endParaRPr lang="en-US" altLang="en-US" dirty="0"/>
          </a:p>
        </p:txBody>
      </p:sp>
      <p:sp>
        <p:nvSpPr>
          <p:cNvPr id="15363" name="Rectangle 3"/>
          <p:cNvSpPr>
            <a:spLocks noGrp="1" noChangeArrowheads="1"/>
          </p:cNvSpPr>
          <p:nvPr>
            <p:ph type="body" idx="1"/>
          </p:nvPr>
        </p:nvSpPr>
        <p:spPr/>
        <p:txBody>
          <a:bodyPr/>
          <a:lstStyle/>
          <a:p>
            <a:r>
              <a:rPr lang="en-US" altLang="en-US" dirty="0"/>
              <a:t>A fully parenthesized infix arithmetic expression is an infix arithmetic expression where every operator and its arguments are contained in parentheses.</a:t>
            </a:r>
          </a:p>
          <a:p>
            <a:r>
              <a:rPr lang="en-US" altLang="en-US" dirty="0"/>
              <a:t>Which is fully parenthesized?</a:t>
            </a:r>
          </a:p>
          <a:p>
            <a:pPr>
              <a:buFont typeface="Monotype Sorts" pitchFamily="32" charset="2"/>
              <a:buNone/>
            </a:pPr>
            <a:r>
              <a:rPr lang="en-US" altLang="en-US" dirty="0"/>
              <a:t>				( A + B ) * C</a:t>
            </a:r>
          </a:p>
          <a:p>
            <a:pPr>
              <a:buFont typeface="Monotype Sorts" pitchFamily="32" charset="2"/>
              <a:buNone/>
            </a:pPr>
            <a:r>
              <a:rPr lang="en-US" altLang="en-US" dirty="0">
                <a:solidFill>
                  <a:srgbClr val="FF0000"/>
                </a:solidFill>
              </a:rPr>
              <a:t>			     ( ( A + B) * C )</a:t>
            </a:r>
          </a:p>
          <a:p>
            <a:pPr>
              <a:buFont typeface="Monotype Sorts" pitchFamily="32" charset="2"/>
              <a:buNone/>
            </a:pPr>
            <a:r>
              <a:rPr lang="en-US" altLang="en-US" dirty="0"/>
              <a:t>			     ( ( A + B) * ( C ) </a:t>
            </a:r>
            <a:r>
              <a:rPr lang="en-US" altLang="en-US" dirty="0" smtClean="0"/>
              <a:t>)</a:t>
            </a:r>
          </a:p>
          <a:p>
            <a:pPr>
              <a:buFont typeface="Monotype Sorts" pitchFamily="32" charset="2"/>
              <a:buNone/>
            </a:pPr>
            <a:r>
              <a:rPr lang="en-US" dirty="0" smtClean="0"/>
              <a:t>                                           </a:t>
            </a:r>
            <a:r>
              <a:rPr lang="en-US" dirty="0" smtClean="0">
                <a:solidFill>
                  <a:srgbClr val="FF0000"/>
                </a:solidFill>
              </a:rPr>
              <a:t>(</a:t>
            </a:r>
            <a:r>
              <a:rPr lang="en-US" dirty="0">
                <a:solidFill>
                  <a:srgbClr val="FF0000"/>
                </a:solidFill>
              </a:rPr>
              <a:t>2+3</a:t>
            </a:r>
            <a:r>
              <a:rPr lang="en-US" dirty="0" smtClean="0">
                <a:solidFill>
                  <a:srgbClr val="FF0000"/>
                </a:solidFill>
              </a:rPr>
              <a:t>)</a:t>
            </a:r>
          </a:p>
          <a:p>
            <a:pPr>
              <a:buFont typeface="Monotype Sorts" pitchFamily="32" charset="2"/>
              <a:buNone/>
            </a:pPr>
            <a:r>
              <a:rPr lang="en-US" dirty="0">
                <a:solidFill>
                  <a:srgbClr val="FF0000"/>
                </a:solidFill>
              </a:rPr>
              <a:t> </a:t>
            </a:r>
            <a:r>
              <a:rPr lang="en-US" dirty="0" smtClean="0">
                <a:solidFill>
                  <a:srgbClr val="FF0000"/>
                </a:solidFill>
              </a:rPr>
              <a:t>                                            (</a:t>
            </a:r>
            <a:r>
              <a:rPr lang="en-US" dirty="0">
                <a:solidFill>
                  <a:srgbClr val="FF0000"/>
                </a:solidFill>
              </a:rPr>
              <a:t>1+((2+3)∗(4∗5)))</a:t>
            </a:r>
            <a:endParaRPr lang="en-US" altLang="en-US" dirty="0">
              <a:solidFill>
                <a:srgbClr val="FF0000"/>
              </a:solidFill>
            </a:endParaRPr>
          </a:p>
        </p:txBody>
      </p:sp>
    </p:spTree>
    <p:extLst>
      <p:ext uri="{BB962C8B-B14F-4D97-AF65-F5344CB8AC3E}">
        <p14:creationId xmlns:p14="http://schemas.microsoft.com/office/powerpoint/2010/main" val="404548086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5363">
                                            <p:txEl>
                                              <p:pRg st="0" end="0"/>
                                            </p:txEl>
                                          </p:spTgt>
                                        </p:tgtEl>
                                        <p:attrNameLst>
                                          <p:attrName>style.visibility</p:attrName>
                                        </p:attrNameLst>
                                      </p:cBhvr>
                                      <p:to>
                                        <p:strVal val="visible"/>
                                      </p:to>
                                    </p:set>
                                    <p:animEffect transition="in" filter="dissolve">
                                      <p:cBhvr>
                                        <p:cTn id="7" dur="500"/>
                                        <p:tgtEl>
                                          <p:spTgt spid="15363">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5363">
                                            <p:txEl>
                                              <p:pRg st="1" end="1"/>
                                            </p:txEl>
                                          </p:spTgt>
                                        </p:tgtEl>
                                        <p:attrNameLst>
                                          <p:attrName>style.visibility</p:attrName>
                                        </p:attrNameLst>
                                      </p:cBhvr>
                                      <p:to>
                                        <p:strVal val="visible"/>
                                      </p:to>
                                    </p:set>
                                    <p:animEffect transition="in" filter="dissolve">
                                      <p:cBhvr>
                                        <p:cTn id="12" dur="500"/>
                                        <p:tgtEl>
                                          <p:spTgt spid="15363">
                                            <p:txEl>
                                              <p:pRg st="1" end="1"/>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5363">
                                            <p:txEl>
                                              <p:pRg st="2" end="2"/>
                                            </p:txEl>
                                          </p:spTgt>
                                        </p:tgtEl>
                                        <p:attrNameLst>
                                          <p:attrName>style.visibility</p:attrName>
                                        </p:attrNameLst>
                                      </p:cBhvr>
                                      <p:to>
                                        <p:strVal val="visible"/>
                                      </p:to>
                                    </p:set>
                                    <p:animEffect transition="in" filter="dissolve">
                                      <p:cBhvr>
                                        <p:cTn id="17" dur="500"/>
                                        <p:tgtEl>
                                          <p:spTgt spid="15363">
                                            <p:txEl>
                                              <p:pRg st="2" end="2"/>
                                            </p:txEl>
                                          </p:spTgt>
                                        </p:tgtEl>
                                      </p:cBhvr>
                                    </p:animEffect>
                                  </p:childTnLst>
                                </p:cTn>
                              </p:par>
                              <p:par>
                                <p:cTn id="18" presetID="9" presetClass="entr" presetSubtype="0" fill="hold" grpId="0" nodeType="withEffect">
                                  <p:stCondLst>
                                    <p:cond delay="0"/>
                                  </p:stCondLst>
                                  <p:childTnLst>
                                    <p:set>
                                      <p:cBhvr>
                                        <p:cTn id="19" dur="1" fill="hold">
                                          <p:stCondLst>
                                            <p:cond delay="0"/>
                                          </p:stCondLst>
                                        </p:cTn>
                                        <p:tgtEl>
                                          <p:spTgt spid="15363">
                                            <p:txEl>
                                              <p:pRg st="3" end="3"/>
                                            </p:txEl>
                                          </p:spTgt>
                                        </p:tgtEl>
                                        <p:attrNameLst>
                                          <p:attrName>style.visibility</p:attrName>
                                        </p:attrNameLst>
                                      </p:cBhvr>
                                      <p:to>
                                        <p:strVal val="visible"/>
                                      </p:to>
                                    </p:set>
                                    <p:animEffect transition="in" filter="dissolve">
                                      <p:cBhvr>
                                        <p:cTn id="20" dur="500"/>
                                        <p:tgtEl>
                                          <p:spTgt spid="15363">
                                            <p:txEl>
                                              <p:pRg st="3" end="3"/>
                                            </p:txEl>
                                          </p:spTgt>
                                        </p:tgtEl>
                                      </p:cBhvr>
                                    </p:animEffect>
                                  </p:childTnLst>
                                </p:cTn>
                              </p:par>
                              <p:par>
                                <p:cTn id="21" presetID="9" presetClass="entr" presetSubtype="0" fill="hold" grpId="0" nodeType="withEffect">
                                  <p:stCondLst>
                                    <p:cond delay="0"/>
                                  </p:stCondLst>
                                  <p:childTnLst>
                                    <p:set>
                                      <p:cBhvr>
                                        <p:cTn id="22" dur="1" fill="hold">
                                          <p:stCondLst>
                                            <p:cond delay="0"/>
                                          </p:stCondLst>
                                        </p:cTn>
                                        <p:tgtEl>
                                          <p:spTgt spid="15363">
                                            <p:txEl>
                                              <p:pRg st="4" end="4"/>
                                            </p:txEl>
                                          </p:spTgt>
                                        </p:tgtEl>
                                        <p:attrNameLst>
                                          <p:attrName>style.visibility</p:attrName>
                                        </p:attrNameLst>
                                      </p:cBhvr>
                                      <p:to>
                                        <p:strVal val="visible"/>
                                      </p:to>
                                    </p:set>
                                    <p:animEffect transition="in" filter="dissolve">
                                      <p:cBhvr>
                                        <p:cTn id="23" dur="500"/>
                                        <p:tgtEl>
                                          <p:spTgt spid="1536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9" presetClass="entr" presetSubtype="0" fill="hold" grpId="0" nodeType="clickEffect">
                                  <p:stCondLst>
                                    <p:cond delay="0"/>
                                  </p:stCondLst>
                                  <p:childTnLst>
                                    <p:set>
                                      <p:cBhvr>
                                        <p:cTn id="27" dur="1" fill="hold">
                                          <p:stCondLst>
                                            <p:cond delay="0"/>
                                          </p:stCondLst>
                                        </p:cTn>
                                        <p:tgtEl>
                                          <p:spTgt spid="15363">
                                            <p:txEl>
                                              <p:pRg st="5" end="5"/>
                                            </p:txEl>
                                          </p:spTgt>
                                        </p:tgtEl>
                                        <p:attrNameLst>
                                          <p:attrName>style.visibility</p:attrName>
                                        </p:attrNameLst>
                                      </p:cBhvr>
                                      <p:to>
                                        <p:strVal val="visible"/>
                                      </p:to>
                                    </p:set>
                                    <p:animEffect transition="in" filter="dissolve">
                                      <p:cBhvr>
                                        <p:cTn id="28" dur="500"/>
                                        <p:tgtEl>
                                          <p:spTgt spid="15363">
                                            <p:txEl>
                                              <p:pRg st="5" end="5"/>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ntr" presetSubtype="0" fill="hold" grpId="0" nodeType="clickEffect">
                                  <p:stCondLst>
                                    <p:cond delay="0"/>
                                  </p:stCondLst>
                                  <p:childTnLst>
                                    <p:set>
                                      <p:cBhvr>
                                        <p:cTn id="32" dur="1" fill="hold">
                                          <p:stCondLst>
                                            <p:cond delay="0"/>
                                          </p:stCondLst>
                                        </p:cTn>
                                        <p:tgtEl>
                                          <p:spTgt spid="15363">
                                            <p:txEl>
                                              <p:pRg st="6" end="6"/>
                                            </p:txEl>
                                          </p:spTgt>
                                        </p:tgtEl>
                                        <p:attrNameLst>
                                          <p:attrName>style.visibility</p:attrName>
                                        </p:attrNameLst>
                                      </p:cBhvr>
                                      <p:to>
                                        <p:strVal val="visible"/>
                                      </p:to>
                                    </p:set>
                                    <p:animEffect transition="in" filter="dissolve">
                                      <p:cBhvr>
                                        <p:cTn id="33" dur="500"/>
                                        <p:tgtEl>
                                          <p:spTgt spid="1536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363"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ounded Rectangle 6">
            <a:extLst>
              <a:ext uri="{FF2B5EF4-FFF2-40B4-BE49-F238E27FC236}">
                <a16:creationId xmlns:a16="http://schemas.microsoft.com/office/drawing/2014/main" id="{93069660-04C3-2007-F0BE-003DE61E7260}"/>
              </a:ext>
            </a:extLst>
          </p:cNvPr>
          <p:cNvSpPr/>
          <p:nvPr/>
        </p:nvSpPr>
        <p:spPr>
          <a:xfrm>
            <a:off x="1524000" y="0"/>
            <a:ext cx="9144000" cy="1066800"/>
          </a:xfrm>
          <a:prstGeom prst="roundRect">
            <a:avLst>
              <a:gd name="adj" fmla="val 0"/>
            </a:avLst>
          </a:prstGeom>
          <a:solidFill>
            <a:schemeClr val="tx2">
              <a:lumMod val="75000"/>
            </a:schemeClr>
          </a:solidFill>
          <a:ln>
            <a:solidFill>
              <a:schemeClr val="accent3">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anchor="ctr"/>
          <a:lstStyle>
            <a:lvl1pPr eaLnBrk="0" hangingPunct="0">
              <a:defRPr>
                <a:solidFill>
                  <a:schemeClr val="tx1"/>
                </a:solidFill>
                <a:latin typeface="Constantia" pitchFamily="18" charset="0"/>
                <a:cs typeface="Arial" charset="0"/>
              </a:defRPr>
            </a:lvl1pPr>
            <a:lvl2pPr marL="742950" indent="-285750" eaLnBrk="0" hangingPunct="0">
              <a:defRPr>
                <a:solidFill>
                  <a:schemeClr val="tx1"/>
                </a:solidFill>
                <a:latin typeface="Constantia" pitchFamily="18" charset="0"/>
                <a:cs typeface="Arial" charset="0"/>
              </a:defRPr>
            </a:lvl2pPr>
            <a:lvl3pPr marL="1143000" indent="-228600" eaLnBrk="0" hangingPunct="0">
              <a:defRPr>
                <a:solidFill>
                  <a:schemeClr val="tx1"/>
                </a:solidFill>
                <a:latin typeface="Constantia" pitchFamily="18" charset="0"/>
                <a:cs typeface="Arial" charset="0"/>
              </a:defRPr>
            </a:lvl3pPr>
            <a:lvl4pPr marL="1600200" indent="-228600" eaLnBrk="0" hangingPunct="0">
              <a:defRPr>
                <a:solidFill>
                  <a:schemeClr val="tx1"/>
                </a:solidFill>
                <a:latin typeface="Constantia" pitchFamily="18" charset="0"/>
                <a:cs typeface="Arial" charset="0"/>
              </a:defRPr>
            </a:lvl4pPr>
            <a:lvl5pPr marL="2057400" indent="-228600" eaLnBrk="0" hangingPunct="0">
              <a:defRPr>
                <a:solidFill>
                  <a:schemeClr val="tx1"/>
                </a:solidFill>
                <a:latin typeface="Constantia" pitchFamily="18" charset="0"/>
                <a:cs typeface="Arial" charset="0"/>
              </a:defRPr>
            </a:lvl5pPr>
            <a:lvl6pPr marL="2514600" indent="-228600" eaLnBrk="0" fontAlgn="base" hangingPunct="0">
              <a:spcBef>
                <a:spcPct val="0"/>
              </a:spcBef>
              <a:spcAft>
                <a:spcPct val="0"/>
              </a:spcAft>
              <a:defRPr>
                <a:solidFill>
                  <a:schemeClr val="tx1"/>
                </a:solidFill>
                <a:latin typeface="Constantia" pitchFamily="18" charset="0"/>
                <a:cs typeface="Arial" charset="0"/>
              </a:defRPr>
            </a:lvl6pPr>
            <a:lvl7pPr marL="2971800" indent="-228600" eaLnBrk="0" fontAlgn="base" hangingPunct="0">
              <a:spcBef>
                <a:spcPct val="0"/>
              </a:spcBef>
              <a:spcAft>
                <a:spcPct val="0"/>
              </a:spcAft>
              <a:defRPr>
                <a:solidFill>
                  <a:schemeClr val="tx1"/>
                </a:solidFill>
                <a:latin typeface="Constantia" pitchFamily="18" charset="0"/>
                <a:cs typeface="Arial" charset="0"/>
              </a:defRPr>
            </a:lvl7pPr>
            <a:lvl8pPr marL="3429000" indent="-228600" eaLnBrk="0" fontAlgn="base" hangingPunct="0">
              <a:spcBef>
                <a:spcPct val="0"/>
              </a:spcBef>
              <a:spcAft>
                <a:spcPct val="0"/>
              </a:spcAft>
              <a:defRPr>
                <a:solidFill>
                  <a:schemeClr val="tx1"/>
                </a:solidFill>
                <a:latin typeface="Constantia" pitchFamily="18" charset="0"/>
                <a:cs typeface="Arial" charset="0"/>
              </a:defRPr>
            </a:lvl8pPr>
            <a:lvl9pPr marL="3886200" indent="-228600" eaLnBrk="0" fontAlgn="base" hangingPunct="0">
              <a:spcBef>
                <a:spcPct val="0"/>
              </a:spcBef>
              <a:spcAft>
                <a:spcPct val="0"/>
              </a:spcAft>
              <a:defRPr>
                <a:solidFill>
                  <a:schemeClr val="tx1"/>
                </a:solidFill>
                <a:latin typeface="Constantia" pitchFamily="18" charset="0"/>
                <a:cs typeface="Arial" charset="0"/>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4800" b="0" i="0" u="none" strike="noStrike" kern="1200" cap="none" spc="0" normalizeH="0" baseline="0" noProof="0">
                <a:ln>
                  <a:noFill/>
                </a:ln>
                <a:solidFill>
                  <a:prstClr val="white"/>
                </a:solidFill>
                <a:effectLst/>
                <a:uLnTx/>
                <a:uFillTx/>
                <a:latin typeface="Calibri" pitchFamily="34" charset="0"/>
                <a:ea typeface="+mn-ea"/>
                <a:cs typeface="Arial" charset="0"/>
              </a:rPr>
              <a:t>Infix Notation</a:t>
            </a:r>
          </a:p>
        </p:txBody>
      </p:sp>
      <p:sp>
        <p:nvSpPr>
          <p:cNvPr id="21507" name="Rectangle 3">
            <a:extLst>
              <a:ext uri="{FF2B5EF4-FFF2-40B4-BE49-F238E27FC236}">
                <a16:creationId xmlns:a16="http://schemas.microsoft.com/office/drawing/2014/main" id="{7B75B273-5FB0-4FD9-5B3B-532A0BDDA118}"/>
              </a:ext>
            </a:extLst>
          </p:cNvPr>
          <p:cNvSpPr txBox="1">
            <a:spLocks noChangeArrowheads="1"/>
          </p:cNvSpPr>
          <p:nvPr/>
        </p:nvSpPr>
        <p:spPr bwMode="auto">
          <a:xfrm>
            <a:off x="1676400" y="1295400"/>
            <a:ext cx="8839200" cy="5181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eaLnBrk="0" hangingPunct="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eaLnBrk="0" hangingPunct="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342900" marR="0" lvl="0" indent="-342900" algn="l" defTabSz="914400" rtl="0" eaLnBrk="1" fontAlgn="auto" latinLnBrk="0" hangingPunct="1">
              <a:lnSpc>
                <a:spcPct val="105000"/>
              </a:lnSpc>
              <a:spcBef>
                <a:spcPct val="20000"/>
              </a:spcBef>
              <a:spcAft>
                <a:spcPts val="0"/>
              </a:spcAft>
              <a:buClrTx/>
              <a:buSzTx/>
              <a:buFont typeface="Arial" panose="020B0604020202020204" pitchFamily="34" charset="0"/>
              <a:buChar char="•"/>
              <a:tabLst/>
              <a:defRPr/>
            </a:pPr>
            <a:r>
              <a:rPr kumimoji="0" lang="en-US" altLang="en-US" sz="2400" b="0" i="0" u="none" strike="noStrike" kern="1200" cap="none" spc="0" normalizeH="0" baseline="0" noProof="0">
                <a:ln>
                  <a:noFill/>
                </a:ln>
                <a:solidFill>
                  <a:srgbClr val="FF0000"/>
                </a:solidFill>
                <a:effectLst/>
                <a:uLnTx/>
                <a:uFillTx/>
                <a:latin typeface="Calibri" panose="020F0502020204030204" pitchFamily="34" charset="0"/>
                <a:ea typeface="+mn-ea"/>
                <a:cs typeface="+mn-cs"/>
              </a:rPr>
              <a:t>Infix, Postfix </a:t>
            </a: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and </a:t>
            </a:r>
            <a:r>
              <a:rPr kumimoji="0" lang="en-US" altLang="en-US" sz="2400" b="0" i="0" u="none" strike="noStrike" kern="1200" cap="none" spc="0" normalizeH="0" baseline="0" noProof="0">
                <a:ln>
                  <a:noFill/>
                </a:ln>
                <a:solidFill>
                  <a:srgbClr val="FF0000"/>
                </a:solidFill>
                <a:effectLst/>
                <a:uLnTx/>
                <a:uFillTx/>
                <a:latin typeface="Calibri" panose="020F0502020204030204" pitchFamily="34" charset="0"/>
                <a:ea typeface="+mn-ea"/>
                <a:cs typeface="+mn-cs"/>
              </a:rPr>
              <a:t>Prefix</a:t>
            </a: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 notations are three different but equivalent notations of writing algebraic expressions. </a:t>
            </a:r>
          </a:p>
          <a:p>
            <a:pPr marL="342900" marR="0" lvl="0" indent="-342900" algn="l" defTabSz="914400" rtl="0" eaLnBrk="1" fontAlgn="auto" latinLnBrk="0" hangingPunct="1">
              <a:lnSpc>
                <a:spcPct val="105000"/>
              </a:lnSpc>
              <a:spcBef>
                <a:spcPct val="20000"/>
              </a:spcBef>
              <a:spcAft>
                <a:spcPts val="0"/>
              </a:spcAft>
              <a:buClrTx/>
              <a:buSzTx/>
              <a:buFont typeface="Arial" panose="020B0604020202020204" pitchFamily="34" charset="0"/>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While writing an arithmetic expression using infix notation, the operator is placed between the operands. For example, </a:t>
            </a:r>
            <a:r>
              <a:rPr kumimoji="0" lang="en-US" altLang="en-US" sz="2400" b="0" i="1" u="none" strike="noStrike" kern="1200" cap="none" spc="0" normalizeH="0" baseline="0" noProof="0">
                <a:ln>
                  <a:noFill/>
                </a:ln>
                <a:solidFill>
                  <a:srgbClr val="FF0000"/>
                </a:solidFill>
                <a:effectLst/>
                <a:uLnTx/>
                <a:uFillTx/>
                <a:latin typeface="Calibri" panose="020F0502020204030204" pitchFamily="34" charset="0"/>
                <a:ea typeface="+mn-ea"/>
                <a:cs typeface="+mn-cs"/>
              </a:rPr>
              <a:t>A+B</a:t>
            </a:r>
            <a:r>
              <a:rPr kumimoji="0" lang="en-US" altLang="en-US" sz="2400" b="0" i="1" u="none" strike="noStrike" kern="1200" cap="none" spc="0" normalizeH="0" baseline="0" noProof="0">
                <a:ln>
                  <a:noFill/>
                </a:ln>
                <a:solidFill>
                  <a:prstClr val="black"/>
                </a:solidFill>
                <a:effectLst/>
                <a:uLnTx/>
                <a:uFillTx/>
                <a:latin typeface="Calibri" panose="020F0502020204030204" pitchFamily="34" charset="0"/>
                <a:ea typeface="+mn-ea"/>
                <a:cs typeface="+mn-cs"/>
              </a:rPr>
              <a:t>;</a:t>
            </a: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 here, plus operator is placed between the two operands A and B. </a:t>
            </a:r>
          </a:p>
          <a:p>
            <a:pPr marL="342900" marR="0" lvl="0" indent="-342900" algn="l" defTabSz="914400" rtl="0" eaLnBrk="1" fontAlgn="auto" latinLnBrk="0" hangingPunct="1">
              <a:lnSpc>
                <a:spcPct val="105000"/>
              </a:lnSpc>
              <a:spcBef>
                <a:spcPct val="20000"/>
              </a:spcBef>
              <a:spcAft>
                <a:spcPts val="0"/>
              </a:spcAft>
              <a:buClrTx/>
              <a:buSzTx/>
              <a:buFont typeface="Arial" panose="020B0604020202020204" pitchFamily="34" charset="0"/>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Although it is easy to write expressions using infix notation, computers find it difficult to parse as they need a lot of information to evaluate the expression. </a:t>
            </a:r>
          </a:p>
          <a:p>
            <a:pPr marL="342900" marR="0" lvl="0" indent="-342900" algn="l" defTabSz="914400" rtl="0" eaLnBrk="1" fontAlgn="auto" latinLnBrk="0" hangingPunct="1">
              <a:lnSpc>
                <a:spcPct val="105000"/>
              </a:lnSpc>
              <a:spcBef>
                <a:spcPct val="20000"/>
              </a:spcBef>
              <a:spcAft>
                <a:spcPts val="0"/>
              </a:spcAft>
              <a:buClrTx/>
              <a:buSzTx/>
              <a:buFont typeface="Arial" panose="020B0604020202020204" pitchFamily="34" charset="0"/>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Information is needed about operator precedence, associativity rules, and brackets which overrides these rules. </a:t>
            </a:r>
          </a:p>
          <a:p>
            <a:pPr marL="342900" marR="0" lvl="0" indent="-342900" algn="l" defTabSz="914400" rtl="0" eaLnBrk="1" fontAlgn="auto" latinLnBrk="0" hangingPunct="1">
              <a:lnSpc>
                <a:spcPct val="105000"/>
              </a:lnSpc>
              <a:spcBef>
                <a:spcPct val="20000"/>
              </a:spcBef>
              <a:spcAft>
                <a:spcPts val="0"/>
              </a:spcAft>
              <a:buClrTx/>
              <a:buSzTx/>
              <a:buFont typeface="Arial" panose="020B0604020202020204" pitchFamily="34" charset="0"/>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So, computers work more efficiently with expressions written using prefix and postfix notations. </a:t>
            </a:r>
          </a:p>
        </p:txBody>
      </p:sp>
    </p:spTree>
    <p:extLst>
      <p:ext uri="{BB962C8B-B14F-4D97-AF65-F5344CB8AC3E}">
        <p14:creationId xmlns:p14="http://schemas.microsoft.com/office/powerpoint/2010/main" val="35504144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ounded Rectangle 6">
            <a:extLst>
              <a:ext uri="{FF2B5EF4-FFF2-40B4-BE49-F238E27FC236}">
                <a16:creationId xmlns:a16="http://schemas.microsoft.com/office/drawing/2014/main" id="{64429A83-BE6C-E664-FE2B-433FA690EC8E}"/>
              </a:ext>
            </a:extLst>
          </p:cNvPr>
          <p:cNvSpPr/>
          <p:nvPr/>
        </p:nvSpPr>
        <p:spPr>
          <a:xfrm>
            <a:off x="1524000" y="0"/>
            <a:ext cx="9144000" cy="1066800"/>
          </a:xfrm>
          <a:prstGeom prst="roundRect">
            <a:avLst>
              <a:gd name="adj" fmla="val 0"/>
            </a:avLst>
          </a:prstGeom>
          <a:solidFill>
            <a:schemeClr val="tx2">
              <a:lumMod val="75000"/>
            </a:schemeClr>
          </a:solidFill>
          <a:ln>
            <a:solidFill>
              <a:schemeClr val="accent3">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anchor="ctr"/>
          <a:lstStyle>
            <a:lvl1pPr eaLnBrk="0" hangingPunct="0">
              <a:defRPr>
                <a:solidFill>
                  <a:schemeClr val="tx1"/>
                </a:solidFill>
                <a:latin typeface="Constantia" pitchFamily="18" charset="0"/>
                <a:cs typeface="Arial" charset="0"/>
              </a:defRPr>
            </a:lvl1pPr>
            <a:lvl2pPr marL="742950" indent="-285750" eaLnBrk="0" hangingPunct="0">
              <a:defRPr>
                <a:solidFill>
                  <a:schemeClr val="tx1"/>
                </a:solidFill>
                <a:latin typeface="Constantia" pitchFamily="18" charset="0"/>
                <a:cs typeface="Arial" charset="0"/>
              </a:defRPr>
            </a:lvl2pPr>
            <a:lvl3pPr marL="1143000" indent="-228600" eaLnBrk="0" hangingPunct="0">
              <a:defRPr>
                <a:solidFill>
                  <a:schemeClr val="tx1"/>
                </a:solidFill>
                <a:latin typeface="Constantia" pitchFamily="18" charset="0"/>
                <a:cs typeface="Arial" charset="0"/>
              </a:defRPr>
            </a:lvl3pPr>
            <a:lvl4pPr marL="1600200" indent="-228600" eaLnBrk="0" hangingPunct="0">
              <a:defRPr>
                <a:solidFill>
                  <a:schemeClr val="tx1"/>
                </a:solidFill>
                <a:latin typeface="Constantia" pitchFamily="18" charset="0"/>
                <a:cs typeface="Arial" charset="0"/>
              </a:defRPr>
            </a:lvl4pPr>
            <a:lvl5pPr marL="2057400" indent="-228600" eaLnBrk="0" hangingPunct="0">
              <a:defRPr>
                <a:solidFill>
                  <a:schemeClr val="tx1"/>
                </a:solidFill>
                <a:latin typeface="Constantia" pitchFamily="18" charset="0"/>
                <a:cs typeface="Arial" charset="0"/>
              </a:defRPr>
            </a:lvl5pPr>
            <a:lvl6pPr marL="2514600" indent="-228600" eaLnBrk="0" fontAlgn="base" hangingPunct="0">
              <a:spcBef>
                <a:spcPct val="0"/>
              </a:spcBef>
              <a:spcAft>
                <a:spcPct val="0"/>
              </a:spcAft>
              <a:defRPr>
                <a:solidFill>
                  <a:schemeClr val="tx1"/>
                </a:solidFill>
                <a:latin typeface="Constantia" pitchFamily="18" charset="0"/>
                <a:cs typeface="Arial" charset="0"/>
              </a:defRPr>
            </a:lvl6pPr>
            <a:lvl7pPr marL="2971800" indent="-228600" eaLnBrk="0" fontAlgn="base" hangingPunct="0">
              <a:spcBef>
                <a:spcPct val="0"/>
              </a:spcBef>
              <a:spcAft>
                <a:spcPct val="0"/>
              </a:spcAft>
              <a:defRPr>
                <a:solidFill>
                  <a:schemeClr val="tx1"/>
                </a:solidFill>
                <a:latin typeface="Constantia" pitchFamily="18" charset="0"/>
                <a:cs typeface="Arial" charset="0"/>
              </a:defRPr>
            </a:lvl7pPr>
            <a:lvl8pPr marL="3429000" indent="-228600" eaLnBrk="0" fontAlgn="base" hangingPunct="0">
              <a:spcBef>
                <a:spcPct val="0"/>
              </a:spcBef>
              <a:spcAft>
                <a:spcPct val="0"/>
              </a:spcAft>
              <a:defRPr>
                <a:solidFill>
                  <a:schemeClr val="tx1"/>
                </a:solidFill>
                <a:latin typeface="Constantia" pitchFamily="18" charset="0"/>
                <a:cs typeface="Arial" charset="0"/>
              </a:defRPr>
            </a:lvl8pPr>
            <a:lvl9pPr marL="3886200" indent="-228600" eaLnBrk="0" fontAlgn="base" hangingPunct="0">
              <a:spcBef>
                <a:spcPct val="0"/>
              </a:spcBef>
              <a:spcAft>
                <a:spcPct val="0"/>
              </a:spcAft>
              <a:defRPr>
                <a:solidFill>
                  <a:schemeClr val="tx1"/>
                </a:solidFill>
                <a:latin typeface="Constantia" pitchFamily="18" charset="0"/>
                <a:cs typeface="Arial" charset="0"/>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4800" b="0" i="0" u="none" strike="noStrike" kern="1200" cap="none" spc="0" normalizeH="0" baseline="0" noProof="0">
                <a:ln>
                  <a:noFill/>
                </a:ln>
                <a:solidFill>
                  <a:prstClr val="white"/>
                </a:solidFill>
                <a:effectLst/>
                <a:uLnTx/>
                <a:uFillTx/>
                <a:latin typeface="Calibri" pitchFamily="34" charset="0"/>
                <a:ea typeface="+mn-ea"/>
                <a:cs typeface="Arial" charset="0"/>
              </a:rPr>
              <a:t>Postfix Notation</a:t>
            </a:r>
          </a:p>
        </p:txBody>
      </p:sp>
      <p:sp>
        <p:nvSpPr>
          <p:cNvPr id="22531" name="Rectangle 3">
            <a:extLst>
              <a:ext uri="{FF2B5EF4-FFF2-40B4-BE49-F238E27FC236}">
                <a16:creationId xmlns:a16="http://schemas.microsoft.com/office/drawing/2014/main" id="{6305E4EB-07E3-A0AB-BD42-202A5DBC76C8}"/>
              </a:ext>
            </a:extLst>
          </p:cNvPr>
          <p:cNvSpPr txBox="1">
            <a:spLocks noChangeArrowheads="1"/>
          </p:cNvSpPr>
          <p:nvPr/>
        </p:nvSpPr>
        <p:spPr bwMode="auto">
          <a:xfrm>
            <a:off x="1676400" y="1219200"/>
            <a:ext cx="8686800" cy="495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spcBef>
                <a:spcPct val="20000"/>
              </a:spcBef>
              <a:buFont typeface="Arial" panose="020B0604020202020204" pitchFamily="34" charset="0"/>
              <a:buChar char="•"/>
              <a:defRPr sz="3200">
                <a:solidFill>
                  <a:schemeClr val="tx1"/>
                </a:solidFill>
                <a:latin typeface="Calibri" panose="020F0502020204030204" pitchFamily="34" charset="0"/>
              </a:defRPr>
            </a:lvl1pPr>
            <a:lvl2pPr marL="800100" indent="-342900" eaLnBrk="0" hangingPunct="0">
              <a:spcBef>
                <a:spcPct val="20000"/>
              </a:spcBef>
              <a:buFont typeface="Arial" panose="020B0604020202020204" pitchFamily="34" charset="0"/>
              <a:buChar char="–"/>
              <a:defRPr sz="2800">
                <a:solidFill>
                  <a:schemeClr val="tx1"/>
                </a:solidFill>
                <a:latin typeface="Calibri" panose="020F0502020204030204" pitchFamily="34" charset="0"/>
              </a:defRPr>
            </a:lvl2pPr>
            <a:lvl3pPr marL="1257300" indent="-342900" eaLnBrk="0" hangingPunct="0">
              <a:spcBef>
                <a:spcPct val="20000"/>
              </a:spcBef>
              <a:buFont typeface="Arial" panose="020B0604020202020204" pitchFamily="34" charset="0"/>
              <a:buChar char="•"/>
              <a:defRPr sz="2400">
                <a:solidFill>
                  <a:schemeClr val="tx1"/>
                </a:solidFill>
                <a:latin typeface="Calibri" panose="020F0502020204030204" pitchFamily="34" charset="0"/>
              </a:defRPr>
            </a:lvl3pPr>
            <a:lvl4pPr marL="1714500" indent="-3429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4pPr>
            <a:lvl5pPr marL="2171700" indent="-3429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5pPr>
            <a:lvl6pPr marL="2628900" indent="-3429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3086100" indent="-3429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543300" indent="-3429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4000500" indent="-3429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342900" marR="0" lvl="0" indent="-342900" algn="l" defTabSz="914400" rtl="0" eaLnBrk="1" fontAlgn="auto" latinLnBrk="0" hangingPunct="1">
              <a:lnSpc>
                <a:spcPct val="120000"/>
              </a:lnSpc>
              <a:spcBef>
                <a:spcPct val="20000"/>
              </a:spcBef>
              <a:spcAft>
                <a:spcPts val="0"/>
              </a:spcAft>
              <a:buClrTx/>
              <a:buSzTx/>
              <a:buFont typeface="Arial" panose="020B0604020202020204" pitchFamily="34" charset="0"/>
              <a:buChar char="•"/>
              <a:tabLst/>
              <a:defRPr/>
            </a:pPr>
            <a:r>
              <a:rPr kumimoji="0" lang="en-US" altLang="en-US" sz="2400" b="0" i="0" u="none" strike="noStrike" kern="1200" cap="none" spc="0" normalizeH="0" baseline="0" noProof="0">
                <a:ln>
                  <a:noFill/>
                </a:ln>
                <a:solidFill>
                  <a:srgbClr val="FF0000"/>
                </a:solidFill>
                <a:effectLst/>
                <a:uLnTx/>
                <a:uFillTx/>
                <a:latin typeface="Calibri" panose="020F0502020204030204" pitchFamily="34" charset="0"/>
                <a:ea typeface="+mn-ea"/>
                <a:cs typeface="+mn-cs"/>
              </a:rPr>
              <a:t>Postfix</a:t>
            </a: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 notation was given by Jan Łukasiewicz who was a Polish logician, mathematician, and philosopher. His aim was to develop a parenthesis-free prefix notation (also known as Polish notation) and a postfix notation which is better known as </a:t>
            </a:r>
            <a:r>
              <a:rPr kumimoji="0" lang="en-US" altLang="en-US" sz="2400" b="0" i="0" u="none" strike="noStrike" kern="1200" cap="none" spc="0" normalizeH="0" baseline="0" noProof="0">
                <a:ln>
                  <a:noFill/>
                </a:ln>
                <a:solidFill>
                  <a:srgbClr val="FF0000"/>
                </a:solidFill>
                <a:effectLst/>
                <a:uLnTx/>
                <a:uFillTx/>
                <a:latin typeface="Calibri" panose="020F0502020204030204" pitchFamily="34" charset="0"/>
                <a:ea typeface="+mn-ea"/>
                <a:cs typeface="+mn-cs"/>
              </a:rPr>
              <a:t>Reverse Polish Notation or RPN.</a:t>
            </a:r>
          </a:p>
          <a:p>
            <a:pPr marL="342900" marR="0" lvl="0" indent="-342900" algn="l" defTabSz="914400" rtl="0" eaLnBrk="1" fontAlgn="auto" latinLnBrk="0" hangingPunct="1">
              <a:lnSpc>
                <a:spcPct val="120000"/>
              </a:lnSpc>
              <a:spcBef>
                <a:spcPct val="20000"/>
              </a:spcBef>
              <a:spcAft>
                <a:spcPts val="0"/>
              </a:spcAft>
              <a:buClrTx/>
              <a:buSzTx/>
              <a:buFont typeface="Arial" panose="020B0604020202020204" pitchFamily="34" charset="0"/>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In postfix notation, the operator is placed after the operands. For example, if an expression is written as </a:t>
            </a:r>
            <a:r>
              <a:rPr kumimoji="0" lang="en-US" altLang="en-US" sz="2400" b="0" i="1" u="none" strike="noStrike" kern="1200" cap="none" spc="0" normalizeH="0" baseline="0" noProof="0">
                <a:ln>
                  <a:noFill/>
                </a:ln>
                <a:solidFill>
                  <a:srgbClr val="FF0000"/>
                </a:solidFill>
                <a:effectLst/>
                <a:uLnTx/>
                <a:uFillTx/>
                <a:latin typeface="Calibri" panose="020F0502020204030204" pitchFamily="34" charset="0"/>
                <a:ea typeface="+mn-ea"/>
                <a:cs typeface="+mn-cs"/>
              </a:rPr>
              <a:t>A+B</a:t>
            </a: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 in infix notation, the same expression can be written as </a:t>
            </a:r>
            <a:r>
              <a:rPr kumimoji="0" lang="en-US" altLang="en-US" sz="2400" b="0" i="1" u="none" strike="noStrike" kern="1200" cap="none" spc="0" normalizeH="0" baseline="0" noProof="0">
                <a:ln>
                  <a:noFill/>
                </a:ln>
                <a:solidFill>
                  <a:srgbClr val="FF0000"/>
                </a:solidFill>
                <a:effectLst/>
                <a:uLnTx/>
                <a:uFillTx/>
                <a:latin typeface="Calibri" panose="020F0502020204030204" pitchFamily="34" charset="0"/>
                <a:ea typeface="+mn-ea"/>
                <a:cs typeface="+mn-cs"/>
              </a:rPr>
              <a:t>AB+</a:t>
            </a: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 in postfix notation. </a:t>
            </a:r>
          </a:p>
          <a:p>
            <a:pPr marL="342900" marR="0" lvl="0" indent="-342900" algn="l" defTabSz="914400" rtl="0" eaLnBrk="1" fontAlgn="auto" latinLnBrk="0" hangingPunct="1">
              <a:lnSpc>
                <a:spcPct val="120000"/>
              </a:lnSpc>
              <a:spcBef>
                <a:spcPct val="20000"/>
              </a:spcBef>
              <a:spcAft>
                <a:spcPts val="0"/>
              </a:spcAft>
              <a:buClrTx/>
              <a:buSzTx/>
              <a:buFont typeface="Arial" panose="020B0604020202020204" pitchFamily="34" charset="0"/>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The order of evaluation of a postfix expression is always from left to right. </a:t>
            </a:r>
          </a:p>
        </p:txBody>
      </p:sp>
    </p:spTree>
    <p:extLst>
      <p:ext uri="{BB962C8B-B14F-4D97-AF65-F5344CB8AC3E}">
        <p14:creationId xmlns:p14="http://schemas.microsoft.com/office/powerpoint/2010/main" val="1954041643"/>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ounded Rectangle 6">
            <a:extLst>
              <a:ext uri="{FF2B5EF4-FFF2-40B4-BE49-F238E27FC236}">
                <a16:creationId xmlns:a16="http://schemas.microsoft.com/office/drawing/2014/main" id="{25219A87-5D86-6393-4411-053E95214C2D}"/>
              </a:ext>
            </a:extLst>
          </p:cNvPr>
          <p:cNvSpPr/>
          <p:nvPr/>
        </p:nvSpPr>
        <p:spPr>
          <a:xfrm>
            <a:off x="1524000" y="0"/>
            <a:ext cx="9144000" cy="1066800"/>
          </a:xfrm>
          <a:prstGeom prst="roundRect">
            <a:avLst>
              <a:gd name="adj" fmla="val 0"/>
            </a:avLst>
          </a:prstGeom>
          <a:solidFill>
            <a:schemeClr val="tx2">
              <a:lumMod val="75000"/>
            </a:schemeClr>
          </a:solidFill>
          <a:ln>
            <a:solidFill>
              <a:schemeClr val="accent3">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anchor="ctr"/>
          <a:lstStyle>
            <a:lvl1pPr eaLnBrk="0" hangingPunct="0">
              <a:defRPr>
                <a:solidFill>
                  <a:schemeClr val="tx1"/>
                </a:solidFill>
                <a:latin typeface="Constantia" pitchFamily="18" charset="0"/>
                <a:cs typeface="Arial" charset="0"/>
              </a:defRPr>
            </a:lvl1pPr>
            <a:lvl2pPr marL="742950" indent="-285750" eaLnBrk="0" hangingPunct="0">
              <a:defRPr>
                <a:solidFill>
                  <a:schemeClr val="tx1"/>
                </a:solidFill>
                <a:latin typeface="Constantia" pitchFamily="18" charset="0"/>
                <a:cs typeface="Arial" charset="0"/>
              </a:defRPr>
            </a:lvl2pPr>
            <a:lvl3pPr marL="1143000" indent="-228600" eaLnBrk="0" hangingPunct="0">
              <a:defRPr>
                <a:solidFill>
                  <a:schemeClr val="tx1"/>
                </a:solidFill>
                <a:latin typeface="Constantia" pitchFamily="18" charset="0"/>
                <a:cs typeface="Arial" charset="0"/>
              </a:defRPr>
            </a:lvl3pPr>
            <a:lvl4pPr marL="1600200" indent="-228600" eaLnBrk="0" hangingPunct="0">
              <a:defRPr>
                <a:solidFill>
                  <a:schemeClr val="tx1"/>
                </a:solidFill>
                <a:latin typeface="Constantia" pitchFamily="18" charset="0"/>
                <a:cs typeface="Arial" charset="0"/>
              </a:defRPr>
            </a:lvl4pPr>
            <a:lvl5pPr marL="2057400" indent="-228600" eaLnBrk="0" hangingPunct="0">
              <a:defRPr>
                <a:solidFill>
                  <a:schemeClr val="tx1"/>
                </a:solidFill>
                <a:latin typeface="Constantia" pitchFamily="18" charset="0"/>
                <a:cs typeface="Arial" charset="0"/>
              </a:defRPr>
            </a:lvl5pPr>
            <a:lvl6pPr marL="2514600" indent="-228600" eaLnBrk="0" fontAlgn="base" hangingPunct="0">
              <a:spcBef>
                <a:spcPct val="0"/>
              </a:spcBef>
              <a:spcAft>
                <a:spcPct val="0"/>
              </a:spcAft>
              <a:defRPr>
                <a:solidFill>
                  <a:schemeClr val="tx1"/>
                </a:solidFill>
                <a:latin typeface="Constantia" pitchFamily="18" charset="0"/>
                <a:cs typeface="Arial" charset="0"/>
              </a:defRPr>
            </a:lvl6pPr>
            <a:lvl7pPr marL="2971800" indent="-228600" eaLnBrk="0" fontAlgn="base" hangingPunct="0">
              <a:spcBef>
                <a:spcPct val="0"/>
              </a:spcBef>
              <a:spcAft>
                <a:spcPct val="0"/>
              </a:spcAft>
              <a:defRPr>
                <a:solidFill>
                  <a:schemeClr val="tx1"/>
                </a:solidFill>
                <a:latin typeface="Constantia" pitchFamily="18" charset="0"/>
                <a:cs typeface="Arial" charset="0"/>
              </a:defRPr>
            </a:lvl7pPr>
            <a:lvl8pPr marL="3429000" indent="-228600" eaLnBrk="0" fontAlgn="base" hangingPunct="0">
              <a:spcBef>
                <a:spcPct val="0"/>
              </a:spcBef>
              <a:spcAft>
                <a:spcPct val="0"/>
              </a:spcAft>
              <a:defRPr>
                <a:solidFill>
                  <a:schemeClr val="tx1"/>
                </a:solidFill>
                <a:latin typeface="Constantia" pitchFamily="18" charset="0"/>
                <a:cs typeface="Arial" charset="0"/>
              </a:defRPr>
            </a:lvl8pPr>
            <a:lvl9pPr marL="3886200" indent="-228600" eaLnBrk="0" fontAlgn="base" hangingPunct="0">
              <a:spcBef>
                <a:spcPct val="0"/>
              </a:spcBef>
              <a:spcAft>
                <a:spcPct val="0"/>
              </a:spcAft>
              <a:defRPr>
                <a:solidFill>
                  <a:schemeClr val="tx1"/>
                </a:solidFill>
                <a:latin typeface="Constantia" pitchFamily="18" charset="0"/>
                <a:cs typeface="Arial" charset="0"/>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4800" b="0" i="0" u="none" strike="noStrike" kern="1200" cap="none" spc="0" normalizeH="0" baseline="0" noProof="0">
                <a:ln>
                  <a:noFill/>
                </a:ln>
                <a:solidFill>
                  <a:prstClr val="white"/>
                </a:solidFill>
                <a:effectLst/>
                <a:uLnTx/>
                <a:uFillTx/>
                <a:latin typeface="Calibri" pitchFamily="34" charset="0"/>
                <a:ea typeface="+mn-ea"/>
                <a:cs typeface="Arial" charset="0"/>
              </a:rPr>
              <a:t>Postfix Notation</a:t>
            </a:r>
          </a:p>
        </p:txBody>
      </p:sp>
      <p:sp>
        <p:nvSpPr>
          <p:cNvPr id="23555" name="Rectangle 3">
            <a:extLst>
              <a:ext uri="{FF2B5EF4-FFF2-40B4-BE49-F238E27FC236}">
                <a16:creationId xmlns:a16="http://schemas.microsoft.com/office/drawing/2014/main" id="{1607CC4F-C445-2C3F-7683-BB6C8BC50FD4}"/>
              </a:ext>
            </a:extLst>
          </p:cNvPr>
          <p:cNvSpPr txBox="1">
            <a:spLocks noChangeArrowheads="1"/>
          </p:cNvSpPr>
          <p:nvPr/>
        </p:nvSpPr>
        <p:spPr bwMode="auto">
          <a:xfrm>
            <a:off x="1716088" y="1063625"/>
            <a:ext cx="8610600" cy="3276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spcBef>
                <a:spcPct val="20000"/>
              </a:spcBef>
              <a:buFont typeface="Arial" panose="020B0604020202020204" pitchFamily="34" charset="0"/>
              <a:buChar char="•"/>
              <a:defRPr sz="3200">
                <a:solidFill>
                  <a:schemeClr val="tx1"/>
                </a:solidFill>
                <a:latin typeface="Calibri" panose="020F0502020204030204" pitchFamily="34" charset="0"/>
              </a:defRPr>
            </a:lvl1pPr>
            <a:lvl2pPr marL="800100" indent="-342900" eaLnBrk="0" hangingPunct="0">
              <a:spcBef>
                <a:spcPct val="20000"/>
              </a:spcBef>
              <a:buFont typeface="Arial" panose="020B0604020202020204" pitchFamily="34" charset="0"/>
              <a:buChar char="–"/>
              <a:defRPr sz="2800">
                <a:solidFill>
                  <a:schemeClr val="tx1"/>
                </a:solidFill>
                <a:latin typeface="Calibri" panose="020F0502020204030204" pitchFamily="34" charset="0"/>
              </a:defRPr>
            </a:lvl2pPr>
            <a:lvl3pPr marL="1257300" indent="-342900" eaLnBrk="0" hangingPunct="0">
              <a:spcBef>
                <a:spcPct val="20000"/>
              </a:spcBef>
              <a:buFont typeface="Arial" panose="020B0604020202020204" pitchFamily="34" charset="0"/>
              <a:buChar char="•"/>
              <a:defRPr sz="2400">
                <a:solidFill>
                  <a:schemeClr val="tx1"/>
                </a:solidFill>
                <a:latin typeface="Calibri" panose="020F0502020204030204" pitchFamily="34" charset="0"/>
              </a:defRPr>
            </a:lvl3pPr>
            <a:lvl4pPr marL="1714500" indent="-3429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4pPr>
            <a:lvl5pPr marL="2171700" indent="-3429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5pPr>
            <a:lvl6pPr marL="2628900" indent="-3429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3086100" indent="-3429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543300" indent="-3429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4000500" indent="-3429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342900" marR="0" lvl="0" indent="-342900" algn="l" defTabSz="914400" rtl="0" eaLnBrk="1" fontAlgn="auto" latinLnBrk="0" hangingPunct="1">
              <a:lnSpc>
                <a:spcPct val="180000"/>
              </a:lnSpc>
              <a:spcBef>
                <a:spcPct val="20000"/>
              </a:spcBef>
              <a:spcAft>
                <a:spcPts val="0"/>
              </a:spcAft>
              <a:buClrTx/>
              <a:buSzTx/>
              <a:buFont typeface="Arial" panose="020B0604020202020204" pitchFamily="34" charset="0"/>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The expression </a:t>
            </a:r>
            <a:r>
              <a:rPr kumimoji="0" lang="en-US" altLang="en-US" sz="2400" b="0" i="0" u="none" strike="noStrike" kern="1200" cap="none" spc="0" normalizeH="0" baseline="0" noProof="0">
                <a:ln>
                  <a:noFill/>
                </a:ln>
                <a:solidFill>
                  <a:srgbClr val="FF0000"/>
                </a:solidFill>
                <a:effectLst/>
                <a:uLnTx/>
                <a:uFillTx/>
                <a:latin typeface="Calibri" panose="020F0502020204030204" pitchFamily="34" charset="0"/>
                <a:ea typeface="+mn-ea"/>
                <a:cs typeface="+mn-cs"/>
              </a:rPr>
              <a:t>(A + B) * C </a:t>
            </a: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is written as:</a:t>
            </a:r>
          </a:p>
          <a:p>
            <a:pPr marL="342900" marR="0" lvl="0" indent="-342900" algn="l" defTabSz="914400" rtl="0" eaLnBrk="1" fontAlgn="auto" latinLnBrk="0" hangingPunct="1">
              <a:lnSpc>
                <a:spcPct val="180000"/>
              </a:lnSpc>
              <a:spcBef>
                <a:spcPct val="20000"/>
              </a:spcBef>
              <a:spcAft>
                <a:spcPts val="0"/>
              </a:spcAft>
              <a:buClrTx/>
              <a:buSzTx/>
              <a:buFont typeface="Arial" panose="020B0604020202020204" pitchFamily="34" charset="0"/>
              <a:buNone/>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	 </a:t>
            </a:r>
            <a:r>
              <a:rPr kumimoji="0" lang="en-US" altLang="en-US" sz="2400" b="0" i="0" u="none" strike="noStrike" kern="1200" cap="none" spc="0" normalizeH="0" baseline="0" noProof="0">
                <a:ln>
                  <a:noFill/>
                </a:ln>
                <a:solidFill>
                  <a:srgbClr val="FF0000"/>
                </a:solidFill>
                <a:effectLst/>
                <a:uLnTx/>
                <a:uFillTx/>
                <a:latin typeface="Calibri" panose="020F0502020204030204" pitchFamily="34" charset="0"/>
                <a:ea typeface="+mn-ea"/>
                <a:cs typeface="+mn-cs"/>
              </a:rPr>
              <a:t>AB+C*</a:t>
            </a: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 in the postfix notation.</a:t>
            </a:r>
          </a:p>
          <a:p>
            <a:pPr marL="342900" marR="0" lvl="0" indent="-342900" algn="l" defTabSz="914400" rtl="0" eaLnBrk="1" fontAlgn="auto" latinLnBrk="0" hangingPunct="1">
              <a:lnSpc>
                <a:spcPct val="180000"/>
              </a:lnSpc>
              <a:spcBef>
                <a:spcPct val="20000"/>
              </a:spcBef>
              <a:spcAft>
                <a:spcPts val="0"/>
              </a:spcAft>
              <a:buClrTx/>
              <a:buSzTx/>
              <a:buFont typeface="Arial" panose="020B0604020202020204" pitchFamily="34" charset="0"/>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A postfix operation does not even follow the rules of operator precedence. The operator which occurs first in the expression is operated first on the operands.</a:t>
            </a:r>
          </a:p>
          <a:p>
            <a:pPr marL="342900" marR="0" lvl="0" indent="-342900" algn="l" defTabSz="914400" rtl="0" eaLnBrk="1" fontAlgn="auto" latinLnBrk="0" hangingPunct="1">
              <a:lnSpc>
                <a:spcPct val="180000"/>
              </a:lnSpc>
              <a:spcBef>
                <a:spcPct val="20000"/>
              </a:spcBef>
              <a:spcAft>
                <a:spcPts val="0"/>
              </a:spcAft>
              <a:buClrTx/>
              <a:buSzTx/>
              <a:buFont typeface="Arial" panose="020B0604020202020204" pitchFamily="34" charset="0"/>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No parenthese </a:t>
            </a:r>
          </a:p>
          <a:p>
            <a:pPr marL="342900" marR="0" lvl="0" indent="-342900" algn="l" defTabSz="914400" rtl="0" eaLnBrk="1" fontAlgn="auto" latinLnBrk="0" hangingPunct="1">
              <a:lnSpc>
                <a:spcPct val="180000"/>
              </a:lnSpc>
              <a:spcBef>
                <a:spcPct val="20000"/>
              </a:spcBef>
              <a:spcAft>
                <a:spcPts val="0"/>
              </a:spcAft>
              <a:buClrTx/>
              <a:buSzTx/>
              <a:buFont typeface="Arial" panose="020B0604020202020204" pitchFamily="34" charset="0"/>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For example, given a postfix notation AB+C*. While evaluation, addition will be performed prior to multiplication. </a:t>
            </a:r>
          </a:p>
          <a:p>
            <a:pPr marL="342900" marR="0" lvl="0" indent="-342900" algn="l" defTabSz="914400" rtl="0" eaLnBrk="1" fontAlgn="auto" latinLnBrk="0" hangingPunct="1">
              <a:lnSpc>
                <a:spcPct val="180000"/>
              </a:lnSpc>
              <a:spcBef>
                <a:spcPct val="20000"/>
              </a:spcBef>
              <a:spcAft>
                <a:spcPts val="0"/>
              </a:spcAft>
              <a:buClrTx/>
              <a:buSzTx/>
              <a:buFont typeface="Arial" panose="020B0604020202020204" pitchFamily="34" charset="0"/>
              <a:buNone/>
              <a:tabLst/>
              <a:defRPr/>
            </a:pPr>
            <a:endPar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endParaRPr>
          </a:p>
        </p:txBody>
      </p:sp>
    </p:spTree>
    <p:extLst>
      <p:ext uri="{BB962C8B-B14F-4D97-AF65-F5344CB8AC3E}">
        <p14:creationId xmlns:p14="http://schemas.microsoft.com/office/powerpoint/2010/main" val="1649869647"/>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ounded Rectangle 6">
            <a:extLst>
              <a:ext uri="{FF2B5EF4-FFF2-40B4-BE49-F238E27FC236}">
                <a16:creationId xmlns:a16="http://schemas.microsoft.com/office/drawing/2014/main" id="{6DFA7647-DE5C-197C-4AAE-DFD39ADC472F}"/>
              </a:ext>
            </a:extLst>
          </p:cNvPr>
          <p:cNvSpPr/>
          <p:nvPr/>
        </p:nvSpPr>
        <p:spPr>
          <a:xfrm>
            <a:off x="1524000" y="0"/>
            <a:ext cx="9144000" cy="1066800"/>
          </a:xfrm>
          <a:prstGeom prst="roundRect">
            <a:avLst>
              <a:gd name="adj" fmla="val 0"/>
            </a:avLst>
          </a:prstGeom>
          <a:solidFill>
            <a:schemeClr val="tx2">
              <a:lumMod val="75000"/>
            </a:schemeClr>
          </a:solidFill>
          <a:ln>
            <a:solidFill>
              <a:schemeClr val="accent3">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anchor="ctr"/>
          <a:lstStyle>
            <a:lvl1pPr eaLnBrk="0" hangingPunct="0">
              <a:defRPr>
                <a:solidFill>
                  <a:schemeClr val="tx1"/>
                </a:solidFill>
                <a:latin typeface="Constantia" pitchFamily="18" charset="0"/>
                <a:cs typeface="Arial" charset="0"/>
              </a:defRPr>
            </a:lvl1pPr>
            <a:lvl2pPr marL="742950" indent="-285750" eaLnBrk="0" hangingPunct="0">
              <a:defRPr>
                <a:solidFill>
                  <a:schemeClr val="tx1"/>
                </a:solidFill>
                <a:latin typeface="Constantia" pitchFamily="18" charset="0"/>
                <a:cs typeface="Arial" charset="0"/>
              </a:defRPr>
            </a:lvl2pPr>
            <a:lvl3pPr marL="1143000" indent="-228600" eaLnBrk="0" hangingPunct="0">
              <a:defRPr>
                <a:solidFill>
                  <a:schemeClr val="tx1"/>
                </a:solidFill>
                <a:latin typeface="Constantia" pitchFamily="18" charset="0"/>
                <a:cs typeface="Arial" charset="0"/>
              </a:defRPr>
            </a:lvl3pPr>
            <a:lvl4pPr marL="1600200" indent="-228600" eaLnBrk="0" hangingPunct="0">
              <a:defRPr>
                <a:solidFill>
                  <a:schemeClr val="tx1"/>
                </a:solidFill>
                <a:latin typeface="Constantia" pitchFamily="18" charset="0"/>
                <a:cs typeface="Arial" charset="0"/>
              </a:defRPr>
            </a:lvl4pPr>
            <a:lvl5pPr marL="2057400" indent="-228600" eaLnBrk="0" hangingPunct="0">
              <a:defRPr>
                <a:solidFill>
                  <a:schemeClr val="tx1"/>
                </a:solidFill>
                <a:latin typeface="Constantia" pitchFamily="18" charset="0"/>
                <a:cs typeface="Arial" charset="0"/>
              </a:defRPr>
            </a:lvl5pPr>
            <a:lvl6pPr marL="2514600" indent="-228600" eaLnBrk="0" fontAlgn="base" hangingPunct="0">
              <a:spcBef>
                <a:spcPct val="0"/>
              </a:spcBef>
              <a:spcAft>
                <a:spcPct val="0"/>
              </a:spcAft>
              <a:defRPr>
                <a:solidFill>
                  <a:schemeClr val="tx1"/>
                </a:solidFill>
                <a:latin typeface="Constantia" pitchFamily="18" charset="0"/>
                <a:cs typeface="Arial" charset="0"/>
              </a:defRPr>
            </a:lvl6pPr>
            <a:lvl7pPr marL="2971800" indent="-228600" eaLnBrk="0" fontAlgn="base" hangingPunct="0">
              <a:spcBef>
                <a:spcPct val="0"/>
              </a:spcBef>
              <a:spcAft>
                <a:spcPct val="0"/>
              </a:spcAft>
              <a:defRPr>
                <a:solidFill>
                  <a:schemeClr val="tx1"/>
                </a:solidFill>
                <a:latin typeface="Constantia" pitchFamily="18" charset="0"/>
                <a:cs typeface="Arial" charset="0"/>
              </a:defRPr>
            </a:lvl7pPr>
            <a:lvl8pPr marL="3429000" indent="-228600" eaLnBrk="0" fontAlgn="base" hangingPunct="0">
              <a:spcBef>
                <a:spcPct val="0"/>
              </a:spcBef>
              <a:spcAft>
                <a:spcPct val="0"/>
              </a:spcAft>
              <a:defRPr>
                <a:solidFill>
                  <a:schemeClr val="tx1"/>
                </a:solidFill>
                <a:latin typeface="Constantia" pitchFamily="18" charset="0"/>
                <a:cs typeface="Arial" charset="0"/>
              </a:defRPr>
            </a:lvl8pPr>
            <a:lvl9pPr marL="3886200" indent="-228600" eaLnBrk="0" fontAlgn="base" hangingPunct="0">
              <a:spcBef>
                <a:spcPct val="0"/>
              </a:spcBef>
              <a:spcAft>
                <a:spcPct val="0"/>
              </a:spcAft>
              <a:defRPr>
                <a:solidFill>
                  <a:schemeClr val="tx1"/>
                </a:solidFill>
                <a:latin typeface="Constantia" pitchFamily="18" charset="0"/>
                <a:cs typeface="Arial" charset="0"/>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4800" b="0" i="0" u="none" strike="noStrike" kern="1200" cap="none" spc="0" normalizeH="0" baseline="0" noProof="0">
                <a:ln>
                  <a:noFill/>
                </a:ln>
                <a:solidFill>
                  <a:prstClr val="white"/>
                </a:solidFill>
                <a:effectLst/>
                <a:uLnTx/>
                <a:uFillTx/>
                <a:latin typeface="Calibri" pitchFamily="34" charset="0"/>
                <a:ea typeface="+mn-ea"/>
                <a:cs typeface="Arial" charset="0"/>
              </a:rPr>
              <a:t>Prefix Notation</a:t>
            </a:r>
          </a:p>
        </p:txBody>
      </p:sp>
      <p:sp>
        <p:nvSpPr>
          <p:cNvPr id="24579" name="Rectangle 3">
            <a:extLst>
              <a:ext uri="{FF2B5EF4-FFF2-40B4-BE49-F238E27FC236}">
                <a16:creationId xmlns:a16="http://schemas.microsoft.com/office/drawing/2014/main" id="{5CAF98EC-B67D-533A-BA34-20C594099252}"/>
              </a:ext>
            </a:extLst>
          </p:cNvPr>
          <p:cNvSpPr txBox="1">
            <a:spLocks noChangeArrowheads="1"/>
          </p:cNvSpPr>
          <p:nvPr/>
        </p:nvSpPr>
        <p:spPr bwMode="auto">
          <a:xfrm>
            <a:off x="1828800" y="1143000"/>
            <a:ext cx="8610600" cy="381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spcBef>
                <a:spcPct val="20000"/>
              </a:spcBef>
              <a:buFont typeface="Arial" panose="020B0604020202020204" pitchFamily="34" charset="0"/>
              <a:buChar char="•"/>
              <a:defRPr sz="3200">
                <a:solidFill>
                  <a:schemeClr val="tx1"/>
                </a:solidFill>
                <a:latin typeface="Calibri" panose="020F0502020204030204" pitchFamily="34" charset="0"/>
              </a:defRPr>
            </a:lvl1pPr>
            <a:lvl2pPr marL="800100" indent="-342900" eaLnBrk="0" hangingPunct="0">
              <a:spcBef>
                <a:spcPct val="20000"/>
              </a:spcBef>
              <a:buFont typeface="Arial" panose="020B0604020202020204" pitchFamily="34" charset="0"/>
              <a:buChar char="–"/>
              <a:defRPr sz="2800">
                <a:solidFill>
                  <a:schemeClr val="tx1"/>
                </a:solidFill>
                <a:latin typeface="Calibri" panose="020F0502020204030204" pitchFamily="34" charset="0"/>
              </a:defRPr>
            </a:lvl2pPr>
            <a:lvl3pPr marL="1257300" indent="-342900" eaLnBrk="0" hangingPunct="0">
              <a:spcBef>
                <a:spcPct val="20000"/>
              </a:spcBef>
              <a:buFont typeface="Arial" panose="020B0604020202020204" pitchFamily="34" charset="0"/>
              <a:buChar char="•"/>
              <a:defRPr sz="2400">
                <a:solidFill>
                  <a:schemeClr val="tx1"/>
                </a:solidFill>
                <a:latin typeface="Calibri" panose="020F0502020204030204" pitchFamily="34" charset="0"/>
              </a:defRPr>
            </a:lvl3pPr>
            <a:lvl4pPr marL="1714500" indent="-3429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4pPr>
            <a:lvl5pPr marL="2171700" indent="-3429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5pPr>
            <a:lvl6pPr marL="2628900" indent="-3429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3086100" indent="-3429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543300" indent="-3429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4000500" indent="-3429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342900" marR="0" lvl="0" indent="-342900" algn="l" defTabSz="914400" rtl="0" eaLnBrk="1" fontAlgn="auto" latinLnBrk="0" hangingPunct="1">
              <a:lnSpc>
                <a:spcPct val="110000"/>
              </a:lnSpc>
              <a:spcBef>
                <a:spcPct val="20000"/>
              </a:spcBef>
              <a:spcAft>
                <a:spcPts val="0"/>
              </a:spcAft>
              <a:buClrTx/>
              <a:buSzTx/>
              <a:buFontTx/>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In a prefix notation, the operator is placed before the operands.</a:t>
            </a:r>
          </a:p>
          <a:p>
            <a:pPr marL="342900" marR="0" lvl="0" indent="-342900" algn="l" defTabSz="914400" rtl="0" eaLnBrk="1" fontAlgn="auto" latinLnBrk="0" hangingPunct="1">
              <a:lnSpc>
                <a:spcPct val="110000"/>
              </a:lnSpc>
              <a:spcBef>
                <a:spcPct val="20000"/>
              </a:spcBef>
              <a:spcAft>
                <a:spcPts val="0"/>
              </a:spcAft>
              <a:buClrTx/>
              <a:buSzTx/>
              <a:buFontTx/>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For example, if </a:t>
            </a:r>
            <a:r>
              <a:rPr kumimoji="0" lang="en-US" altLang="en-US" sz="2400" b="0" i="0" u="none" strike="noStrike" kern="1200" cap="none" spc="0" normalizeH="0" baseline="0" noProof="0">
                <a:ln>
                  <a:noFill/>
                </a:ln>
                <a:solidFill>
                  <a:srgbClr val="FF0000"/>
                </a:solidFill>
                <a:effectLst/>
                <a:uLnTx/>
                <a:uFillTx/>
                <a:latin typeface="Calibri" panose="020F0502020204030204" pitchFamily="34" charset="0"/>
                <a:ea typeface="+mn-ea"/>
                <a:cs typeface="+mn-cs"/>
              </a:rPr>
              <a:t>A+B</a:t>
            </a: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 is an expression in infix notation, then the corresponding expression in prefix notation is given by </a:t>
            </a:r>
            <a:r>
              <a:rPr kumimoji="0" lang="en-US" altLang="en-US" sz="2400" b="0" i="0" u="none" strike="noStrike" kern="1200" cap="none" spc="0" normalizeH="0" baseline="0" noProof="0">
                <a:ln>
                  <a:noFill/>
                </a:ln>
                <a:solidFill>
                  <a:srgbClr val="FF0000"/>
                </a:solidFill>
                <a:effectLst/>
                <a:uLnTx/>
                <a:uFillTx/>
                <a:latin typeface="Calibri" panose="020F0502020204030204" pitchFamily="34" charset="0"/>
                <a:ea typeface="+mn-ea"/>
                <a:cs typeface="+mn-cs"/>
              </a:rPr>
              <a:t>+AB</a:t>
            </a: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 </a:t>
            </a:r>
          </a:p>
          <a:p>
            <a:pPr marL="342900" marR="0" lvl="0" indent="-342900" algn="l" defTabSz="914400" rtl="0" eaLnBrk="1" fontAlgn="auto" latinLnBrk="0" hangingPunct="1">
              <a:lnSpc>
                <a:spcPct val="110000"/>
              </a:lnSpc>
              <a:spcBef>
                <a:spcPct val="20000"/>
              </a:spcBef>
              <a:spcAft>
                <a:spcPts val="0"/>
              </a:spcAft>
              <a:buClrTx/>
              <a:buSzTx/>
              <a:buFontTx/>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While evaluating a prefix expression, the operators are applied to the operands that are present immediately on the right of the operator. </a:t>
            </a:r>
          </a:p>
          <a:p>
            <a:pPr marL="342900" marR="0" lvl="0" indent="-342900" algn="l" defTabSz="914400" rtl="0" eaLnBrk="1" fontAlgn="auto" latinLnBrk="0" hangingPunct="1">
              <a:lnSpc>
                <a:spcPct val="110000"/>
              </a:lnSpc>
              <a:spcBef>
                <a:spcPct val="20000"/>
              </a:spcBef>
              <a:spcAft>
                <a:spcPts val="0"/>
              </a:spcAft>
              <a:buClrTx/>
              <a:buSzTx/>
              <a:buFontTx/>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Prefix expressions also do not follow the rules of operator precedence, associativity, and even brackets cannot alter the order of evaluation. </a:t>
            </a:r>
          </a:p>
          <a:p>
            <a:pPr marL="342900" marR="0" lvl="0" indent="-342900" algn="l" defTabSz="914400" rtl="0" eaLnBrk="1" fontAlgn="auto" latinLnBrk="0" hangingPunct="1">
              <a:lnSpc>
                <a:spcPct val="110000"/>
              </a:lnSpc>
              <a:spcBef>
                <a:spcPct val="0"/>
              </a:spcBef>
              <a:spcAft>
                <a:spcPts val="0"/>
              </a:spcAft>
              <a:buClrTx/>
              <a:buSzTx/>
              <a:buFontTx/>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  The expression </a:t>
            </a:r>
            <a:r>
              <a:rPr kumimoji="0" lang="en-US" altLang="en-US" sz="2400" b="0" i="0" u="none" strike="noStrike" kern="1200" cap="none" spc="0" normalizeH="0" baseline="0" noProof="0">
                <a:ln>
                  <a:noFill/>
                </a:ln>
                <a:solidFill>
                  <a:srgbClr val="FF0000"/>
                </a:solidFill>
                <a:effectLst/>
                <a:uLnTx/>
                <a:uFillTx/>
                <a:latin typeface="Calibri" panose="020F0502020204030204" pitchFamily="34" charset="0"/>
                <a:ea typeface="+mn-ea"/>
                <a:cs typeface="+mn-cs"/>
              </a:rPr>
              <a:t>(A + B) * C </a:t>
            </a: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is written as:</a:t>
            </a:r>
          </a:p>
          <a:p>
            <a:pPr marL="342900" marR="0" lvl="0" indent="-342900" algn="l" defTabSz="914400" rtl="0" eaLnBrk="1" fontAlgn="auto" latinLnBrk="0" hangingPunct="1">
              <a:lnSpc>
                <a:spcPct val="110000"/>
              </a:lnSpc>
              <a:spcBef>
                <a:spcPct val="0"/>
              </a:spcBef>
              <a:spcAft>
                <a:spcPts val="0"/>
              </a:spcAft>
              <a:buClrTx/>
              <a:buSzTx/>
              <a:buFontTx/>
              <a:buNone/>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	 </a:t>
            </a:r>
            <a:r>
              <a:rPr kumimoji="0" lang="en-US" altLang="en-US" sz="2400" b="0" i="0" u="none" strike="noStrike" kern="1200" cap="none" spc="0" normalizeH="0" baseline="0" noProof="0">
                <a:ln>
                  <a:noFill/>
                </a:ln>
                <a:solidFill>
                  <a:srgbClr val="FF0000"/>
                </a:solidFill>
                <a:effectLst/>
                <a:uLnTx/>
                <a:uFillTx/>
                <a:latin typeface="Calibri" panose="020F0502020204030204" pitchFamily="34" charset="0"/>
                <a:ea typeface="+mn-ea"/>
                <a:cs typeface="+mn-cs"/>
              </a:rPr>
              <a:t>*+ABC </a:t>
            </a: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in the prefix notation</a:t>
            </a:r>
          </a:p>
        </p:txBody>
      </p:sp>
    </p:spTree>
    <p:extLst>
      <p:ext uri="{BB962C8B-B14F-4D97-AF65-F5344CB8AC3E}">
        <p14:creationId xmlns:p14="http://schemas.microsoft.com/office/powerpoint/2010/main" val="2132627535"/>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dirty="0"/>
              <a:t>Infix to </a:t>
            </a:r>
            <a:r>
              <a:rPr lang="en-US" dirty="0" smtClean="0"/>
              <a:t>Postfix conversion</a:t>
            </a:r>
            <a:endParaRPr lang="en-US" dirty="0"/>
          </a:p>
        </p:txBody>
      </p:sp>
      <p:sp>
        <p:nvSpPr>
          <p:cNvPr id="3" name="Content Placeholder 2"/>
          <p:cNvSpPr>
            <a:spLocks noGrp="1"/>
          </p:cNvSpPr>
          <p:nvPr>
            <p:ph idx="1"/>
          </p:nvPr>
        </p:nvSpPr>
        <p:spPr/>
        <p:txBody>
          <a:bodyPr/>
          <a:lstStyle/>
          <a:p>
            <a:pPr marL="0" indent="0" fontAlgn="base">
              <a:buNone/>
            </a:pPr>
            <a:r>
              <a:rPr lang="en-US" b="1" dirty="0">
                <a:solidFill>
                  <a:schemeClr val="tx1"/>
                </a:solidFill>
              </a:rPr>
              <a:t>Infix expression</a:t>
            </a:r>
            <a:r>
              <a:rPr lang="en-US" b="1" dirty="0" smtClean="0">
                <a:solidFill>
                  <a:schemeClr val="tx1"/>
                </a:solidFill>
              </a:rPr>
              <a:t>: </a:t>
            </a:r>
            <a:r>
              <a:rPr lang="en-US" dirty="0" smtClean="0">
                <a:solidFill>
                  <a:schemeClr val="tx1"/>
                </a:solidFill>
              </a:rPr>
              <a:t>The </a:t>
            </a:r>
            <a:r>
              <a:rPr lang="en-US" dirty="0">
                <a:solidFill>
                  <a:schemeClr val="tx1"/>
                </a:solidFill>
              </a:rPr>
              <a:t>expression of the form a op b. When an operator is in-between every pair of operands.</a:t>
            </a:r>
          </a:p>
          <a:p>
            <a:pPr marL="0" indent="0" fontAlgn="base">
              <a:buNone/>
            </a:pPr>
            <a:r>
              <a:rPr lang="en-US" b="1" dirty="0">
                <a:solidFill>
                  <a:schemeClr val="tx1"/>
                </a:solidFill>
              </a:rPr>
              <a:t>Postfix expression</a:t>
            </a:r>
            <a:r>
              <a:rPr lang="en-US" b="1" dirty="0" smtClean="0">
                <a:solidFill>
                  <a:schemeClr val="tx1"/>
                </a:solidFill>
              </a:rPr>
              <a:t>: </a:t>
            </a:r>
            <a:r>
              <a:rPr lang="en-US" dirty="0" smtClean="0">
                <a:solidFill>
                  <a:schemeClr val="tx1"/>
                </a:solidFill>
              </a:rPr>
              <a:t>The </a:t>
            </a:r>
            <a:r>
              <a:rPr lang="en-US" dirty="0">
                <a:solidFill>
                  <a:schemeClr val="tx1"/>
                </a:solidFill>
              </a:rPr>
              <a:t>expression of the form a b op. When an operator is followed for every pair of operands.</a:t>
            </a:r>
          </a:p>
          <a:p>
            <a:pPr marL="0" indent="0" fontAlgn="base">
              <a:buNone/>
            </a:pPr>
            <a:r>
              <a:rPr lang="en-US" b="1" dirty="0">
                <a:solidFill>
                  <a:schemeClr val="tx1"/>
                </a:solidFill>
              </a:rPr>
              <a:t>Why postfix representation of the expression?</a:t>
            </a:r>
            <a:r>
              <a:rPr lang="en-US" dirty="0">
                <a:solidFill>
                  <a:schemeClr val="tx1"/>
                </a:solidFill>
              </a:rPr>
              <a:t/>
            </a:r>
            <a:br>
              <a:rPr lang="en-US" dirty="0">
                <a:solidFill>
                  <a:schemeClr val="tx1"/>
                </a:solidFill>
              </a:rPr>
            </a:br>
            <a:r>
              <a:rPr lang="en-US" dirty="0">
                <a:solidFill>
                  <a:schemeClr val="tx1"/>
                </a:solidFill>
              </a:rPr>
              <a:t>The compiler scans the expression either from left to right or from right to left.</a:t>
            </a:r>
          </a:p>
          <a:p>
            <a:pPr fontAlgn="base"/>
            <a:r>
              <a:rPr lang="en-US" dirty="0">
                <a:solidFill>
                  <a:schemeClr val="tx1"/>
                </a:solidFill>
              </a:rPr>
              <a:t>Consider the below expression: a +</a:t>
            </a:r>
            <a:r>
              <a:rPr lang="en-US" dirty="0" smtClean="0">
                <a:solidFill>
                  <a:schemeClr val="tx1"/>
                </a:solidFill>
              </a:rPr>
              <a:t> </a:t>
            </a:r>
            <a:r>
              <a:rPr lang="en-US" dirty="0">
                <a:solidFill>
                  <a:schemeClr val="tx1"/>
                </a:solidFill>
              </a:rPr>
              <a:t>b *</a:t>
            </a:r>
            <a:r>
              <a:rPr lang="en-US" dirty="0" smtClean="0">
                <a:solidFill>
                  <a:schemeClr val="tx1"/>
                </a:solidFill>
              </a:rPr>
              <a:t> </a:t>
            </a:r>
            <a:r>
              <a:rPr lang="en-US" dirty="0">
                <a:solidFill>
                  <a:schemeClr val="tx1"/>
                </a:solidFill>
              </a:rPr>
              <a:t>c +</a:t>
            </a:r>
            <a:r>
              <a:rPr lang="en-US" dirty="0" smtClean="0">
                <a:solidFill>
                  <a:schemeClr val="tx1"/>
                </a:solidFill>
              </a:rPr>
              <a:t> </a:t>
            </a:r>
            <a:r>
              <a:rPr lang="en-US" dirty="0">
                <a:solidFill>
                  <a:schemeClr val="tx1"/>
                </a:solidFill>
              </a:rPr>
              <a:t>d</a:t>
            </a:r>
            <a:br>
              <a:rPr lang="en-US" dirty="0">
                <a:solidFill>
                  <a:schemeClr val="tx1"/>
                </a:solidFill>
              </a:rPr>
            </a:br>
            <a:r>
              <a:rPr lang="en-US" dirty="0">
                <a:solidFill>
                  <a:schemeClr val="tx1"/>
                </a:solidFill>
              </a:rPr>
              <a:t>If op1 = +, op2 = *, op3 = +</a:t>
            </a:r>
          </a:p>
          <a:p>
            <a:pPr fontAlgn="base"/>
            <a:r>
              <a:rPr lang="en-US" dirty="0">
                <a:solidFill>
                  <a:schemeClr val="tx1"/>
                </a:solidFill>
              </a:rPr>
              <a:t>The compiler first scans the expression to evaluate the expression b * c, then again scan the expression to add a to it. The result is then added to d after another scan.</a:t>
            </a:r>
          </a:p>
          <a:p>
            <a:pPr fontAlgn="base"/>
            <a:r>
              <a:rPr lang="en-US" dirty="0">
                <a:solidFill>
                  <a:schemeClr val="tx1"/>
                </a:solidFill>
              </a:rPr>
              <a:t>The repeated scanning makes it very in-efficient. It is better to convert the expression to postfix(or prefix) form before evaluation.</a:t>
            </a:r>
          </a:p>
          <a:p>
            <a:pPr fontAlgn="base"/>
            <a:r>
              <a:rPr lang="en-US" dirty="0">
                <a:solidFill>
                  <a:schemeClr val="tx1"/>
                </a:solidFill>
              </a:rPr>
              <a:t>The corresponding expression in postfix form is: </a:t>
            </a:r>
            <a:r>
              <a:rPr lang="en-US" dirty="0" err="1">
                <a:solidFill>
                  <a:schemeClr val="tx1"/>
                </a:solidFill>
              </a:rPr>
              <a:t>abc</a:t>
            </a:r>
            <a:r>
              <a:rPr lang="en-US" dirty="0">
                <a:solidFill>
                  <a:schemeClr val="tx1"/>
                </a:solidFill>
              </a:rPr>
              <a:t>*+d+. The postfix expressions can be evaluated easily using a stack. </a:t>
            </a:r>
          </a:p>
        </p:txBody>
      </p:sp>
    </p:spTree>
    <p:extLst>
      <p:ext uri="{BB962C8B-B14F-4D97-AF65-F5344CB8AC3E}">
        <p14:creationId xmlns:p14="http://schemas.microsoft.com/office/powerpoint/2010/main" val="3830014102"/>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Operator precedence table</a:t>
            </a:r>
            <a:endParaRPr lang="en-US" dirty="0"/>
          </a:p>
        </p:txBody>
      </p:sp>
      <p:pic>
        <p:nvPicPr>
          <p:cNvPr id="4" name="Content Placeholder 3"/>
          <p:cNvPicPr>
            <a:picLocks noGrp="1" noChangeAspect="1"/>
          </p:cNvPicPr>
          <p:nvPr>
            <p:ph idx="1"/>
          </p:nvPr>
        </p:nvPicPr>
        <p:blipFill>
          <a:blip r:embed="rId3"/>
          <a:stretch>
            <a:fillRect/>
          </a:stretch>
        </p:blipFill>
        <p:spPr>
          <a:xfrm>
            <a:off x="1422493" y="1210236"/>
            <a:ext cx="7318095" cy="5365376"/>
          </a:xfrm>
          <a:prstGeom prst="rect">
            <a:avLst/>
          </a:prstGeom>
        </p:spPr>
      </p:pic>
    </p:spTree>
    <p:extLst>
      <p:ext uri="{BB962C8B-B14F-4D97-AF65-F5344CB8AC3E}">
        <p14:creationId xmlns:p14="http://schemas.microsoft.com/office/powerpoint/2010/main" val="1522641817"/>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fontAlgn="ctr"/>
            <a:r>
              <a:rPr lang="en-US" sz="2400" b="1" dirty="0" smtClean="0"/>
              <a:t>Infix </a:t>
            </a:r>
            <a:r>
              <a:rPr lang="en-US" sz="2400" b="1" dirty="0"/>
              <a:t>to Postfix </a:t>
            </a:r>
            <a:r>
              <a:rPr lang="en-US" sz="2400" b="1" dirty="0" smtClean="0"/>
              <a:t>conversion and </a:t>
            </a:r>
            <a:r>
              <a:rPr lang="en-US" sz="2400" dirty="0"/>
              <a:t/>
            </a:r>
            <a:br>
              <a:rPr lang="en-US" sz="2400" dirty="0"/>
            </a:br>
            <a:r>
              <a:rPr lang="en-US" sz="2400" b="1" dirty="0"/>
              <a:t>Postfix expression </a:t>
            </a:r>
            <a:r>
              <a:rPr lang="en-US" sz="2400" b="1" dirty="0" smtClean="0"/>
              <a:t>evaluation</a:t>
            </a:r>
            <a:endParaRPr lang="en-US" sz="2400" dirty="0"/>
          </a:p>
        </p:txBody>
      </p:sp>
      <p:sp>
        <p:nvSpPr>
          <p:cNvPr id="3" name="Content Placeholder 2"/>
          <p:cNvSpPr>
            <a:spLocks noGrp="1"/>
          </p:cNvSpPr>
          <p:nvPr>
            <p:ph idx="1"/>
          </p:nvPr>
        </p:nvSpPr>
        <p:spPr/>
        <p:txBody>
          <a:bodyPr/>
          <a:lstStyle/>
          <a:p>
            <a:pPr marL="0" indent="0">
              <a:buNone/>
            </a:pPr>
            <a:r>
              <a:rPr lang="pt-BR" dirty="0" smtClean="0">
                <a:solidFill>
                  <a:schemeClr val="tx1"/>
                </a:solidFill>
              </a:rPr>
              <a:t>1. </a:t>
            </a:r>
            <a:r>
              <a:rPr lang="pt-BR" dirty="0">
                <a:solidFill>
                  <a:schemeClr val="tx1"/>
                </a:solidFill>
              </a:rPr>
              <a:t> </a:t>
            </a:r>
            <a:r>
              <a:rPr lang="pt-BR" b="1" dirty="0">
                <a:solidFill>
                  <a:schemeClr val="tx1"/>
                </a:solidFill>
              </a:rPr>
              <a:t>infix: (A + B) * C + D / (E + F * G) - H</a:t>
            </a:r>
          </a:p>
          <a:p>
            <a:pPr marL="0" indent="0">
              <a:buNone/>
            </a:pPr>
            <a:r>
              <a:rPr lang="pt-BR" dirty="0">
                <a:solidFill>
                  <a:schemeClr val="tx1"/>
                </a:solidFill>
              </a:rPr>
              <a:t> </a:t>
            </a:r>
            <a:r>
              <a:rPr lang="pt-BR" dirty="0" smtClean="0">
                <a:solidFill>
                  <a:schemeClr val="tx1"/>
                </a:solidFill>
              </a:rPr>
              <a:t>    postfix</a:t>
            </a:r>
            <a:r>
              <a:rPr lang="pt-BR" dirty="0">
                <a:solidFill>
                  <a:schemeClr val="tx1"/>
                </a:solidFill>
              </a:rPr>
              <a:t>: A B + C * D E F G * + / + H - </a:t>
            </a:r>
          </a:p>
          <a:p>
            <a:pPr marL="0" indent="0">
              <a:buNone/>
            </a:pPr>
            <a:r>
              <a:rPr lang="pt-BR" dirty="0" smtClean="0">
                <a:solidFill>
                  <a:schemeClr val="tx1"/>
                </a:solidFill>
              </a:rPr>
              <a:t>2. </a:t>
            </a:r>
            <a:r>
              <a:rPr lang="pt-BR" b="1" dirty="0">
                <a:solidFill>
                  <a:schemeClr val="tx1"/>
                </a:solidFill>
              </a:rPr>
              <a:t>infix: A + ((B - C * D) / E ) + F - G / H </a:t>
            </a:r>
            <a:endParaRPr lang="pt-BR" b="1" dirty="0" smtClean="0">
              <a:solidFill>
                <a:schemeClr val="tx1"/>
              </a:solidFill>
            </a:endParaRPr>
          </a:p>
          <a:p>
            <a:pPr marL="0" indent="0">
              <a:buNone/>
            </a:pPr>
            <a:r>
              <a:rPr lang="pt-BR" dirty="0" smtClean="0">
                <a:solidFill>
                  <a:schemeClr val="tx1"/>
                </a:solidFill>
              </a:rPr>
              <a:t>     </a:t>
            </a:r>
            <a:r>
              <a:rPr lang="pt-BR" dirty="0">
                <a:solidFill>
                  <a:schemeClr val="tx1"/>
                </a:solidFill>
              </a:rPr>
              <a:t> postfix: A B C D * - E / + F + G H / </a:t>
            </a:r>
            <a:r>
              <a:rPr lang="pt-BR" dirty="0" smtClean="0">
                <a:solidFill>
                  <a:schemeClr val="tx1"/>
                </a:solidFill>
              </a:rPr>
              <a:t>-</a:t>
            </a:r>
          </a:p>
          <a:p>
            <a:pPr marL="0" indent="0">
              <a:buNone/>
            </a:pPr>
            <a:r>
              <a:rPr lang="pt-BR" dirty="0" smtClean="0">
                <a:solidFill>
                  <a:schemeClr val="tx1"/>
                </a:solidFill>
              </a:rPr>
              <a:t>3. </a:t>
            </a:r>
            <a:r>
              <a:rPr lang="pt-BR" b="1" dirty="0">
                <a:solidFill>
                  <a:schemeClr val="tx1"/>
                </a:solidFill>
              </a:rPr>
              <a:t>(A * B + C) / D - E / (F + G) </a:t>
            </a:r>
            <a:endParaRPr lang="pt-BR" b="1" dirty="0" smtClean="0">
              <a:solidFill>
                <a:schemeClr val="tx1"/>
              </a:solidFill>
            </a:endParaRPr>
          </a:p>
          <a:p>
            <a:pPr marL="0" indent="0">
              <a:buNone/>
            </a:pPr>
            <a:r>
              <a:rPr lang="en-US" dirty="0">
                <a:solidFill>
                  <a:schemeClr val="tx1"/>
                </a:solidFill>
              </a:rPr>
              <a:t> </a:t>
            </a:r>
            <a:r>
              <a:rPr lang="en-US" dirty="0" smtClean="0">
                <a:solidFill>
                  <a:schemeClr val="tx1"/>
                </a:solidFill>
              </a:rPr>
              <a:t>    postfix</a:t>
            </a:r>
            <a:r>
              <a:rPr lang="en-US" dirty="0">
                <a:solidFill>
                  <a:schemeClr val="tx1"/>
                </a:solidFill>
              </a:rPr>
              <a:t>: A B * C + D / E F G + / - </a:t>
            </a:r>
            <a:endParaRPr lang="en-US" dirty="0" smtClean="0">
              <a:solidFill>
                <a:schemeClr val="tx1"/>
              </a:solidFill>
            </a:endParaRPr>
          </a:p>
          <a:p>
            <a:pPr marL="0" indent="0">
              <a:buNone/>
            </a:pPr>
            <a:r>
              <a:rPr lang="en-US" dirty="0" smtClean="0">
                <a:solidFill>
                  <a:schemeClr val="tx1"/>
                </a:solidFill>
              </a:rPr>
              <a:t>4. </a:t>
            </a:r>
            <a:r>
              <a:rPr lang="en-US" b="1" dirty="0">
                <a:solidFill>
                  <a:schemeClr val="tx1"/>
                </a:solidFill>
              </a:rPr>
              <a:t>What is the value of the following postfix expression</a:t>
            </a:r>
            <a:r>
              <a:rPr lang="en-US" b="1" dirty="0" smtClean="0">
                <a:solidFill>
                  <a:schemeClr val="tx1"/>
                </a:solidFill>
              </a:rPr>
              <a:t>?</a:t>
            </a:r>
          </a:p>
          <a:p>
            <a:pPr marL="0" indent="0">
              <a:buNone/>
            </a:pPr>
            <a:r>
              <a:rPr lang="en-US" dirty="0">
                <a:solidFill>
                  <a:schemeClr val="tx1"/>
                </a:solidFill>
              </a:rPr>
              <a:t> 54     6    +    7    4    -    *    9    /    35    15    +    + </a:t>
            </a:r>
            <a:endParaRPr lang="en-US" dirty="0" smtClean="0">
              <a:solidFill>
                <a:schemeClr val="tx1"/>
              </a:solidFill>
            </a:endParaRPr>
          </a:p>
          <a:p>
            <a:pPr marL="0" indent="0">
              <a:buNone/>
            </a:pPr>
            <a:endParaRPr lang="en-US" dirty="0">
              <a:solidFill>
                <a:schemeClr val="tx1"/>
              </a:solidFill>
            </a:endParaRPr>
          </a:p>
          <a:p>
            <a:pPr marL="0" indent="0">
              <a:buNone/>
            </a:pPr>
            <a:endParaRPr lang="en-US" dirty="0" smtClean="0">
              <a:solidFill>
                <a:schemeClr val="tx1"/>
              </a:solidFill>
            </a:endParaRPr>
          </a:p>
          <a:p>
            <a:pPr marL="0" indent="0">
              <a:buNone/>
            </a:pPr>
            <a:r>
              <a:rPr lang="en-US" dirty="0"/>
              <a:t>http://csis.pace.edu/~wolf/CS122/exexpans.html</a:t>
            </a:r>
          </a:p>
          <a:p>
            <a:pPr marL="0" indent="0">
              <a:buNone/>
            </a:pPr>
            <a:endParaRPr lang="pt-BR" dirty="0">
              <a:solidFill>
                <a:schemeClr val="tx1"/>
              </a:solidFill>
            </a:endParaRPr>
          </a:p>
        </p:txBody>
      </p:sp>
    </p:spTree>
    <p:extLst>
      <p:ext uri="{BB962C8B-B14F-4D97-AF65-F5344CB8AC3E}">
        <p14:creationId xmlns:p14="http://schemas.microsoft.com/office/powerpoint/2010/main" val="2773196406"/>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ounded Rectangle 6">
            <a:extLst>
              <a:ext uri="{FF2B5EF4-FFF2-40B4-BE49-F238E27FC236}">
                <a16:creationId xmlns:a16="http://schemas.microsoft.com/office/drawing/2014/main" id="{8CDB750B-4F53-E067-B0FD-8D8C56DF6861}"/>
              </a:ext>
            </a:extLst>
          </p:cNvPr>
          <p:cNvSpPr/>
          <p:nvPr/>
        </p:nvSpPr>
        <p:spPr>
          <a:xfrm>
            <a:off x="1524000" y="0"/>
            <a:ext cx="9144000" cy="1066800"/>
          </a:xfrm>
          <a:prstGeom prst="roundRect">
            <a:avLst>
              <a:gd name="adj" fmla="val 0"/>
            </a:avLst>
          </a:prstGeom>
          <a:solidFill>
            <a:schemeClr val="tx2">
              <a:lumMod val="75000"/>
            </a:schemeClr>
          </a:solidFill>
          <a:ln>
            <a:solidFill>
              <a:schemeClr val="accent3">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anchor="ctr"/>
          <a:lstStyle>
            <a:lvl1pPr eaLnBrk="0" hangingPunct="0">
              <a:defRPr>
                <a:solidFill>
                  <a:schemeClr val="tx1"/>
                </a:solidFill>
                <a:latin typeface="Constantia" pitchFamily="18" charset="0"/>
                <a:cs typeface="Arial" charset="0"/>
              </a:defRPr>
            </a:lvl1pPr>
            <a:lvl2pPr marL="742950" indent="-285750" eaLnBrk="0" hangingPunct="0">
              <a:defRPr>
                <a:solidFill>
                  <a:schemeClr val="tx1"/>
                </a:solidFill>
                <a:latin typeface="Constantia" pitchFamily="18" charset="0"/>
                <a:cs typeface="Arial" charset="0"/>
              </a:defRPr>
            </a:lvl2pPr>
            <a:lvl3pPr marL="1143000" indent="-228600" eaLnBrk="0" hangingPunct="0">
              <a:defRPr>
                <a:solidFill>
                  <a:schemeClr val="tx1"/>
                </a:solidFill>
                <a:latin typeface="Constantia" pitchFamily="18" charset="0"/>
                <a:cs typeface="Arial" charset="0"/>
              </a:defRPr>
            </a:lvl3pPr>
            <a:lvl4pPr marL="1600200" indent="-228600" eaLnBrk="0" hangingPunct="0">
              <a:defRPr>
                <a:solidFill>
                  <a:schemeClr val="tx1"/>
                </a:solidFill>
                <a:latin typeface="Constantia" pitchFamily="18" charset="0"/>
                <a:cs typeface="Arial" charset="0"/>
              </a:defRPr>
            </a:lvl4pPr>
            <a:lvl5pPr marL="2057400" indent="-228600" eaLnBrk="0" hangingPunct="0">
              <a:defRPr>
                <a:solidFill>
                  <a:schemeClr val="tx1"/>
                </a:solidFill>
                <a:latin typeface="Constantia" pitchFamily="18" charset="0"/>
                <a:cs typeface="Arial" charset="0"/>
              </a:defRPr>
            </a:lvl5pPr>
            <a:lvl6pPr marL="2514600" indent="-228600" eaLnBrk="0" fontAlgn="base" hangingPunct="0">
              <a:spcBef>
                <a:spcPct val="0"/>
              </a:spcBef>
              <a:spcAft>
                <a:spcPct val="0"/>
              </a:spcAft>
              <a:defRPr>
                <a:solidFill>
                  <a:schemeClr val="tx1"/>
                </a:solidFill>
                <a:latin typeface="Constantia" pitchFamily="18" charset="0"/>
                <a:cs typeface="Arial" charset="0"/>
              </a:defRPr>
            </a:lvl6pPr>
            <a:lvl7pPr marL="2971800" indent="-228600" eaLnBrk="0" fontAlgn="base" hangingPunct="0">
              <a:spcBef>
                <a:spcPct val="0"/>
              </a:spcBef>
              <a:spcAft>
                <a:spcPct val="0"/>
              </a:spcAft>
              <a:defRPr>
                <a:solidFill>
                  <a:schemeClr val="tx1"/>
                </a:solidFill>
                <a:latin typeface="Constantia" pitchFamily="18" charset="0"/>
                <a:cs typeface="Arial" charset="0"/>
              </a:defRPr>
            </a:lvl7pPr>
            <a:lvl8pPr marL="3429000" indent="-228600" eaLnBrk="0" fontAlgn="base" hangingPunct="0">
              <a:spcBef>
                <a:spcPct val="0"/>
              </a:spcBef>
              <a:spcAft>
                <a:spcPct val="0"/>
              </a:spcAft>
              <a:defRPr>
                <a:solidFill>
                  <a:schemeClr val="tx1"/>
                </a:solidFill>
                <a:latin typeface="Constantia" pitchFamily="18" charset="0"/>
                <a:cs typeface="Arial" charset="0"/>
              </a:defRPr>
            </a:lvl8pPr>
            <a:lvl9pPr marL="3886200" indent="-228600" eaLnBrk="0" fontAlgn="base" hangingPunct="0">
              <a:spcBef>
                <a:spcPct val="0"/>
              </a:spcBef>
              <a:spcAft>
                <a:spcPct val="0"/>
              </a:spcAft>
              <a:defRPr>
                <a:solidFill>
                  <a:schemeClr val="tx1"/>
                </a:solidFill>
                <a:latin typeface="Constantia" pitchFamily="18" charset="0"/>
                <a:cs typeface="Arial" charset="0"/>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4800" b="0" i="0" u="none" strike="noStrike" kern="1200" cap="none" spc="0" normalizeH="0" baseline="0" noProof="0">
                <a:ln>
                  <a:noFill/>
                </a:ln>
                <a:solidFill>
                  <a:prstClr val="white"/>
                </a:solidFill>
                <a:effectLst/>
                <a:uLnTx/>
                <a:uFillTx/>
                <a:latin typeface="Calibri" pitchFamily="34" charset="0"/>
                <a:ea typeface="+mn-ea"/>
                <a:cs typeface="Arial" charset="0"/>
              </a:rPr>
              <a:t>Evaluation of an Infix Expression</a:t>
            </a:r>
          </a:p>
        </p:txBody>
      </p:sp>
      <p:sp>
        <p:nvSpPr>
          <p:cNvPr id="25603" name="Rectangle 3">
            <a:extLst>
              <a:ext uri="{FF2B5EF4-FFF2-40B4-BE49-F238E27FC236}">
                <a16:creationId xmlns:a16="http://schemas.microsoft.com/office/drawing/2014/main" id="{689BB44C-7E57-BB29-7425-CE4AF63DB08E}"/>
              </a:ext>
            </a:extLst>
          </p:cNvPr>
          <p:cNvSpPr txBox="1">
            <a:spLocks noChangeArrowheads="1"/>
          </p:cNvSpPr>
          <p:nvPr/>
        </p:nvSpPr>
        <p:spPr bwMode="auto">
          <a:xfrm>
            <a:off x="2057400" y="1179514"/>
            <a:ext cx="8153400" cy="5730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eaLnBrk="0" hangingPunct="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eaLnBrk="0" hangingPunct="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0" marR="0" lvl="0" indent="0" algn="ctr" defTabSz="914400" rtl="0" eaLnBrk="1" fontAlgn="auto" latinLnBrk="0" hangingPunct="1">
              <a:lnSpc>
                <a:spcPct val="80000"/>
              </a:lnSpc>
              <a:spcBef>
                <a:spcPct val="20000"/>
              </a:spcBef>
              <a:spcAft>
                <a:spcPts val="0"/>
              </a:spcAft>
              <a:buClrTx/>
              <a:buSzTx/>
              <a:buFont typeface="Arial" panose="020B0604020202020204" pitchFamily="34" charset="0"/>
              <a:buNone/>
              <a:tabLst/>
              <a:defRPr/>
            </a:pPr>
            <a:r>
              <a:rPr kumimoji="0" lang="en-US" altLang="en-US" sz="2000" b="0" i="0" u="none" strike="noStrike" kern="1200" cap="none" spc="0" normalizeH="0" baseline="0" noProof="0">
                <a:ln>
                  <a:noFill/>
                </a:ln>
                <a:solidFill>
                  <a:srgbClr val="FF0000"/>
                </a:solidFill>
                <a:effectLst/>
                <a:uLnTx/>
                <a:uFillTx/>
                <a:latin typeface="Calibri" panose="020F0502020204030204" pitchFamily="34" charset="0"/>
                <a:ea typeface="+mn-ea"/>
                <a:cs typeface="+mn-cs"/>
              </a:rPr>
              <a:t>STEP 1: Convert the infix expression into its equivalent postfix expression</a:t>
            </a:r>
          </a:p>
        </p:txBody>
      </p:sp>
      <p:sp>
        <p:nvSpPr>
          <p:cNvPr id="25604" name="Rectangle 1">
            <a:extLst>
              <a:ext uri="{FF2B5EF4-FFF2-40B4-BE49-F238E27FC236}">
                <a16:creationId xmlns:a16="http://schemas.microsoft.com/office/drawing/2014/main" id="{A5AD92B4-6BF1-618E-925C-8BE466A31CEB}"/>
              </a:ext>
            </a:extLst>
          </p:cNvPr>
          <p:cNvSpPr>
            <a:spLocks noChangeArrowheads="1"/>
          </p:cNvSpPr>
          <p:nvPr/>
        </p:nvSpPr>
        <p:spPr bwMode="auto">
          <a:xfrm>
            <a:off x="2057400" y="1639888"/>
            <a:ext cx="8610600" cy="4400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Font typeface="Arial" panose="020B0604020202020204" pitchFamily="34" charset="0"/>
              <a:buChar char="•"/>
              <a:defRPr sz="3200">
                <a:solidFill>
                  <a:schemeClr val="tx1"/>
                </a:solidFill>
                <a:latin typeface="Calibri" panose="020F0502020204030204" pitchFamily="34" charset="0"/>
              </a:defRPr>
            </a:lvl1pPr>
            <a:lvl2pPr eaLnBrk="0" hangingPunct="0">
              <a:spcBef>
                <a:spcPct val="20000"/>
              </a:spcBef>
              <a:buFont typeface="Arial" panose="020B0604020202020204" pitchFamily="34" charset="0"/>
              <a:buChar char="–"/>
              <a:defRPr sz="2800">
                <a:solidFill>
                  <a:schemeClr val="tx1"/>
                </a:solidFill>
                <a:latin typeface="Calibri" panose="020F0502020204030204" pitchFamily="34" charset="0"/>
              </a:defRPr>
            </a:lvl2pPr>
            <a:lvl3pPr eaLnBrk="0" hangingPunct="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Algorithm to convert an Infix notation into postfix notation</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Step 1: Add ‘)” to the end of the infix expression</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Step 2: Push “(“ on to the stack</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Step 3: Repeat until each character in the infix notation is scanned</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	IF a “(“ is encountered, push it on the stack</a:t>
            </a:r>
          </a:p>
          <a:p>
            <a:pPr marL="457200" marR="0" lvl="1" indent="0" algn="l" defTabSz="914400" rtl="0" eaLnBrk="1" fontAlgn="auto" latinLnBrk="0" hangingPunct="1">
              <a:lnSpc>
                <a:spcPct val="100000"/>
              </a:lnSpc>
              <a:spcBef>
                <a:spcPct val="0"/>
              </a:spcBef>
              <a:spcAft>
                <a:spcPts val="0"/>
              </a:spcAft>
              <a:buClrTx/>
              <a:buSzTx/>
              <a:buFontTx/>
              <a:buNone/>
              <a:tabLst/>
              <a:defRPr/>
            </a:pPr>
            <a:r>
              <a:rPr kumimoji="0" lang="en-US" altLang="en-US" sz="14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	IF an operand (whether a digit or an alphabet) is encountered,  </a:t>
            </a:r>
          </a:p>
          <a:p>
            <a:pPr marL="457200" marR="0" lvl="1" indent="0" algn="l" defTabSz="914400" rtl="0" eaLnBrk="1" fontAlgn="auto" latinLnBrk="0" hangingPunct="1">
              <a:lnSpc>
                <a:spcPct val="100000"/>
              </a:lnSpc>
              <a:spcBef>
                <a:spcPct val="0"/>
              </a:spcBef>
              <a:spcAft>
                <a:spcPts val="0"/>
              </a:spcAft>
              <a:buClrTx/>
              <a:buSzTx/>
              <a:buFontTx/>
              <a:buNone/>
              <a:tabLst/>
              <a:defRPr/>
            </a:pPr>
            <a:r>
              <a:rPr kumimoji="0" lang="en-US" altLang="en-US" sz="14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     add it to the postfix expression.</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	IF a “)” is encountered, then;</a:t>
            </a:r>
          </a:p>
          <a:p>
            <a:pPr marL="914400" marR="0" lvl="2" indent="0" algn="l" defTabSz="914400" rtl="0" eaLnBrk="1" fontAlgn="auto" latinLnBrk="0" hangingPunct="1">
              <a:lnSpc>
                <a:spcPct val="100000"/>
              </a:lnSpc>
              <a:spcBef>
                <a:spcPct val="0"/>
              </a:spcBef>
              <a:spcAft>
                <a:spcPts val="0"/>
              </a:spcAft>
              <a:buClrTx/>
              <a:buSzTx/>
              <a:buFont typeface="Courier New" panose="02070309020205020404" pitchFamily="49" charset="0"/>
              <a:buChar char="a"/>
              <a:tabLst/>
              <a:defRPr/>
            </a:pPr>
            <a:r>
              <a:rPr kumimoji="0" lang="en-US" altLang="en-US" sz="14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 Repeatedly pop from stack and add it to the postfix expression until a “(” is encountered.</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          b. Discard the “(“. That is, remove the “(“ from stack and do not</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          add it to the postfix expression</a:t>
            </a:r>
          </a:p>
          <a:p>
            <a:pPr marL="457200" marR="0" lvl="1" indent="0" algn="l" defTabSz="914400" rtl="0" eaLnBrk="1" fontAlgn="auto" latinLnBrk="0" hangingPunct="1">
              <a:lnSpc>
                <a:spcPct val="100000"/>
              </a:lnSpc>
              <a:spcBef>
                <a:spcPct val="0"/>
              </a:spcBef>
              <a:spcAft>
                <a:spcPts val="0"/>
              </a:spcAft>
              <a:buClrTx/>
              <a:buSzTx/>
              <a:buFontTx/>
              <a:buNone/>
              <a:tabLst/>
              <a:defRPr/>
            </a:pPr>
            <a:r>
              <a:rPr kumimoji="0" lang="en-US" altLang="en-US" sz="14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     IF an operator X is encountered, then;</a:t>
            </a:r>
          </a:p>
          <a:p>
            <a:pPr marL="914400" marR="0" lvl="2" indent="0" algn="l" defTabSz="914400" rtl="0" eaLnBrk="1" fontAlgn="auto" latinLnBrk="0" hangingPunct="1">
              <a:lnSpc>
                <a:spcPct val="100000"/>
              </a:lnSpc>
              <a:spcBef>
                <a:spcPct val="0"/>
              </a:spcBef>
              <a:spcAft>
                <a:spcPts val="0"/>
              </a:spcAft>
              <a:buClrTx/>
              <a:buSzTx/>
              <a:buFont typeface="Courier New" panose="02070309020205020404" pitchFamily="49" charset="0"/>
              <a:buChar char="a"/>
              <a:tabLst/>
              <a:defRPr/>
            </a:pPr>
            <a:r>
              <a:rPr kumimoji="0" lang="en-US" altLang="en-US" sz="14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 Repeatedly pop from stack and add each operator (popped from the stack) to the postfix expression which has the same precedence or a higher precedence than X</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          b. Push the operator X to the stack</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Step 4: Repeatedly pop from the stack and add it to the postfix expression</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        until the stack is empty</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Step 5: EXIT</a:t>
            </a:r>
          </a:p>
        </p:txBody>
      </p:sp>
    </p:spTree>
    <p:extLst>
      <p:ext uri="{BB962C8B-B14F-4D97-AF65-F5344CB8AC3E}">
        <p14:creationId xmlns:p14="http://schemas.microsoft.com/office/powerpoint/2010/main" val="990251029"/>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ounded Rectangle 6">
            <a:extLst>
              <a:ext uri="{FF2B5EF4-FFF2-40B4-BE49-F238E27FC236}">
                <a16:creationId xmlns:a16="http://schemas.microsoft.com/office/drawing/2014/main" id="{D2E1E3AB-FA83-3377-D315-70591762960D}"/>
              </a:ext>
            </a:extLst>
          </p:cNvPr>
          <p:cNvSpPr/>
          <p:nvPr/>
        </p:nvSpPr>
        <p:spPr>
          <a:xfrm>
            <a:off x="1524000" y="0"/>
            <a:ext cx="9144000" cy="1066800"/>
          </a:xfrm>
          <a:prstGeom prst="roundRect">
            <a:avLst>
              <a:gd name="adj" fmla="val 0"/>
            </a:avLst>
          </a:prstGeom>
          <a:solidFill>
            <a:schemeClr val="tx2">
              <a:lumMod val="75000"/>
            </a:schemeClr>
          </a:solidFill>
          <a:ln>
            <a:solidFill>
              <a:schemeClr val="accent3">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anchor="ctr"/>
          <a:lstStyle>
            <a:lvl1pPr eaLnBrk="0" hangingPunct="0">
              <a:defRPr>
                <a:solidFill>
                  <a:schemeClr val="tx1"/>
                </a:solidFill>
                <a:latin typeface="Constantia" pitchFamily="18" charset="0"/>
                <a:cs typeface="Arial" charset="0"/>
              </a:defRPr>
            </a:lvl1pPr>
            <a:lvl2pPr marL="742950" indent="-285750" eaLnBrk="0" hangingPunct="0">
              <a:defRPr>
                <a:solidFill>
                  <a:schemeClr val="tx1"/>
                </a:solidFill>
                <a:latin typeface="Constantia" pitchFamily="18" charset="0"/>
                <a:cs typeface="Arial" charset="0"/>
              </a:defRPr>
            </a:lvl2pPr>
            <a:lvl3pPr marL="1143000" indent="-228600" eaLnBrk="0" hangingPunct="0">
              <a:defRPr>
                <a:solidFill>
                  <a:schemeClr val="tx1"/>
                </a:solidFill>
                <a:latin typeface="Constantia" pitchFamily="18" charset="0"/>
                <a:cs typeface="Arial" charset="0"/>
              </a:defRPr>
            </a:lvl3pPr>
            <a:lvl4pPr marL="1600200" indent="-228600" eaLnBrk="0" hangingPunct="0">
              <a:defRPr>
                <a:solidFill>
                  <a:schemeClr val="tx1"/>
                </a:solidFill>
                <a:latin typeface="Constantia" pitchFamily="18" charset="0"/>
                <a:cs typeface="Arial" charset="0"/>
              </a:defRPr>
            </a:lvl4pPr>
            <a:lvl5pPr marL="2057400" indent="-228600" eaLnBrk="0" hangingPunct="0">
              <a:defRPr>
                <a:solidFill>
                  <a:schemeClr val="tx1"/>
                </a:solidFill>
                <a:latin typeface="Constantia" pitchFamily="18" charset="0"/>
                <a:cs typeface="Arial" charset="0"/>
              </a:defRPr>
            </a:lvl5pPr>
            <a:lvl6pPr marL="2514600" indent="-228600" eaLnBrk="0" fontAlgn="base" hangingPunct="0">
              <a:spcBef>
                <a:spcPct val="0"/>
              </a:spcBef>
              <a:spcAft>
                <a:spcPct val="0"/>
              </a:spcAft>
              <a:defRPr>
                <a:solidFill>
                  <a:schemeClr val="tx1"/>
                </a:solidFill>
                <a:latin typeface="Constantia" pitchFamily="18" charset="0"/>
                <a:cs typeface="Arial" charset="0"/>
              </a:defRPr>
            </a:lvl6pPr>
            <a:lvl7pPr marL="2971800" indent="-228600" eaLnBrk="0" fontAlgn="base" hangingPunct="0">
              <a:spcBef>
                <a:spcPct val="0"/>
              </a:spcBef>
              <a:spcAft>
                <a:spcPct val="0"/>
              </a:spcAft>
              <a:defRPr>
                <a:solidFill>
                  <a:schemeClr val="tx1"/>
                </a:solidFill>
                <a:latin typeface="Constantia" pitchFamily="18" charset="0"/>
                <a:cs typeface="Arial" charset="0"/>
              </a:defRPr>
            </a:lvl7pPr>
            <a:lvl8pPr marL="3429000" indent="-228600" eaLnBrk="0" fontAlgn="base" hangingPunct="0">
              <a:spcBef>
                <a:spcPct val="0"/>
              </a:spcBef>
              <a:spcAft>
                <a:spcPct val="0"/>
              </a:spcAft>
              <a:defRPr>
                <a:solidFill>
                  <a:schemeClr val="tx1"/>
                </a:solidFill>
                <a:latin typeface="Constantia" pitchFamily="18" charset="0"/>
                <a:cs typeface="Arial" charset="0"/>
              </a:defRPr>
            </a:lvl8pPr>
            <a:lvl9pPr marL="3886200" indent="-228600" eaLnBrk="0" fontAlgn="base" hangingPunct="0">
              <a:spcBef>
                <a:spcPct val="0"/>
              </a:spcBef>
              <a:spcAft>
                <a:spcPct val="0"/>
              </a:spcAft>
              <a:defRPr>
                <a:solidFill>
                  <a:schemeClr val="tx1"/>
                </a:solidFill>
                <a:latin typeface="Constantia" pitchFamily="18" charset="0"/>
                <a:cs typeface="Arial" charset="0"/>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4800" b="0" i="0" u="none" strike="noStrike" kern="1200" cap="none" spc="0" normalizeH="0" baseline="0" noProof="0">
                <a:ln>
                  <a:noFill/>
                </a:ln>
                <a:solidFill>
                  <a:prstClr val="white"/>
                </a:solidFill>
                <a:effectLst/>
                <a:uLnTx/>
                <a:uFillTx/>
                <a:latin typeface="Calibri" pitchFamily="34" charset="0"/>
                <a:ea typeface="+mn-ea"/>
                <a:cs typeface="Arial" charset="0"/>
              </a:rPr>
              <a:t>Evaluation of an Infix Expression</a:t>
            </a:r>
          </a:p>
        </p:txBody>
      </p:sp>
      <p:sp>
        <p:nvSpPr>
          <p:cNvPr id="26627" name="Rectangle 2">
            <a:extLst>
              <a:ext uri="{FF2B5EF4-FFF2-40B4-BE49-F238E27FC236}">
                <a16:creationId xmlns:a16="http://schemas.microsoft.com/office/drawing/2014/main" id="{B1C0BE05-19B3-6DB6-D08D-AB304254DE97}"/>
              </a:ext>
            </a:extLst>
          </p:cNvPr>
          <p:cNvSpPr txBox="1">
            <a:spLocks noChangeArrowheads="1"/>
          </p:cNvSpPr>
          <p:nvPr/>
        </p:nvSpPr>
        <p:spPr bwMode="auto">
          <a:xfrm>
            <a:off x="2133600" y="1063626"/>
            <a:ext cx="7907338" cy="536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eaLnBrk="0" hangingPunct="0">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eaLnBrk="0" hangingPunct="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eaLnBrk="0" hangingPunct="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000" b="0" i="0" u="none" strike="noStrike" kern="1200" cap="none" spc="0" normalizeH="0" baseline="0" noProof="0">
                <a:ln>
                  <a:noFill/>
                </a:ln>
                <a:solidFill>
                  <a:srgbClr val="FF0000"/>
                </a:solidFill>
                <a:effectLst/>
                <a:uLnTx/>
                <a:uFillTx/>
                <a:latin typeface="Calibri" panose="020F0502020204030204" pitchFamily="34" charset="0"/>
                <a:ea typeface="+mn-ea"/>
                <a:cs typeface="+mn-cs"/>
              </a:rPr>
              <a:t>STEP 2: Evaluate the postfix expression </a:t>
            </a:r>
          </a:p>
        </p:txBody>
      </p:sp>
      <p:sp>
        <p:nvSpPr>
          <p:cNvPr id="26628" name="Rectangle 1">
            <a:extLst>
              <a:ext uri="{FF2B5EF4-FFF2-40B4-BE49-F238E27FC236}">
                <a16:creationId xmlns:a16="http://schemas.microsoft.com/office/drawing/2014/main" id="{6746EC63-388B-BB6C-C186-5ADF9623EBAB}"/>
              </a:ext>
            </a:extLst>
          </p:cNvPr>
          <p:cNvSpPr>
            <a:spLocks noChangeArrowheads="1"/>
          </p:cNvSpPr>
          <p:nvPr/>
        </p:nvSpPr>
        <p:spPr bwMode="auto">
          <a:xfrm>
            <a:off x="2209800" y="1752600"/>
            <a:ext cx="8001000" cy="4032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Font typeface="Arial" panose="020B0604020202020204" pitchFamily="34" charset="0"/>
              <a:buChar char="•"/>
              <a:defRPr sz="3200">
                <a:solidFill>
                  <a:schemeClr val="tx1"/>
                </a:solidFill>
                <a:latin typeface="Calibri" panose="020F0502020204030204" pitchFamily="34" charset="0"/>
              </a:defRPr>
            </a:lvl1pPr>
            <a:lvl2pPr eaLnBrk="0" hangingPunct="0">
              <a:spcBef>
                <a:spcPct val="20000"/>
              </a:spcBef>
              <a:buFont typeface="Arial" panose="020B0604020202020204" pitchFamily="34" charset="0"/>
              <a:buChar char="–"/>
              <a:defRPr sz="2800">
                <a:solidFill>
                  <a:schemeClr val="tx1"/>
                </a:solidFill>
                <a:latin typeface="Calibri" panose="020F0502020204030204" pitchFamily="34" charset="0"/>
              </a:defRPr>
            </a:lvl2pPr>
            <a:lvl3pPr eaLnBrk="0" hangingPunct="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Algorithm to evaluate a postfix expression</a:t>
            </a:r>
          </a:p>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1600" b="1" i="0" u="none" strike="noStrike" kern="1200" cap="none" spc="0" normalizeH="0" baseline="0" noProof="0">
              <a:ln>
                <a:noFill/>
              </a:ln>
              <a:solidFill>
                <a:prstClr val="black"/>
              </a:solidFill>
              <a:effectLst/>
              <a:uLnTx/>
              <a:uFillTx/>
              <a:latin typeface="Courier New" panose="02070309020205020404" pitchFamily="49" charset="0"/>
              <a:ea typeface="+mn-ea"/>
              <a:cs typeface="+mn-cs"/>
            </a:endParaRP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Step 1: Add a “)” at the end of the postfix expression</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Step 2: Scan every character of the postfix expression and  repeat</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        steps 3 and 4 until “)”is encountered</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Step 3: IF an operand is encountered, push it on the stack</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        IF an operator X is encountered, then</a:t>
            </a:r>
          </a:p>
          <a:p>
            <a:pPr marL="914400" marR="0" lvl="2" indent="0" algn="l" defTabSz="914400" rtl="0" eaLnBrk="1" fontAlgn="auto" latinLnBrk="0" hangingPunct="1">
              <a:lnSpc>
                <a:spcPct val="100000"/>
              </a:lnSpc>
              <a:spcBef>
                <a:spcPct val="0"/>
              </a:spcBef>
              <a:spcAft>
                <a:spcPts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 a. pop the top two elements from the stack as A and B</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          b. Evaluate B X A, where A was the topmost element and B was</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	 the element below A.</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          c. Push the result of evaluation on the stack</a:t>
            </a:r>
          </a:p>
          <a:p>
            <a:pPr marL="457200" marR="0" lvl="1" indent="0" algn="l" defTabSz="914400" rtl="0" eaLnBrk="1" fontAlgn="auto" latinLnBrk="0" hangingPunct="1">
              <a:lnSpc>
                <a:spcPct val="100000"/>
              </a:lnSpc>
              <a:spcBef>
                <a:spcPct val="0"/>
              </a:spcBef>
              <a:spcAft>
                <a:spcPts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[END OF IF]</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Step 4: SET RESULT equal to the topmost element of the stack</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Courier New" panose="02070309020205020404" pitchFamily="49" charset="0"/>
                <a:ea typeface="+mn-ea"/>
                <a:cs typeface="+mn-cs"/>
              </a:rPr>
              <a:t>Step 5: EXIT</a:t>
            </a:r>
          </a:p>
        </p:txBody>
      </p:sp>
    </p:spTree>
    <p:extLst>
      <p:ext uri="{BB962C8B-B14F-4D97-AF65-F5344CB8AC3E}">
        <p14:creationId xmlns:p14="http://schemas.microsoft.com/office/powerpoint/2010/main" val="166883763"/>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ounded Rectangle 6">
            <a:extLst>
              <a:ext uri="{FF2B5EF4-FFF2-40B4-BE49-F238E27FC236}">
                <a16:creationId xmlns:a16="http://schemas.microsoft.com/office/drawing/2014/main" id="{11B5525B-39B0-0A7A-7081-27BD60C3C8B3}"/>
              </a:ext>
            </a:extLst>
          </p:cNvPr>
          <p:cNvSpPr/>
          <p:nvPr/>
        </p:nvSpPr>
        <p:spPr>
          <a:xfrm>
            <a:off x="1524000" y="0"/>
            <a:ext cx="9144000" cy="1066800"/>
          </a:xfrm>
          <a:prstGeom prst="roundRect">
            <a:avLst>
              <a:gd name="adj" fmla="val 0"/>
            </a:avLst>
          </a:prstGeom>
          <a:solidFill>
            <a:schemeClr val="tx2">
              <a:lumMod val="75000"/>
            </a:schemeClr>
          </a:solidFill>
          <a:ln>
            <a:solidFill>
              <a:schemeClr val="accent3">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anchor="ctr"/>
          <a:lstStyle>
            <a:lvl1pPr eaLnBrk="0" hangingPunct="0">
              <a:defRPr>
                <a:solidFill>
                  <a:schemeClr val="tx1"/>
                </a:solidFill>
                <a:latin typeface="Constantia" pitchFamily="18" charset="0"/>
                <a:cs typeface="Arial" charset="0"/>
              </a:defRPr>
            </a:lvl1pPr>
            <a:lvl2pPr marL="742950" indent="-285750" eaLnBrk="0" hangingPunct="0">
              <a:defRPr>
                <a:solidFill>
                  <a:schemeClr val="tx1"/>
                </a:solidFill>
                <a:latin typeface="Constantia" pitchFamily="18" charset="0"/>
                <a:cs typeface="Arial" charset="0"/>
              </a:defRPr>
            </a:lvl2pPr>
            <a:lvl3pPr marL="1143000" indent="-228600" eaLnBrk="0" hangingPunct="0">
              <a:defRPr>
                <a:solidFill>
                  <a:schemeClr val="tx1"/>
                </a:solidFill>
                <a:latin typeface="Constantia" pitchFamily="18" charset="0"/>
                <a:cs typeface="Arial" charset="0"/>
              </a:defRPr>
            </a:lvl3pPr>
            <a:lvl4pPr marL="1600200" indent="-228600" eaLnBrk="0" hangingPunct="0">
              <a:defRPr>
                <a:solidFill>
                  <a:schemeClr val="tx1"/>
                </a:solidFill>
                <a:latin typeface="Constantia" pitchFamily="18" charset="0"/>
                <a:cs typeface="Arial" charset="0"/>
              </a:defRPr>
            </a:lvl4pPr>
            <a:lvl5pPr marL="2057400" indent="-228600" eaLnBrk="0" hangingPunct="0">
              <a:defRPr>
                <a:solidFill>
                  <a:schemeClr val="tx1"/>
                </a:solidFill>
                <a:latin typeface="Constantia" pitchFamily="18" charset="0"/>
                <a:cs typeface="Arial" charset="0"/>
              </a:defRPr>
            </a:lvl5pPr>
            <a:lvl6pPr marL="2514600" indent="-228600" eaLnBrk="0" fontAlgn="base" hangingPunct="0">
              <a:spcBef>
                <a:spcPct val="0"/>
              </a:spcBef>
              <a:spcAft>
                <a:spcPct val="0"/>
              </a:spcAft>
              <a:defRPr>
                <a:solidFill>
                  <a:schemeClr val="tx1"/>
                </a:solidFill>
                <a:latin typeface="Constantia" pitchFamily="18" charset="0"/>
                <a:cs typeface="Arial" charset="0"/>
              </a:defRPr>
            </a:lvl6pPr>
            <a:lvl7pPr marL="2971800" indent="-228600" eaLnBrk="0" fontAlgn="base" hangingPunct="0">
              <a:spcBef>
                <a:spcPct val="0"/>
              </a:spcBef>
              <a:spcAft>
                <a:spcPct val="0"/>
              </a:spcAft>
              <a:defRPr>
                <a:solidFill>
                  <a:schemeClr val="tx1"/>
                </a:solidFill>
                <a:latin typeface="Constantia" pitchFamily="18" charset="0"/>
                <a:cs typeface="Arial" charset="0"/>
              </a:defRPr>
            </a:lvl7pPr>
            <a:lvl8pPr marL="3429000" indent="-228600" eaLnBrk="0" fontAlgn="base" hangingPunct="0">
              <a:spcBef>
                <a:spcPct val="0"/>
              </a:spcBef>
              <a:spcAft>
                <a:spcPct val="0"/>
              </a:spcAft>
              <a:defRPr>
                <a:solidFill>
                  <a:schemeClr val="tx1"/>
                </a:solidFill>
                <a:latin typeface="Constantia" pitchFamily="18" charset="0"/>
                <a:cs typeface="Arial" charset="0"/>
              </a:defRPr>
            </a:lvl8pPr>
            <a:lvl9pPr marL="3886200" indent="-228600" eaLnBrk="0" fontAlgn="base" hangingPunct="0">
              <a:spcBef>
                <a:spcPct val="0"/>
              </a:spcBef>
              <a:spcAft>
                <a:spcPct val="0"/>
              </a:spcAft>
              <a:defRPr>
                <a:solidFill>
                  <a:schemeClr val="tx1"/>
                </a:solidFill>
                <a:latin typeface="Constantia" pitchFamily="18" charset="0"/>
                <a:cs typeface="Arial" charset="0"/>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4800" b="0" i="0" u="none" strike="noStrike" kern="1200" cap="none" spc="0" normalizeH="0" baseline="0" noProof="0">
                <a:ln>
                  <a:noFill/>
                </a:ln>
                <a:solidFill>
                  <a:prstClr val="white"/>
                </a:solidFill>
                <a:effectLst/>
                <a:uLnTx/>
                <a:uFillTx/>
                <a:latin typeface="Calibri" pitchFamily="34" charset="0"/>
                <a:ea typeface="+mn-ea"/>
                <a:cs typeface="Arial" charset="0"/>
              </a:rPr>
              <a:t>Evaluation of an Infix Expression</a:t>
            </a:r>
          </a:p>
        </p:txBody>
      </p:sp>
      <p:sp>
        <p:nvSpPr>
          <p:cNvPr id="27651" name="Rectangle 2">
            <a:extLst>
              <a:ext uri="{FF2B5EF4-FFF2-40B4-BE49-F238E27FC236}">
                <a16:creationId xmlns:a16="http://schemas.microsoft.com/office/drawing/2014/main" id="{4EF6EEB6-44F1-168A-25D4-8960427E6816}"/>
              </a:ext>
            </a:extLst>
          </p:cNvPr>
          <p:cNvSpPr>
            <a:spLocks noChangeArrowheads="1"/>
          </p:cNvSpPr>
          <p:nvPr/>
        </p:nvSpPr>
        <p:spPr bwMode="auto">
          <a:xfrm>
            <a:off x="1687513" y="1062038"/>
            <a:ext cx="8991600" cy="1422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marL="342900" indent="-342900" eaLnBrk="0" hangingPunct="0">
              <a:spcBef>
                <a:spcPct val="20000"/>
              </a:spcBef>
              <a:buFont typeface="Arial" panose="020B0604020202020204" pitchFamily="34" charset="0"/>
              <a:buChar char="•"/>
              <a:defRPr sz="3200">
                <a:solidFill>
                  <a:schemeClr val="tx1"/>
                </a:solidFill>
                <a:latin typeface="Calibri" panose="020F0502020204030204" pitchFamily="34" charset="0"/>
              </a:defRPr>
            </a:lvl1pPr>
            <a:lvl2pPr marL="800100" indent="-342900" eaLnBrk="0" hangingPunct="0">
              <a:spcBef>
                <a:spcPct val="20000"/>
              </a:spcBef>
              <a:buFont typeface="Arial" panose="020B0604020202020204" pitchFamily="34" charset="0"/>
              <a:buChar char="–"/>
              <a:defRPr sz="2800">
                <a:solidFill>
                  <a:schemeClr val="tx1"/>
                </a:solidFill>
                <a:latin typeface="Calibri" panose="020F0502020204030204" pitchFamily="34" charset="0"/>
              </a:defRPr>
            </a:lvl2pPr>
            <a:lvl3pPr marL="1257300" indent="-342900" eaLnBrk="0" hangingPunct="0">
              <a:spcBef>
                <a:spcPct val="20000"/>
              </a:spcBef>
              <a:buFont typeface="Arial" panose="020B0604020202020204" pitchFamily="34" charset="0"/>
              <a:buChar char="•"/>
              <a:defRPr sz="2400">
                <a:solidFill>
                  <a:schemeClr val="tx1"/>
                </a:solidFill>
                <a:latin typeface="Calibri" panose="020F0502020204030204" pitchFamily="34" charset="0"/>
              </a:defRPr>
            </a:lvl3pPr>
            <a:lvl4pPr marL="1714500" indent="-3429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4pPr>
            <a:lvl5pPr marL="2171700" indent="-3429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5pPr>
            <a:lvl6pPr marL="2628900" indent="-3429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3086100" indent="-3429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543300" indent="-3429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4000500" indent="-3429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342900" marR="0" lvl="0" indent="-342900" algn="l" defTabSz="914400" rtl="0" eaLnBrk="1" fontAlgn="auto" latinLnBrk="0" hangingPunct="1">
              <a:lnSpc>
                <a:spcPct val="120000"/>
              </a:lnSpc>
              <a:spcBef>
                <a:spcPct val="0"/>
              </a:spcBef>
              <a:spcAft>
                <a:spcPts val="0"/>
              </a:spcAft>
              <a:buClrTx/>
              <a:buSzTx/>
              <a:buFontTx/>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Times New Roman" panose="02020603050405020304" pitchFamily="18" charset="0"/>
              </a:rPr>
              <a:t>Example:  evaluate </a:t>
            </a: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Times New Roman" panose="02020603050405020304" pitchFamily="18" charset="0"/>
                <a:cs typeface="Courier New" panose="02070309020205020404" pitchFamily="49" charset="0"/>
              </a:rPr>
              <a:t>“</a:t>
            </a:r>
            <a:r>
              <a:rPr kumimoji="0" lang="en-US" altLang="en-US" sz="2400" b="0" i="0" u="none" strike="noStrike" kern="1200" cap="none" spc="0" normalizeH="0" baseline="0" noProof="0">
                <a:ln>
                  <a:noFill/>
                </a:ln>
                <a:solidFill>
                  <a:srgbClr val="FF0000"/>
                </a:solidFill>
                <a:effectLst/>
                <a:uLnTx/>
                <a:uFillTx/>
                <a:latin typeface="Calibri" panose="020F0502020204030204" pitchFamily="34" charset="0"/>
                <a:ea typeface="Times New Roman" panose="02020603050405020304" pitchFamily="18" charset="0"/>
                <a:cs typeface="Courier New" panose="02070309020205020404" pitchFamily="49" charset="0"/>
              </a:rPr>
              <a:t>9 - (( 3 * 4) + 8) / 4</a:t>
            </a: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Times New Roman" panose="02020603050405020304" pitchFamily="18" charset="0"/>
                <a:cs typeface="Courier New" panose="02070309020205020404" pitchFamily="49" charset="0"/>
              </a:rPr>
              <a:t>”.</a:t>
            </a: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Times New Roman" panose="02020603050405020304" pitchFamily="18" charset="0"/>
              </a:rPr>
              <a:t> </a:t>
            </a:r>
          </a:p>
          <a:p>
            <a:pPr marL="342900" marR="0" lvl="0" indent="-342900" algn="l" defTabSz="914400" rtl="0" eaLnBrk="0" fontAlgn="auto" latinLnBrk="0" hangingPunct="0">
              <a:lnSpc>
                <a:spcPct val="120000"/>
              </a:lnSpc>
              <a:spcBef>
                <a:spcPct val="0"/>
              </a:spcBef>
              <a:spcAft>
                <a:spcPts val="0"/>
              </a:spcAft>
              <a:buClrTx/>
              <a:buSzTx/>
              <a:buFontTx/>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Times New Roman" panose="02020603050405020304" pitchFamily="18" charset="0"/>
              </a:rPr>
              <a:t>Step 1  infix “</a:t>
            </a:r>
            <a:r>
              <a:rPr kumimoji="0" lang="en-US" altLang="en-US" sz="2400" b="0" i="0" u="none" strike="noStrike" kern="1200" cap="none" spc="0" normalizeH="0" baseline="0" noProof="0">
                <a:ln>
                  <a:noFill/>
                </a:ln>
                <a:solidFill>
                  <a:srgbClr val="FF0000"/>
                </a:solidFill>
                <a:effectLst/>
                <a:uLnTx/>
                <a:uFillTx/>
                <a:latin typeface="Calibri" panose="020F0502020204030204" pitchFamily="34" charset="0"/>
                <a:ea typeface="+mn-ea"/>
                <a:cs typeface="Times New Roman" panose="02020603050405020304" pitchFamily="18" charset="0"/>
              </a:rPr>
              <a:t>(9 - (( 3 * 4) + 8) / 4)</a:t>
            </a: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Times New Roman" panose="02020603050405020304" pitchFamily="18" charset="0"/>
              </a:rPr>
              <a:t>"  =&gt; postfix  “</a:t>
            </a:r>
            <a:r>
              <a:rPr kumimoji="0" lang="en-US" altLang="en-US" sz="2400" b="0" i="0" u="none" strike="noStrike" kern="1200" cap="none" spc="0" normalizeH="0" baseline="0" noProof="0">
                <a:ln>
                  <a:noFill/>
                </a:ln>
                <a:solidFill>
                  <a:srgbClr val="FF0000"/>
                </a:solidFill>
                <a:effectLst/>
                <a:uLnTx/>
                <a:uFillTx/>
                <a:latin typeface="Calibri" panose="020F0502020204030204" pitchFamily="34" charset="0"/>
                <a:ea typeface="+mn-ea"/>
                <a:cs typeface="Times New Roman" panose="02020603050405020304" pitchFamily="18" charset="0"/>
              </a:rPr>
              <a:t>9 3 4 * 8 + 4 / -</a:t>
            </a: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Times New Roman" panose="02020603050405020304" pitchFamily="18" charset="0"/>
              </a:rPr>
              <a:t>“  </a:t>
            </a:r>
          </a:p>
          <a:p>
            <a:pPr marL="342900" marR="0" lvl="0" indent="-342900" algn="l" defTabSz="914400" rtl="0" eaLnBrk="0" fontAlgn="auto" latinLnBrk="0" hangingPunct="0">
              <a:lnSpc>
                <a:spcPct val="120000"/>
              </a:lnSpc>
              <a:spcBef>
                <a:spcPct val="0"/>
              </a:spcBef>
              <a:spcAft>
                <a:spcPts val="0"/>
              </a:spcAft>
              <a:buClrTx/>
              <a:buSzTx/>
              <a:buFontTx/>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Times New Roman" panose="02020603050405020304" pitchFamily="18" charset="0"/>
              </a:rPr>
              <a:t>Step 2  evaluate “</a:t>
            </a:r>
            <a:r>
              <a:rPr kumimoji="0" lang="en-US" altLang="en-US" sz="2400" b="0" i="0" u="none" strike="noStrike" kern="1200" cap="none" spc="0" normalizeH="0" baseline="0" noProof="0">
                <a:ln>
                  <a:noFill/>
                </a:ln>
                <a:solidFill>
                  <a:srgbClr val="FF0000"/>
                </a:solidFill>
                <a:effectLst/>
                <a:uLnTx/>
                <a:uFillTx/>
                <a:latin typeface="Calibri" panose="020F0502020204030204" pitchFamily="34" charset="0"/>
                <a:ea typeface="+mn-ea"/>
                <a:cs typeface="Times New Roman" panose="02020603050405020304" pitchFamily="18" charset="0"/>
              </a:rPr>
              <a:t>9 3 4 * 8 + 4 / -</a:t>
            </a: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Times New Roman" panose="02020603050405020304" pitchFamily="18" charset="0"/>
              </a:rPr>
              <a:t>“  </a:t>
            </a:r>
          </a:p>
        </p:txBody>
      </p:sp>
      <p:graphicFrame>
        <p:nvGraphicFramePr>
          <p:cNvPr id="6" name="Group 3">
            <a:extLst>
              <a:ext uri="{FF2B5EF4-FFF2-40B4-BE49-F238E27FC236}">
                <a16:creationId xmlns:a16="http://schemas.microsoft.com/office/drawing/2014/main" id="{54880AEF-EA48-32FE-83E8-5FABD56B2923}"/>
              </a:ext>
            </a:extLst>
          </p:cNvPr>
          <p:cNvGraphicFramePr>
            <a:graphicFrameLocks noGrp="1"/>
          </p:cNvGraphicFramePr>
          <p:nvPr/>
        </p:nvGraphicFramePr>
        <p:xfrm>
          <a:off x="7086600" y="2486026"/>
          <a:ext cx="2895600" cy="3733803"/>
        </p:xfrm>
        <a:graphic>
          <a:graphicData uri="http://schemas.openxmlformats.org/drawingml/2006/table">
            <a:tbl>
              <a:tblPr/>
              <a:tblGrid>
                <a:gridCol w="1176874">
                  <a:extLst>
                    <a:ext uri="{9D8B030D-6E8A-4147-A177-3AD203B41FA5}">
                      <a16:colId xmlns:a16="http://schemas.microsoft.com/office/drawing/2014/main" val="20000"/>
                    </a:ext>
                  </a:extLst>
                </a:gridCol>
                <a:gridCol w="1718726">
                  <a:extLst>
                    <a:ext uri="{9D8B030D-6E8A-4147-A177-3AD203B41FA5}">
                      <a16:colId xmlns:a16="http://schemas.microsoft.com/office/drawing/2014/main" val="20001"/>
                    </a:ext>
                  </a:extLst>
                </a:gridCol>
              </a:tblGrid>
              <a:tr h="583407">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Courier New" pitchFamily="49" charset="0"/>
                          <a:ea typeface="Times New Roman" pitchFamily="18" charset="0"/>
                          <a:cs typeface="Courier New" pitchFamily="49" charset="0"/>
                        </a:rPr>
                        <a:t>Character scanned</a:t>
                      </a:r>
                      <a:endPar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endParaRPr>
                    </a:p>
                  </a:txBody>
                  <a:tcPr marT="45731" marB="4573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Courier New" pitchFamily="49" charset="0"/>
                          <a:ea typeface="Times New Roman" pitchFamily="18" charset="0"/>
                          <a:cs typeface="Courier New" pitchFamily="49" charset="0"/>
                        </a:rPr>
                        <a:t>Stack</a:t>
                      </a:r>
                      <a:endPar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endParaRPr>
                    </a:p>
                  </a:txBody>
                  <a:tcPr marT="45731" marB="4573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0"/>
                  </a:ext>
                </a:extLst>
              </a:tr>
              <a:tr h="350044">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A50021"/>
                          </a:solidFill>
                          <a:effectLst/>
                          <a:latin typeface="Courier New" pitchFamily="49" charset="0"/>
                          <a:ea typeface="Times New Roman" pitchFamily="18" charset="0"/>
                          <a:cs typeface="Courier New" pitchFamily="49" charset="0"/>
                        </a:rPr>
                        <a:t>9</a:t>
                      </a:r>
                      <a:endParaRPr kumimoji="0" lang="en-US" altLang="en-US" sz="1200" b="1" i="0" u="none" strike="noStrike" cap="none" normalizeH="0" baseline="0">
                        <a:ln>
                          <a:noFill/>
                        </a:ln>
                        <a:solidFill>
                          <a:srgbClr val="A50021"/>
                        </a:solidFill>
                        <a:effectLst/>
                        <a:latin typeface="Arial" charset="0"/>
                        <a:ea typeface="Times New Roman" pitchFamily="18" charset="0"/>
                        <a:cs typeface="Courier New" pitchFamily="49" charset="0"/>
                      </a:endParaRPr>
                    </a:p>
                  </a:txBody>
                  <a:tcPr marT="45731" marB="4573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A50021"/>
                          </a:solidFill>
                          <a:effectLst/>
                          <a:latin typeface="Courier New" pitchFamily="49" charset="0"/>
                          <a:ea typeface="Times New Roman" pitchFamily="18" charset="0"/>
                          <a:cs typeface="Courier New" pitchFamily="49" charset="0"/>
                        </a:rPr>
                        <a:t>9</a:t>
                      </a:r>
                      <a:endParaRPr kumimoji="0" lang="en-US" altLang="en-US" sz="1200" b="1" i="0" u="none" strike="noStrike" cap="none" normalizeH="0" baseline="0">
                        <a:ln>
                          <a:noFill/>
                        </a:ln>
                        <a:solidFill>
                          <a:srgbClr val="A50021"/>
                        </a:solidFill>
                        <a:effectLst/>
                        <a:latin typeface="Arial" charset="0"/>
                        <a:ea typeface="Times New Roman" pitchFamily="18" charset="0"/>
                        <a:cs typeface="Courier New" pitchFamily="49" charset="0"/>
                      </a:endParaRPr>
                    </a:p>
                  </a:txBody>
                  <a:tcPr marT="45731" marB="4573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1"/>
                  </a:ext>
                </a:extLst>
              </a:tr>
              <a:tr h="350044">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A50021"/>
                          </a:solidFill>
                          <a:effectLst/>
                          <a:latin typeface="Courier New" pitchFamily="49" charset="0"/>
                          <a:ea typeface="Times New Roman" pitchFamily="18" charset="0"/>
                          <a:cs typeface="Courier New" pitchFamily="49" charset="0"/>
                        </a:rPr>
                        <a:t>3</a:t>
                      </a:r>
                      <a:endParaRPr kumimoji="0" lang="en-US" altLang="en-US" sz="1200" b="1" i="0" u="none" strike="noStrike" cap="none" normalizeH="0" baseline="0">
                        <a:ln>
                          <a:noFill/>
                        </a:ln>
                        <a:solidFill>
                          <a:srgbClr val="A50021"/>
                        </a:solidFill>
                        <a:effectLst/>
                        <a:latin typeface="Arial" charset="0"/>
                        <a:ea typeface="Times New Roman" pitchFamily="18" charset="0"/>
                        <a:cs typeface="Courier New" pitchFamily="49" charset="0"/>
                      </a:endParaRPr>
                    </a:p>
                  </a:txBody>
                  <a:tcPr marT="45731" marB="4573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A50021"/>
                          </a:solidFill>
                          <a:effectLst/>
                          <a:latin typeface="Courier New" pitchFamily="49" charset="0"/>
                          <a:ea typeface="Times New Roman" pitchFamily="18" charset="0"/>
                          <a:cs typeface="Courier New" pitchFamily="49" charset="0"/>
                        </a:rPr>
                        <a:t>9, 3</a:t>
                      </a:r>
                      <a:endParaRPr kumimoji="0" lang="en-US" altLang="en-US" sz="1200" b="1" i="0" u="none" strike="noStrike" cap="none" normalizeH="0" baseline="0">
                        <a:ln>
                          <a:noFill/>
                        </a:ln>
                        <a:solidFill>
                          <a:srgbClr val="A50021"/>
                        </a:solidFill>
                        <a:effectLst/>
                        <a:latin typeface="Arial" charset="0"/>
                        <a:ea typeface="Times New Roman" pitchFamily="18" charset="0"/>
                        <a:cs typeface="Courier New" pitchFamily="49" charset="0"/>
                      </a:endParaRPr>
                    </a:p>
                  </a:txBody>
                  <a:tcPr marT="45731" marB="4573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2"/>
                  </a:ext>
                </a:extLst>
              </a:tr>
              <a:tr h="350044">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A50021"/>
                          </a:solidFill>
                          <a:effectLst/>
                          <a:latin typeface="Courier New" pitchFamily="49" charset="0"/>
                          <a:ea typeface="Times New Roman" pitchFamily="18" charset="0"/>
                          <a:cs typeface="Courier New" pitchFamily="49" charset="0"/>
                        </a:rPr>
                        <a:t>4</a:t>
                      </a:r>
                      <a:endParaRPr kumimoji="0" lang="en-US" altLang="en-US" sz="1200" b="1" i="0" u="none" strike="noStrike" cap="none" normalizeH="0" baseline="0">
                        <a:ln>
                          <a:noFill/>
                        </a:ln>
                        <a:solidFill>
                          <a:srgbClr val="A50021"/>
                        </a:solidFill>
                        <a:effectLst/>
                        <a:latin typeface="Arial" charset="0"/>
                        <a:ea typeface="Times New Roman" pitchFamily="18" charset="0"/>
                        <a:cs typeface="Courier New" pitchFamily="49" charset="0"/>
                      </a:endParaRPr>
                    </a:p>
                  </a:txBody>
                  <a:tcPr marT="45731" marB="4573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A50021"/>
                          </a:solidFill>
                          <a:effectLst/>
                          <a:latin typeface="Courier New" pitchFamily="49" charset="0"/>
                          <a:ea typeface="Times New Roman" pitchFamily="18" charset="0"/>
                          <a:cs typeface="Courier New" pitchFamily="49" charset="0"/>
                        </a:rPr>
                        <a:t>9, 3, 4</a:t>
                      </a:r>
                      <a:endParaRPr kumimoji="0" lang="en-US" altLang="en-US" sz="1200" b="1" i="0" u="none" strike="noStrike" cap="none" normalizeH="0" baseline="0">
                        <a:ln>
                          <a:noFill/>
                        </a:ln>
                        <a:solidFill>
                          <a:srgbClr val="A50021"/>
                        </a:solidFill>
                        <a:effectLst/>
                        <a:latin typeface="Arial" charset="0"/>
                        <a:ea typeface="Times New Roman" pitchFamily="18" charset="0"/>
                        <a:cs typeface="Courier New" pitchFamily="49" charset="0"/>
                      </a:endParaRPr>
                    </a:p>
                  </a:txBody>
                  <a:tcPr marT="45731" marB="4573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3"/>
                  </a:ext>
                </a:extLst>
              </a:tr>
              <a:tr h="350044">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A50021"/>
                          </a:solidFill>
                          <a:effectLst/>
                          <a:latin typeface="Courier New" pitchFamily="49" charset="0"/>
                          <a:ea typeface="Times New Roman" pitchFamily="18" charset="0"/>
                          <a:cs typeface="Courier New" pitchFamily="49" charset="0"/>
                        </a:rPr>
                        <a:t>*</a:t>
                      </a:r>
                      <a:endParaRPr kumimoji="0" lang="en-US" altLang="en-US" sz="1200" b="1" i="0" u="none" strike="noStrike" cap="none" normalizeH="0" baseline="0">
                        <a:ln>
                          <a:noFill/>
                        </a:ln>
                        <a:solidFill>
                          <a:srgbClr val="A50021"/>
                        </a:solidFill>
                        <a:effectLst/>
                        <a:latin typeface="Arial" charset="0"/>
                        <a:ea typeface="Times New Roman" pitchFamily="18" charset="0"/>
                        <a:cs typeface="Courier New" pitchFamily="49" charset="0"/>
                      </a:endParaRPr>
                    </a:p>
                  </a:txBody>
                  <a:tcPr marT="45731" marB="4573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A50021"/>
                          </a:solidFill>
                          <a:effectLst/>
                          <a:latin typeface="Courier New" pitchFamily="49" charset="0"/>
                          <a:ea typeface="Times New Roman" pitchFamily="18" charset="0"/>
                          <a:cs typeface="Courier New" pitchFamily="49" charset="0"/>
                        </a:rPr>
                        <a:t>9, 12</a:t>
                      </a:r>
                      <a:endParaRPr kumimoji="0" lang="en-US" altLang="en-US" sz="1200" b="1" i="0" u="none" strike="noStrike" cap="none" normalizeH="0" baseline="0">
                        <a:ln>
                          <a:noFill/>
                        </a:ln>
                        <a:solidFill>
                          <a:srgbClr val="A50021"/>
                        </a:solidFill>
                        <a:effectLst/>
                        <a:latin typeface="Arial" charset="0"/>
                        <a:ea typeface="Times New Roman" pitchFamily="18" charset="0"/>
                        <a:cs typeface="Courier New" pitchFamily="49" charset="0"/>
                      </a:endParaRPr>
                    </a:p>
                  </a:txBody>
                  <a:tcPr marT="45731" marB="4573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4"/>
                  </a:ext>
                </a:extLst>
              </a:tr>
              <a:tr h="350044">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A50021"/>
                          </a:solidFill>
                          <a:effectLst/>
                          <a:latin typeface="Courier New" pitchFamily="49" charset="0"/>
                          <a:ea typeface="Times New Roman" pitchFamily="18" charset="0"/>
                          <a:cs typeface="Courier New" pitchFamily="49" charset="0"/>
                        </a:rPr>
                        <a:t>8</a:t>
                      </a:r>
                      <a:endParaRPr kumimoji="0" lang="en-US" altLang="en-US" sz="1200" b="1" i="0" u="none" strike="noStrike" cap="none" normalizeH="0" baseline="0">
                        <a:ln>
                          <a:noFill/>
                        </a:ln>
                        <a:solidFill>
                          <a:srgbClr val="A50021"/>
                        </a:solidFill>
                        <a:effectLst/>
                        <a:latin typeface="Arial" charset="0"/>
                        <a:ea typeface="Times New Roman" pitchFamily="18" charset="0"/>
                        <a:cs typeface="Courier New" pitchFamily="49" charset="0"/>
                      </a:endParaRPr>
                    </a:p>
                  </a:txBody>
                  <a:tcPr marT="45731" marB="4573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A50021"/>
                          </a:solidFill>
                          <a:effectLst/>
                          <a:latin typeface="Courier New" pitchFamily="49" charset="0"/>
                          <a:ea typeface="Times New Roman" pitchFamily="18" charset="0"/>
                          <a:cs typeface="Courier New" pitchFamily="49" charset="0"/>
                        </a:rPr>
                        <a:t>9, 12, 8</a:t>
                      </a:r>
                      <a:endParaRPr kumimoji="0" lang="en-US" altLang="en-US" sz="1200" b="1" i="0" u="none" strike="noStrike" cap="none" normalizeH="0" baseline="0">
                        <a:ln>
                          <a:noFill/>
                        </a:ln>
                        <a:solidFill>
                          <a:srgbClr val="A50021"/>
                        </a:solidFill>
                        <a:effectLst/>
                        <a:latin typeface="Arial" charset="0"/>
                        <a:ea typeface="Times New Roman" pitchFamily="18" charset="0"/>
                        <a:cs typeface="Courier New" pitchFamily="49" charset="0"/>
                      </a:endParaRPr>
                    </a:p>
                  </a:txBody>
                  <a:tcPr marT="45731" marB="4573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5"/>
                  </a:ext>
                </a:extLst>
              </a:tr>
              <a:tr h="350044">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A50021"/>
                          </a:solidFill>
                          <a:effectLst/>
                          <a:latin typeface="Courier New" pitchFamily="49" charset="0"/>
                          <a:ea typeface="Times New Roman" pitchFamily="18" charset="0"/>
                          <a:cs typeface="Courier New" pitchFamily="49" charset="0"/>
                        </a:rPr>
                        <a:t>+</a:t>
                      </a:r>
                      <a:endParaRPr kumimoji="0" lang="en-US" altLang="en-US" sz="1200" b="1" i="0" u="none" strike="noStrike" cap="none" normalizeH="0" baseline="0">
                        <a:ln>
                          <a:noFill/>
                        </a:ln>
                        <a:solidFill>
                          <a:srgbClr val="A50021"/>
                        </a:solidFill>
                        <a:effectLst/>
                        <a:latin typeface="Arial" charset="0"/>
                        <a:ea typeface="Times New Roman" pitchFamily="18" charset="0"/>
                        <a:cs typeface="Courier New" pitchFamily="49" charset="0"/>
                      </a:endParaRPr>
                    </a:p>
                  </a:txBody>
                  <a:tcPr marT="45731" marB="4573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Courier New" pitchFamily="49" charset="0"/>
                          <a:ea typeface="Times New Roman" pitchFamily="18" charset="0"/>
                          <a:cs typeface="Courier New" pitchFamily="49" charset="0"/>
                        </a:rPr>
                        <a:t>9, 20</a:t>
                      </a:r>
                      <a:endPar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endParaRPr>
                    </a:p>
                  </a:txBody>
                  <a:tcPr marT="45731" marB="4573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6"/>
                  </a:ext>
                </a:extLst>
              </a:tr>
              <a:tr h="350044">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A50021"/>
                          </a:solidFill>
                          <a:effectLst/>
                          <a:latin typeface="Courier New" pitchFamily="49" charset="0"/>
                          <a:ea typeface="Times New Roman" pitchFamily="18" charset="0"/>
                          <a:cs typeface="Courier New" pitchFamily="49" charset="0"/>
                        </a:rPr>
                        <a:t>4</a:t>
                      </a:r>
                      <a:endParaRPr kumimoji="0" lang="en-US" altLang="en-US" sz="1200" b="1" i="0" u="none" strike="noStrike" cap="none" normalizeH="0" baseline="0">
                        <a:ln>
                          <a:noFill/>
                        </a:ln>
                        <a:solidFill>
                          <a:srgbClr val="A50021"/>
                        </a:solidFill>
                        <a:effectLst/>
                        <a:latin typeface="Arial" charset="0"/>
                        <a:ea typeface="Times New Roman" pitchFamily="18" charset="0"/>
                        <a:cs typeface="Courier New" pitchFamily="49" charset="0"/>
                      </a:endParaRPr>
                    </a:p>
                  </a:txBody>
                  <a:tcPr marT="45731" marB="4573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A50021"/>
                          </a:solidFill>
                          <a:effectLst/>
                          <a:latin typeface="Courier New" pitchFamily="49" charset="0"/>
                          <a:ea typeface="Times New Roman" pitchFamily="18" charset="0"/>
                          <a:cs typeface="Courier New" pitchFamily="49" charset="0"/>
                        </a:rPr>
                        <a:t>9, 20, 4</a:t>
                      </a:r>
                      <a:endParaRPr kumimoji="0" lang="en-US" altLang="en-US" sz="1200" b="1" i="0" u="none" strike="noStrike" cap="none" normalizeH="0" baseline="0">
                        <a:ln>
                          <a:noFill/>
                        </a:ln>
                        <a:solidFill>
                          <a:srgbClr val="A50021"/>
                        </a:solidFill>
                        <a:effectLst/>
                        <a:latin typeface="Arial" charset="0"/>
                        <a:ea typeface="Times New Roman" pitchFamily="18" charset="0"/>
                        <a:cs typeface="Courier New" pitchFamily="49" charset="0"/>
                      </a:endParaRPr>
                    </a:p>
                  </a:txBody>
                  <a:tcPr marT="45731" marB="4573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7"/>
                  </a:ext>
                </a:extLst>
              </a:tr>
              <a:tr h="350044">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A50021"/>
                          </a:solidFill>
                          <a:effectLst/>
                          <a:latin typeface="Courier New" pitchFamily="49" charset="0"/>
                          <a:ea typeface="Times New Roman" pitchFamily="18" charset="0"/>
                          <a:cs typeface="Courier New" pitchFamily="49" charset="0"/>
                        </a:rPr>
                        <a:t>/</a:t>
                      </a:r>
                      <a:endParaRPr kumimoji="0" lang="en-US" altLang="en-US" sz="1200" b="1" i="0" u="none" strike="noStrike" cap="none" normalizeH="0" baseline="0">
                        <a:ln>
                          <a:noFill/>
                        </a:ln>
                        <a:solidFill>
                          <a:srgbClr val="A50021"/>
                        </a:solidFill>
                        <a:effectLst/>
                        <a:latin typeface="Arial" charset="0"/>
                        <a:ea typeface="Times New Roman" pitchFamily="18" charset="0"/>
                        <a:cs typeface="Courier New" pitchFamily="49" charset="0"/>
                      </a:endParaRPr>
                    </a:p>
                  </a:txBody>
                  <a:tcPr marT="45731" marB="4573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Courier New" pitchFamily="49" charset="0"/>
                          <a:ea typeface="Times New Roman" pitchFamily="18" charset="0"/>
                          <a:cs typeface="Courier New" pitchFamily="49" charset="0"/>
                        </a:rPr>
                        <a:t>9, 5</a:t>
                      </a:r>
                      <a:endPar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endParaRPr>
                    </a:p>
                  </a:txBody>
                  <a:tcPr marT="45731" marB="4573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8"/>
                  </a:ext>
                </a:extLst>
              </a:tr>
              <a:tr h="350044">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Courier New" pitchFamily="49" charset="0"/>
                          <a:ea typeface="Times New Roman" pitchFamily="18" charset="0"/>
                          <a:cs typeface="Courier New" pitchFamily="49" charset="0"/>
                        </a:rPr>
                        <a:t>-</a:t>
                      </a:r>
                      <a:endPar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endParaRPr>
                    </a:p>
                  </a:txBody>
                  <a:tcPr marT="45731" marB="4573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Courier New" pitchFamily="49" charset="0"/>
                          <a:ea typeface="Times New Roman" pitchFamily="18" charset="0"/>
                          <a:cs typeface="Courier New" pitchFamily="49" charset="0"/>
                        </a:rPr>
                        <a:t>4</a:t>
                      </a:r>
                      <a:endPar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endParaRPr>
                    </a:p>
                  </a:txBody>
                  <a:tcPr marT="45731" marB="45731"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9"/>
                  </a:ext>
                </a:extLst>
              </a:tr>
            </a:tbl>
          </a:graphicData>
        </a:graphic>
      </p:graphicFrame>
      <p:graphicFrame>
        <p:nvGraphicFramePr>
          <p:cNvPr id="5" name="Group 3">
            <a:extLst>
              <a:ext uri="{FF2B5EF4-FFF2-40B4-BE49-F238E27FC236}">
                <a16:creationId xmlns:a16="http://schemas.microsoft.com/office/drawing/2014/main" id="{5E62FD7D-5B75-5BF2-0131-DCFA717B86F5}"/>
              </a:ext>
            </a:extLst>
          </p:cNvPr>
          <p:cNvGraphicFramePr>
            <a:graphicFrameLocks noGrp="1"/>
          </p:cNvGraphicFramePr>
          <p:nvPr/>
        </p:nvGraphicFramePr>
        <p:xfrm>
          <a:off x="1981200" y="2468563"/>
          <a:ext cx="3749674" cy="4389440"/>
        </p:xfrm>
        <a:graphic>
          <a:graphicData uri="http://schemas.openxmlformats.org/drawingml/2006/table">
            <a:tbl>
              <a:tblPr/>
              <a:tblGrid>
                <a:gridCol w="9906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616074">
                  <a:extLst>
                    <a:ext uri="{9D8B030D-6E8A-4147-A177-3AD203B41FA5}">
                      <a16:colId xmlns:a16="http://schemas.microsoft.com/office/drawing/2014/main" val="20002"/>
                    </a:ext>
                  </a:extLst>
                </a:gridCol>
              </a:tblGrid>
              <a:tr h="274340">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Courier New" pitchFamily="49" charset="0"/>
                          <a:ea typeface="Times New Roman" pitchFamily="18" charset="0"/>
                          <a:cs typeface="Courier New" pitchFamily="49" charset="0"/>
                        </a:rPr>
                        <a:t>infix</a:t>
                      </a:r>
                      <a:endPar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endParaRP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A50021"/>
                          </a:solidFill>
                          <a:effectLst/>
                          <a:latin typeface="Courier New" pitchFamily="49" charset="0"/>
                          <a:ea typeface="Times New Roman" pitchFamily="18" charset="0"/>
                          <a:cs typeface="Courier New" pitchFamily="49" charset="0"/>
                        </a:rPr>
                        <a:t>Stack</a:t>
                      </a:r>
                      <a:endParaRPr kumimoji="0" lang="en-US" altLang="en-US" sz="1200" b="1" i="0" u="none" strike="noStrike" cap="none" normalizeH="0" baseline="0">
                        <a:ln>
                          <a:noFill/>
                        </a:ln>
                        <a:solidFill>
                          <a:srgbClr val="A50021"/>
                        </a:solidFill>
                        <a:effectLst/>
                        <a:latin typeface="Arial" charset="0"/>
                        <a:ea typeface="Times New Roman" pitchFamily="18" charset="0"/>
                        <a:cs typeface="Courier New" pitchFamily="49" charset="0"/>
                      </a:endParaRP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postfix</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0"/>
                  </a:ext>
                </a:extLst>
              </a:tr>
              <a:tr h="27434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endParaRP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1"/>
                  </a:ext>
                </a:extLst>
              </a:tr>
              <a:tr h="274340">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Courier New" pitchFamily="49" charset="0"/>
                          <a:ea typeface="Times New Roman" pitchFamily="18" charset="0"/>
                          <a:cs typeface="Courier New" pitchFamily="49" charset="0"/>
                        </a:rPr>
                        <a:t>9</a:t>
                      </a:r>
                      <a:endPar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endParaRP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Courier New" pitchFamily="49" charset="0"/>
                          <a:ea typeface="Times New Roman" pitchFamily="18" charset="0"/>
                          <a:cs typeface="Courier New" pitchFamily="49" charset="0"/>
                        </a:rPr>
                        <a:t>(</a:t>
                      </a:r>
                      <a:endPar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endParaRP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9</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2"/>
                  </a:ext>
                </a:extLst>
              </a:tr>
              <a:tr h="274340">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Courier New" pitchFamily="49" charset="0"/>
                          <a:ea typeface="Times New Roman" pitchFamily="18" charset="0"/>
                          <a:cs typeface="Courier New" pitchFamily="49" charset="0"/>
                        </a:rPr>
                        <a:t>-</a:t>
                      </a:r>
                      <a:endPar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endParaRP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 -</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9</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3"/>
                  </a:ext>
                </a:extLst>
              </a:tr>
              <a:tr h="274340">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Courier New" pitchFamily="49" charset="0"/>
                          <a:ea typeface="Times New Roman" pitchFamily="18" charset="0"/>
                          <a:cs typeface="Courier New" pitchFamily="49" charset="0"/>
                        </a:rPr>
                        <a:t>(</a:t>
                      </a:r>
                      <a:endPar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endParaRP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9</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4"/>
                  </a:ext>
                </a:extLst>
              </a:tr>
              <a:tr h="274340">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Courier New" pitchFamily="49" charset="0"/>
                          <a:ea typeface="Times New Roman" pitchFamily="18" charset="0"/>
                          <a:cs typeface="Courier New" pitchFamily="49" charset="0"/>
                        </a:rPr>
                        <a:t>(</a:t>
                      </a:r>
                      <a:endPar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endParaRP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9</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5"/>
                  </a:ext>
                </a:extLst>
              </a:tr>
              <a:tr h="274340">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Courier New" pitchFamily="49" charset="0"/>
                          <a:ea typeface="Times New Roman" pitchFamily="18" charset="0"/>
                          <a:cs typeface="Courier New" pitchFamily="49" charset="0"/>
                        </a:rPr>
                        <a:t>3</a:t>
                      </a:r>
                      <a:endPar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endParaRP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9 3</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6"/>
                  </a:ext>
                </a:extLst>
              </a:tr>
              <a:tr h="274340">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Courier New" pitchFamily="49" charset="0"/>
                          <a:ea typeface="Times New Roman" pitchFamily="18" charset="0"/>
                          <a:cs typeface="Courier New" pitchFamily="49" charset="0"/>
                        </a:rPr>
                        <a:t>*</a:t>
                      </a:r>
                      <a:endPar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endParaRP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9 3</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7"/>
                  </a:ext>
                </a:extLst>
              </a:tr>
              <a:tr h="274340">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Courier New" pitchFamily="49" charset="0"/>
                          <a:ea typeface="Times New Roman" pitchFamily="18" charset="0"/>
                          <a:cs typeface="Courier New" pitchFamily="49" charset="0"/>
                        </a:rPr>
                        <a:t>4</a:t>
                      </a:r>
                      <a:endPar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endParaRP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9 3 4</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8"/>
                  </a:ext>
                </a:extLst>
              </a:tr>
              <a:tr h="274340">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Courier New" pitchFamily="49" charset="0"/>
                          <a:ea typeface="Times New Roman" pitchFamily="18" charset="0"/>
                          <a:cs typeface="Courier New" pitchFamily="49" charset="0"/>
                        </a:rPr>
                        <a:t>)</a:t>
                      </a:r>
                      <a:endPar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endParaRP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9 3 4 * </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9"/>
                  </a:ext>
                </a:extLst>
              </a:tr>
              <a:tr h="274340">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Courier New" pitchFamily="49" charset="0"/>
                          <a:ea typeface="Times New Roman" pitchFamily="18" charset="0"/>
                          <a:cs typeface="Courier New" pitchFamily="49" charset="0"/>
                        </a:rPr>
                        <a:t>+</a:t>
                      </a:r>
                      <a:endPar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endParaRP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eaLnBrk="0" hangingPunct="0">
                        <a:spcBef>
                          <a:spcPct val="20000"/>
                        </a:spcBef>
                        <a:buFont typeface="Arial" charset="0"/>
                        <a:defRPr sz="2800">
                          <a:solidFill>
                            <a:schemeClr val="tx1"/>
                          </a:solidFill>
                          <a:latin typeface="Calibri" pitchFamily="34" charset="0"/>
                        </a:defRPr>
                      </a:lvl1pPr>
                      <a:lvl2pPr marL="742950" indent="-285750" eaLnBrk="0" hangingPunct="0">
                        <a:spcBef>
                          <a:spcPct val="20000"/>
                        </a:spcBef>
                        <a:buFont typeface="Arial" charset="0"/>
                        <a:defRPr sz="2400">
                          <a:solidFill>
                            <a:schemeClr val="tx1"/>
                          </a:solidFill>
                          <a:latin typeface="Calibri" pitchFamily="34" charset="0"/>
                        </a:defRPr>
                      </a:lvl2pPr>
                      <a:lvl3pPr marL="1143000" indent="-228600" eaLnBrk="0" hangingPunct="0">
                        <a:spcBef>
                          <a:spcPct val="20000"/>
                        </a:spcBef>
                        <a:buFont typeface="Arial" charset="0"/>
                        <a:defRPr sz="2000">
                          <a:solidFill>
                            <a:schemeClr val="tx1"/>
                          </a:solidFill>
                          <a:latin typeface="Calibri" pitchFamily="34" charset="0"/>
                        </a:defRPr>
                      </a:lvl3pPr>
                      <a:lvl4pPr marL="1600200" indent="-228600" eaLnBrk="0" hangingPunct="0">
                        <a:spcBef>
                          <a:spcPct val="20000"/>
                        </a:spcBef>
                        <a:buFont typeface="Arial" charset="0"/>
                        <a:defRPr>
                          <a:solidFill>
                            <a:schemeClr val="tx1"/>
                          </a:solidFill>
                          <a:latin typeface="Calibri" pitchFamily="34" charset="0"/>
                        </a:defRPr>
                      </a:lvl4pPr>
                      <a:lvl5pPr marL="2057400" indent="-228600" eaLnBrk="0" hangingPunct="0">
                        <a:spcBef>
                          <a:spcPct val="20000"/>
                        </a:spcBef>
                        <a:buFont typeface="Arial" charset="0"/>
                        <a:defRPr>
                          <a:solidFill>
                            <a:schemeClr val="tx1"/>
                          </a:solidFill>
                          <a:latin typeface="Calibri" pitchFamily="34" charset="0"/>
                        </a:defRPr>
                      </a:lvl5pPr>
                      <a:lvl6pPr marL="2514600" indent="-228600" eaLnBrk="0" fontAlgn="base" hangingPunct="0">
                        <a:spcBef>
                          <a:spcPct val="20000"/>
                        </a:spcBef>
                        <a:spcAft>
                          <a:spcPct val="0"/>
                        </a:spcAft>
                        <a:buFont typeface="Arial" charset="0"/>
                        <a:defRPr>
                          <a:solidFill>
                            <a:schemeClr val="tx1"/>
                          </a:solidFill>
                          <a:latin typeface="Calibri" pitchFamily="34" charset="0"/>
                        </a:defRPr>
                      </a:lvl6pPr>
                      <a:lvl7pPr marL="2971800" indent="-228600" eaLnBrk="0" fontAlgn="base" hangingPunct="0">
                        <a:spcBef>
                          <a:spcPct val="20000"/>
                        </a:spcBef>
                        <a:spcAft>
                          <a:spcPct val="0"/>
                        </a:spcAft>
                        <a:buFont typeface="Arial" charset="0"/>
                        <a:defRPr>
                          <a:solidFill>
                            <a:schemeClr val="tx1"/>
                          </a:solidFill>
                          <a:latin typeface="Calibri" pitchFamily="34" charset="0"/>
                        </a:defRPr>
                      </a:lvl7pPr>
                      <a:lvl8pPr marL="3429000" indent="-228600" eaLnBrk="0" fontAlgn="base" hangingPunct="0">
                        <a:spcBef>
                          <a:spcPct val="20000"/>
                        </a:spcBef>
                        <a:spcAft>
                          <a:spcPct val="0"/>
                        </a:spcAft>
                        <a:buFont typeface="Arial" charset="0"/>
                        <a:defRPr>
                          <a:solidFill>
                            <a:schemeClr val="tx1"/>
                          </a:solidFill>
                          <a:latin typeface="Calibri" pitchFamily="34" charset="0"/>
                        </a:defRPr>
                      </a:lvl8pPr>
                      <a:lvl9pPr marL="3886200" indent="-228600" eaLnBrk="0" fontAlgn="base" hangingPunct="0">
                        <a:spcBef>
                          <a:spcPct val="20000"/>
                        </a:spcBef>
                        <a:spcAft>
                          <a:spcPct val="0"/>
                        </a:spcAft>
                        <a:buFont typeface="Arial" charset="0"/>
                        <a:defRPr>
                          <a:solidFill>
                            <a:schemeClr val="tx1"/>
                          </a:solidFill>
                          <a:latin typeface="Calibri"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9 3 4 *</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10"/>
                  </a:ext>
                </a:extLst>
              </a:tr>
              <a:tr h="27434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8</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9 3 4 * 8</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11"/>
                  </a:ext>
                </a:extLst>
              </a:tr>
              <a:tr h="27434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9 3 4 * 8 + </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12"/>
                  </a:ext>
                </a:extLst>
              </a:tr>
              <a:tr h="27434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9 3 4 * 8 + </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13"/>
                  </a:ext>
                </a:extLst>
              </a:tr>
              <a:tr h="27434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4</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9 3 4 * 8 + 4</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14"/>
                  </a:ext>
                </a:extLst>
              </a:tr>
              <a:tr h="27434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endParaRP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200" b="1" i="0" u="none" strike="noStrike" cap="none" normalizeH="0" baseline="0" dirty="0">
                          <a:ln>
                            <a:noFill/>
                          </a:ln>
                          <a:solidFill>
                            <a:srgbClr val="A50021"/>
                          </a:solidFill>
                          <a:effectLst/>
                          <a:latin typeface="Arial" charset="0"/>
                          <a:ea typeface="Times New Roman" pitchFamily="18" charset="0"/>
                          <a:cs typeface="Courier New" pitchFamily="49" charset="0"/>
                        </a:rPr>
                        <a:t>9 3 4 * 8 + 4 / -</a:t>
                      </a:r>
                    </a:p>
                  </a:txBody>
                  <a:tcPr marT="45723" marB="45723"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323863763"/>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a:extLst>
              <a:ext uri="{FF2B5EF4-FFF2-40B4-BE49-F238E27FC236}">
                <a16:creationId xmlns:a16="http://schemas.microsoft.com/office/drawing/2014/main" id="{D317D188-A247-4F50-4036-6E10DF82E1E7}"/>
              </a:ext>
            </a:extLst>
          </p:cNvPr>
          <p:cNvSpPr>
            <a:spLocks noGrp="1" noChangeArrowheads="1"/>
          </p:cNvSpPr>
          <p:nvPr>
            <p:ph type="title"/>
          </p:nvPr>
        </p:nvSpPr>
        <p:spPr/>
        <p:txBody>
          <a:bodyPr>
            <a:normAutofit fontScale="90000"/>
          </a:bodyPr>
          <a:lstStyle/>
          <a:p>
            <a:r>
              <a:rPr lang="en-US" altLang="en-US" dirty="0">
                <a:ea typeface="MS Mincho" panose="02020609040205080304" pitchFamily="49" charset="-128"/>
              </a:rPr>
              <a:t>    </a:t>
            </a:r>
            <a:br>
              <a:rPr lang="en-US" altLang="en-US" dirty="0">
                <a:ea typeface="MS Mincho" panose="02020609040205080304" pitchFamily="49" charset="-128"/>
              </a:rPr>
            </a:br>
            <a:r>
              <a:rPr lang="en-US" altLang="en-US" dirty="0">
                <a:ea typeface="MS Mincho" panose="02020609040205080304" pitchFamily="49" charset="-128"/>
              </a:rPr>
              <a:t>                   Example: postfix expressions (cont.)</a:t>
            </a:r>
          </a:p>
        </p:txBody>
      </p:sp>
      <p:pic>
        <p:nvPicPr>
          <p:cNvPr id="37891" name="Picture 3">
            <a:extLst>
              <a:ext uri="{FF2B5EF4-FFF2-40B4-BE49-F238E27FC236}">
                <a16:creationId xmlns:a16="http://schemas.microsoft.com/office/drawing/2014/main" id="{0AD11B19-5EAA-9365-792E-0A2BB41940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4601" y="2438401"/>
            <a:ext cx="7407275" cy="2778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65370194"/>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a:extLst>
              <a:ext uri="{FF2B5EF4-FFF2-40B4-BE49-F238E27FC236}">
                <a16:creationId xmlns:a16="http://schemas.microsoft.com/office/drawing/2014/main" id="{80F9E639-4902-5446-9BF0-CD8789FEC153}"/>
              </a:ext>
            </a:extLst>
          </p:cNvPr>
          <p:cNvSpPr>
            <a:spLocks noGrp="1" noChangeArrowheads="1"/>
          </p:cNvSpPr>
          <p:nvPr>
            <p:ph type="title"/>
          </p:nvPr>
        </p:nvSpPr>
        <p:spPr>
          <a:xfrm>
            <a:off x="840658" y="533400"/>
            <a:ext cx="10766323" cy="1143000"/>
          </a:xfrm>
        </p:spPr>
        <p:txBody>
          <a:bodyPr>
            <a:normAutofit fontScale="90000"/>
          </a:bodyPr>
          <a:lstStyle/>
          <a:p>
            <a:r>
              <a:rPr lang="en-US" altLang="en-US" dirty="0">
                <a:cs typeface="Times New Roman" panose="02020603050405020304" pitchFamily="18" charset="0"/>
              </a:rPr>
              <a:t>Postfix  expressions:</a:t>
            </a:r>
            <a:r>
              <a:rPr lang="en-US" altLang="en-US" dirty="0"/>
              <a:t> Algorithm using stacks (cont.)</a:t>
            </a:r>
          </a:p>
        </p:txBody>
      </p:sp>
      <p:pic>
        <p:nvPicPr>
          <p:cNvPr id="44035" name="Picture 3">
            <a:extLst>
              <a:ext uri="{FF2B5EF4-FFF2-40B4-BE49-F238E27FC236}">
                <a16:creationId xmlns:a16="http://schemas.microsoft.com/office/drawing/2014/main" id="{71E93828-6B90-55C9-36B2-AFE36A0F830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1905000"/>
            <a:ext cx="8001000" cy="43894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4769851"/>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ounded Rectangle 6">
            <a:extLst>
              <a:ext uri="{FF2B5EF4-FFF2-40B4-BE49-F238E27FC236}">
                <a16:creationId xmlns:a16="http://schemas.microsoft.com/office/drawing/2014/main" id="{7C62D426-EDC4-8274-06EE-FBA5383E9095}"/>
              </a:ext>
            </a:extLst>
          </p:cNvPr>
          <p:cNvSpPr/>
          <p:nvPr/>
        </p:nvSpPr>
        <p:spPr>
          <a:xfrm>
            <a:off x="1524000" y="0"/>
            <a:ext cx="9144000" cy="1066800"/>
          </a:xfrm>
          <a:prstGeom prst="roundRect">
            <a:avLst>
              <a:gd name="adj" fmla="val 0"/>
            </a:avLst>
          </a:prstGeom>
          <a:solidFill>
            <a:schemeClr val="tx2">
              <a:lumMod val="75000"/>
            </a:schemeClr>
          </a:solidFill>
          <a:ln>
            <a:solidFill>
              <a:schemeClr val="accent3">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anchor="ctr"/>
          <a:lstStyle>
            <a:lvl1pPr eaLnBrk="0" hangingPunct="0">
              <a:defRPr>
                <a:solidFill>
                  <a:schemeClr val="tx1"/>
                </a:solidFill>
                <a:latin typeface="Constantia" pitchFamily="18" charset="0"/>
                <a:cs typeface="Arial" charset="0"/>
              </a:defRPr>
            </a:lvl1pPr>
            <a:lvl2pPr marL="742950" indent="-285750" eaLnBrk="0" hangingPunct="0">
              <a:defRPr>
                <a:solidFill>
                  <a:schemeClr val="tx1"/>
                </a:solidFill>
                <a:latin typeface="Constantia" pitchFamily="18" charset="0"/>
                <a:cs typeface="Arial" charset="0"/>
              </a:defRPr>
            </a:lvl2pPr>
            <a:lvl3pPr marL="1143000" indent="-228600" eaLnBrk="0" hangingPunct="0">
              <a:defRPr>
                <a:solidFill>
                  <a:schemeClr val="tx1"/>
                </a:solidFill>
                <a:latin typeface="Constantia" pitchFamily="18" charset="0"/>
                <a:cs typeface="Arial" charset="0"/>
              </a:defRPr>
            </a:lvl3pPr>
            <a:lvl4pPr marL="1600200" indent="-228600" eaLnBrk="0" hangingPunct="0">
              <a:defRPr>
                <a:solidFill>
                  <a:schemeClr val="tx1"/>
                </a:solidFill>
                <a:latin typeface="Constantia" pitchFamily="18" charset="0"/>
                <a:cs typeface="Arial" charset="0"/>
              </a:defRPr>
            </a:lvl4pPr>
            <a:lvl5pPr marL="2057400" indent="-228600" eaLnBrk="0" hangingPunct="0">
              <a:defRPr>
                <a:solidFill>
                  <a:schemeClr val="tx1"/>
                </a:solidFill>
                <a:latin typeface="Constantia" pitchFamily="18" charset="0"/>
                <a:cs typeface="Arial" charset="0"/>
              </a:defRPr>
            </a:lvl5pPr>
            <a:lvl6pPr marL="2514600" indent="-228600" eaLnBrk="0" fontAlgn="base" hangingPunct="0">
              <a:spcBef>
                <a:spcPct val="0"/>
              </a:spcBef>
              <a:spcAft>
                <a:spcPct val="0"/>
              </a:spcAft>
              <a:defRPr>
                <a:solidFill>
                  <a:schemeClr val="tx1"/>
                </a:solidFill>
                <a:latin typeface="Constantia" pitchFamily="18" charset="0"/>
                <a:cs typeface="Arial" charset="0"/>
              </a:defRPr>
            </a:lvl6pPr>
            <a:lvl7pPr marL="2971800" indent="-228600" eaLnBrk="0" fontAlgn="base" hangingPunct="0">
              <a:spcBef>
                <a:spcPct val="0"/>
              </a:spcBef>
              <a:spcAft>
                <a:spcPct val="0"/>
              </a:spcAft>
              <a:defRPr>
                <a:solidFill>
                  <a:schemeClr val="tx1"/>
                </a:solidFill>
                <a:latin typeface="Constantia" pitchFamily="18" charset="0"/>
                <a:cs typeface="Arial" charset="0"/>
              </a:defRPr>
            </a:lvl7pPr>
            <a:lvl8pPr marL="3429000" indent="-228600" eaLnBrk="0" fontAlgn="base" hangingPunct="0">
              <a:spcBef>
                <a:spcPct val="0"/>
              </a:spcBef>
              <a:spcAft>
                <a:spcPct val="0"/>
              </a:spcAft>
              <a:defRPr>
                <a:solidFill>
                  <a:schemeClr val="tx1"/>
                </a:solidFill>
                <a:latin typeface="Constantia" pitchFamily="18" charset="0"/>
                <a:cs typeface="Arial" charset="0"/>
              </a:defRPr>
            </a:lvl8pPr>
            <a:lvl9pPr marL="3886200" indent="-228600" eaLnBrk="0" fontAlgn="base" hangingPunct="0">
              <a:spcBef>
                <a:spcPct val="0"/>
              </a:spcBef>
              <a:spcAft>
                <a:spcPct val="0"/>
              </a:spcAft>
              <a:defRPr>
                <a:solidFill>
                  <a:schemeClr val="tx1"/>
                </a:solidFill>
                <a:latin typeface="Constantia" pitchFamily="18" charset="0"/>
                <a:cs typeface="Arial" charset="0"/>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3600" b="0" i="0" u="none" strike="noStrike" kern="1200" cap="none" spc="0" normalizeH="0" baseline="0" noProof="0" dirty="0">
                <a:ln>
                  <a:noFill/>
                </a:ln>
                <a:solidFill>
                  <a:prstClr val="white"/>
                </a:solidFill>
                <a:effectLst/>
                <a:uLnTx/>
                <a:uFillTx/>
                <a:latin typeface="Calibri" pitchFamily="34" charset="0"/>
                <a:ea typeface="+mn-ea"/>
                <a:cs typeface="Arial" charset="0"/>
              </a:rPr>
              <a:t>Convert Infix Expression into Prefix Expression</a:t>
            </a:r>
          </a:p>
        </p:txBody>
      </p:sp>
      <p:sp>
        <p:nvSpPr>
          <p:cNvPr id="28675" name="Text Box 5">
            <a:extLst>
              <a:ext uri="{FF2B5EF4-FFF2-40B4-BE49-F238E27FC236}">
                <a16:creationId xmlns:a16="http://schemas.microsoft.com/office/drawing/2014/main" id="{5ED11392-B350-BB48-AAFC-7CE50A496B99}"/>
              </a:ext>
            </a:extLst>
          </p:cNvPr>
          <p:cNvSpPr txBox="1">
            <a:spLocks noChangeArrowheads="1"/>
          </p:cNvSpPr>
          <p:nvPr/>
        </p:nvSpPr>
        <p:spPr bwMode="auto">
          <a:xfrm>
            <a:off x="1600200" y="1219201"/>
            <a:ext cx="8839200" cy="4911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marL="342900" indent="-342900" eaLnBrk="0" hangingPunct="0">
              <a:spcBef>
                <a:spcPct val="20000"/>
              </a:spcBef>
              <a:buFont typeface="Arial" panose="020B0604020202020204" pitchFamily="34" charset="0"/>
              <a:buChar char="•"/>
              <a:defRPr sz="3200">
                <a:solidFill>
                  <a:schemeClr val="tx1"/>
                </a:solidFill>
                <a:latin typeface="Calibri" panose="020F0502020204030204" pitchFamily="34" charset="0"/>
              </a:defRPr>
            </a:lvl1pPr>
            <a:lvl2pPr marL="800100" indent="-342900" eaLnBrk="0" hangingPunct="0">
              <a:spcBef>
                <a:spcPct val="20000"/>
              </a:spcBef>
              <a:buFont typeface="Arial" panose="020B0604020202020204" pitchFamily="34" charset="0"/>
              <a:buChar char="–"/>
              <a:defRPr sz="2800">
                <a:solidFill>
                  <a:schemeClr val="tx1"/>
                </a:solidFill>
                <a:latin typeface="Calibri" panose="020F0502020204030204" pitchFamily="34" charset="0"/>
              </a:defRPr>
            </a:lvl2pPr>
            <a:lvl3pPr marL="1257300" indent="-342900" eaLnBrk="0" hangingPunct="0">
              <a:spcBef>
                <a:spcPct val="20000"/>
              </a:spcBef>
              <a:buFont typeface="Arial" panose="020B0604020202020204" pitchFamily="34" charset="0"/>
              <a:buChar char="•"/>
              <a:defRPr sz="2400">
                <a:solidFill>
                  <a:schemeClr val="tx1"/>
                </a:solidFill>
                <a:latin typeface="Calibri" panose="020F0502020204030204" pitchFamily="34" charset="0"/>
              </a:defRPr>
            </a:lvl3pPr>
            <a:lvl4pPr marL="1714500" indent="-3429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4pPr>
            <a:lvl5pPr marL="2171700" indent="-342900" eaLnBrk="0" hangingPunct="0">
              <a:spcBef>
                <a:spcPct val="20000"/>
              </a:spcBef>
              <a:buFont typeface="Arial" panose="020B0604020202020204" pitchFamily="34" charset="0"/>
              <a:buChar char="»"/>
              <a:defRPr sz="2000">
                <a:solidFill>
                  <a:schemeClr val="tx1"/>
                </a:solidFill>
                <a:latin typeface="Calibri" panose="020F0502020204030204" pitchFamily="34" charset="0"/>
              </a:defRPr>
            </a:lvl5pPr>
            <a:lvl6pPr marL="2628900" indent="-3429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3086100" indent="-3429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543300" indent="-3429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4000500" indent="-3429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342900" marR="0" lvl="0" indent="-342900" algn="l" defTabSz="914400" rtl="0" eaLnBrk="0" fontAlgn="auto" latinLnBrk="0" hangingPunct="0">
              <a:lnSpc>
                <a:spcPct val="110000"/>
              </a:lnSpc>
              <a:spcBef>
                <a:spcPct val="0"/>
              </a:spcBef>
              <a:spcAft>
                <a:spcPts val="0"/>
              </a:spcAft>
              <a:buClrTx/>
              <a:buSzTx/>
              <a:buFontTx/>
              <a:buNone/>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Consider an infix expression: (A – B / C) * (A / K – L)</a:t>
            </a:r>
            <a:endParaRPr kumimoji="0" lang="en-US" altLang="en-US" sz="2400" b="0" i="1" u="none" strike="noStrike" kern="1200" cap="none" spc="0" normalizeH="0" baseline="0" noProof="0">
              <a:ln>
                <a:noFill/>
              </a:ln>
              <a:solidFill>
                <a:prstClr val="black"/>
              </a:solidFill>
              <a:effectLst/>
              <a:uLnTx/>
              <a:uFillTx/>
              <a:latin typeface="Calibri" panose="020F0502020204030204" pitchFamily="34" charset="0"/>
              <a:ea typeface="+mn-ea"/>
              <a:cs typeface="+mn-cs"/>
            </a:endParaRPr>
          </a:p>
          <a:p>
            <a:pPr marL="342900" marR="0" lvl="0" indent="-342900" algn="l" defTabSz="914400" rtl="0" eaLnBrk="0" fontAlgn="auto" latinLnBrk="0" hangingPunct="0">
              <a:lnSpc>
                <a:spcPct val="110000"/>
              </a:lnSpc>
              <a:spcBef>
                <a:spcPct val="0"/>
              </a:spcBef>
              <a:spcAft>
                <a:spcPts val="0"/>
              </a:spcAft>
              <a:buClrTx/>
              <a:buSzTx/>
              <a:buFontTx/>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Step 1: Reverse the infix string. Note that while reversing the string you must interchange left and right parenthesis.</a:t>
            </a:r>
          </a:p>
          <a:p>
            <a:pPr marL="342900" marR="0" lvl="0" indent="-342900" algn="l" defTabSz="914400" rtl="0" eaLnBrk="0" fontAlgn="auto" latinLnBrk="0" hangingPunct="0">
              <a:lnSpc>
                <a:spcPct val="110000"/>
              </a:lnSpc>
              <a:spcBef>
                <a:spcPct val="0"/>
              </a:spcBef>
              <a:spcAft>
                <a:spcPts val="0"/>
              </a:spcAft>
              <a:buClrTx/>
              <a:buSzTx/>
              <a:buFontTx/>
              <a:buNone/>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      (L – K / A) * (C / B – A)</a:t>
            </a:r>
          </a:p>
          <a:p>
            <a:pPr marL="342900" marR="0" lvl="0" indent="-342900" algn="l" defTabSz="914400" rtl="0" eaLnBrk="0" fontAlgn="auto" latinLnBrk="0" hangingPunct="0">
              <a:lnSpc>
                <a:spcPct val="110000"/>
              </a:lnSpc>
              <a:spcBef>
                <a:spcPct val="0"/>
              </a:spcBef>
              <a:spcAft>
                <a:spcPts val="0"/>
              </a:spcAft>
              <a:buClrTx/>
              <a:buSzTx/>
              <a:buFontTx/>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Step 2: Obtain the corresponding postfix expression of the infix expression obtained as a result of Step 1. </a:t>
            </a:r>
          </a:p>
          <a:p>
            <a:pPr marL="342900" marR="0" lvl="0" indent="-342900" algn="l" defTabSz="914400" rtl="0" eaLnBrk="0" fontAlgn="auto" latinLnBrk="0" hangingPunct="0">
              <a:lnSpc>
                <a:spcPct val="110000"/>
              </a:lnSpc>
              <a:spcBef>
                <a:spcPct val="0"/>
              </a:spcBef>
              <a:spcAft>
                <a:spcPts val="0"/>
              </a:spcAft>
              <a:buClrTx/>
              <a:buSzTx/>
              <a:buFontTx/>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The expression is: (L – K / A) * (C / B – A)</a:t>
            </a:r>
          </a:p>
          <a:p>
            <a:pPr marL="342900" marR="0" lvl="0" indent="-342900" algn="l" defTabSz="914400" rtl="0" eaLnBrk="0" fontAlgn="auto" latinLnBrk="0" hangingPunct="0">
              <a:lnSpc>
                <a:spcPct val="110000"/>
              </a:lnSpc>
              <a:spcBef>
                <a:spcPct val="0"/>
              </a:spcBef>
              <a:spcAft>
                <a:spcPts val="0"/>
              </a:spcAft>
              <a:buClrTx/>
              <a:buSzTx/>
              <a:buFontTx/>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Therefore, [L – (K A /)] * [ (C B /) - A  ]</a:t>
            </a:r>
          </a:p>
          <a:p>
            <a:pPr marL="342900" marR="0" lvl="0" indent="-342900" algn="l" defTabSz="914400" rtl="0" eaLnBrk="0" fontAlgn="auto" latinLnBrk="0" hangingPunct="0">
              <a:lnSpc>
                <a:spcPct val="110000"/>
              </a:lnSpc>
              <a:spcBef>
                <a:spcPct val="0"/>
              </a:spcBef>
              <a:spcAft>
                <a:spcPts val="0"/>
              </a:spcAft>
              <a:buClrTx/>
              <a:buSzTx/>
              <a:buFontTx/>
              <a:buNone/>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	  =  [LKA/-] * [ CB/A-]</a:t>
            </a:r>
          </a:p>
          <a:p>
            <a:pPr marL="342900" marR="0" lvl="0" indent="-342900" algn="l" defTabSz="914400" rtl="0" eaLnBrk="0" fontAlgn="auto" latinLnBrk="0" hangingPunct="0">
              <a:lnSpc>
                <a:spcPct val="110000"/>
              </a:lnSpc>
              <a:spcBef>
                <a:spcPct val="0"/>
              </a:spcBef>
              <a:spcAft>
                <a:spcPts val="0"/>
              </a:spcAft>
              <a:buClrTx/>
              <a:buSzTx/>
              <a:buFontTx/>
              <a:buNone/>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	  = L K A / - C B / A - *	</a:t>
            </a:r>
          </a:p>
          <a:p>
            <a:pPr marL="342900" marR="0" lvl="0" indent="-342900" algn="l" defTabSz="914400" rtl="0" eaLnBrk="0" fontAlgn="auto" latinLnBrk="0" hangingPunct="0">
              <a:lnSpc>
                <a:spcPct val="110000"/>
              </a:lnSpc>
              <a:spcBef>
                <a:spcPct val="0"/>
              </a:spcBef>
              <a:spcAft>
                <a:spcPts val="0"/>
              </a:spcAft>
              <a:buClrTx/>
              <a:buSzTx/>
              <a:buFontTx/>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Step 3: Reverse the postfix expression to get the prefix expression</a:t>
            </a:r>
          </a:p>
          <a:p>
            <a:pPr marL="342900" marR="0" lvl="0" indent="-342900" algn="l" defTabSz="914400" rtl="0" eaLnBrk="0" fontAlgn="auto" latinLnBrk="0" hangingPunct="0">
              <a:lnSpc>
                <a:spcPct val="110000"/>
              </a:lnSpc>
              <a:spcBef>
                <a:spcPct val="0"/>
              </a:spcBef>
              <a:spcAft>
                <a:spcPts val="0"/>
              </a:spcAft>
              <a:buClrTx/>
              <a:buSzTx/>
              <a:buFontTx/>
              <a:buChar char="•"/>
              <a:tabLst/>
              <a:defRPr/>
            </a:pPr>
            <a:r>
              <a:rPr kumimoji="0" lang="en-US" altLang="en-US" sz="24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Therefore, the prefix expression is * - A / B C - / A K L</a:t>
            </a:r>
          </a:p>
        </p:txBody>
      </p:sp>
    </p:spTree>
    <p:extLst>
      <p:ext uri="{BB962C8B-B14F-4D97-AF65-F5344CB8AC3E}">
        <p14:creationId xmlns:p14="http://schemas.microsoft.com/office/powerpoint/2010/main" val="3106261329"/>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Infix to Prefix</a:t>
            </a:r>
            <a:endParaRPr lang="en-US" dirty="0"/>
          </a:p>
        </p:txBody>
      </p:sp>
      <p:sp>
        <p:nvSpPr>
          <p:cNvPr id="3" name="Content Placeholder 2"/>
          <p:cNvSpPr>
            <a:spLocks noGrp="1"/>
          </p:cNvSpPr>
          <p:nvPr>
            <p:ph idx="1"/>
          </p:nvPr>
        </p:nvSpPr>
        <p:spPr/>
        <p:txBody>
          <a:bodyPr/>
          <a:lstStyle/>
          <a:p>
            <a:r>
              <a:rPr lang="en-US" dirty="0" smtClean="0"/>
              <a:t>A*B+ C/D</a:t>
            </a:r>
          </a:p>
          <a:p>
            <a:pPr marL="0" indent="0">
              <a:buNone/>
            </a:pPr>
            <a:r>
              <a:rPr lang="en-US" dirty="0" smtClean="0"/>
              <a:t>Prefix: +*AB/CD</a:t>
            </a:r>
          </a:p>
          <a:p>
            <a:r>
              <a:rPr lang="en-US" dirty="0" smtClean="0"/>
              <a:t>(A*B)+C</a:t>
            </a:r>
          </a:p>
          <a:p>
            <a:pPr marL="0" indent="0">
              <a:buNone/>
            </a:pPr>
            <a:r>
              <a:rPr lang="en-US" dirty="0" smtClean="0"/>
              <a:t>Prefix: +*ABC</a:t>
            </a:r>
            <a:endParaRPr lang="en-US" dirty="0"/>
          </a:p>
        </p:txBody>
      </p:sp>
    </p:spTree>
    <p:extLst>
      <p:ext uri="{BB962C8B-B14F-4D97-AF65-F5344CB8AC3E}">
        <p14:creationId xmlns:p14="http://schemas.microsoft.com/office/powerpoint/2010/main" val="314402710"/>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pPr marL="0" indent="0">
              <a:buNone/>
            </a:pPr>
            <a:r>
              <a:rPr lang="en-US" dirty="0" smtClean="0"/>
              <a:t>(</a:t>
            </a:r>
            <a:r>
              <a:rPr lang="en-US" dirty="0"/>
              <a:t>A &amp;&amp; B) || C || ! (E &gt; F</a:t>
            </a:r>
            <a:r>
              <a:rPr lang="en-US" dirty="0" smtClean="0"/>
              <a:t>)</a:t>
            </a:r>
          </a:p>
          <a:p>
            <a:r>
              <a:rPr lang="en-US" dirty="0" smtClean="0"/>
              <a:t>Prefix:</a:t>
            </a:r>
            <a:r>
              <a:rPr lang="pt-BR" dirty="0" smtClean="0"/>
              <a:t> </a:t>
            </a:r>
            <a:r>
              <a:rPr lang="pt-BR" dirty="0"/>
              <a:t>|| &amp;&amp; A B </a:t>
            </a:r>
            <a:r>
              <a:rPr lang="pt-BR" dirty="0" smtClean="0"/>
              <a:t>|| C </a:t>
            </a:r>
            <a:r>
              <a:rPr lang="pt-BR" dirty="0"/>
              <a:t>! &gt; E F</a:t>
            </a:r>
            <a:endParaRPr lang="en-US" dirty="0" smtClean="0"/>
          </a:p>
          <a:p>
            <a:r>
              <a:rPr lang="en-US" dirty="0" smtClean="0"/>
              <a:t>Postfix: </a:t>
            </a:r>
            <a:r>
              <a:rPr lang="en-US" dirty="0"/>
              <a:t> A B &amp;&amp; C || E F &gt; ! </a:t>
            </a:r>
            <a:r>
              <a:rPr lang="en-US" dirty="0" smtClean="0"/>
              <a:t>||</a:t>
            </a:r>
          </a:p>
          <a:p>
            <a:endParaRPr lang="en-US" dirty="0"/>
          </a:p>
          <a:p>
            <a:pPr marL="0" indent="0">
              <a:buNone/>
            </a:pPr>
            <a:r>
              <a:rPr lang="pt-BR" dirty="0"/>
              <a:t>! (A &amp;&amp; ! ((B &lt; C) || (C &gt; D))) || (C &lt; E)</a:t>
            </a:r>
          </a:p>
          <a:p>
            <a:r>
              <a:rPr lang="pt-BR" dirty="0"/>
              <a:t>postfix: A B C &lt; C D &gt; || ! &amp;&amp; ! C E &lt; </a:t>
            </a:r>
            <a:r>
              <a:rPr lang="pt-BR" dirty="0" smtClean="0"/>
              <a:t>||</a:t>
            </a:r>
            <a:endParaRPr lang="pt-BR" dirty="0"/>
          </a:p>
          <a:p>
            <a:r>
              <a:rPr lang="pt-BR" dirty="0" smtClean="0"/>
              <a:t>prefix</a:t>
            </a:r>
            <a:r>
              <a:rPr lang="pt-BR" dirty="0"/>
              <a:t>: || ! &amp;&amp; A ! || &lt; B C &gt; C D &lt; C E</a:t>
            </a:r>
          </a:p>
          <a:p>
            <a:pPr marL="0" indent="0">
              <a:buNone/>
            </a:pPr>
            <a:endParaRPr lang="en-US" dirty="0" smtClean="0"/>
          </a:p>
          <a:p>
            <a:endParaRPr lang="en-US" dirty="0"/>
          </a:p>
        </p:txBody>
      </p:sp>
    </p:spTree>
    <p:extLst>
      <p:ext uri="{BB962C8B-B14F-4D97-AF65-F5344CB8AC3E}">
        <p14:creationId xmlns:p14="http://schemas.microsoft.com/office/powerpoint/2010/main" val="2112724652"/>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US" dirty="0" smtClean="0"/>
              <a:t>  </a:t>
            </a:r>
          </a:p>
          <a:p>
            <a:pPr marL="0" indent="0">
              <a:buNone/>
            </a:pPr>
            <a:r>
              <a:rPr lang="en-US" dirty="0" smtClean="0"/>
              <a:t>                                             Practice MCQ questions </a:t>
            </a:r>
            <a:endParaRPr lang="en-US" dirty="0"/>
          </a:p>
        </p:txBody>
      </p:sp>
      <p:sp>
        <p:nvSpPr>
          <p:cNvPr id="4" name="Rectangle 3"/>
          <p:cNvSpPr/>
          <p:nvPr/>
        </p:nvSpPr>
        <p:spPr>
          <a:xfrm>
            <a:off x="904567" y="1306532"/>
            <a:ext cx="10255046" cy="2308324"/>
          </a:xfrm>
          <a:prstGeom prst="rect">
            <a:avLst/>
          </a:prstGeom>
        </p:spPr>
        <p:txBody>
          <a:bodyPr wrap="square">
            <a:spAutoFit/>
          </a:bodyPr>
          <a:lstStyle/>
          <a:p>
            <a:r>
              <a:rPr lang="en-US" dirty="0">
                <a:hlinkClick r:id="rId2"/>
              </a:rPr>
              <a:t>https://www.geeksforgeeks.org/data-structure-gq/top-mcqs-on-stack-data-strcuture-with-answers</a:t>
            </a:r>
            <a:r>
              <a:rPr lang="en-US" dirty="0" smtClean="0">
                <a:hlinkClick r:id="rId2"/>
              </a:rPr>
              <a:t>/</a:t>
            </a:r>
            <a:endParaRPr lang="en-US" dirty="0" smtClean="0"/>
          </a:p>
          <a:p>
            <a:endParaRPr lang="en-US" dirty="0"/>
          </a:p>
          <a:p>
            <a:endParaRPr lang="en-US" dirty="0" smtClean="0"/>
          </a:p>
          <a:p>
            <a:endParaRPr lang="en-US" dirty="0"/>
          </a:p>
          <a:p>
            <a:r>
              <a:rPr lang="en-US" b="1" dirty="0" smtClean="0"/>
              <a:t>Previous years GATE questions </a:t>
            </a:r>
          </a:p>
          <a:p>
            <a:r>
              <a:rPr lang="en-US" dirty="0">
                <a:hlinkClick r:id="rId3"/>
              </a:rPr>
              <a:t>https://</a:t>
            </a:r>
            <a:r>
              <a:rPr lang="en-US" dirty="0" smtClean="0">
                <a:hlinkClick r:id="rId3"/>
              </a:rPr>
              <a:t>questions.examside.com/past-years/gate/question/pconsider-the-queues-qsub1sub-containing-four-element-gate-cse-theory-of-computation-finite-automata-and-regular-language-sozflytewkqwhc7j</a:t>
            </a:r>
            <a:endParaRPr lang="en-US" dirty="0" smtClean="0"/>
          </a:p>
          <a:p>
            <a:endParaRPr lang="en-US" dirty="0"/>
          </a:p>
        </p:txBody>
      </p:sp>
    </p:spTree>
    <p:extLst>
      <p:ext uri="{BB962C8B-B14F-4D97-AF65-F5344CB8AC3E}">
        <p14:creationId xmlns:p14="http://schemas.microsoft.com/office/powerpoint/2010/main" val="1595544678"/>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sp>
        <p:nvSpPr>
          <p:cNvPr id="3" name="Content Placeholder 2"/>
          <p:cNvSpPr>
            <a:spLocks noGrp="1"/>
          </p:cNvSpPr>
          <p:nvPr>
            <p:ph idx="1"/>
          </p:nvPr>
        </p:nvSpPr>
        <p:spPr/>
        <p:txBody>
          <a:bodyPr/>
          <a:lstStyle/>
          <a:p>
            <a:pPr marL="0" indent="0">
              <a:buNone/>
            </a:pPr>
            <a:endParaRPr lang="en-US" dirty="0" smtClean="0"/>
          </a:p>
          <a:p>
            <a:pPr marL="0" indent="0">
              <a:buNone/>
            </a:pPr>
            <a:r>
              <a:rPr lang="en-US" dirty="0"/>
              <a:t> </a:t>
            </a:r>
            <a:r>
              <a:rPr lang="en-US" dirty="0" smtClean="0"/>
              <a:t>                                              Lab Experiments</a:t>
            </a:r>
          </a:p>
          <a:p>
            <a:pPr marL="0" indent="0">
              <a:buNone/>
            </a:pPr>
            <a:endParaRPr lang="en-US" dirty="0"/>
          </a:p>
          <a:p>
            <a:pPr marL="0" indent="0">
              <a:buNone/>
            </a:pPr>
            <a:r>
              <a:rPr lang="en-US" dirty="0" smtClean="0"/>
              <a:t>     1) Implement all stack operations using array and linked list: Push, Pop, Display.</a:t>
            </a:r>
          </a:p>
          <a:p>
            <a:pPr marL="0" indent="0">
              <a:buNone/>
            </a:pPr>
            <a:r>
              <a:rPr lang="en-US" dirty="0"/>
              <a:t> </a:t>
            </a:r>
            <a:r>
              <a:rPr lang="en-US" dirty="0" smtClean="0"/>
              <a:t>    2) Reverse string using stack</a:t>
            </a:r>
          </a:p>
          <a:p>
            <a:pPr marL="0" indent="0">
              <a:buNone/>
            </a:pPr>
            <a:r>
              <a:rPr lang="en-US" dirty="0"/>
              <a:t> </a:t>
            </a:r>
            <a:r>
              <a:rPr lang="en-US" dirty="0" smtClean="0"/>
              <a:t>    3) </a:t>
            </a:r>
            <a:r>
              <a:rPr lang="en-US" dirty="0"/>
              <a:t>Convert infix to postfix expression using stack and </a:t>
            </a:r>
            <a:r>
              <a:rPr lang="en-US" dirty="0" smtClean="0"/>
              <a:t>array</a:t>
            </a:r>
          </a:p>
          <a:p>
            <a:pPr marL="0" indent="0">
              <a:buNone/>
            </a:pPr>
            <a:r>
              <a:rPr lang="en-US" dirty="0"/>
              <a:t> </a:t>
            </a:r>
            <a:r>
              <a:rPr lang="en-US" dirty="0" smtClean="0"/>
              <a:t>    4) </a:t>
            </a:r>
            <a:r>
              <a:rPr lang="en-US" dirty="0"/>
              <a:t>Evaluate postfix expression using stack and array.</a:t>
            </a:r>
          </a:p>
          <a:p>
            <a:pPr marL="0" indent="0">
              <a:buNone/>
            </a:pPr>
            <a:endParaRPr lang="en-US" dirty="0" smtClean="0"/>
          </a:p>
          <a:p>
            <a:pPr marL="0" indent="0">
              <a:buNone/>
            </a:pPr>
            <a:r>
              <a:rPr lang="en-US" dirty="0" smtClean="0"/>
              <a:t>   </a:t>
            </a:r>
            <a:endParaRPr lang="en-US" dirty="0"/>
          </a:p>
        </p:txBody>
      </p:sp>
    </p:spTree>
    <p:extLst>
      <p:ext uri="{BB962C8B-B14F-4D97-AF65-F5344CB8AC3E}">
        <p14:creationId xmlns:p14="http://schemas.microsoft.com/office/powerpoint/2010/main" val="30298047"/>
      </p:ext>
    </p:extLst>
  </p:cSld>
  <p:clrMapOvr>
    <a:masterClrMapping/>
  </p:clrMapOvr>
  <p:timing>
    <p:tnLst>
      <p:par>
        <p:cTn id="1" dur="indefinite" restart="never" nodeType="tmRoot"/>
      </p:par>
    </p:tnLst>
  </p:timing>
</p:sld>
</file>

<file path=ppt/theme/theme1.xml><?xml version="1.0" encoding="utf-8"?>
<a:theme xmlns:a="http://schemas.openxmlformats.org/drawingml/2006/main" name="Badge">
  <a:themeElements>
    <a:clrScheme name="Badge">
      <a:dk1>
        <a:sysClr val="windowText" lastClr="000000"/>
      </a:dk1>
      <a:lt1>
        <a:sysClr val="window" lastClr="FFFFFF"/>
      </a:lt1>
      <a:dk2>
        <a:srgbClr val="2A1A00"/>
      </a:dk2>
      <a:lt2>
        <a:srgbClr val="F3F3F2"/>
      </a:lt2>
      <a:accent1>
        <a:srgbClr val="F8B323"/>
      </a:accent1>
      <a:accent2>
        <a:srgbClr val="656A59"/>
      </a:accent2>
      <a:accent3>
        <a:srgbClr val="46B2B5"/>
      </a:accent3>
      <a:accent4>
        <a:srgbClr val="8CAA7E"/>
      </a:accent4>
      <a:accent5>
        <a:srgbClr val="D36F68"/>
      </a:accent5>
      <a:accent6>
        <a:srgbClr val="826276"/>
      </a:accent6>
      <a:hlink>
        <a:srgbClr val="46B2B5"/>
      </a:hlink>
      <a:folHlink>
        <a:srgbClr val="A46694"/>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Badge">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12700" cap="flat" cmpd="sng" algn="in">
          <a:solidFill>
            <a:schemeClr val="phClr"/>
          </a:solidFill>
          <a:prstDash val="solid"/>
        </a:ln>
        <a:ln w="50800" cap="flat" cmpd="sng" algn="in">
          <a:solidFill>
            <a:schemeClr val="phClr"/>
          </a:solidFill>
          <a:prstDash val="solid"/>
        </a:ln>
      </a:lnStyleLst>
      <a:effectStyleLst>
        <a:effectStyle>
          <a:effectLst/>
        </a:effectStyle>
        <a:effectStyle>
          <a:effectLst/>
        </a:effectStyle>
        <a:effectStyle>
          <a:effectLst>
            <a:outerShdw blurRad="38100" dist="25400" dir="5400000" algn="ctr" rotWithShape="0">
              <a:srgbClr val="000000">
                <a:alpha val="2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adge" id="{71A07785-5930-41D4-9A83-E23602B48E98}" vid="{771EA782-DFA6-45B1-AEA3-661F1715B310}"/>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TM10001106[[fn=Badge]]</Template>
  <TotalTime>20959</TotalTime>
  <Words>2984</Words>
  <Application>Microsoft Office PowerPoint</Application>
  <PresentationFormat>Widescreen</PresentationFormat>
  <Paragraphs>333</Paragraphs>
  <Slides>43</Slides>
  <Notes>13</Notes>
  <HiddenSlides>0</HiddenSlides>
  <MMClips>0</MMClips>
  <ScaleCrop>false</ScaleCrop>
  <HeadingPairs>
    <vt:vector size="8" baseType="variant">
      <vt:variant>
        <vt:lpstr>Fonts Used</vt:lpstr>
      </vt:variant>
      <vt:variant>
        <vt:i4>10</vt:i4>
      </vt:variant>
      <vt:variant>
        <vt:lpstr>Theme</vt:lpstr>
      </vt:variant>
      <vt:variant>
        <vt:i4>2</vt:i4>
      </vt:variant>
      <vt:variant>
        <vt:lpstr>Embedded OLE Servers</vt:lpstr>
      </vt:variant>
      <vt:variant>
        <vt:i4>1</vt:i4>
      </vt:variant>
      <vt:variant>
        <vt:lpstr>Slide Titles</vt:lpstr>
      </vt:variant>
      <vt:variant>
        <vt:i4>43</vt:i4>
      </vt:variant>
    </vt:vector>
  </HeadingPairs>
  <TitlesOfParts>
    <vt:vector size="56" baseType="lpstr">
      <vt:lpstr>Arial</vt:lpstr>
      <vt:lpstr>Calibri</vt:lpstr>
      <vt:lpstr>Calibri Light</vt:lpstr>
      <vt:lpstr>Constantia</vt:lpstr>
      <vt:lpstr>Courier New</vt:lpstr>
      <vt:lpstr>Georgia</vt:lpstr>
      <vt:lpstr>Gill Sans MT</vt:lpstr>
      <vt:lpstr>Monotype Sorts</vt:lpstr>
      <vt:lpstr>MS Mincho</vt:lpstr>
      <vt:lpstr>Times New Roman</vt:lpstr>
      <vt:lpstr>Badge</vt:lpstr>
      <vt:lpstr>1_Office Theme</vt:lpstr>
      <vt:lpstr>Package</vt:lpstr>
      <vt:lpstr>Stack &amp; Queue</vt:lpstr>
      <vt:lpstr>Stack Data Structure</vt:lpstr>
      <vt:lpstr>Stack Data Structure</vt:lpstr>
      <vt:lpstr>Stack Data 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Stack implementation using Array</vt:lpstr>
      <vt:lpstr>Stack implementation using linked list</vt:lpstr>
      <vt:lpstr>The Polish Notation</vt:lpstr>
      <vt:lpstr>Infix  Notation</vt:lpstr>
      <vt:lpstr>Prefix Notation</vt:lpstr>
      <vt:lpstr>Postfix Notation</vt:lpstr>
      <vt:lpstr>PowerPoint Presentation</vt:lpstr>
      <vt:lpstr>Parentheses</vt:lpstr>
      <vt:lpstr>What about Prefix Notation?</vt:lpstr>
      <vt:lpstr>Postfix Notation</vt:lpstr>
      <vt:lpstr>Conclusion:</vt:lpstr>
      <vt:lpstr>Fully Parenthesized Expression</vt:lpstr>
      <vt:lpstr>PowerPoint Presentation</vt:lpstr>
      <vt:lpstr>PowerPoint Presentation</vt:lpstr>
      <vt:lpstr>PowerPoint Presentation</vt:lpstr>
      <vt:lpstr>PowerPoint Presentation</vt:lpstr>
      <vt:lpstr>Infix to Postfix conversion</vt:lpstr>
      <vt:lpstr>Operator precedence table</vt:lpstr>
      <vt:lpstr>Infix to Postfix conversion and  Postfix expression evaluation</vt:lpstr>
      <vt:lpstr>PowerPoint Presentation</vt:lpstr>
      <vt:lpstr>PowerPoint Presentation</vt:lpstr>
      <vt:lpstr>PowerPoint Presentation</vt:lpstr>
      <vt:lpstr>                        Example: postfix expressions (cont.)</vt:lpstr>
      <vt:lpstr>Postfix  expressions: Algorithm using stacks (cont.)</vt:lpstr>
      <vt:lpstr>PowerPoint Presentation</vt:lpstr>
      <vt:lpstr>Infix to Prefix</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Deepa Joshi</dc:creator>
  <cp:lastModifiedBy>Shahina Anwarul</cp:lastModifiedBy>
  <cp:revision>358</cp:revision>
  <dcterms:created xsi:type="dcterms:W3CDTF">2017-11-09T22:54:09Z</dcterms:created>
  <dcterms:modified xsi:type="dcterms:W3CDTF">2026-03-03T06:48:07Z</dcterms:modified>
</cp:coreProperties>
</file>