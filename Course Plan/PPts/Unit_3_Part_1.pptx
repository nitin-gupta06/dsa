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2"/>
  </p:sldMasterIdLst>
  <p:notesMasterIdLst>
    <p:notesMasterId r:id="rId46"/>
  </p:notesMasterIdLst>
  <p:sldIdLst>
    <p:sldId id="256" r:id="rId3"/>
    <p:sldId id="286" r:id="rId4"/>
    <p:sldId id="287" r:id="rId5"/>
    <p:sldId id="288" r:id="rId6"/>
    <p:sldId id="319" r:id="rId7"/>
    <p:sldId id="320" r:id="rId8"/>
    <p:sldId id="330" r:id="rId9"/>
    <p:sldId id="331" r:id="rId10"/>
    <p:sldId id="332" r:id="rId11"/>
    <p:sldId id="333" r:id="rId12"/>
    <p:sldId id="334" r:id="rId13"/>
    <p:sldId id="335" r:id="rId14"/>
    <p:sldId id="336" r:id="rId15"/>
    <p:sldId id="337" r:id="rId16"/>
    <p:sldId id="289" r:id="rId17"/>
    <p:sldId id="290" r:id="rId18"/>
    <p:sldId id="312" r:id="rId19"/>
    <p:sldId id="297" r:id="rId20"/>
    <p:sldId id="298" r:id="rId21"/>
    <p:sldId id="299" r:id="rId22"/>
    <p:sldId id="353" r:id="rId23"/>
    <p:sldId id="301" r:id="rId24"/>
    <p:sldId id="302" r:id="rId25"/>
    <p:sldId id="303" r:id="rId26"/>
    <p:sldId id="304" r:id="rId27"/>
    <p:sldId id="305" r:id="rId28"/>
    <p:sldId id="339" r:id="rId29"/>
    <p:sldId id="340" r:id="rId30"/>
    <p:sldId id="341" r:id="rId31"/>
    <p:sldId id="342" r:id="rId32"/>
    <p:sldId id="294" r:id="rId33"/>
    <p:sldId id="295" r:id="rId34"/>
    <p:sldId id="296" r:id="rId35"/>
    <p:sldId id="343" r:id="rId36"/>
    <p:sldId id="344" r:id="rId37"/>
    <p:sldId id="345" r:id="rId38"/>
    <p:sldId id="348" r:id="rId39"/>
    <p:sldId id="349" r:id="rId40"/>
    <p:sldId id="346" r:id="rId41"/>
    <p:sldId id="313" r:id="rId42"/>
    <p:sldId id="354" r:id="rId43"/>
    <p:sldId id="352" r:id="rId44"/>
    <p:sldId id="35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221" autoAdjust="0"/>
    <p:restoredTop sz="78059" autoAdjust="0"/>
  </p:normalViewPr>
  <p:slideViewPr>
    <p:cSldViewPr snapToGrid="0">
      <p:cViewPr varScale="1">
        <p:scale>
          <a:sx n="65" d="100"/>
          <a:sy n="65" d="100"/>
        </p:scale>
        <p:origin x="14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91EB-9D04-4B2B-A8EC-C26057F35368}"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AF083-6659-4761-8DBD-F9B281D98BC7}" type="slidenum">
              <a:rPr lang="en-US" smtClean="0"/>
              <a:t>‹#›</a:t>
            </a:fld>
            <a:endParaRPr lang="en-US"/>
          </a:p>
        </p:txBody>
      </p:sp>
    </p:spTree>
    <p:extLst>
      <p:ext uri="{BB962C8B-B14F-4D97-AF65-F5344CB8AC3E}">
        <p14:creationId xmlns:p14="http://schemas.microsoft.com/office/powerpoint/2010/main" val="25034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https://www.w3resource.com/c-programming-exercises/linked_list/index.php</a:t>
            </a:r>
          </a:p>
          <a:p>
            <a:r>
              <a:rPr lang="en-US" smtClean="0"/>
              <a:t>http://www.ggu.ac.in/download/IT/Inf%20Tech%20Pankaj%20Chandra%20B%20Tech%20%20IV%20Data%20Structure%20-%20Model%20Answer.pdf</a:t>
            </a: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1</a:t>
            </a:fld>
            <a:endParaRPr lang="en-US"/>
          </a:p>
        </p:txBody>
      </p:sp>
    </p:spTree>
    <p:extLst>
      <p:ext uri="{BB962C8B-B14F-4D97-AF65-F5344CB8AC3E}">
        <p14:creationId xmlns:p14="http://schemas.microsoft.com/office/powerpoint/2010/main" val="139656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E85B4E-51C8-4C3F-82BD-D463E658C73A}" type="slidenum">
              <a:rPr lang="en-US" altLang="en-US"/>
              <a:pPr/>
              <a:t>18</a:t>
            </a:fld>
            <a:endParaRPr lang="en-US" alt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D78480-5954-42EA-98A4-9C86BAE96881}" type="slidenum">
              <a:rPr lang="en-US" altLang="en-US"/>
              <a:pPr/>
              <a:t>19</a:t>
            </a:fld>
            <a:endParaRPr lang="en-US" altLang="en-US"/>
          </a:p>
        </p:txBody>
      </p:sp>
      <p:sp>
        <p:nvSpPr>
          <p:cNvPr id="18434" name="Rectangle 1026"/>
          <p:cNvSpPr>
            <a:spLocks noGrp="1" noRot="1" noChangeAspect="1" noChangeArrowheads="1" noTextEdit="1"/>
          </p:cNvSpPr>
          <p:nvPr>
            <p:ph type="sldImg"/>
          </p:nvPr>
        </p:nvSpPr>
        <p:spPr>
          <a:ln/>
        </p:spPr>
      </p:sp>
      <p:sp>
        <p:nvSpPr>
          <p:cNvPr id="18435" name="Rectangle 1027"/>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EDAA77-F85C-43D8-92D0-0ACB23101928}" type="slidenum">
              <a:rPr lang="en-US" altLang="en-US"/>
              <a:pPr/>
              <a:t>20</a:t>
            </a:fld>
            <a:endParaRPr lang="en-US" altLang="en-US"/>
          </a:p>
        </p:txBody>
      </p:sp>
      <p:sp>
        <p:nvSpPr>
          <p:cNvPr id="19458" name="Rectangle 1026"/>
          <p:cNvSpPr>
            <a:spLocks noGrp="1" noRot="1" noChangeAspect="1" noChangeArrowheads="1" noTextEdit="1"/>
          </p:cNvSpPr>
          <p:nvPr>
            <p:ph type="sldImg"/>
          </p:nvPr>
        </p:nvSpPr>
        <p:spPr>
          <a:ln/>
        </p:spPr>
      </p:sp>
      <p:sp>
        <p:nvSpPr>
          <p:cNvPr id="19459" name="Rectangle 1027"/>
          <p:cNvSpPr>
            <a:spLocks noGrp="1" noChangeArrowheads="1"/>
          </p:cNvSpPr>
          <p:nvPr>
            <p:ph type="body" idx="1"/>
          </p:nvPr>
        </p:nvSpPr>
        <p:spPr/>
        <p:txBody>
          <a:bodyPr/>
          <a:lstStyle/>
          <a:p>
            <a:r>
              <a:rPr lang="en-US" altLang="en-US"/>
              <a:t>"A,B are multiplied"</a:t>
            </a:r>
          </a:p>
          <a:p>
            <a:r>
              <a:rPr lang="en-US" altLang="en-US"/>
              <a:t>"A,B are added"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3A6B4C-BAE6-47F0-BCDB-C5CFAE925341}" type="slidenum">
              <a:rPr lang="en-US" altLang="en-US"/>
              <a:pPr/>
              <a:t>22</a:t>
            </a:fld>
            <a:endParaRPr lang="en-US" altLang="en-US"/>
          </a:p>
        </p:txBody>
      </p:sp>
      <p:sp>
        <p:nvSpPr>
          <p:cNvPr id="21506" name="Rectangle 1026"/>
          <p:cNvSpPr>
            <a:spLocks noGrp="1" noRot="1" noChangeAspect="1" noChangeArrowheads="1" noTextEdit="1"/>
          </p:cNvSpPr>
          <p:nvPr>
            <p:ph type="sldImg"/>
          </p:nvPr>
        </p:nvSpPr>
        <p:spPr>
          <a:ln/>
        </p:spPr>
      </p:sp>
      <p:sp>
        <p:nvSpPr>
          <p:cNvPr id="21507" name="Rectangle 1027"/>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D475C9-4B13-4314-A537-D4BE39E00BA9}" type="slidenum">
              <a:rPr lang="en-US" altLang="en-US"/>
              <a:pPr/>
              <a:t>23</a:t>
            </a:fld>
            <a:endParaRPr lang="en-US" alt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2EA19-3B65-441C-994F-A2F65344B5D4}" type="slidenum">
              <a:rPr lang="en-US" altLang="en-US"/>
              <a:pPr/>
              <a:t>24</a:t>
            </a:fld>
            <a:endParaRPr lang="en-US" alt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9F603A-09FB-4975-8A9B-E7C798656BCC}" type="slidenum">
              <a:rPr lang="en-US" altLang="en-US"/>
              <a:pPr/>
              <a:t>25</a:t>
            </a:fld>
            <a:endParaRPr lang="en-US" alt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EC442B-61E6-42E6-8EC2-AC6AE491F82F}" type="slidenum">
              <a:rPr lang="en-US" altLang="en-US"/>
              <a:pPr/>
              <a:t>26</a:t>
            </a:fld>
            <a:endParaRPr lang="en-US" alt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http://csis.pace.edu/~wolf/CS122/exexpans.html</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31</a:t>
            </a:fld>
            <a:endParaRPr lang="en-US"/>
          </a:p>
        </p:txBody>
      </p:sp>
    </p:spTree>
    <p:extLst>
      <p:ext uri="{BB962C8B-B14F-4D97-AF65-F5344CB8AC3E}">
        <p14:creationId xmlns:p14="http://schemas.microsoft.com/office/powerpoint/2010/main" val="1228826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http://csis.pace.edu/~wolf/CS122/exexpans.html</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32</a:t>
            </a:fld>
            <a:endParaRPr lang="en-US"/>
          </a:p>
        </p:txBody>
      </p:sp>
    </p:spTree>
    <p:extLst>
      <p:ext uri="{BB962C8B-B14F-4D97-AF65-F5344CB8AC3E}">
        <p14:creationId xmlns:p14="http://schemas.microsoft.com/office/powerpoint/2010/main" val="2205656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http://csis.pace.edu/~wolf/CS122/exexpans.html</a:t>
            </a:r>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33</a:t>
            </a:fld>
            <a:endParaRPr lang="en-US"/>
          </a:p>
        </p:txBody>
      </p:sp>
    </p:spTree>
    <p:extLst>
      <p:ext uri="{BB962C8B-B14F-4D97-AF65-F5344CB8AC3E}">
        <p14:creationId xmlns:p14="http://schemas.microsoft.com/office/powerpoint/2010/main" val="2324022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41</a:t>
            </a:fld>
            <a:endParaRPr lang="en-US"/>
          </a:p>
        </p:txBody>
      </p:sp>
    </p:spTree>
    <p:extLst>
      <p:ext uri="{BB962C8B-B14F-4D97-AF65-F5344CB8AC3E}">
        <p14:creationId xmlns:p14="http://schemas.microsoft.com/office/powerpoint/2010/main" val="164695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3126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251678" y="1506829"/>
            <a:ext cx="10178322" cy="5214646"/>
          </a:xfrm>
        </p:spPr>
        <p:txBody>
          <a:bodyPr>
            <a:normAutofit/>
          </a:bodyPr>
          <a:lstStyle>
            <a:lvl1pPr>
              <a:defRPr sz="1800">
                <a:latin typeface="Georgia" panose="02040502050405020303" pitchFamily="18" charset="0"/>
              </a:defRPr>
            </a:lvl1pPr>
            <a:lvl2pPr>
              <a:defRPr sz="1800">
                <a:latin typeface="Georgia" panose="02040502050405020303" pitchFamily="18" charset="0"/>
              </a:defRPr>
            </a:lvl2pPr>
            <a:lvl3pPr>
              <a:defRPr sz="1800">
                <a:latin typeface="Georgia" panose="02040502050405020303" pitchFamily="18" charset="0"/>
              </a:defRPr>
            </a:lvl3pPr>
            <a:lvl4pPr>
              <a:defRPr sz="1800">
                <a:latin typeface="Georgia" panose="02040502050405020303" pitchFamily="18" charset="0"/>
              </a:defRPr>
            </a:lvl4pPr>
            <a:lvl5pPr>
              <a:defRPr sz="1800">
                <a:latin typeface="Georgia" panose="02040502050405020303" pitchFamily="18"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2024</a:t>
            </a:r>
          </a:p>
        </p:txBody>
      </p:sp>
      <p:sp>
        <p:nvSpPr>
          <p:cNvPr id="3" name="Footer Placeholder 2"/>
          <p:cNvSpPr>
            <a:spLocks noGrp="1"/>
          </p:cNvSpPr>
          <p:nvPr>
            <p:ph type="ftr" sz="quarter" idx="11"/>
          </p:nvPr>
        </p:nvSpPr>
        <p:spPr/>
        <p:txBody>
          <a:bodyPr/>
          <a:lstStyle/>
          <a:p>
            <a:r>
              <a:rPr lang="en-US"/>
              <a:t>Data Structures and Algorithms</a:t>
            </a:r>
          </a:p>
        </p:txBody>
      </p:sp>
      <p:sp>
        <p:nvSpPr>
          <p:cNvPr id="4" name="Slide Number Placeholder 3"/>
          <p:cNvSpPr>
            <a:spLocks noGrp="1"/>
          </p:cNvSpPr>
          <p:nvPr>
            <p:ph type="sldNum" sz="quarter" idx="12"/>
          </p:nvPr>
        </p:nvSpPr>
        <p:spPr/>
        <p:txBody>
          <a:bodyPr/>
          <a:lstStyle/>
          <a:p>
            <a:fld id="{EB1023CF-B329-E444-9BAC-9F50F1C2498A}" type="slidenum">
              <a:rPr lang="en-US" smtClean="0"/>
              <a:pPr/>
              <a:t>‹#›</a:t>
            </a:fld>
            <a:endParaRPr lang="en-US"/>
          </a:p>
        </p:txBody>
      </p:sp>
      <p:sp>
        <p:nvSpPr>
          <p:cNvPr id="5" name="Title Placeholder 1">
            <a:extLst>
              <a:ext uri="{FF2B5EF4-FFF2-40B4-BE49-F238E27FC236}">
                <a16:creationId xmlns:a16="http://schemas.microsoft.com/office/drawing/2014/main" id="{7E9BCB5A-9765-46B3-8024-522FDFBD4395}"/>
              </a:ext>
            </a:extLst>
          </p:cNvPr>
          <p:cNvSpPr>
            <a:spLocks noGrp="1"/>
          </p:cNvSpPr>
          <p:nvPr>
            <p:ph type="title"/>
          </p:nvPr>
        </p:nvSpPr>
        <p:spPr>
          <a:xfrm>
            <a:off x="762000" y="427039"/>
            <a:ext cx="10972800" cy="1143000"/>
          </a:xfrm>
          <a:prstGeom prst="rect">
            <a:avLst/>
          </a:prstGeom>
        </p:spPr>
        <p:txBody>
          <a:bodyPr vert="horz" lIns="91438" tIns="45719" rIns="91438" bIns="45719" rtlCol="0" anchor="ctr">
            <a:normAutofit/>
          </a:bodyPr>
          <a:lstStyle/>
          <a:p>
            <a:r>
              <a:rPr lang="en-US" dirty="0"/>
              <a:t>Click to edit Master title style</a:t>
            </a:r>
          </a:p>
        </p:txBody>
      </p:sp>
      <p:sp>
        <p:nvSpPr>
          <p:cNvPr id="6" name="Text Placeholder 2">
            <a:extLst>
              <a:ext uri="{FF2B5EF4-FFF2-40B4-BE49-F238E27FC236}">
                <a16:creationId xmlns:a16="http://schemas.microsoft.com/office/drawing/2014/main" id="{ABC7395B-BA29-4C79-BEEB-EE53CCFC2685}"/>
              </a:ext>
            </a:extLst>
          </p:cNvPr>
          <p:cNvSpPr>
            <a:spLocks noGrp="1"/>
          </p:cNvSpPr>
          <p:nvPr>
            <p:ph idx="1" hasCustomPrompt="1"/>
          </p:nvPr>
        </p:nvSpPr>
        <p:spPr>
          <a:xfrm>
            <a:off x="762000" y="1752601"/>
            <a:ext cx="10972800" cy="4525963"/>
          </a:xfrm>
          <a:prstGeom prst="rect">
            <a:avLst/>
          </a:prstGeom>
        </p:spPr>
        <p:txBody>
          <a:bodyPr vert="horz" lIns="91438" tIns="45719" rIns="91438" bIns="45719" rtlCol="0">
            <a:normAutofit/>
          </a:bodyPr>
          <a:lstStyle>
            <a:lvl1pPr>
              <a:defRPr/>
            </a:lvl1pPr>
          </a:lstStyle>
          <a:p>
            <a:pPr lvl="0"/>
            <a:r>
              <a:rPr lang="en-US" dirty="0"/>
              <a:t>Text</a:t>
            </a:r>
          </a:p>
        </p:txBody>
      </p:sp>
      <p:sp>
        <p:nvSpPr>
          <p:cNvPr id="8" name="Slide Number Placeholder 5">
            <a:extLst>
              <a:ext uri="{FF2B5EF4-FFF2-40B4-BE49-F238E27FC236}">
                <a16:creationId xmlns:a16="http://schemas.microsoft.com/office/drawing/2014/main" id="{6A950C3E-4668-4901-9878-0DF46FD8E602}"/>
              </a:ext>
            </a:extLst>
          </p:cNvPr>
          <p:cNvSpPr txBox="1">
            <a:spLocks/>
          </p:cNvSpPr>
          <p:nvPr userDrawn="1"/>
        </p:nvSpPr>
        <p:spPr>
          <a:xfrm>
            <a:off x="8890000" y="6508752"/>
            <a:ext cx="2844800" cy="365125"/>
          </a:xfrm>
          <a:prstGeom prst="rect">
            <a:avLst/>
          </a:prstGeom>
        </p:spPr>
        <p:txBody>
          <a:bodyPr vert="horz" lIns="91438" tIns="45719" rIns="91438" bIns="45719" rtlCol="0" anchor="ctr"/>
          <a:lstStyle>
            <a:defPPr>
              <a:defRPr lang="en-US"/>
            </a:defPPr>
            <a:lvl1pPr marL="0" algn="r" defTabSz="457189" rtl="0" eaLnBrk="1" latinLnBrk="0" hangingPunct="1">
              <a:defRPr sz="1200" kern="1200">
                <a:solidFill>
                  <a:schemeClr val="tx1">
                    <a:tint val="75000"/>
                  </a:schemeClr>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a:lstStyle>
          <a:p>
            <a:fld id="{EB1023CF-B329-E444-9BAC-9F50F1C2498A}" type="slidenum">
              <a:rPr lang="en-US" smtClean="0"/>
              <a:pPr/>
              <a:t>‹#›</a:t>
            </a:fld>
            <a:endParaRPr lang="en-US"/>
          </a:p>
        </p:txBody>
      </p:sp>
    </p:spTree>
    <p:extLst>
      <p:ext uri="{BB962C8B-B14F-4D97-AF65-F5344CB8AC3E}">
        <p14:creationId xmlns:p14="http://schemas.microsoft.com/office/powerpoint/2010/main" val="4232585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r>
              <a:rPr lang="en-US"/>
              <a:t>2024</a:t>
            </a:r>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r>
              <a:rPr lang="en-US"/>
              <a:t>Data Structures and Algorithms</a:t>
            </a:r>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33433089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532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2024</a:t>
            </a:r>
          </a:p>
        </p:txBody>
      </p:sp>
      <p:sp>
        <p:nvSpPr>
          <p:cNvPr id="3" name="Footer Placeholder 2"/>
          <p:cNvSpPr>
            <a:spLocks noGrp="1"/>
          </p:cNvSpPr>
          <p:nvPr>
            <p:ph type="ftr" sz="quarter" idx="11"/>
          </p:nvPr>
        </p:nvSpPr>
        <p:spPr/>
        <p:txBody>
          <a:bodyPr/>
          <a:lstStyle/>
          <a:p>
            <a:r>
              <a:rPr lang="en-US"/>
              <a:t>Data Structures and Algorithms</a:t>
            </a:r>
          </a:p>
        </p:txBody>
      </p:sp>
      <p:sp>
        <p:nvSpPr>
          <p:cNvPr id="4" name="Slide Number Placeholder 3"/>
          <p:cNvSpPr>
            <a:spLocks noGrp="1"/>
          </p:cNvSpPr>
          <p:nvPr>
            <p:ph type="sldNum" sz="quarter" idx="12"/>
          </p:nvPr>
        </p:nvSpPr>
        <p:spPr/>
        <p:txBody>
          <a:bodyPr/>
          <a:lstStyle/>
          <a:p>
            <a:fld id="{EB1023CF-B329-E444-9BAC-9F50F1C2498A}" type="slidenum">
              <a:rPr lang="en-US" smtClean="0"/>
              <a:pPr/>
              <a:t>‹#›</a:t>
            </a:fld>
            <a:endParaRPr lang="en-US"/>
          </a:p>
        </p:txBody>
      </p:sp>
      <p:sp>
        <p:nvSpPr>
          <p:cNvPr id="5" name="Title Placeholder 1">
            <a:extLst>
              <a:ext uri="{FF2B5EF4-FFF2-40B4-BE49-F238E27FC236}">
                <a16:creationId xmlns:a16="http://schemas.microsoft.com/office/drawing/2014/main" id="{7E9BCB5A-9765-46B3-8024-522FDFBD4395}"/>
              </a:ext>
            </a:extLst>
          </p:cNvPr>
          <p:cNvSpPr>
            <a:spLocks noGrp="1"/>
          </p:cNvSpPr>
          <p:nvPr>
            <p:ph type="title"/>
          </p:nvPr>
        </p:nvSpPr>
        <p:spPr>
          <a:xfrm>
            <a:off x="762000" y="427039"/>
            <a:ext cx="10972800" cy="1143000"/>
          </a:xfrm>
          <a:prstGeom prst="rect">
            <a:avLst/>
          </a:prstGeom>
        </p:spPr>
        <p:txBody>
          <a:bodyPr vert="horz" lIns="91438" tIns="45719" rIns="91438" bIns="45719" rtlCol="0" anchor="ctr">
            <a:normAutofit/>
          </a:bodyPr>
          <a:lstStyle/>
          <a:p>
            <a:r>
              <a:rPr lang="en-US" dirty="0"/>
              <a:t>Click to edit Master title style</a:t>
            </a:r>
          </a:p>
        </p:txBody>
      </p:sp>
      <p:sp>
        <p:nvSpPr>
          <p:cNvPr id="6" name="Text Placeholder 2">
            <a:extLst>
              <a:ext uri="{FF2B5EF4-FFF2-40B4-BE49-F238E27FC236}">
                <a16:creationId xmlns:a16="http://schemas.microsoft.com/office/drawing/2014/main" id="{ABC7395B-BA29-4C79-BEEB-EE53CCFC2685}"/>
              </a:ext>
            </a:extLst>
          </p:cNvPr>
          <p:cNvSpPr>
            <a:spLocks noGrp="1"/>
          </p:cNvSpPr>
          <p:nvPr>
            <p:ph idx="1" hasCustomPrompt="1"/>
          </p:nvPr>
        </p:nvSpPr>
        <p:spPr>
          <a:xfrm>
            <a:off x="762000" y="1752601"/>
            <a:ext cx="10972800" cy="4525963"/>
          </a:xfrm>
          <a:prstGeom prst="rect">
            <a:avLst/>
          </a:prstGeom>
        </p:spPr>
        <p:txBody>
          <a:bodyPr vert="horz" lIns="91438" tIns="45719" rIns="91438" bIns="45719" rtlCol="0">
            <a:normAutofit/>
          </a:bodyPr>
          <a:lstStyle>
            <a:lvl1pPr>
              <a:defRPr/>
            </a:lvl1pPr>
          </a:lstStyle>
          <a:p>
            <a:pPr lvl="0"/>
            <a:r>
              <a:rPr lang="en-US" dirty="0"/>
              <a:t>Text</a:t>
            </a:r>
          </a:p>
        </p:txBody>
      </p:sp>
      <p:sp>
        <p:nvSpPr>
          <p:cNvPr id="8" name="Slide Number Placeholder 5">
            <a:extLst>
              <a:ext uri="{FF2B5EF4-FFF2-40B4-BE49-F238E27FC236}">
                <a16:creationId xmlns:a16="http://schemas.microsoft.com/office/drawing/2014/main" id="{6A950C3E-4668-4901-9878-0DF46FD8E602}"/>
              </a:ext>
            </a:extLst>
          </p:cNvPr>
          <p:cNvSpPr txBox="1">
            <a:spLocks/>
          </p:cNvSpPr>
          <p:nvPr userDrawn="1"/>
        </p:nvSpPr>
        <p:spPr>
          <a:xfrm>
            <a:off x="8890000" y="6508752"/>
            <a:ext cx="2844800" cy="365125"/>
          </a:xfrm>
          <a:prstGeom prst="rect">
            <a:avLst/>
          </a:prstGeom>
        </p:spPr>
        <p:txBody>
          <a:bodyPr vert="horz" lIns="91438" tIns="45719" rIns="91438" bIns="45719" rtlCol="0" anchor="ctr"/>
          <a:lstStyle>
            <a:defPPr>
              <a:defRPr lang="en-US"/>
            </a:defPPr>
            <a:lvl1pPr marL="0" algn="r" defTabSz="457189" rtl="0" eaLnBrk="1" latinLnBrk="0" hangingPunct="1">
              <a:defRPr sz="1200" kern="1200">
                <a:solidFill>
                  <a:schemeClr val="tx1">
                    <a:tint val="75000"/>
                  </a:schemeClr>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a:lstStyle>
          <a:p>
            <a:fld id="{EB1023CF-B329-E444-9BAC-9F50F1C2498A}" type="slidenum">
              <a:rPr lang="en-US" smtClean="0"/>
              <a:pPr/>
              <a:t>‹#›</a:t>
            </a:fld>
            <a:endParaRPr lang="en-US"/>
          </a:p>
        </p:txBody>
      </p:sp>
    </p:spTree>
    <p:extLst>
      <p:ext uri="{BB962C8B-B14F-4D97-AF65-F5344CB8AC3E}">
        <p14:creationId xmlns:p14="http://schemas.microsoft.com/office/powerpoint/2010/main" val="2962639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6F06934-40D6-139A-9D30-3EE88EA39AD4}"/>
              </a:ext>
            </a:extLst>
          </p:cNvPr>
          <p:cNvSpPr>
            <a:spLocks noGrp="1" noChangeArrowheads="1"/>
          </p:cNvSpPr>
          <p:nvPr>
            <p:ph type="sldNum" sz="quarter" idx="10"/>
          </p:nvPr>
        </p:nvSpPr>
        <p:spPr/>
        <p:txBody>
          <a:bodyPr/>
          <a:lstStyle>
            <a:lvl1pPr>
              <a:defRPr/>
            </a:lvl1pPr>
          </a:lstStyle>
          <a:p>
            <a:fld id="{B104788A-CE21-4633-BC6D-82D49D694E0F}" type="slidenum">
              <a:rPr lang="en-US" altLang="en-US"/>
              <a:pPr/>
              <a:t>‹#›</a:t>
            </a:fld>
            <a:endParaRPr lang="en-US" altLang="en-US"/>
          </a:p>
        </p:txBody>
      </p:sp>
    </p:spTree>
    <p:extLst>
      <p:ext uri="{BB962C8B-B14F-4D97-AF65-F5344CB8AC3E}">
        <p14:creationId xmlns:p14="http://schemas.microsoft.com/office/powerpoint/2010/main" val="22696795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F26AA9-FF37-1D12-F055-BDCD7AE05708}"/>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651D26DA-F837-A803-D2F8-8B7A04BC9C4A}"/>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B02360A2-2BC8-23CB-AEEA-F5952F6CB9AE}"/>
              </a:ext>
            </a:extLst>
          </p:cNvPr>
          <p:cNvSpPr>
            <a:spLocks noGrp="1"/>
          </p:cNvSpPr>
          <p:nvPr>
            <p:ph type="sldNum" sz="quarter" idx="12"/>
          </p:nvPr>
        </p:nvSpPr>
        <p:spPr/>
        <p:txBody>
          <a:bodyPr/>
          <a:lstStyle>
            <a:lvl1pPr>
              <a:defRPr/>
            </a:lvl1pPr>
          </a:lstStyle>
          <a:p>
            <a:fld id="{B6F51C61-A0C9-418C-B928-49BFD96D270F}" type="slidenum">
              <a:rPr lang="en-US" altLang="en-US"/>
              <a:pPr/>
              <a:t>‹#›</a:t>
            </a:fld>
            <a:endParaRPr lang="en-US" altLang="en-US"/>
          </a:p>
        </p:txBody>
      </p:sp>
    </p:spTree>
    <p:extLst>
      <p:ext uri="{BB962C8B-B14F-4D97-AF65-F5344CB8AC3E}">
        <p14:creationId xmlns:p14="http://schemas.microsoft.com/office/powerpoint/2010/main" val="8478284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34C58-4249-6760-B233-285D3C98F0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528CF1-6ED8-4A06-A906-43C2758809D8}"/>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9E6A55A7-0BB1-945B-E7B1-1F0FE60C4FD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D4A6D43B-79E4-9430-0A15-26085912CD9D}"/>
              </a:ext>
            </a:extLst>
          </p:cNvPr>
          <p:cNvSpPr>
            <a:spLocks noGrp="1"/>
          </p:cNvSpPr>
          <p:nvPr>
            <p:ph type="sldNum" sz="quarter" idx="12"/>
          </p:nvPr>
        </p:nvSpPr>
        <p:spPr/>
        <p:txBody>
          <a:bodyPr/>
          <a:lstStyle>
            <a:lvl1pPr>
              <a:defRPr/>
            </a:lvl1pPr>
          </a:lstStyle>
          <a:p>
            <a:fld id="{17C0A65D-6B44-4D17-8ED3-32710F24ED68}" type="slidenum">
              <a:rPr lang="en-US" altLang="en-US"/>
              <a:pPr/>
              <a:t>‹#›</a:t>
            </a:fld>
            <a:endParaRPr lang="en-US" altLang="en-US"/>
          </a:p>
        </p:txBody>
      </p:sp>
    </p:spTree>
    <p:extLst>
      <p:ext uri="{BB962C8B-B14F-4D97-AF65-F5344CB8AC3E}">
        <p14:creationId xmlns:p14="http://schemas.microsoft.com/office/powerpoint/2010/main" val="42822734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3B9EA5-CE9A-4950-A80C-5ADF06B45BB8}" type="slidenum">
              <a:rPr lang="en-US" smtClean="0"/>
              <a:t>‹#›</a:t>
            </a:fld>
            <a:endParaRPr lang="en-US"/>
          </a:p>
        </p:txBody>
      </p:sp>
    </p:spTree>
    <p:extLst>
      <p:ext uri="{BB962C8B-B14F-4D97-AF65-F5344CB8AC3E}">
        <p14:creationId xmlns:p14="http://schemas.microsoft.com/office/powerpoint/2010/main" val="1509038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9"/>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760591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questions.examside.com/past-years/gate/question/pconsider-the-queues-qsub1sub-containing-four-element-gate-cse-theory-of-computation-finite-automata-and-regular-language-sozflytewkqwhc7j" TargetMode="External"/><Relationship Id="rId2" Type="http://schemas.openxmlformats.org/officeDocument/2006/relationships/hyperlink" Target="https://www.geeksforgeeks.org/data-structure-gq/top-mcqs-on-stack-data-strcuture-with-answers/" TargetMode="Externa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Stack &amp; Queue</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extLst>
      <p:ext uri="{BB962C8B-B14F-4D97-AF65-F5344CB8AC3E}">
        <p14:creationId xmlns:p14="http://schemas.microsoft.com/office/powerpoint/2010/main" val="4974354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Data Structure</a:t>
            </a:r>
          </a:p>
        </p:txBody>
      </p:sp>
      <p:sp>
        <p:nvSpPr>
          <p:cNvPr id="3" name="Content Placeholder 2"/>
          <p:cNvSpPr>
            <a:spLocks noGrp="1"/>
          </p:cNvSpPr>
          <p:nvPr>
            <p:ph idx="1"/>
          </p:nvPr>
        </p:nvSpPr>
        <p:spPr/>
        <p:txBody>
          <a:bodyPr/>
          <a:lstStyle/>
          <a:p>
            <a:pPr marL="0" indent="0">
              <a:buNone/>
            </a:pPr>
            <a:r>
              <a:rPr lang="en-US" dirty="0">
                <a:solidFill>
                  <a:schemeClr val="tx1"/>
                </a:solidFill>
              </a:rPr>
              <a:t>Stack is a linear data structure which follows a particular order in which the operations are performed. The order may be LIFO(Last In First Out) or FILO(First In Last Out</a:t>
            </a:r>
            <a:r>
              <a:rPr lang="en-US" dirty="0" smtClean="0">
                <a:solidFill>
                  <a:schemeClr val="tx1"/>
                </a:solidFill>
              </a:rPr>
              <a:t>).</a:t>
            </a:r>
          </a:p>
          <a:p>
            <a:pPr marL="0" indent="0" fontAlgn="base">
              <a:buNone/>
            </a:pPr>
            <a:r>
              <a:rPr lang="en-US" dirty="0">
                <a:solidFill>
                  <a:schemeClr val="tx1"/>
                </a:solidFill>
              </a:rPr>
              <a:t>Mainly the following </a:t>
            </a:r>
            <a:r>
              <a:rPr lang="en-US" dirty="0" smtClean="0">
                <a:solidFill>
                  <a:schemeClr val="tx1"/>
                </a:solidFill>
              </a:rPr>
              <a:t>basic </a:t>
            </a:r>
            <a:r>
              <a:rPr lang="en-US" dirty="0">
                <a:solidFill>
                  <a:schemeClr val="tx1"/>
                </a:solidFill>
              </a:rPr>
              <a:t>operations are performed in the stack:</a:t>
            </a:r>
          </a:p>
          <a:p>
            <a:pPr fontAlgn="base"/>
            <a:r>
              <a:rPr lang="en-US" b="1" dirty="0">
                <a:solidFill>
                  <a:schemeClr val="tx1"/>
                </a:solidFill>
              </a:rPr>
              <a:t>Push: </a:t>
            </a:r>
            <a:r>
              <a:rPr lang="en-US" dirty="0">
                <a:solidFill>
                  <a:schemeClr val="tx1"/>
                </a:solidFill>
              </a:rPr>
              <a:t>Adds an item in the stack. If the stack is full, then it is said to be an Overflow condition.</a:t>
            </a:r>
          </a:p>
          <a:p>
            <a:pPr fontAlgn="base"/>
            <a:r>
              <a:rPr lang="en-US" b="1" dirty="0">
                <a:solidFill>
                  <a:schemeClr val="tx1"/>
                </a:solidFill>
              </a:rPr>
              <a:t>Pop:</a:t>
            </a:r>
            <a:r>
              <a:rPr lang="en-US" dirty="0">
                <a:solidFill>
                  <a:schemeClr val="tx1"/>
                </a:solidFill>
              </a:rPr>
              <a:t> Removes an item from the stack. The items are popped in the reversed order in which they are pushed. If the stack is empty, then it is said to be an Underflow condition.</a:t>
            </a:r>
          </a:p>
          <a:p>
            <a:pPr fontAlgn="base"/>
            <a:r>
              <a:rPr lang="en-US" b="1" dirty="0">
                <a:solidFill>
                  <a:schemeClr val="tx1"/>
                </a:solidFill>
              </a:rPr>
              <a:t>Peek or Top</a:t>
            </a:r>
            <a:r>
              <a:rPr lang="en-US" dirty="0">
                <a:solidFill>
                  <a:schemeClr val="tx1"/>
                </a:solidFill>
              </a:rPr>
              <a:t>: Returns top element of stack.</a:t>
            </a:r>
          </a:p>
          <a:p>
            <a:pPr fontAlgn="base"/>
            <a:r>
              <a:rPr lang="en-US" b="1" dirty="0" err="1">
                <a:solidFill>
                  <a:schemeClr val="tx1"/>
                </a:solidFill>
              </a:rPr>
              <a:t>isEmpty</a:t>
            </a:r>
            <a:r>
              <a:rPr lang="en-US" b="1" dirty="0">
                <a:solidFill>
                  <a:schemeClr val="tx1"/>
                </a:solidFill>
              </a:rPr>
              <a:t>: </a:t>
            </a:r>
            <a:r>
              <a:rPr lang="en-US" dirty="0">
                <a:solidFill>
                  <a:schemeClr val="tx1"/>
                </a:solidFill>
              </a:rPr>
              <a:t>Returns true if stack is empty, else </a:t>
            </a:r>
            <a:r>
              <a:rPr lang="en-US" dirty="0" smtClean="0">
                <a:solidFill>
                  <a:schemeClr val="tx1"/>
                </a:solidFill>
              </a:rPr>
              <a:t>false.</a:t>
            </a:r>
          </a:p>
          <a:p>
            <a:pPr fontAlgn="base"/>
            <a:r>
              <a:rPr lang="en-US" b="1" dirty="0" err="1" smtClean="0">
                <a:solidFill>
                  <a:schemeClr val="tx1"/>
                </a:solidFill>
              </a:rPr>
              <a:t>Isfull</a:t>
            </a:r>
            <a:r>
              <a:rPr lang="en-US" b="1" dirty="0" smtClean="0">
                <a:solidFill>
                  <a:schemeClr val="tx1"/>
                </a:solidFill>
              </a:rPr>
              <a:t>: </a:t>
            </a:r>
            <a:r>
              <a:rPr lang="en-US" dirty="0">
                <a:solidFill>
                  <a:schemeClr val="tx1"/>
                </a:solidFill>
              </a:rPr>
              <a:t>Returns true if stack is </a:t>
            </a:r>
            <a:r>
              <a:rPr lang="en-US" dirty="0" smtClean="0">
                <a:solidFill>
                  <a:schemeClr val="tx1"/>
                </a:solidFill>
              </a:rPr>
              <a:t>full, </a:t>
            </a:r>
            <a:r>
              <a:rPr lang="en-US" dirty="0">
                <a:solidFill>
                  <a:schemeClr val="tx1"/>
                </a:solidFill>
              </a:rPr>
              <a:t>else false.</a:t>
            </a:r>
          </a:p>
          <a:p>
            <a:pPr fontAlgn="base"/>
            <a:endParaRPr lang="en-US" b="1" dirty="0" smtClean="0">
              <a:solidFill>
                <a:schemeClr val="tx1"/>
              </a:solidFill>
            </a:endParaRPr>
          </a:p>
          <a:p>
            <a:pPr marL="0" indent="0" fontAlgn="base">
              <a:buNone/>
            </a:pPr>
            <a:endParaRPr lang="en-US" dirty="0">
              <a:solidFill>
                <a:schemeClr val="tx1"/>
              </a:solidFill>
            </a:endParaRPr>
          </a:p>
          <a:p>
            <a:endParaRPr lang="en-US" dirty="0">
              <a:solidFill>
                <a:schemeClr val="tx1"/>
              </a:solidFill>
            </a:endParaRPr>
          </a:p>
        </p:txBody>
      </p:sp>
      <p:pic>
        <p:nvPicPr>
          <p:cNvPr id="4" name="Picture 3"/>
          <p:cNvPicPr>
            <a:picLocks noChangeAspect="1"/>
          </p:cNvPicPr>
          <p:nvPr/>
        </p:nvPicPr>
        <p:blipFill>
          <a:blip r:embed="rId2"/>
          <a:stretch>
            <a:fillRect/>
          </a:stretch>
        </p:blipFill>
        <p:spPr>
          <a:xfrm>
            <a:off x="2297486" y="5038725"/>
            <a:ext cx="6010275" cy="1541088"/>
          </a:xfrm>
          <a:prstGeom prst="rect">
            <a:avLst/>
          </a:prstGeom>
        </p:spPr>
      </p:pic>
    </p:spTree>
    <p:extLst>
      <p:ext uri="{BB962C8B-B14F-4D97-AF65-F5344CB8AC3E}">
        <p14:creationId xmlns:p14="http://schemas.microsoft.com/office/powerpoint/2010/main" val="19432620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Stack Data Structure</a:t>
            </a:r>
          </a:p>
        </p:txBody>
      </p:sp>
      <p:sp>
        <p:nvSpPr>
          <p:cNvPr id="3" name="Content Placeholder 2"/>
          <p:cNvSpPr>
            <a:spLocks noGrp="1"/>
          </p:cNvSpPr>
          <p:nvPr>
            <p:ph idx="1"/>
          </p:nvPr>
        </p:nvSpPr>
        <p:spPr/>
        <p:txBody>
          <a:bodyPr>
            <a:normAutofit/>
          </a:bodyPr>
          <a:lstStyle/>
          <a:p>
            <a:pPr marL="0" indent="0">
              <a:buNone/>
            </a:pPr>
            <a:r>
              <a:rPr lang="en-US" b="1" dirty="0">
                <a:solidFill>
                  <a:srgbClr val="002060"/>
                </a:solidFill>
              </a:rPr>
              <a:t>How to understand a stack practically?</a:t>
            </a:r>
            <a:r>
              <a:rPr lang="en-US" dirty="0">
                <a:solidFill>
                  <a:srgbClr val="002060"/>
                </a:solidFill>
              </a:rPr>
              <a:t/>
            </a:r>
            <a:br>
              <a:rPr lang="en-US" dirty="0">
                <a:solidFill>
                  <a:srgbClr val="002060"/>
                </a:solidFill>
              </a:rPr>
            </a:br>
            <a:r>
              <a:rPr lang="en-US" dirty="0">
                <a:solidFill>
                  <a:schemeClr val="tx1"/>
                </a:solidFill>
              </a:rPr>
              <a:t>There are many real life examples of stack. Consider the simple example of plates stacked over one another in canteen. The plate which is at the top is the first one to be removed, i.e. the plate which has been placed at the </a:t>
            </a:r>
            <a:r>
              <a:rPr lang="en-US" dirty="0" smtClean="0">
                <a:solidFill>
                  <a:schemeClr val="tx1"/>
                </a:solidFill>
              </a:rPr>
              <a:t>bottom most </a:t>
            </a:r>
            <a:r>
              <a:rPr lang="en-US" dirty="0">
                <a:solidFill>
                  <a:schemeClr val="tx1"/>
                </a:solidFill>
              </a:rPr>
              <a:t>position remains in the stack for the longest period of time. So, it can be simply seen to follow LIFO/FILO order</a:t>
            </a:r>
            <a:r>
              <a:rPr lang="en-US" dirty="0" smtClean="0">
                <a:solidFill>
                  <a:schemeClr val="tx1"/>
                </a:solidFill>
              </a:rPr>
              <a:t>.</a:t>
            </a:r>
          </a:p>
          <a:p>
            <a:pPr marL="0" indent="0" fontAlgn="base">
              <a:buNone/>
            </a:pPr>
            <a:r>
              <a:rPr lang="en-US" b="1" dirty="0">
                <a:solidFill>
                  <a:srgbClr val="002060"/>
                </a:solidFill>
              </a:rPr>
              <a:t>Time Complexities of operations on stack:</a:t>
            </a:r>
            <a:endParaRPr lang="en-US" dirty="0">
              <a:solidFill>
                <a:srgbClr val="002060"/>
              </a:solidFill>
            </a:endParaRPr>
          </a:p>
          <a:p>
            <a:pPr marL="0" indent="0" fontAlgn="base">
              <a:buNone/>
            </a:pPr>
            <a:r>
              <a:rPr lang="en-US" dirty="0">
                <a:solidFill>
                  <a:schemeClr val="tx1"/>
                </a:solidFill>
              </a:rPr>
              <a:t>push(), pop(), </a:t>
            </a:r>
            <a:r>
              <a:rPr lang="en-US" dirty="0" err="1">
                <a:solidFill>
                  <a:schemeClr val="tx1"/>
                </a:solidFill>
              </a:rPr>
              <a:t>i</a:t>
            </a:r>
            <a:r>
              <a:rPr lang="en-US" dirty="0" err="1" smtClean="0">
                <a:solidFill>
                  <a:schemeClr val="tx1"/>
                </a:solidFill>
              </a:rPr>
              <a:t>sEmpty</a:t>
            </a:r>
            <a:r>
              <a:rPr lang="en-US" dirty="0">
                <a:solidFill>
                  <a:schemeClr val="tx1"/>
                </a:solidFill>
              </a:rPr>
              <a:t>() and peek() all take O(1) time. We do not run any loop in any of these operations</a:t>
            </a:r>
            <a:r>
              <a:rPr lang="en-US" dirty="0" smtClean="0">
                <a:solidFill>
                  <a:schemeClr val="tx1"/>
                </a:solidFill>
              </a:rPr>
              <a:t>.</a:t>
            </a:r>
          </a:p>
          <a:p>
            <a:endParaRPr lang="en-US" dirty="0"/>
          </a:p>
        </p:txBody>
      </p:sp>
    </p:spTree>
    <p:extLst>
      <p:ext uri="{BB962C8B-B14F-4D97-AF65-F5344CB8AC3E}">
        <p14:creationId xmlns:p14="http://schemas.microsoft.com/office/powerpoint/2010/main" val="19791893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Data Structure</a:t>
            </a:r>
          </a:p>
        </p:txBody>
      </p:sp>
      <p:sp>
        <p:nvSpPr>
          <p:cNvPr id="3" name="Content Placeholder 2"/>
          <p:cNvSpPr>
            <a:spLocks noGrp="1"/>
          </p:cNvSpPr>
          <p:nvPr>
            <p:ph idx="1"/>
          </p:nvPr>
        </p:nvSpPr>
        <p:spPr/>
        <p:txBody>
          <a:bodyPr/>
          <a:lstStyle/>
          <a:p>
            <a:pPr marL="0" indent="0">
              <a:buNone/>
            </a:pPr>
            <a:r>
              <a:rPr lang="en-US" b="1" dirty="0">
                <a:solidFill>
                  <a:srgbClr val="C00000"/>
                </a:solidFill>
              </a:rPr>
              <a:t>Real life examples of stack are: </a:t>
            </a:r>
            <a:r>
              <a:rPr lang="en-US" dirty="0">
                <a:solidFill>
                  <a:srgbClr val="C00000"/>
                </a:solidFill>
              </a:rPr>
              <a:t> </a:t>
            </a:r>
          </a:p>
          <a:p>
            <a:r>
              <a:rPr lang="en-US" dirty="0">
                <a:solidFill>
                  <a:schemeClr val="tx1"/>
                </a:solidFill>
              </a:rPr>
              <a:t>To </a:t>
            </a:r>
            <a:r>
              <a:rPr lang="en-US" b="1" dirty="0">
                <a:solidFill>
                  <a:srgbClr val="002060"/>
                </a:solidFill>
              </a:rPr>
              <a:t>reverse a word</a:t>
            </a:r>
            <a:r>
              <a:rPr lang="en-US" dirty="0">
                <a:solidFill>
                  <a:schemeClr val="tx1"/>
                </a:solidFill>
              </a:rPr>
              <a:t>. You push a given word to stack - letter by letter - and then pop letters from the stack.</a:t>
            </a:r>
          </a:p>
          <a:p>
            <a:r>
              <a:rPr lang="en-US" dirty="0">
                <a:solidFill>
                  <a:schemeClr val="tx1"/>
                </a:solidFill>
              </a:rPr>
              <a:t>An </a:t>
            </a:r>
            <a:r>
              <a:rPr lang="en-US" b="1" dirty="0">
                <a:solidFill>
                  <a:schemeClr val="tx1"/>
                </a:solidFill>
              </a:rPr>
              <a:t>"</a:t>
            </a:r>
            <a:r>
              <a:rPr lang="en-US" b="1" dirty="0">
                <a:solidFill>
                  <a:srgbClr val="002060"/>
                </a:solidFill>
              </a:rPr>
              <a:t>undo</a:t>
            </a:r>
            <a:r>
              <a:rPr lang="en-US" b="1" dirty="0">
                <a:solidFill>
                  <a:schemeClr val="tx1"/>
                </a:solidFill>
              </a:rPr>
              <a:t>"</a:t>
            </a:r>
            <a:r>
              <a:rPr lang="en-US" dirty="0">
                <a:solidFill>
                  <a:schemeClr val="tx1"/>
                </a:solidFill>
              </a:rPr>
              <a:t> mechanism in text editors; this operation is accomplished by keeping all text changes in a stack.</a:t>
            </a:r>
          </a:p>
          <a:p>
            <a:pPr lvl="1"/>
            <a:r>
              <a:rPr lang="en-US" dirty="0">
                <a:solidFill>
                  <a:schemeClr val="tx1"/>
                </a:solidFill>
              </a:rPr>
              <a:t>Undo/Redo stacks in Excel or Word.</a:t>
            </a:r>
          </a:p>
          <a:p>
            <a:r>
              <a:rPr lang="en-US" b="1" dirty="0">
                <a:solidFill>
                  <a:srgbClr val="002060"/>
                </a:solidFill>
              </a:rPr>
              <a:t>Language processing</a:t>
            </a:r>
            <a:r>
              <a:rPr lang="en-US" dirty="0">
                <a:solidFill>
                  <a:srgbClr val="002060"/>
                </a:solidFill>
              </a:rPr>
              <a:t> </a:t>
            </a:r>
            <a:r>
              <a:rPr lang="en-US" dirty="0">
                <a:solidFill>
                  <a:schemeClr val="tx1"/>
                </a:solidFill>
              </a:rPr>
              <a:t>:</a:t>
            </a:r>
          </a:p>
          <a:p>
            <a:pPr lvl="1"/>
            <a:r>
              <a:rPr lang="en-US" dirty="0">
                <a:solidFill>
                  <a:schemeClr val="tx1"/>
                </a:solidFill>
              </a:rPr>
              <a:t>space for parameters and local variables is created internally using a stack.</a:t>
            </a:r>
          </a:p>
          <a:p>
            <a:pPr lvl="1"/>
            <a:r>
              <a:rPr lang="en-US" dirty="0">
                <a:solidFill>
                  <a:schemeClr val="tx1"/>
                </a:solidFill>
              </a:rPr>
              <a:t>compiler's syntax check for matching braces is implemented by using stack.</a:t>
            </a:r>
          </a:p>
          <a:p>
            <a:r>
              <a:rPr lang="en-US" dirty="0">
                <a:solidFill>
                  <a:schemeClr val="tx1"/>
                </a:solidFill>
              </a:rPr>
              <a:t>A </a:t>
            </a:r>
            <a:r>
              <a:rPr lang="en-US" b="1" dirty="0">
                <a:solidFill>
                  <a:srgbClr val="002060"/>
                </a:solidFill>
              </a:rPr>
              <a:t>stack of plates/books</a:t>
            </a:r>
            <a:r>
              <a:rPr lang="en-US" dirty="0">
                <a:solidFill>
                  <a:schemeClr val="tx1"/>
                </a:solidFill>
              </a:rPr>
              <a:t> in a cupboard.</a:t>
            </a:r>
          </a:p>
          <a:p>
            <a:r>
              <a:rPr lang="en-US" dirty="0">
                <a:solidFill>
                  <a:schemeClr val="tx1"/>
                </a:solidFill>
              </a:rPr>
              <a:t>Wearing/Removing </a:t>
            </a:r>
            <a:r>
              <a:rPr lang="en-US" b="1" dirty="0">
                <a:solidFill>
                  <a:srgbClr val="002060"/>
                </a:solidFill>
              </a:rPr>
              <a:t>Bangles</a:t>
            </a:r>
            <a:r>
              <a:rPr lang="en-US" dirty="0">
                <a:solidFill>
                  <a:schemeClr val="tx1"/>
                </a:solidFill>
              </a:rPr>
              <a:t>.</a:t>
            </a:r>
          </a:p>
          <a:p>
            <a:r>
              <a:rPr lang="en-US" dirty="0">
                <a:solidFill>
                  <a:schemeClr val="tx1"/>
                </a:solidFill>
              </a:rPr>
              <a:t>Support for</a:t>
            </a:r>
            <a:r>
              <a:rPr lang="en-US" b="1" dirty="0">
                <a:solidFill>
                  <a:schemeClr val="tx1"/>
                </a:solidFill>
              </a:rPr>
              <a:t> </a:t>
            </a:r>
            <a:r>
              <a:rPr lang="en-US" b="1" dirty="0">
                <a:solidFill>
                  <a:srgbClr val="002060"/>
                </a:solidFill>
              </a:rPr>
              <a:t>recursion</a:t>
            </a:r>
            <a:endParaRPr lang="en-US" dirty="0">
              <a:solidFill>
                <a:srgbClr val="002060"/>
              </a:solidFill>
            </a:endParaRPr>
          </a:p>
          <a:p>
            <a:pPr lvl="1"/>
            <a:r>
              <a:rPr lang="en-US" dirty="0">
                <a:solidFill>
                  <a:schemeClr val="tx1"/>
                </a:solidFill>
              </a:rPr>
              <a:t>Activation records of method calls.</a:t>
            </a:r>
          </a:p>
        </p:txBody>
      </p:sp>
    </p:spTree>
    <p:extLst>
      <p:ext uri="{BB962C8B-B14F-4D97-AF65-F5344CB8AC3E}">
        <p14:creationId xmlns:p14="http://schemas.microsoft.com/office/powerpoint/2010/main" val="25122670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ED567498-20F4-4694-07F4-B7D325EB383B}"/>
              </a:ext>
            </a:extLst>
          </p:cNvPr>
          <p:cNvSpPr/>
          <p:nvPr/>
        </p:nvSpPr>
        <p:spPr>
          <a:xfrm>
            <a:off x="1524000" y="235973"/>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algn="ctr" eaLnBrk="1" hangingPunct="1">
              <a:defRPr/>
            </a:pPr>
            <a:r>
              <a:rPr lang="en-US" altLang="en-US" sz="4800">
                <a:solidFill>
                  <a:schemeClr val="bg1"/>
                </a:solidFill>
                <a:latin typeface="Calibri" pitchFamily="34" charset="0"/>
              </a:rPr>
              <a:t>Push Operation</a:t>
            </a:r>
          </a:p>
        </p:txBody>
      </p:sp>
      <p:sp>
        <p:nvSpPr>
          <p:cNvPr id="5" name="Rectangle 3">
            <a:extLst>
              <a:ext uri="{FF2B5EF4-FFF2-40B4-BE49-F238E27FC236}">
                <a16:creationId xmlns:a16="http://schemas.microsoft.com/office/drawing/2014/main" id="{EC65698A-D07A-105A-E6F0-356CF65206E6}"/>
              </a:ext>
            </a:extLst>
          </p:cNvPr>
          <p:cNvSpPr txBox="1">
            <a:spLocks noChangeArrowheads="1"/>
          </p:cNvSpPr>
          <p:nvPr/>
        </p:nvSpPr>
        <p:spPr bwMode="auto">
          <a:xfrm>
            <a:off x="1752600" y="1378973"/>
            <a:ext cx="8915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400"/>
              <a:t>The push operation is used to insert an element in to the stack. </a:t>
            </a:r>
          </a:p>
          <a:p>
            <a:pPr eaLnBrk="1" hangingPunct="1"/>
            <a:r>
              <a:rPr lang="en-US" altLang="en-US" sz="2400"/>
              <a:t>The new element is added at the topmost position of the stack. </a:t>
            </a:r>
          </a:p>
          <a:p>
            <a:pPr eaLnBrk="1" hangingPunct="1"/>
            <a:r>
              <a:rPr lang="en-US" altLang="en-US" sz="2400"/>
              <a:t>First check if TOP==MAX-1.  </a:t>
            </a:r>
            <a:br>
              <a:rPr lang="en-US" altLang="en-US" sz="2400"/>
            </a:br>
            <a:r>
              <a:rPr lang="en-US" altLang="en-US" sz="2400"/>
              <a:t>If true, then it means the stack is full and no more insertions can further be added, an </a:t>
            </a:r>
            <a:r>
              <a:rPr lang="en-US" altLang="en-US" sz="2400">
                <a:solidFill>
                  <a:srgbClr val="FF0000"/>
                </a:solidFill>
              </a:rPr>
              <a:t>OVERFLOW</a:t>
            </a:r>
            <a:r>
              <a:rPr lang="en-US" altLang="en-US" sz="2400"/>
              <a:t> message is printed. </a:t>
            </a:r>
          </a:p>
          <a:p>
            <a:pPr eaLnBrk="1" hangingPunct="1"/>
            <a:r>
              <a:rPr lang="en-US" altLang="en-US" sz="2400"/>
              <a:t>If not true, increase TOP by 1, then add the element at TOP position</a:t>
            </a:r>
          </a:p>
        </p:txBody>
      </p:sp>
      <p:graphicFrame>
        <p:nvGraphicFramePr>
          <p:cNvPr id="6" name="Group 57">
            <a:extLst>
              <a:ext uri="{FF2B5EF4-FFF2-40B4-BE49-F238E27FC236}">
                <a16:creationId xmlns:a16="http://schemas.microsoft.com/office/drawing/2014/main" id="{03F25248-CF30-5FC4-8DC7-6832EBE815C2}"/>
              </a:ext>
            </a:extLst>
          </p:cNvPr>
          <p:cNvGraphicFramePr>
            <a:graphicFrameLocks noGrp="1"/>
          </p:cNvGraphicFramePr>
          <p:nvPr/>
        </p:nvGraphicFramePr>
        <p:xfrm>
          <a:off x="2819401" y="4198373"/>
          <a:ext cx="5624513" cy="517588"/>
        </p:xfrm>
        <a:graphic>
          <a:graphicData uri="http://schemas.openxmlformats.org/drawingml/2006/table">
            <a:tbl>
              <a:tblPr/>
              <a:tblGrid>
                <a:gridCol w="555625">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3022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gridCol w="611188">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tblGrid>
              <a:tr h="51752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A</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B</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C</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D</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E</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
        <p:nvSpPr>
          <p:cNvPr id="7" name="Rectangle 28">
            <a:extLst>
              <a:ext uri="{FF2B5EF4-FFF2-40B4-BE49-F238E27FC236}">
                <a16:creationId xmlns:a16="http://schemas.microsoft.com/office/drawing/2014/main" id="{C0461028-5F28-EC14-7F96-9C92FE21BDBC}"/>
              </a:ext>
            </a:extLst>
          </p:cNvPr>
          <p:cNvSpPr>
            <a:spLocks noChangeArrowheads="1"/>
          </p:cNvSpPr>
          <p:nvPr/>
        </p:nvSpPr>
        <p:spPr bwMode="auto">
          <a:xfrm>
            <a:off x="2895601" y="4807974"/>
            <a:ext cx="5534025" cy="24447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000">
                <a:solidFill>
                  <a:srgbClr val="FFCC99"/>
                </a:solidFill>
                <a:latin typeface="Constantia" panose="02030602050306030303" pitchFamily="18" charset="0"/>
                <a:cs typeface="Times New Roman" panose="02020603050405020304" pitchFamily="18" charset="0"/>
              </a:rPr>
              <a:t>0                  1	        2               3           </a:t>
            </a:r>
            <a:r>
              <a:rPr lang="en-US" altLang="en-US" sz="1000" b="1">
                <a:solidFill>
                  <a:srgbClr val="FFCC99"/>
                </a:solidFill>
                <a:latin typeface="Constantia" panose="02030602050306030303" pitchFamily="18" charset="0"/>
                <a:cs typeface="Times New Roman" panose="02020603050405020304" pitchFamily="18" charset="0"/>
              </a:rPr>
              <a:t>TOP = 4</a:t>
            </a:r>
            <a:r>
              <a:rPr lang="en-US" altLang="en-US" sz="1000">
                <a:solidFill>
                  <a:srgbClr val="FFCC99"/>
                </a:solidFill>
                <a:latin typeface="Constantia" panose="02030602050306030303" pitchFamily="18" charset="0"/>
                <a:cs typeface="Times New Roman" panose="02020603050405020304" pitchFamily="18" charset="0"/>
              </a:rPr>
              <a:t>          5                 6              7                  8                  9</a:t>
            </a:r>
            <a:endParaRPr lang="en-US" altLang="en-US" sz="1800">
              <a:solidFill>
                <a:srgbClr val="FFCC99"/>
              </a:solidFill>
              <a:latin typeface="Constantia" panose="02030602050306030303" pitchFamily="18" charset="0"/>
            </a:endParaRPr>
          </a:p>
        </p:txBody>
      </p:sp>
      <p:graphicFrame>
        <p:nvGraphicFramePr>
          <p:cNvPr id="8" name="Group 29">
            <a:extLst>
              <a:ext uri="{FF2B5EF4-FFF2-40B4-BE49-F238E27FC236}">
                <a16:creationId xmlns:a16="http://schemas.microsoft.com/office/drawing/2014/main" id="{402C4EF8-9486-0A6F-4C16-18C289EDDA13}"/>
              </a:ext>
            </a:extLst>
          </p:cNvPr>
          <p:cNvGraphicFramePr>
            <a:graphicFrameLocks noGrp="1"/>
          </p:cNvGraphicFramePr>
          <p:nvPr/>
        </p:nvGraphicFramePr>
        <p:xfrm>
          <a:off x="2895600" y="5188973"/>
          <a:ext cx="5619750" cy="517588"/>
        </p:xfrm>
        <a:graphic>
          <a:graphicData uri="http://schemas.openxmlformats.org/drawingml/2006/table">
            <a:tbl>
              <a:tblPr/>
              <a:tblGrid>
                <a:gridCol w="525463">
                  <a:extLst>
                    <a:ext uri="{9D8B030D-6E8A-4147-A177-3AD203B41FA5}">
                      <a16:colId xmlns:a16="http://schemas.microsoft.com/office/drawing/2014/main" val="20000"/>
                    </a:ext>
                  </a:extLst>
                </a:gridCol>
                <a:gridCol w="598487">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61975">
                  <a:extLst>
                    <a:ext uri="{9D8B030D-6E8A-4147-A177-3AD203B41FA5}">
                      <a16:colId xmlns:a16="http://schemas.microsoft.com/office/drawing/2014/main" val="20006"/>
                    </a:ext>
                  </a:extLst>
                </a:gridCol>
                <a:gridCol w="561975">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1975">
                  <a:extLst>
                    <a:ext uri="{9D8B030D-6E8A-4147-A177-3AD203B41FA5}">
                      <a16:colId xmlns:a16="http://schemas.microsoft.com/office/drawing/2014/main" val="20009"/>
                    </a:ext>
                  </a:extLst>
                </a:gridCol>
              </a:tblGrid>
              <a:tr h="51752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A</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B</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C</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D</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E</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F</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
        <p:nvSpPr>
          <p:cNvPr id="9" name="Rectangle 53">
            <a:extLst>
              <a:ext uri="{FF2B5EF4-FFF2-40B4-BE49-F238E27FC236}">
                <a16:creationId xmlns:a16="http://schemas.microsoft.com/office/drawing/2014/main" id="{B2D4044C-F4D6-7E87-FD14-1433E652E5EF}"/>
              </a:ext>
            </a:extLst>
          </p:cNvPr>
          <p:cNvSpPr>
            <a:spLocks noChangeArrowheads="1"/>
          </p:cNvSpPr>
          <p:nvPr/>
        </p:nvSpPr>
        <p:spPr bwMode="auto">
          <a:xfrm>
            <a:off x="2895600" y="5798574"/>
            <a:ext cx="5557838" cy="24447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000">
                <a:solidFill>
                  <a:srgbClr val="FFCC99"/>
                </a:solidFill>
                <a:latin typeface="Constantia" panose="02030602050306030303" pitchFamily="18" charset="0"/>
                <a:cs typeface="Times New Roman" panose="02020603050405020304" pitchFamily="18" charset="0"/>
              </a:rPr>
              <a:t>0                  1	        2               3                     </a:t>
            </a:r>
            <a:r>
              <a:rPr lang="en-US" altLang="en-US" sz="1000" b="1">
                <a:solidFill>
                  <a:srgbClr val="FFCC99"/>
                </a:solidFill>
                <a:latin typeface="Constantia" panose="02030602050306030303" pitchFamily="18" charset="0"/>
                <a:cs typeface="Times New Roman" panose="02020603050405020304" pitchFamily="18" charset="0"/>
              </a:rPr>
              <a:t>4</a:t>
            </a:r>
            <a:r>
              <a:rPr lang="en-US" altLang="en-US" sz="1000">
                <a:solidFill>
                  <a:srgbClr val="FFCC99"/>
                </a:solidFill>
                <a:latin typeface="Constantia" panose="02030602050306030303" pitchFamily="18" charset="0"/>
                <a:cs typeface="Times New Roman" panose="02020603050405020304" pitchFamily="18" charset="0"/>
              </a:rPr>
              <a:t>          TOP =5             6             7              8                   9</a:t>
            </a:r>
            <a:endParaRPr lang="en-US" altLang="en-US" sz="1800">
              <a:solidFill>
                <a:srgbClr val="FFCC99"/>
              </a:solidFill>
              <a:latin typeface="Constantia" panose="02030602050306030303" pitchFamily="18" charset="0"/>
            </a:endParaRPr>
          </a:p>
        </p:txBody>
      </p:sp>
    </p:spTree>
    <p:extLst>
      <p:ext uri="{BB962C8B-B14F-4D97-AF65-F5344CB8AC3E}">
        <p14:creationId xmlns:p14="http://schemas.microsoft.com/office/powerpoint/2010/main" val="1088457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41A8C0B0-15A1-90FA-D4B5-7543E54ADC33}"/>
              </a:ext>
            </a:extLst>
          </p:cNvPr>
          <p:cNvSpPr/>
          <p:nvPr/>
        </p:nvSpPr>
        <p:spPr>
          <a:xfrm>
            <a:off x="1524000" y="221223"/>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algn="ctr" eaLnBrk="1" hangingPunct="1">
              <a:defRPr/>
            </a:pPr>
            <a:r>
              <a:rPr lang="en-US" altLang="en-US" sz="4800">
                <a:solidFill>
                  <a:schemeClr val="bg1"/>
                </a:solidFill>
                <a:latin typeface="Calibri" pitchFamily="34" charset="0"/>
              </a:rPr>
              <a:t>Pop Operation</a:t>
            </a:r>
          </a:p>
        </p:txBody>
      </p:sp>
      <p:sp>
        <p:nvSpPr>
          <p:cNvPr id="5" name="Rectangle 3">
            <a:extLst>
              <a:ext uri="{FF2B5EF4-FFF2-40B4-BE49-F238E27FC236}">
                <a16:creationId xmlns:a16="http://schemas.microsoft.com/office/drawing/2014/main" id="{8C932BD9-D066-E42A-D4ED-BD69BE17201D}"/>
              </a:ext>
            </a:extLst>
          </p:cNvPr>
          <p:cNvSpPr txBox="1">
            <a:spLocks noChangeArrowheads="1"/>
          </p:cNvSpPr>
          <p:nvPr/>
        </p:nvSpPr>
        <p:spPr bwMode="auto">
          <a:xfrm>
            <a:off x="1516063" y="1364223"/>
            <a:ext cx="8915401"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0000"/>
              </a:lnSpc>
            </a:pPr>
            <a:r>
              <a:rPr lang="en-US" altLang="en-US" sz="2400"/>
              <a:t>The pop operation is used to delete the topmost element from the stack. </a:t>
            </a:r>
          </a:p>
          <a:p>
            <a:pPr eaLnBrk="1" hangingPunct="1">
              <a:lnSpc>
                <a:spcPct val="110000"/>
              </a:lnSpc>
            </a:pPr>
            <a:r>
              <a:rPr lang="en-US" altLang="en-US" sz="2400"/>
              <a:t>First check if TOP == -1.   </a:t>
            </a:r>
            <a:br>
              <a:rPr lang="en-US" altLang="en-US" sz="2400"/>
            </a:br>
            <a:r>
              <a:rPr lang="en-US" altLang="en-US" sz="2400"/>
              <a:t>If true then it means the stack is empty so no more deletions can further be done, an </a:t>
            </a:r>
            <a:r>
              <a:rPr lang="en-US" altLang="en-US" sz="2400">
                <a:solidFill>
                  <a:srgbClr val="FF0000"/>
                </a:solidFill>
              </a:rPr>
              <a:t>UNDERFLOW</a:t>
            </a:r>
            <a:r>
              <a:rPr lang="en-US" altLang="en-US" sz="2400"/>
              <a:t> message is printed. </a:t>
            </a:r>
            <a:br>
              <a:rPr lang="en-US" altLang="en-US" sz="2400"/>
            </a:br>
            <a:r>
              <a:rPr lang="en-US" altLang="en-US" sz="2400"/>
              <a:t>If not true,  get the value of the top element, decrease TOP by one. </a:t>
            </a:r>
          </a:p>
        </p:txBody>
      </p:sp>
      <p:graphicFrame>
        <p:nvGraphicFramePr>
          <p:cNvPr id="6" name="Group 5">
            <a:extLst>
              <a:ext uri="{FF2B5EF4-FFF2-40B4-BE49-F238E27FC236}">
                <a16:creationId xmlns:a16="http://schemas.microsoft.com/office/drawing/2014/main" id="{3A193A7E-0E32-6F54-E512-F4314234215C}"/>
              </a:ext>
            </a:extLst>
          </p:cNvPr>
          <p:cNvGraphicFramePr>
            <a:graphicFrameLocks noGrp="1"/>
          </p:cNvGraphicFramePr>
          <p:nvPr/>
        </p:nvGraphicFramePr>
        <p:xfrm>
          <a:off x="3519488" y="4448736"/>
          <a:ext cx="5624512" cy="517588"/>
        </p:xfrm>
        <a:graphic>
          <a:graphicData uri="http://schemas.openxmlformats.org/drawingml/2006/table">
            <a:tbl>
              <a:tblPr/>
              <a:tblGrid>
                <a:gridCol w="555625">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gridCol w="611187">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tblGrid>
              <a:tr h="51752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A</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B</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C</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D</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E</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
        <p:nvSpPr>
          <p:cNvPr id="7" name="Rectangle 29">
            <a:extLst>
              <a:ext uri="{FF2B5EF4-FFF2-40B4-BE49-F238E27FC236}">
                <a16:creationId xmlns:a16="http://schemas.microsoft.com/office/drawing/2014/main" id="{C106914D-0538-5745-8C7B-22667AAF9A45}"/>
              </a:ext>
            </a:extLst>
          </p:cNvPr>
          <p:cNvSpPr>
            <a:spLocks noChangeArrowheads="1"/>
          </p:cNvSpPr>
          <p:nvPr/>
        </p:nvSpPr>
        <p:spPr bwMode="auto">
          <a:xfrm>
            <a:off x="3505200" y="5021824"/>
            <a:ext cx="5562600" cy="24447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b="1">
                <a:solidFill>
                  <a:srgbClr val="FFCC99"/>
                </a:solidFill>
                <a:latin typeface="Constantia" panose="02030602050306030303" pitchFamily="18" charset="0"/>
                <a:cs typeface="Times New Roman" panose="02020603050405020304" pitchFamily="18" charset="0"/>
              </a:rPr>
              <a:t>  0             1              2              3           TOP = 4        5             6              7           8                   9</a:t>
            </a:r>
            <a:endParaRPr lang="en-US" altLang="en-US" sz="1400" b="1">
              <a:solidFill>
                <a:srgbClr val="FFCC99"/>
              </a:solidFill>
              <a:latin typeface="Constantia" panose="02030602050306030303" pitchFamily="18" charset="0"/>
            </a:endParaRPr>
          </a:p>
        </p:txBody>
      </p:sp>
      <p:graphicFrame>
        <p:nvGraphicFramePr>
          <p:cNvPr id="8" name="Group 31">
            <a:extLst>
              <a:ext uri="{FF2B5EF4-FFF2-40B4-BE49-F238E27FC236}">
                <a16:creationId xmlns:a16="http://schemas.microsoft.com/office/drawing/2014/main" id="{D6C1AC09-659B-E4D8-870B-D240EA4944C3}"/>
              </a:ext>
            </a:extLst>
          </p:cNvPr>
          <p:cNvGraphicFramePr>
            <a:graphicFrameLocks noGrp="1"/>
          </p:cNvGraphicFramePr>
          <p:nvPr/>
        </p:nvGraphicFramePr>
        <p:xfrm>
          <a:off x="3505200" y="5402823"/>
          <a:ext cx="5619750" cy="517588"/>
        </p:xfrm>
        <a:graphic>
          <a:graphicData uri="http://schemas.openxmlformats.org/drawingml/2006/table">
            <a:tbl>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61975">
                  <a:extLst>
                    <a:ext uri="{9D8B030D-6E8A-4147-A177-3AD203B41FA5}">
                      <a16:colId xmlns:a16="http://schemas.microsoft.com/office/drawing/2014/main" val="20006"/>
                    </a:ext>
                  </a:extLst>
                </a:gridCol>
                <a:gridCol w="561975">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1975">
                  <a:extLst>
                    <a:ext uri="{9D8B030D-6E8A-4147-A177-3AD203B41FA5}">
                      <a16:colId xmlns:a16="http://schemas.microsoft.com/office/drawing/2014/main" val="20009"/>
                    </a:ext>
                  </a:extLst>
                </a:gridCol>
              </a:tblGrid>
              <a:tr h="51752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A</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B</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C</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993300"/>
                          </a:solidFill>
                          <a:effectLst/>
                          <a:latin typeface="Times New Roman" pitchFamily="18" charset="0"/>
                          <a:cs typeface="Times New Roman" pitchFamily="18" charset="0"/>
                        </a:rPr>
                        <a:t>D</a:t>
                      </a:r>
                      <a:endParaRPr kumimoji="0" lang="en-US" altLang="en-US" sz="1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1" i="0" u="none" strike="noStrike" cap="none" normalizeH="0" baseline="0">
                        <a:ln>
                          <a:noFill/>
                        </a:ln>
                        <a:solidFill>
                          <a:srgbClr val="993300"/>
                        </a:solidFill>
                        <a:effectLst/>
                        <a:latin typeface="Arial" charset="0"/>
                        <a:cs typeface="Arial" charset="0"/>
                      </a:endParaRPr>
                    </a:p>
                  </a:txBody>
                  <a:tcPr marT="45434" marB="4543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bl>
          </a:graphicData>
        </a:graphic>
      </p:graphicFrame>
      <p:sp>
        <p:nvSpPr>
          <p:cNvPr id="9" name="Rectangle 55">
            <a:extLst>
              <a:ext uri="{FF2B5EF4-FFF2-40B4-BE49-F238E27FC236}">
                <a16:creationId xmlns:a16="http://schemas.microsoft.com/office/drawing/2014/main" id="{CBA3481E-76A9-A997-A027-B0B2416B57EA}"/>
              </a:ext>
            </a:extLst>
          </p:cNvPr>
          <p:cNvSpPr>
            <a:spLocks noChangeArrowheads="1"/>
          </p:cNvSpPr>
          <p:nvPr/>
        </p:nvSpPr>
        <p:spPr bwMode="auto">
          <a:xfrm>
            <a:off x="3429000" y="6004487"/>
            <a:ext cx="5638800" cy="24447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000" b="1">
                <a:solidFill>
                  <a:srgbClr val="FFCC99"/>
                </a:solidFill>
                <a:latin typeface="Constantia" panose="02030602050306030303" pitchFamily="18" charset="0"/>
                <a:cs typeface="Times New Roman" panose="02020603050405020304" pitchFamily="18" charset="0"/>
              </a:rPr>
              <a:t>      0               1	             2           TOP = 3        4                  5                     6               7	     8             9</a:t>
            </a:r>
            <a:endParaRPr lang="en-US" altLang="en-US" sz="1400" b="1">
              <a:solidFill>
                <a:srgbClr val="FFCC99"/>
              </a:solidFill>
              <a:latin typeface="Constantia" panose="02030602050306030303" pitchFamily="18" charset="0"/>
            </a:endParaRPr>
          </a:p>
        </p:txBody>
      </p:sp>
    </p:spTree>
    <p:extLst>
      <p:ext uri="{BB962C8B-B14F-4D97-AF65-F5344CB8AC3E}">
        <p14:creationId xmlns:p14="http://schemas.microsoft.com/office/powerpoint/2010/main" val="41371477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76275" y="427039"/>
            <a:ext cx="11125200" cy="5851525"/>
          </a:xfrm>
          <a:prstGeom prst="rect">
            <a:avLst/>
          </a:prstGeom>
        </p:spPr>
      </p:pic>
    </p:spTree>
    <p:extLst>
      <p:ext uri="{BB962C8B-B14F-4D97-AF65-F5344CB8AC3E}">
        <p14:creationId xmlns:p14="http://schemas.microsoft.com/office/powerpoint/2010/main" val="25700436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95326" y="427040"/>
            <a:ext cx="11039474" cy="6278560"/>
          </a:xfrm>
          <a:prstGeom prst="rect">
            <a:avLst/>
          </a:prstGeom>
        </p:spPr>
      </p:pic>
    </p:spTree>
    <p:extLst>
      <p:ext uri="{BB962C8B-B14F-4D97-AF65-F5344CB8AC3E}">
        <p14:creationId xmlns:p14="http://schemas.microsoft.com/office/powerpoint/2010/main" val="2907295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62000" y="427040"/>
            <a:ext cx="11096625" cy="5992810"/>
          </a:xfrm>
          <a:prstGeom prst="rect">
            <a:avLst/>
          </a:prstGeom>
        </p:spPr>
      </p:pic>
    </p:spTree>
    <p:extLst>
      <p:ext uri="{BB962C8B-B14F-4D97-AF65-F5344CB8AC3E}">
        <p14:creationId xmlns:p14="http://schemas.microsoft.com/office/powerpoint/2010/main" val="25826253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62000" y="427039"/>
            <a:ext cx="10972800" cy="5851525"/>
          </a:xfrm>
          <a:prstGeom prst="rect">
            <a:avLst/>
          </a:prstGeom>
        </p:spPr>
      </p:pic>
    </p:spTree>
    <p:extLst>
      <p:ext uri="{BB962C8B-B14F-4D97-AF65-F5344CB8AC3E}">
        <p14:creationId xmlns:p14="http://schemas.microsoft.com/office/powerpoint/2010/main" val="3058054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62000" y="427039"/>
            <a:ext cx="10972800" cy="6164261"/>
          </a:xfrm>
          <a:prstGeom prst="rect">
            <a:avLst/>
          </a:prstGeom>
        </p:spPr>
      </p:pic>
    </p:spTree>
    <p:extLst>
      <p:ext uri="{BB962C8B-B14F-4D97-AF65-F5344CB8AC3E}">
        <p14:creationId xmlns:p14="http://schemas.microsoft.com/office/powerpoint/2010/main" val="5880413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33526" y="504825"/>
            <a:ext cx="9982200" cy="5773739"/>
          </a:xfrm>
          <a:prstGeom prst="rect">
            <a:avLst/>
          </a:prstGeom>
        </p:spPr>
      </p:pic>
    </p:spTree>
    <p:extLst>
      <p:ext uri="{BB962C8B-B14F-4D97-AF65-F5344CB8AC3E}">
        <p14:creationId xmlns:p14="http://schemas.microsoft.com/office/powerpoint/2010/main" val="32848662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28675" y="552450"/>
            <a:ext cx="10639425" cy="6048375"/>
          </a:xfrm>
          <a:prstGeom prst="rect">
            <a:avLst/>
          </a:prstGeom>
        </p:spPr>
      </p:pic>
    </p:spTree>
    <p:extLst>
      <p:ext uri="{BB962C8B-B14F-4D97-AF65-F5344CB8AC3E}">
        <p14:creationId xmlns:p14="http://schemas.microsoft.com/office/powerpoint/2010/main" val="16152553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57250" y="427040"/>
            <a:ext cx="10877550" cy="6430960"/>
          </a:xfrm>
          <a:prstGeom prst="rect">
            <a:avLst/>
          </a:prstGeom>
        </p:spPr>
      </p:pic>
    </p:spTree>
    <p:extLst>
      <p:ext uri="{BB962C8B-B14F-4D97-AF65-F5344CB8AC3E}">
        <p14:creationId xmlns:p14="http://schemas.microsoft.com/office/powerpoint/2010/main" val="23090615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t>Stack implementation using </a:t>
            </a:r>
            <a:r>
              <a:rPr lang="en-US" sz="4400" dirty="0" smtClean="0"/>
              <a:t>Array</a:t>
            </a:r>
            <a:endParaRPr lang="en-US" sz="4000" dirty="0"/>
          </a:p>
        </p:txBody>
      </p:sp>
      <p:sp>
        <p:nvSpPr>
          <p:cNvPr id="4" name="Content Placeholder 3"/>
          <p:cNvSpPr txBox="1">
            <a:spLocks noGrp="1"/>
          </p:cNvSpPr>
          <p:nvPr>
            <p:ph idx="1"/>
          </p:nvPr>
        </p:nvSpPr>
        <p:spPr>
          <a:xfrm>
            <a:off x="1251678" y="1506829"/>
            <a:ext cx="3375740" cy="89000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lt1"/>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lt1"/>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lt1"/>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lt1"/>
                </a:solidFill>
                <a:latin typeface="+mn-lt"/>
                <a:ea typeface="+mn-ea"/>
                <a:cs typeface="+mn-cs"/>
              </a:defRPr>
            </a:lvl9pPr>
          </a:lstStyle>
          <a:p>
            <a:pPr algn="ctr"/>
            <a:r>
              <a:rPr lang="en-US" dirty="0" smtClean="0"/>
              <a:t>Refer Program here</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544199964"/>
              </p:ext>
            </p:extLst>
          </p:nvPr>
        </p:nvGraphicFramePr>
        <p:xfrm>
          <a:off x="5224463" y="1712913"/>
          <a:ext cx="469900" cy="481012"/>
        </p:xfrm>
        <a:graphic>
          <a:graphicData uri="http://schemas.openxmlformats.org/presentationml/2006/ole">
            <mc:AlternateContent xmlns:mc="http://schemas.openxmlformats.org/markup-compatibility/2006">
              <mc:Choice xmlns:v="urn:schemas-microsoft-com:vml" Requires="v">
                <p:oleObj spid="_x0000_s6214" name="Packager Shell Object" showAsIcon="1" r:id="rId3" imgW="469440" imgH="481320" progId="Package">
                  <p:embed/>
                </p:oleObj>
              </mc:Choice>
              <mc:Fallback>
                <p:oleObj name="Packager Shell Object" showAsIcon="1" r:id="rId3" imgW="469440" imgH="481320" progId="Package">
                  <p:embed/>
                  <p:pic>
                    <p:nvPicPr>
                      <p:cNvPr id="0" name=""/>
                      <p:cNvPicPr/>
                      <p:nvPr/>
                    </p:nvPicPr>
                    <p:blipFill>
                      <a:blip r:embed="rId4"/>
                      <a:stretch>
                        <a:fillRect/>
                      </a:stretch>
                    </p:blipFill>
                    <p:spPr>
                      <a:xfrm>
                        <a:off x="5224463" y="1712913"/>
                        <a:ext cx="469900" cy="481012"/>
                      </a:xfrm>
                      <a:prstGeom prst="rect">
                        <a:avLst/>
                      </a:prstGeom>
                    </p:spPr>
                  </p:pic>
                </p:oleObj>
              </mc:Fallback>
            </mc:AlternateContent>
          </a:graphicData>
        </a:graphic>
      </p:graphicFrame>
    </p:spTree>
    <p:extLst>
      <p:ext uri="{BB962C8B-B14F-4D97-AF65-F5344CB8AC3E}">
        <p14:creationId xmlns:p14="http://schemas.microsoft.com/office/powerpoint/2010/main" val="3510030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Stack implementation using linked list</a:t>
            </a:r>
            <a:endParaRPr lang="en-US" sz="3600" dirty="0"/>
          </a:p>
        </p:txBody>
      </p:sp>
      <p:sp>
        <p:nvSpPr>
          <p:cNvPr id="3" name="Content Placeholder 2"/>
          <p:cNvSpPr>
            <a:spLocks noGrp="1"/>
          </p:cNvSpPr>
          <p:nvPr>
            <p:ph idx="1"/>
          </p:nvPr>
        </p:nvSpPr>
        <p:spPr/>
        <p:txBody>
          <a:bodyPr/>
          <a:lstStyle/>
          <a:p>
            <a:r>
              <a:rPr lang="en-US" dirty="0" smtClean="0">
                <a:solidFill>
                  <a:schemeClr val="tx1"/>
                </a:solidFill>
              </a:rPr>
              <a:t>Stack </a:t>
            </a:r>
            <a:r>
              <a:rPr lang="en-US" dirty="0">
                <a:solidFill>
                  <a:schemeClr val="tx1"/>
                </a:solidFill>
              </a:rPr>
              <a:t>is </a:t>
            </a:r>
            <a:r>
              <a:rPr lang="en-US" dirty="0" smtClean="0">
                <a:solidFill>
                  <a:schemeClr val="tx1"/>
                </a:solidFill>
              </a:rPr>
              <a:t>an area </a:t>
            </a:r>
            <a:r>
              <a:rPr lang="en-US" dirty="0">
                <a:solidFill>
                  <a:schemeClr val="tx1"/>
                </a:solidFill>
              </a:rPr>
              <a:t>of memory that holds all local variables and parameters used by any function, and remembers the order in which functions are called so that function returns occur </a:t>
            </a:r>
            <a:r>
              <a:rPr lang="en-US" dirty="0" smtClean="0">
                <a:solidFill>
                  <a:schemeClr val="tx1"/>
                </a:solidFill>
              </a:rPr>
              <a:t>correctly.</a:t>
            </a:r>
          </a:p>
          <a:p>
            <a:r>
              <a:rPr lang="en-US" dirty="0" smtClean="0">
                <a:solidFill>
                  <a:schemeClr val="tx1"/>
                </a:solidFill>
              </a:rPr>
              <a:t>Each </a:t>
            </a:r>
            <a:r>
              <a:rPr lang="en-US" dirty="0">
                <a:solidFill>
                  <a:schemeClr val="tx1"/>
                </a:solidFill>
              </a:rPr>
              <a:t>time a function is called, its local variables and parameters are “pushed onto” the stack. When the function </a:t>
            </a:r>
            <a:r>
              <a:rPr lang="en-US" dirty="0" smtClean="0">
                <a:solidFill>
                  <a:schemeClr val="tx1"/>
                </a:solidFill>
              </a:rPr>
              <a:t>returns these </a:t>
            </a:r>
            <a:r>
              <a:rPr lang="en-US" dirty="0">
                <a:solidFill>
                  <a:schemeClr val="tx1"/>
                </a:solidFill>
              </a:rPr>
              <a:t>locals and parameters are “popped.” Because of this, the size of a program’s stack fluctuates constantly as the program is running, but it has some maximum size. </a:t>
            </a:r>
            <a:endParaRPr lang="en-US" dirty="0" smtClean="0">
              <a:solidFill>
                <a:schemeClr val="tx1"/>
              </a:solidFill>
            </a:endParaRPr>
          </a:p>
          <a:p>
            <a:r>
              <a:rPr lang="en-US" dirty="0" smtClean="0">
                <a:solidFill>
                  <a:schemeClr val="tx1"/>
                </a:solidFill>
              </a:rPr>
              <a:t>A list with the restriction that insertion and deletion can be performed only from one end.</a:t>
            </a:r>
          </a:p>
          <a:p>
            <a:r>
              <a:rPr lang="en-US" dirty="0" smtClean="0">
                <a:solidFill>
                  <a:schemeClr val="tx1"/>
                </a:solidFill>
              </a:rPr>
              <a:t>stack </a:t>
            </a:r>
            <a:r>
              <a:rPr lang="en-US" dirty="0">
                <a:solidFill>
                  <a:schemeClr val="tx1"/>
                </a:solidFill>
              </a:rPr>
              <a:t>is as a last in, first out (LIFO) abstract data type and linear data structure. </a:t>
            </a:r>
            <a:endParaRPr lang="en-US" dirty="0" smtClean="0">
              <a:solidFill>
                <a:schemeClr val="tx1"/>
              </a:solidFill>
            </a:endParaRPr>
          </a:p>
          <a:p>
            <a:r>
              <a:rPr lang="en-US" dirty="0" smtClean="0">
                <a:solidFill>
                  <a:schemeClr val="tx1"/>
                </a:solidFill>
              </a:rPr>
              <a:t>Linked </a:t>
            </a:r>
            <a:r>
              <a:rPr lang="en-US" dirty="0">
                <a:solidFill>
                  <a:schemeClr val="tx1"/>
                </a:solidFill>
              </a:rPr>
              <a:t>list is a data structure consisting of a group of nodes which together represent a sequence. </a:t>
            </a:r>
            <a:endParaRPr lang="en-US" dirty="0" smtClean="0">
              <a:solidFill>
                <a:schemeClr val="tx1"/>
              </a:solidFill>
            </a:endParaRPr>
          </a:p>
          <a:p>
            <a:r>
              <a:rPr lang="en-US" dirty="0" smtClean="0">
                <a:solidFill>
                  <a:srgbClr val="002060"/>
                </a:solidFill>
              </a:rPr>
              <a:t>Here </a:t>
            </a:r>
            <a:r>
              <a:rPr lang="en-US" dirty="0">
                <a:solidFill>
                  <a:srgbClr val="002060"/>
                </a:solidFill>
              </a:rPr>
              <a:t>we need to apply the application of </a:t>
            </a:r>
            <a:r>
              <a:rPr lang="en-US" dirty="0" smtClean="0">
                <a:solidFill>
                  <a:srgbClr val="002060"/>
                </a:solidFill>
              </a:rPr>
              <a:t>linked list </a:t>
            </a:r>
            <a:r>
              <a:rPr lang="en-US" dirty="0">
                <a:solidFill>
                  <a:srgbClr val="002060"/>
                </a:solidFill>
              </a:rPr>
              <a:t>to perform basic operations of stack</a:t>
            </a:r>
            <a:r>
              <a:rPr lang="en-US" dirty="0" smtClean="0">
                <a:solidFill>
                  <a:srgbClr val="002060"/>
                </a:solidFill>
              </a:rPr>
              <a:t>.</a:t>
            </a:r>
          </a:p>
          <a:p>
            <a:endParaRPr lang="en-US" dirty="0">
              <a:solidFill>
                <a:srgbClr val="002060"/>
              </a:solidFill>
            </a:endParaRPr>
          </a:p>
        </p:txBody>
      </p:sp>
      <p:sp>
        <p:nvSpPr>
          <p:cNvPr id="4" name="Content Placeholder 3"/>
          <p:cNvSpPr txBox="1">
            <a:spLocks/>
          </p:cNvSpPr>
          <p:nvPr/>
        </p:nvSpPr>
        <p:spPr>
          <a:xfrm>
            <a:off x="1758833" y="5377528"/>
            <a:ext cx="3643051" cy="134394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lt1"/>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lt1"/>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lt1"/>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lt1"/>
                </a:solidFill>
                <a:latin typeface="+mn-lt"/>
                <a:ea typeface="+mn-ea"/>
                <a:cs typeface="+mn-cs"/>
              </a:defRPr>
            </a:lvl9pPr>
          </a:lstStyle>
          <a:p>
            <a:pPr algn="ctr"/>
            <a:r>
              <a:rPr lang="en-US" dirty="0" smtClean="0"/>
              <a:t>Refer Program here</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021079195"/>
              </p:ext>
            </p:extLst>
          </p:nvPr>
        </p:nvGraphicFramePr>
        <p:xfrm>
          <a:off x="5905500" y="5810250"/>
          <a:ext cx="439738" cy="481013"/>
        </p:xfrm>
        <a:graphic>
          <a:graphicData uri="http://schemas.openxmlformats.org/presentationml/2006/ole">
            <mc:AlternateContent xmlns:mc="http://schemas.openxmlformats.org/markup-compatibility/2006">
              <mc:Choice xmlns:v="urn:schemas-microsoft-com:vml" Requires="v">
                <p:oleObj spid="_x0000_s7238" name="Packager Shell Object" showAsIcon="1" r:id="rId3" imgW="440280" imgH="481320" progId="Package">
                  <p:embed/>
                </p:oleObj>
              </mc:Choice>
              <mc:Fallback>
                <p:oleObj name="Packager Shell Object" showAsIcon="1" r:id="rId3" imgW="440280" imgH="481320" progId="Package">
                  <p:embed/>
                  <p:pic>
                    <p:nvPicPr>
                      <p:cNvPr id="0" name=""/>
                      <p:cNvPicPr/>
                      <p:nvPr/>
                    </p:nvPicPr>
                    <p:blipFill>
                      <a:blip r:embed="rId4"/>
                      <a:stretch>
                        <a:fillRect/>
                      </a:stretch>
                    </p:blipFill>
                    <p:spPr>
                      <a:xfrm>
                        <a:off x="5905500" y="5810250"/>
                        <a:ext cx="439738" cy="481013"/>
                      </a:xfrm>
                      <a:prstGeom prst="rect">
                        <a:avLst/>
                      </a:prstGeom>
                    </p:spPr>
                  </p:pic>
                </p:oleObj>
              </mc:Fallback>
            </mc:AlternateContent>
          </a:graphicData>
        </a:graphic>
      </p:graphicFrame>
    </p:spTree>
    <p:extLst>
      <p:ext uri="{BB962C8B-B14F-4D97-AF65-F5344CB8AC3E}">
        <p14:creationId xmlns:p14="http://schemas.microsoft.com/office/powerpoint/2010/main" val="41746910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Polish Notation</a:t>
            </a:r>
            <a:endParaRPr lang="en-US" dirty="0"/>
          </a:p>
        </p:txBody>
      </p:sp>
      <p:pic>
        <p:nvPicPr>
          <p:cNvPr id="9218" name="Picture 2" descr="C:\Users\sanwarul\Desktop\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6081" y="1276021"/>
            <a:ext cx="8735644" cy="5048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67031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Infix  Notation</a:t>
            </a:r>
          </a:p>
        </p:txBody>
      </p:sp>
      <p:sp>
        <p:nvSpPr>
          <p:cNvPr id="5123" name="Rectangle 3"/>
          <p:cNvSpPr>
            <a:spLocks noGrp="1" noChangeArrowheads="1"/>
          </p:cNvSpPr>
          <p:nvPr>
            <p:ph type="body" idx="1"/>
          </p:nvPr>
        </p:nvSpPr>
        <p:spPr/>
        <p:txBody>
          <a:bodyPr/>
          <a:lstStyle/>
          <a:p>
            <a:r>
              <a:rPr lang="en-US" altLang="en-US"/>
              <a:t>To add A, B, we write</a:t>
            </a:r>
          </a:p>
          <a:p>
            <a:pPr>
              <a:buFont typeface="Monotype Sorts" pitchFamily="32" charset="2"/>
              <a:buNone/>
            </a:pPr>
            <a:r>
              <a:rPr lang="en-US" altLang="en-US"/>
              <a:t>				A+B</a:t>
            </a:r>
          </a:p>
          <a:p>
            <a:r>
              <a:rPr lang="en-US" altLang="en-US"/>
              <a:t>To multiply A, B, we write</a:t>
            </a:r>
          </a:p>
          <a:p>
            <a:pPr>
              <a:buFont typeface="Monotype Sorts" pitchFamily="32" charset="2"/>
              <a:buNone/>
            </a:pPr>
            <a:r>
              <a:rPr lang="en-US" altLang="en-US"/>
              <a:t>				A*B</a:t>
            </a:r>
          </a:p>
          <a:p>
            <a:r>
              <a:rPr lang="en-US" altLang="en-US"/>
              <a:t>The operators ('+' and '*') go in between the operands ('A' and 'B')</a:t>
            </a:r>
          </a:p>
          <a:p>
            <a:r>
              <a:rPr lang="en-US" altLang="en-US"/>
              <a:t>This is </a:t>
            </a:r>
            <a:r>
              <a:rPr lang="en-US" altLang="en-US" i="1"/>
              <a:t>"Infix"</a:t>
            </a:r>
            <a:r>
              <a:rPr lang="en-US" altLang="en-US"/>
              <a:t> notation.</a:t>
            </a:r>
          </a:p>
        </p:txBody>
      </p:sp>
    </p:spTree>
    <p:extLst>
      <p:ext uri="{BB962C8B-B14F-4D97-AF65-F5344CB8AC3E}">
        <p14:creationId xmlns:p14="http://schemas.microsoft.com/office/powerpoint/2010/main" val="1075698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dissolve">
                                      <p:cBhvr>
                                        <p:cTn id="7" dur="500"/>
                                        <p:tgtEl>
                                          <p:spTgt spid="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dissolve">
                                      <p:cBhvr>
                                        <p:cTn id="12" dur="500"/>
                                        <p:tgtEl>
                                          <p:spTgt spid="5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dissolve">
                                      <p:cBhvr>
                                        <p:cTn id="17" dur="500"/>
                                        <p:tgtEl>
                                          <p:spTgt spid="51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dissolve">
                                      <p:cBhvr>
                                        <p:cTn id="22" dur="500"/>
                                        <p:tgtEl>
                                          <p:spTgt spid="51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dissolve">
                                      <p:cBhvr>
                                        <p:cTn id="27" dur="500"/>
                                        <p:tgtEl>
                                          <p:spTgt spid="512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animEffect transition="in" filter="dissolve">
                                      <p:cBhvr>
                                        <p:cTn id="32"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ltLang="en-US"/>
              <a:t>Prefix Notation</a:t>
            </a:r>
          </a:p>
        </p:txBody>
      </p:sp>
      <p:sp>
        <p:nvSpPr>
          <p:cNvPr id="1027" name="Rectangle 3"/>
          <p:cNvSpPr>
            <a:spLocks noGrp="1" noChangeArrowheads="1"/>
          </p:cNvSpPr>
          <p:nvPr>
            <p:ph type="body" idx="1"/>
          </p:nvPr>
        </p:nvSpPr>
        <p:spPr/>
        <p:txBody>
          <a:bodyPr/>
          <a:lstStyle/>
          <a:p>
            <a:r>
              <a:rPr lang="en-US" altLang="en-US"/>
              <a:t>Instead of saying "A plus B", we could say "add A,B " and write</a:t>
            </a:r>
          </a:p>
          <a:p>
            <a:pPr>
              <a:buFont typeface="Monotype Sorts" pitchFamily="32" charset="2"/>
              <a:buNone/>
            </a:pPr>
            <a:r>
              <a:rPr lang="en-US" altLang="en-US"/>
              <a:t>				+ A B</a:t>
            </a:r>
          </a:p>
          <a:p>
            <a:r>
              <a:rPr lang="en-US" altLang="en-US"/>
              <a:t>"Multiply A,B" would be written</a:t>
            </a:r>
          </a:p>
          <a:p>
            <a:pPr>
              <a:buFont typeface="Monotype Sorts" pitchFamily="32" charset="2"/>
              <a:buNone/>
            </a:pPr>
            <a:r>
              <a:rPr lang="en-US" altLang="en-US"/>
              <a:t>				* A B</a:t>
            </a:r>
          </a:p>
          <a:p>
            <a:r>
              <a:rPr lang="en-US" altLang="en-US"/>
              <a:t>This is </a:t>
            </a:r>
            <a:r>
              <a:rPr lang="en-US" altLang="en-US" i="1"/>
              <a:t>Prefix</a:t>
            </a:r>
            <a:r>
              <a:rPr lang="en-US" altLang="en-US"/>
              <a:t> notation.</a:t>
            </a:r>
          </a:p>
          <a:p>
            <a:pPr>
              <a:buFont typeface="Monotype Sorts" pitchFamily="32" charset="2"/>
              <a:buNone/>
            </a:pPr>
            <a:endParaRPr lang="en-US" altLang="en-US"/>
          </a:p>
        </p:txBody>
      </p:sp>
    </p:spTree>
    <p:extLst>
      <p:ext uri="{BB962C8B-B14F-4D97-AF65-F5344CB8AC3E}">
        <p14:creationId xmlns:p14="http://schemas.microsoft.com/office/powerpoint/2010/main" val="2934535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dissolve">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dissolve">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dissolve">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dissolve">
                                      <p:cBhvr>
                                        <p:cTn id="22" dur="500"/>
                                        <p:tgtEl>
                                          <p:spTgt spid="10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27">
                                            <p:txEl>
                                              <p:pRg st="4" end="4"/>
                                            </p:txEl>
                                          </p:spTgt>
                                        </p:tgtEl>
                                        <p:attrNameLst>
                                          <p:attrName>style.visibility</p:attrName>
                                        </p:attrNameLst>
                                      </p:cBhvr>
                                      <p:to>
                                        <p:strVal val="visible"/>
                                      </p:to>
                                    </p:set>
                                    <p:animEffect transition="in" filter="dissolve">
                                      <p:cBhvr>
                                        <p:cTn id="27"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Postfix Notation</a:t>
            </a:r>
          </a:p>
        </p:txBody>
      </p:sp>
      <p:sp>
        <p:nvSpPr>
          <p:cNvPr id="6147" name="Rectangle 3"/>
          <p:cNvSpPr>
            <a:spLocks noGrp="1" noChangeArrowheads="1"/>
          </p:cNvSpPr>
          <p:nvPr>
            <p:ph type="body" idx="1"/>
          </p:nvPr>
        </p:nvSpPr>
        <p:spPr/>
        <p:txBody>
          <a:bodyPr/>
          <a:lstStyle/>
          <a:p>
            <a:r>
              <a:rPr lang="en-US" altLang="en-US"/>
              <a:t>Another alternative is to put the operators after the operands as in</a:t>
            </a:r>
          </a:p>
          <a:p>
            <a:pPr>
              <a:buFont typeface="Monotype Sorts" pitchFamily="32" charset="2"/>
              <a:buNone/>
            </a:pPr>
            <a:r>
              <a:rPr lang="en-US" altLang="en-US"/>
              <a:t>				A B +</a:t>
            </a:r>
          </a:p>
          <a:p>
            <a:pPr>
              <a:buFont typeface="Monotype Sorts" pitchFamily="32" charset="2"/>
              <a:buNone/>
            </a:pPr>
            <a:r>
              <a:rPr lang="en-US" altLang="en-US"/>
              <a:t>and</a:t>
            </a:r>
          </a:p>
          <a:p>
            <a:pPr>
              <a:buFont typeface="Monotype Sorts" pitchFamily="32" charset="2"/>
              <a:buNone/>
            </a:pPr>
            <a:r>
              <a:rPr lang="en-US" altLang="en-US"/>
              <a:t>				A B *</a:t>
            </a:r>
          </a:p>
          <a:p>
            <a:r>
              <a:rPr lang="en-US" altLang="en-US"/>
              <a:t>This is </a:t>
            </a:r>
            <a:r>
              <a:rPr lang="en-US" altLang="en-US" i="1"/>
              <a:t>Postfix</a:t>
            </a:r>
            <a:r>
              <a:rPr lang="en-US" altLang="en-US"/>
              <a:t> notation.</a:t>
            </a:r>
          </a:p>
        </p:txBody>
      </p:sp>
    </p:spTree>
    <p:extLst>
      <p:ext uri="{BB962C8B-B14F-4D97-AF65-F5344CB8AC3E}">
        <p14:creationId xmlns:p14="http://schemas.microsoft.com/office/powerpoint/2010/main" val="1955660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dissolve">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dissolve">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dissolve">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dissolve">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dissolve">
                                      <p:cBhvr>
                                        <p:cTn id="27"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51678" y="382386"/>
            <a:ext cx="10178322" cy="6227964"/>
          </a:xfrm>
          <a:prstGeom prst="rect">
            <a:avLst/>
          </a:prstGeom>
        </p:spPr>
      </p:pic>
    </p:spTree>
    <p:extLst>
      <p:ext uri="{BB962C8B-B14F-4D97-AF65-F5344CB8AC3E}">
        <p14:creationId xmlns:p14="http://schemas.microsoft.com/office/powerpoint/2010/main" val="32226285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Parentheses</a:t>
            </a:r>
          </a:p>
        </p:txBody>
      </p:sp>
      <p:sp>
        <p:nvSpPr>
          <p:cNvPr id="8195" name="Rectangle 3"/>
          <p:cNvSpPr>
            <a:spLocks noGrp="1" noChangeArrowheads="1"/>
          </p:cNvSpPr>
          <p:nvPr>
            <p:ph type="body" idx="1"/>
          </p:nvPr>
        </p:nvSpPr>
        <p:spPr/>
        <p:txBody>
          <a:bodyPr/>
          <a:lstStyle/>
          <a:p>
            <a:r>
              <a:rPr lang="en-US" altLang="en-US"/>
              <a:t>Evaluate 2+3*5.</a:t>
            </a:r>
          </a:p>
          <a:p>
            <a:r>
              <a:rPr lang="en-US" altLang="en-US"/>
              <a:t>+ First: </a:t>
            </a:r>
          </a:p>
          <a:p>
            <a:pPr>
              <a:buFont typeface="Monotype Sorts" pitchFamily="32" charset="2"/>
              <a:buNone/>
            </a:pPr>
            <a:r>
              <a:rPr lang="en-US" altLang="en-US"/>
              <a:t>			(2+3)*5 = 5*5 = 25</a:t>
            </a:r>
          </a:p>
          <a:p>
            <a:r>
              <a:rPr lang="en-US" altLang="en-US"/>
              <a:t>* First: </a:t>
            </a:r>
          </a:p>
          <a:p>
            <a:pPr>
              <a:buFont typeface="Monotype Sorts" pitchFamily="32" charset="2"/>
              <a:buNone/>
            </a:pPr>
            <a:r>
              <a:rPr lang="en-US" altLang="en-US"/>
              <a:t>			2+(3*5) = 2+15 = 17</a:t>
            </a:r>
          </a:p>
          <a:p>
            <a:r>
              <a:rPr lang="en-US" altLang="en-US"/>
              <a:t>Infix notation requires Parentheses.</a:t>
            </a:r>
          </a:p>
        </p:txBody>
      </p:sp>
    </p:spTree>
    <p:extLst>
      <p:ext uri="{BB962C8B-B14F-4D97-AF65-F5344CB8AC3E}">
        <p14:creationId xmlns:p14="http://schemas.microsoft.com/office/powerpoint/2010/main" val="3775622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dissolve">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dissolve">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dissolve">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dissolve">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dissolve">
                                      <p:cBhvr>
                                        <p:cTn id="27" dur="500"/>
                                        <p:tgtEl>
                                          <p:spTgt spid="81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dissolve">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What about Prefix Notation?</a:t>
            </a:r>
          </a:p>
        </p:txBody>
      </p:sp>
      <p:sp>
        <p:nvSpPr>
          <p:cNvPr id="9219" name="Rectangle 3"/>
          <p:cNvSpPr>
            <a:spLocks noGrp="1" noChangeArrowheads="1"/>
          </p:cNvSpPr>
          <p:nvPr>
            <p:ph type="body" idx="1"/>
          </p:nvPr>
        </p:nvSpPr>
        <p:spPr/>
        <p:txBody>
          <a:bodyPr/>
          <a:lstStyle/>
          <a:p>
            <a:r>
              <a:rPr lang="en-US" altLang="en-US"/>
              <a:t> + 2 * 3 5 =</a:t>
            </a:r>
          </a:p>
          <a:p>
            <a:pPr>
              <a:buFont typeface="Monotype Sorts" pitchFamily="32" charset="2"/>
              <a:buNone/>
            </a:pPr>
            <a:r>
              <a:rPr lang="en-US" altLang="en-US"/>
              <a:t>			   = + 2 </a:t>
            </a:r>
            <a:r>
              <a:rPr lang="en-US" altLang="en-US" u="sng"/>
              <a:t>* 3 5</a:t>
            </a:r>
            <a:r>
              <a:rPr lang="en-US" altLang="en-US"/>
              <a:t> </a:t>
            </a:r>
          </a:p>
          <a:p>
            <a:pPr>
              <a:buFont typeface="Monotype Sorts" pitchFamily="32" charset="2"/>
              <a:buNone/>
            </a:pPr>
            <a:r>
              <a:rPr lang="en-US" altLang="en-US"/>
              <a:t>			   = </a:t>
            </a:r>
            <a:r>
              <a:rPr lang="en-US" altLang="en-US" u="sng"/>
              <a:t>+ 2 15</a:t>
            </a:r>
            <a:r>
              <a:rPr lang="en-US" altLang="en-US"/>
              <a:t> = 17</a:t>
            </a:r>
          </a:p>
          <a:p>
            <a:r>
              <a:rPr lang="en-US" altLang="en-US"/>
              <a:t> * + 2 3 5 =</a:t>
            </a:r>
          </a:p>
          <a:p>
            <a:pPr>
              <a:buFont typeface="Monotype Sorts" pitchFamily="32" charset="2"/>
              <a:buNone/>
            </a:pPr>
            <a:r>
              <a:rPr lang="en-US" altLang="en-US"/>
              <a:t>			   = * </a:t>
            </a:r>
            <a:r>
              <a:rPr lang="en-US" altLang="en-US" u="sng"/>
              <a:t>+ 2 3</a:t>
            </a:r>
            <a:r>
              <a:rPr lang="en-US" altLang="en-US"/>
              <a:t> 5</a:t>
            </a:r>
          </a:p>
          <a:p>
            <a:pPr>
              <a:buFont typeface="Monotype Sorts" pitchFamily="32" charset="2"/>
              <a:buNone/>
            </a:pPr>
            <a:r>
              <a:rPr lang="en-US" altLang="en-US"/>
              <a:t>			   = </a:t>
            </a:r>
            <a:r>
              <a:rPr lang="en-US" altLang="en-US" u="sng"/>
              <a:t>* 5 5</a:t>
            </a:r>
            <a:r>
              <a:rPr lang="en-US" altLang="en-US"/>
              <a:t>  = 25</a:t>
            </a:r>
          </a:p>
          <a:p>
            <a:r>
              <a:rPr lang="en-US" altLang="en-US"/>
              <a:t>No parentheses needed!</a:t>
            </a:r>
          </a:p>
        </p:txBody>
      </p:sp>
    </p:spTree>
    <p:extLst>
      <p:ext uri="{BB962C8B-B14F-4D97-AF65-F5344CB8AC3E}">
        <p14:creationId xmlns:p14="http://schemas.microsoft.com/office/powerpoint/2010/main" val="190309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dissolve">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dissolve">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dissolve">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dissolve">
                                      <p:cBhvr>
                                        <p:cTn id="22" dur="500"/>
                                        <p:tgtEl>
                                          <p:spTgt spid="9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dissolve">
                                      <p:cBhvr>
                                        <p:cTn id="27" dur="500"/>
                                        <p:tgtEl>
                                          <p:spTgt spid="92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dissolve">
                                      <p:cBhvr>
                                        <p:cTn id="32" dur="500"/>
                                        <p:tgtEl>
                                          <p:spTgt spid="921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animEffect transition="in" filter="dissolve">
                                      <p:cBhvr>
                                        <p:cTn id="37" dur="500"/>
                                        <p:tgtEl>
                                          <p:spTgt spid="9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Postfix Notation</a:t>
            </a:r>
          </a:p>
        </p:txBody>
      </p:sp>
      <p:sp>
        <p:nvSpPr>
          <p:cNvPr id="10243" name="Rectangle 3"/>
          <p:cNvSpPr>
            <a:spLocks noGrp="1" noChangeArrowheads="1"/>
          </p:cNvSpPr>
          <p:nvPr>
            <p:ph type="body" idx="1"/>
          </p:nvPr>
        </p:nvSpPr>
        <p:spPr/>
        <p:txBody>
          <a:bodyPr/>
          <a:lstStyle/>
          <a:p>
            <a:r>
              <a:rPr lang="en-US" altLang="en-US"/>
              <a:t> 2 3 5 * + =</a:t>
            </a:r>
          </a:p>
          <a:p>
            <a:pPr>
              <a:buFont typeface="Monotype Sorts" pitchFamily="32" charset="2"/>
              <a:buNone/>
            </a:pPr>
            <a:r>
              <a:rPr lang="en-US" altLang="en-US"/>
              <a:t>			   = 2 </a:t>
            </a:r>
            <a:r>
              <a:rPr lang="en-US" altLang="en-US" u="sng"/>
              <a:t>3 5 *</a:t>
            </a:r>
            <a:r>
              <a:rPr lang="en-US" altLang="en-US"/>
              <a:t> + </a:t>
            </a:r>
          </a:p>
          <a:p>
            <a:pPr>
              <a:buFont typeface="Monotype Sorts" pitchFamily="32" charset="2"/>
              <a:buNone/>
            </a:pPr>
            <a:r>
              <a:rPr lang="en-US" altLang="en-US"/>
              <a:t>			   = </a:t>
            </a:r>
            <a:r>
              <a:rPr lang="en-US" altLang="en-US" u="sng"/>
              <a:t>2 15 +</a:t>
            </a:r>
            <a:r>
              <a:rPr lang="en-US" altLang="en-US"/>
              <a:t> = 17</a:t>
            </a:r>
          </a:p>
          <a:p>
            <a:r>
              <a:rPr lang="en-US" altLang="en-US"/>
              <a:t> 2 3 + 5 * =</a:t>
            </a:r>
          </a:p>
          <a:p>
            <a:pPr>
              <a:buFont typeface="Monotype Sorts" pitchFamily="32" charset="2"/>
              <a:buNone/>
            </a:pPr>
            <a:r>
              <a:rPr lang="en-US" altLang="en-US"/>
              <a:t>			   = </a:t>
            </a:r>
            <a:r>
              <a:rPr lang="en-US" altLang="en-US" u="sng"/>
              <a:t>2 3 +</a:t>
            </a:r>
            <a:r>
              <a:rPr lang="en-US" altLang="en-US"/>
              <a:t> 5 *</a:t>
            </a:r>
          </a:p>
          <a:p>
            <a:pPr>
              <a:buFont typeface="Monotype Sorts" pitchFamily="32" charset="2"/>
              <a:buNone/>
            </a:pPr>
            <a:r>
              <a:rPr lang="en-US" altLang="en-US"/>
              <a:t>			   = </a:t>
            </a:r>
            <a:r>
              <a:rPr lang="en-US" altLang="en-US" u="sng"/>
              <a:t>5 5 *</a:t>
            </a:r>
            <a:r>
              <a:rPr lang="en-US" altLang="en-US"/>
              <a:t> = 25</a:t>
            </a:r>
          </a:p>
          <a:p>
            <a:r>
              <a:rPr lang="en-US" altLang="en-US"/>
              <a:t>No parentheses needed here either!</a:t>
            </a:r>
          </a:p>
        </p:txBody>
      </p:sp>
    </p:spTree>
    <p:extLst>
      <p:ext uri="{BB962C8B-B14F-4D97-AF65-F5344CB8AC3E}">
        <p14:creationId xmlns:p14="http://schemas.microsoft.com/office/powerpoint/2010/main" val="13161292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dissolve">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dissolve">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dissolve">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dissolve">
                                      <p:cBhvr>
                                        <p:cTn id="22" dur="500"/>
                                        <p:tgtEl>
                                          <p:spTgt spid="10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dissolve">
                                      <p:cBhvr>
                                        <p:cTn id="27" dur="500"/>
                                        <p:tgtEl>
                                          <p:spTgt spid="102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243">
                                            <p:txEl>
                                              <p:pRg st="5" end="5"/>
                                            </p:txEl>
                                          </p:spTgt>
                                        </p:tgtEl>
                                        <p:attrNameLst>
                                          <p:attrName>style.visibility</p:attrName>
                                        </p:attrNameLst>
                                      </p:cBhvr>
                                      <p:to>
                                        <p:strVal val="visible"/>
                                      </p:to>
                                    </p:set>
                                    <p:animEffect transition="in" filter="dissolve">
                                      <p:cBhvr>
                                        <p:cTn id="32" dur="500"/>
                                        <p:tgtEl>
                                          <p:spTgt spid="102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Effect transition="in" filter="dissolve">
                                      <p:cBhvr>
                                        <p:cTn id="37"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t>Conclusion:</a:t>
            </a:r>
          </a:p>
        </p:txBody>
      </p:sp>
      <p:sp>
        <p:nvSpPr>
          <p:cNvPr id="11267" name="Rectangle 3"/>
          <p:cNvSpPr>
            <a:spLocks noGrp="1" noChangeArrowheads="1"/>
          </p:cNvSpPr>
          <p:nvPr>
            <p:ph type="body" idx="1"/>
          </p:nvPr>
        </p:nvSpPr>
        <p:spPr/>
        <p:txBody>
          <a:bodyPr/>
          <a:lstStyle/>
          <a:p>
            <a:r>
              <a:rPr lang="en-US" altLang="en-US"/>
              <a:t>Infix is the only notation that requires parentheses in order to change the order in which the operations are done.</a:t>
            </a:r>
          </a:p>
        </p:txBody>
      </p:sp>
    </p:spTree>
    <p:extLst>
      <p:ext uri="{BB962C8B-B14F-4D97-AF65-F5344CB8AC3E}">
        <p14:creationId xmlns:p14="http://schemas.microsoft.com/office/powerpoint/2010/main" val="1715188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dissolve">
                                      <p:cBhvr>
                                        <p:cTn id="7" dur="500"/>
                                        <p:tgtEl>
                                          <p:spTgt spid="112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altLang="en-US" dirty="0"/>
              <a:t>Fully Parenthesized </a:t>
            </a:r>
            <a:r>
              <a:rPr lang="en-US" altLang="en-US" dirty="0" smtClean="0"/>
              <a:t>Expression</a:t>
            </a:r>
            <a:endParaRPr lang="en-US" altLang="en-US" dirty="0"/>
          </a:p>
        </p:txBody>
      </p:sp>
      <p:sp>
        <p:nvSpPr>
          <p:cNvPr id="15363" name="Rectangle 3"/>
          <p:cNvSpPr>
            <a:spLocks noGrp="1" noChangeArrowheads="1"/>
          </p:cNvSpPr>
          <p:nvPr>
            <p:ph type="body" idx="1"/>
          </p:nvPr>
        </p:nvSpPr>
        <p:spPr/>
        <p:txBody>
          <a:bodyPr/>
          <a:lstStyle/>
          <a:p>
            <a:r>
              <a:rPr lang="en-US" altLang="en-US" dirty="0"/>
              <a:t>A fully parenthesized infix arithmetic expression is an infix arithmetic expression where every operator and its arguments are contained in parentheses.</a:t>
            </a:r>
          </a:p>
          <a:p>
            <a:r>
              <a:rPr lang="en-US" altLang="en-US" dirty="0"/>
              <a:t>Which is fully parenthesized?</a:t>
            </a:r>
          </a:p>
          <a:p>
            <a:pPr>
              <a:buFont typeface="Monotype Sorts" pitchFamily="32" charset="2"/>
              <a:buNone/>
            </a:pPr>
            <a:r>
              <a:rPr lang="en-US" altLang="en-US" dirty="0"/>
              <a:t>				( A + B ) * C</a:t>
            </a:r>
          </a:p>
          <a:p>
            <a:pPr>
              <a:buFont typeface="Monotype Sorts" pitchFamily="32" charset="2"/>
              <a:buNone/>
            </a:pPr>
            <a:r>
              <a:rPr lang="en-US" altLang="en-US" dirty="0">
                <a:solidFill>
                  <a:srgbClr val="FF0000"/>
                </a:solidFill>
              </a:rPr>
              <a:t>			     ( ( A + B) * C )</a:t>
            </a:r>
          </a:p>
          <a:p>
            <a:pPr>
              <a:buFont typeface="Monotype Sorts" pitchFamily="32" charset="2"/>
              <a:buNone/>
            </a:pPr>
            <a:r>
              <a:rPr lang="en-US" altLang="en-US" dirty="0"/>
              <a:t>			     ( ( A + B) * ( C ) </a:t>
            </a:r>
            <a:r>
              <a:rPr lang="en-US" altLang="en-US" dirty="0" smtClean="0"/>
              <a:t>)</a:t>
            </a:r>
          </a:p>
          <a:p>
            <a:pPr>
              <a:buFont typeface="Monotype Sorts" pitchFamily="32" charset="2"/>
              <a:buNone/>
            </a:pPr>
            <a:r>
              <a:rPr lang="en-US" dirty="0" smtClean="0"/>
              <a:t>                                           </a:t>
            </a:r>
            <a:r>
              <a:rPr lang="en-US" dirty="0" smtClean="0">
                <a:solidFill>
                  <a:srgbClr val="FF0000"/>
                </a:solidFill>
              </a:rPr>
              <a:t>(</a:t>
            </a:r>
            <a:r>
              <a:rPr lang="en-US" dirty="0">
                <a:solidFill>
                  <a:srgbClr val="FF0000"/>
                </a:solidFill>
              </a:rPr>
              <a:t>2+3</a:t>
            </a:r>
            <a:r>
              <a:rPr lang="en-US" dirty="0" smtClean="0">
                <a:solidFill>
                  <a:srgbClr val="FF0000"/>
                </a:solidFill>
              </a:rPr>
              <a:t>)</a:t>
            </a:r>
          </a:p>
          <a:p>
            <a:pPr>
              <a:buFont typeface="Monotype Sorts" pitchFamily="32" charset="2"/>
              <a:buNone/>
            </a:pPr>
            <a:r>
              <a:rPr lang="en-US" dirty="0">
                <a:solidFill>
                  <a:srgbClr val="FF0000"/>
                </a:solidFill>
              </a:rPr>
              <a:t> </a:t>
            </a:r>
            <a:r>
              <a:rPr lang="en-US" dirty="0" smtClean="0">
                <a:solidFill>
                  <a:srgbClr val="FF0000"/>
                </a:solidFill>
              </a:rPr>
              <a:t>                                            (</a:t>
            </a:r>
            <a:r>
              <a:rPr lang="en-US" dirty="0">
                <a:solidFill>
                  <a:srgbClr val="FF0000"/>
                </a:solidFill>
              </a:rPr>
              <a:t>1+((2+3)∗(4∗5)))</a:t>
            </a:r>
            <a:endParaRPr lang="en-US" altLang="en-US" dirty="0">
              <a:solidFill>
                <a:srgbClr val="FF0000"/>
              </a:solidFill>
            </a:endParaRPr>
          </a:p>
        </p:txBody>
      </p:sp>
    </p:spTree>
    <p:extLst>
      <p:ext uri="{BB962C8B-B14F-4D97-AF65-F5344CB8AC3E}">
        <p14:creationId xmlns:p14="http://schemas.microsoft.com/office/powerpoint/2010/main" val="4045480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dissolve">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dissolve">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dissolve">
                                      <p:cBhvr>
                                        <p:cTn id="17" dur="500"/>
                                        <p:tgtEl>
                                          <p:spTgt spid="15363">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5363">
                                            <p:txEl>
                                              <p:pRg st="3" end="3"/>
                                            </p:txEl>
                                          </p:spTgt>
                                        </p:tgtEl>
                                        <p:attrNameLst>
                                          <p:attrName>style.visibility</p:attrName>
                                        </p:attrNameLst>
                                      </p:cBhvr>
                                      <p:to>
                                        <p:strVal val="visible"/>
                                      </p:to>
                                    </p:set>
                                    <p:animEffect transition="in" filter="dissolve">
                                      <p:cBhvr>
                                        <p:cTn id="20" dur="500"/>
                                        <p:tgtEl>
                                          <p:spTgt spid="15363">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5363">
                                            <p:txEl>
                                              <p:pRg st="4" end="4"/>
                                            </p:txEl>
                                          </p:spTgt>
                                        </p:tgtEl>
                                        <p:attrNameLst>
                                          <p:attrName>style.visibility</p:attrName>
                                        </p:attrNameLst>
                                      </p:cBhvr>
                                      <p:to>
                                        <p:strVal val="visible"/>
                                      </p:to>
                                    </p:set>
                                    <p:animEffect transition="in" filter="dissolve">
                                      <p:cBhvr>
                                        <p:cTn id="23" dur="500"/>
                                        <p:tgtEl>
                                          <p:spTgt spid="1536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5363">
                                            <p:txEl>
                                              <p:pRg st="5" end="5"/>
                                            </p:txEl>
                                          </p:spTgt>
                                        </p:tgtEl>
                                        <p:attrNameLst>
                                          <p:attrName>style.visibility</p:attrName>
                                        </p:attrNameLst>
                                      </p:cBhvr>
                                      <p:to>
                                        <p:strVal val="visible"/>
                                      </p:to>
                                    </p:set>
                                    <p:animEffect transition="in" filter="dissolve">
                                      <p:cBhvr>
                                        <p:cTn id="28" dur="500"/>
                                        <p:tgtEl>
                                          <p:spTgt spid="1536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5363">
                                            <p:txEl>
                                              <p:pRg st="6" end="6"/>
                                            </p:txEl>
                                          </p:spTgt>
                                        </p:tgtEl>
                                        <p:attrNameLst>
                                          <p:attrName>style.visibility</p:attrName>
                                        </p:attrNameLst>
                                      </p:cBhvr>
                                      <p:to>
                                        <p:strVal val="visible"/>
                                      </p:to>
                                    </p:set>
                                    <p:animEffect transition="in" filter="dissolve">
                                      <p:cBhvr>
                                        <p:cTn id="33"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3069660-04C3-2007-F0BE-003DE61E7260}"/>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Infix Notation</a:t>
            </a:r>
          </a:p>
        </p:txBody>
      </p:sp>
      <p:sp>
        <p:nvSpPr>
          <p:cNvPr id="21507" name="Rectangle 3">
            <a:extLst>
              <a:ext uri="{FF2B5EF4-FFF2-40B4-BE49-F238E27FC236}">
                <a16:creationId xmlns:a16="http://schemas.microsoft.com/office/drawing/2014/main" id="{7B75B273-5FB0-4FD9-5B3B-532A0BDDA118}"/>
              </a:ext>
            </a:extLst>
          </p:cNvPr>
          <p:cNvSpPr txBox="1">
            <a:spLocks noChangeArrowheads="1"/>
          </p:cNvSpPr>
          <p:nvPr/>
        </p:nvSpPr>
        <p:spPr bwMode="auto">
          <a:xfrm>
            <a:off x="1676400" y="1295400"/>
            <a:ext cx="8839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1" fontAlgn="auto" latinLnBrk="0" hangingPunct="1">
              <a:lnSpc>
                <a:spcPct val="105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Infix, Postfix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and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Prefix</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notations are three different but equivalent notations of writing algebraic expressions. </a:t>
            </a:r>
          </a:p>
          <a:p>
            <a:pPr marL="342900" marR="0" lvl="0" indent="-342900" algn="l" defTabSz="914400" rtl="0" eaLnBrk="1" fontAlgn="auto" latinLnBrk="0" hangingPunct="1">
              <a:lnSpc>
                <a:spcPct val="105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While writing an arithmetic expression using infix notation, the operator is placed between the operands. For example, </a:t>
            </a:r>
            <a:r>
              <a:rPr kumimoji="0" lang="en-US" altLang="en-US" sz="2400" b="0" i="1" u="none" strike="noStrike" kern="1200" cap="none" spc="0" normalizeH="0" baseline="0" noProof="0">
                <a:ln>
                  <a:noFill/>
                </a:ln>
                <a:solidFill>
                  <a:srgbClr val="FF0000"/>
                </a:solidFill>
                <a:effectLst/>
                <a:uLnTx/>
                <a:uFillTx/>
                <a:latin typeface="Calibri" panose="020F0502020204030204" pitchFamily="34" charset="0"/>
                <a:ea typeface="+mn-ea"/>
                <a:cs typeface="+mn-cs"/>
              </a:rPr>
              <a:t>A+B</a:t>
            </a:r>
            <a:r>
              <a:rPr kumimoji="0" lang="en-US" altLang="en-US" sz="2400" b="0" i="1"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here, plus operator is placed between the two operands A and B. </a:t>
            </a:r>
          </a:p>
          <a:p>
            <a:pPr marL="342900" marR="0" lvl="0" indent="-342900" algn="l" defTabSz="914400" rtl="0" eaLnBrk="1" fontAlgn="auto" latinLnBrk="0" hangingPunct="1">
              <a:lnSpc>
                <a:spcPct val="105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Although it is easy to write expressions using infix notation, computers find it difficult to parse as they need a lot of information to evaluate the expression. </a:t>
            </a:r>
          </a:p>
          <a:p>
            <a:pPr marL="342900" marR="0" lvl="0" indent="-342900" algn="l" defTabSz="914400" rtl="0" eaLnBrk="1" fontAlgn="auto" latinLnBrk="0" hangingPunct="1">
              <a:lnSpc>
                <a:spcPct val="105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Information is needed about operator precedence, associativity rules, and brackets which overrides these rules. </a:t>
            </a:r>
          </a:p>
          <a:p>
            <a:pPr marL="342900" marR="0" lvl="0" indent="-342900" algn="l" defTabSz="914400" rtl="0" eaLnBrk="1" fontAlgn="auto" latinLnBrk="0" hangingPunct="1">
              <a:lnSpc>
                <a:spcPct val="105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So, computers work more efficiently with expressions written using prefix and postfix notations. </a:t>
            </a:r>
          </a:p>
        </p:txBody>
      </p:sp>
    </p:spTree>
    <p:extLst>
      <p:ext uri="{BB962C8B-B14F-4D97-AF65-F5344CB8AC3E}">
        <p14:creationId xmlns:p14="http://schemas.microsoft.com/office/powerpoint/2010/main" val="3550414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64429A83-BE6C-E664-FE2B-433FA690EC8E}"/>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Postfix Notation</a:t>
            </a:r>
          </a:p>
        </p:txBody>
      </p:sp>
      <p:sp>
        <p:nvSpPr>
          <p:cNvPr id="22531" name="Rectangle 3">
            <a:extLst>
              <a:ext uri="{FF2B5EF4-FFF2-40B4-BE49-F238E27FC236}">
                <a16:creationId xmlns:a16="http://schemas.microsoft.com/office/drawing/2014/main" id="{6305E4EB-07E3-A0AB-BD42-202A5DBC76C8}"/>
              </a:ext>
            </a:extLst>
          </p:cNvPr>
          <p:cNvSpPr txBox="1">
            <a:spLocks noChangeArrowheads="1"/>
          </p:cNvSpPr>
          <p:nvPr/>
        </p:nvSpPr>
        <p:spPr bwMode="auto">
          <a:xfrm>
            <a:off x="1676400" y="1219200"/>
            <a:ext cx="8686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7145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1717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6289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0861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5433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0005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1" fontAlgn="auto" latinLnBrk="0" hangingPunct="1">
              <a:lnSpc>
                <a:spcPct val="12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Postfix</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notation was given by Jan Łukasiewicz who was a Polish logician, mathematician, and philosopher. His aim was to develop a parenthesis-free prefix notation (also known as Polish notation) and a postfix notation which is better known as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Reverse Polish Notation or RPN.</a:t>
            </a:r>
          </a:p>
          <a:p>
            <a:pPr marL="342900" marR="0" lvl="0" indent="-342900" algn="l" defTabSz="914400" rtl="0" eaLnBrk="1" fontAlgn="auto" latinLnBrk="0" hangingPunct="1">
              <a:lnSpc>
                <a:spcPct val="12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In postfix notation, the operator is placed after the operands. For example, if an expression is written as </a:t>
            </a:r>
            <a:r>
              <a:rPr kumimoji="0" lang="en-US" altLang="en-US" sz="2400" b="0" i="1" u="none" strike="noStrike" kern="1200" cap="none" spc="0" normalizeH="0" baseline="0" noProof="0">
                <a:ln>
                  <a:noFill/>
                </a:ln>
                <a:solidFill>
                  <a:srgbClr val="FF0000"/>
                </a:solidFill>
                <a:effectLst/>
                <a:uLnTx/>
                <a:uFillTx/>
                <a:latin typeface="Calibri" panose="020F0502020204030204" pitchFamily="34" charset="0"/>
                <a:ea typeface="+mn-ea"/>
                <a:cs typeface="+mn-cs"/>
              </a:rPr>
              <a:t>A+B</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in infix notation, the same expression can be written as </a:t>
            </a:r>
            <a:r>
              <a:rPr kumimoji="0" lang="en-US" altLang="en-US" sz="2400" b="0" i="1" u="none" strike="noStrike" kern="1200" cap="none" spc="0" normalizeH="0" baseline="0" noProof="0">
                <a:ln>
                  <a:noFill/>
                </a:ln>
                <a:solidFill>
                  <a:srgbClr val="FF0000"/>
                </a:solidFill>
                <a:effectLst/>
                <a:uLnTx/>
                <a:uFillTx/>
                <a:latin typeface="Calibri" panose="020F0502020204030204" pitchFamily="34" charset="0"/>
                <a:ea typeface="+mn-ea"/>
                <a:cs typeface="+mn-cs"/>
              </a:rPr>
              <a:t>AB+</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in postfix notation. </a:t>
            </a:r>
          </a:p>
          <a:p>
            <a:pPr marL="342900" marR="0" lvl="0" indent="-342900" algn="l" defTabSz="914400" rtl="0" eaLnBrk="1" fontAlgn="auto" latinLnBrk="0" hangingPunct="1">
              <a:lnSpc>
                <a:spcPct val="12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The order of evaluation of a postfix expression is always from left to right. </a:t>
            </a:r>
          </a:p>
        </p:txBody>
      </p:sp>
    </p:spTree>
    <p:extLst>
      <p:ext uri="{BB962C8B-B14F-4D97-AF65-F5344CB8AC3E}">
        <p14:creationId xmlns:p14="http://schemas.microsoft.com/office/powerpoint/2010/main" val="19540416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25219A87-5D86-6393-4411-053E95214C2D}"/>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Postfix Notation</a:t>
            </a:r>
          </a:p>
        </p:txBody>
      </p:sp>
      <p:sp>
        <p:nvSpPr>
          <p:cNvPr id="23555" name="Rectangle 3">
            <a:extLst>
              <a:ext uri="{FF2B5EF4-FFF2-40B4-BE49-F238E27FC236}">
                <a16:creationId xmlns:a16="http://schemas.microsoft.com/office/drawing/2014/main" id="{1607CC4F-C445-2C3F-7683-BB6C8BC50FD4}"/>
              </a:ext>
            </a:extLst>
          </p:cNvPr>
          <p:cNvSpPr txBox="1">
            <a:spLocks noChangeArrowheads="1"/>
          </p:cNvSpPr>
          <p:nvPr/>
        </p:nvSpPr>
        <p:spPr bwMode="auto">
          <a:xfrm>
            <a:off x="1716088" y="1063625"/>
            <a:ext cx="8610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7145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1717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6289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0861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5433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0005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The expression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 + B) * C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is written as:</a:t>
            </a:r>
          </a:p>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AB+C*</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in the postfix notation.</a:t>
            </a:r>
          </a:p>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 postfix operation does not even follow the rules of operator precedence. The operator which occurs first in the expression is operated first on the operands.</a:t>
            </a:r>
          </a:p>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No parenthese </a:t>
            </a:r>
          </a:p>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For example, given a postfix notation AB+C*. While evaluation, addition will be performed prior to multiplication. </a:t>
            </a:r>
          </a:p>
          <a:p>
            <a:pPr marL="342900" marR="0" lvl="0" indent="-342900" algn="l" defTabSz="914400" rtl="0" eaLnBrk="1" fontAlgn="auto" latinLnBrk="0" hangingPunct="1">
              <a:lnSpc>
                <a:spcPct val="180000"/>
              </a:lnSpc>
              <a:spcBef>
                <a:spcPct val="20000"/>
              </a:spcBef>
              <a:spcAft>
                <a:spcPts val="0"/>
              </a:spcAft>
              <a:buClrTx/>
              <a:buSzTx/>
              <a:buFont typeface="Arial" panose="020B0604020202020204" pitchFamily="34" charset="0"/>
              <a:buNone/>
              <a:tabLst/>
              <a:defRPr/>
            </a:pPr>
            <a:endPar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498696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6DFA7647-DE5C-197C-4AAE-DFD39ADC472F}"/>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Prefix Notation</a:t>
            </a:r>
          </a:p>
        </p:txBody>
      </p:sp>
      <p:sp>
        <p:nvSpPr>
          <p:cNvPr id="24579" name="Rectangle 3">
            <a:extLst>
              <a:ext uri="{FF2B5EF4-FFF2-40B4-BE49-F238E27FC236}">
                <a16:creationId xmlns:a16="http://schemas.microsoft.com/office/drawing/2014/main" id="{5CAF98EC-B67D-533A-BA34-20C594099252}"/>
              </a:ext>
            </a:extLst>
          </p:cNvPr>
          <p:cNvSpPr txBox="1">
            <a:spLocks noChangeArrowheads="1"/>
          </p:cNvSpPr>
          <p:nvPr/>
        </p:nvSpPr>
        <p:spPr bwMode="auto">
          <a:xfrm>
            <a:off x="1828800" y="1143000"/>
            <a:ext cx="8610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7145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1717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6289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0861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5433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0005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1" fontAlgn="auto" latinLnBrk="0" hangingPunct="1">
              <a:lnSpc>
                <a:spcPct val="110000"/>
              </a:lnSpc>
              <a:spcBef>
                <a:spcPct val="2000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In a prefix notation, the operator is placed before the operands.</a:t>
            </a:r>
          </a:p>
          <a:p>
            <a:pPr marL="342900" marR="0" lvl="0" indent="-342900" algn="l" defTabSz="914400" rtl="0" eaLnBrk="1" fontAlgn="auto" latinLnBrk="0" hangingPunct="1">
              <a:lnSpc>
                <a:spcPct val="110000"/>
              </a:lnSpc>
              <a:spcBef>
                <a:spcPct val="2000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For example, if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A+B</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is an expression in infix notation, then the corresponding expression in prefix notation is given by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+AB</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a:t>
            </a:r>
          </a:p>
          <a:p>
            <a:pPr marL="342900" marR="0" lvl="0" indent="-342900" algn="l" defTabSz="914400" rtl="0" eaLnBrk="1" fontAlgn="auto" latinLnBrk="0" hangingPunct="1">
              <a:lnSpc>
                <a:spcPct val="110000"/>
              </a:lnSpc>
              <a:spcBef>
                <a:spcPct val="2000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While evaluating a prefix expression, the operators are applied to the operands that are present immediately on the right of the operator. </a:t>
            </a:r>
          </a:p>
          <a:p>
            <a:pPr marL="342900" marR="0" lvl="0" indent="-342900" algn="l" defTabSz="914400" rtl="0" eaLnBrk="1" fontAlgn="auto" latinLnBrk="0" hangingPunct="1">
              <a:lnSpc>
                <a:spcPct val="110000"/>
              </a:lnSpc>
              <a:spcBef>
                <a:spcPct val="2000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Prefix expressions also do not follow the rules of operator precedence, associativity, and even brackets cannot alter the order of evaluation. </a:t>
            </a:r>
          </a:p>
          <a:p>
            <a:pPr marL="342900" marR="0" lvl="0" indent="-342900" algn="l" defTabSz="914400" rtl="0" eaLnBrk="1" fontAlgn="auto" latinLnBrk="0" hangingPunct="1">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The expression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 + B) * C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is written as:</a:t>
            </a:r>
          </a:p>
          <a:p>
            <a:pPr marL="342900" marR="0" lvl="0" indent="-342900" algn="l" defTabSz="914400" rtl="0" eaLnBrk="1" fontAlgn="auto" latinLnBrk="0" hangingPunct="1">
              <a:lnSpc>
                <a:spcPct val="11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*+ABC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in the prefix notation</a:t>
            </a:r>
          </a:p>
        </p:txBody>
      </p:sp>
    </p:spTree>
    <p:extLst>
      <p:ext uri="{BB962C8B-B14F-4D97-AF65-F5344CB8AC3E}">
        <p14:creationId xmlns:p14="http://schemas.microsoft.com/office/powerpoint/2010/main" val="21326275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Infix to </a:t>
            </a:r>
            <a:r>
              <a:rPr lang="en-US" dirty="0" smtClean="0"/>
              <a:t>Postfix conversion</a:t>
            </a:r>
            <a:endParaRPr lang="en-US" dirty="0"/>
          </a:p>
        </p:txBody>
      </p:sp>
      <p:sp>
        <p:nvSpPr>
          <p:cNvPr id="3" name="Content Placeholder 2"/>
          <p:cNvSpPr>
            <a:spLocks noGrp="1"/>
          </p:cNvSpPr>
          <p:nvPr>
            <p:ph idx="1"/>
          </p:nvPr>
        </p:nvSpPr>
        <p:spPr/>
        <p:txBody>
          <a:bodyPr/>
          <a:lstStyle/>
          <a:p>
            <a:pPr marL="0" indent="0" fontAlgn="base">
              <a:buNone/>
            </a:pPr>
            <a:r>
              <a:rPr lang="en-US" b="1" dirty="0">
                <a:solidFill>
                  <a:schemeClr val="tx1"/>
                </a:solidFill>
              </a:rPr>
              <a:t>Infix expression</a:t>
            </a:r>
            <a:r>
              <a:rPr lang="en-US" b="1" dirty="0" smtClean="0">
                <a:solidFill>
                  <a:schemeClr val="tx1"/>
                </a:solidFill>
              </a:rPr>
              <a:t>: </a:t>
            </a:r>
            <a:r>
              <a:rPr lang="en-US" dirty="0" smtClean="0">
                <a:solidFill>
                  <a:schemeClr val="tx1"/>
                </a:solidFill>
              </a:rPr>
              <a:t>The </a:t>
            </a:r>
            <a:r>
              <a:rPr lang="en-US" dirty="0">
                <a:solidFill>
                  <a:schemeClr val="tx1"/>
                </a:solidFill>
              </a:rPr>
              <a:t>expression of the form a op b. When an operator is in-between every pair of operands.</a:t>
            </a:r>
          </a:p>
          <a:p>
            <a:pPr marL="0" indent="0" fontAlgn="base">
              <a:buNone/>
            </a:pPr>
            <a:r>
              <a:rPr lang="en-US" b="1" dirty="0">
                <a:solidFill>
                  <a:schemeClr val="tx1"/>
                </a:solidFill>
              </a:rPr>
              <a:t>Postfix expression</a:t>
            </a:r>
            <a:r>
              <a:rPr lang="en-US" b="1" dirty="0" smtClean="0">
                <a:solidFill>
                  <a:schemeClr val="tx1"/>
                </a:solidFill>
              </a:rPr>
              <a:t>: </a:t>
            </a:r>
            <a:r>
              <a:rPr lang="en-US" dirty="0" smtClean="0">
                <a:solidFill>
                  <a:schemeClr val="tx1"/>
                </a:solidFill>
              </a:rPr>
              <a:t>The </a:t>
            </a:r>
            <a:r>
              <a:rPr lang="en-US" dirty="0">
                <a:solidFill>
                  <a:schemeClr val="tx1"/>
                </a:solidFill>
              </a:rPr>
              <a:t>expression of the form a b op. When an operator is followed for every pair of operands.</a:t>
            </a:r>
          </a:p>
          <a:p>
            <a:pPr marL="0" indent="0" fontAlgn="base">
              <a:buNone/>
            </a:pPr>
            <a:r>
              <a:rPr lang="en-US" b="1" dirty="0">
                <a:solidFill>
                  <a:schemeClr val="tx1"/>
                </a:solidFill>
              </a:rPr>
              <a:t>Why postfix representation of the expression?</a:t>
            </a:r>
            <a:r>
              <a:rPr lang="en-US" dirty="0">
                <a:solidFill>
                  <a:schemeClr val="tx1"/>
                </a:solidFill>
              </a:rPr>
              <a:t/>
            </a:r>
            <a:br>
              <a:rPr lang="en-US" dirty="0">
                <a:solidFill>
                  <a:schemeClr val="tx1"/>
                </a:solidFill>
              </a:rPr>
            </a:br>
            <a:r>
              <a:rPr lang="en-US" dirty="0">
                <a:solidFill>
                  <a:schemeClr val="tx1"/>
                </a:solidFill>
              </a:rPr>
              <a:t>The compiler scans the expression either from left to right or from right to left.</a:t>
            </a:r>
          </a:p>
          <a:p>
            <a:pPr fontAlgn="base"/>
            <a:r>
              <a:rPr lang="en-US" dirty="0">
                <a:solidFill>
                  <a:schemeClr val="tx1"/>
                </a:solidFill>
              </a:rPr>
              <a:t>Consider the below expression: a +</a:t>
            </a:r>
            <a:r>
              <a:rPr lang="en-US" dirty="0" smtClean="0">
                <a:solidFill>
                  <a:schemeClr val="tx1"/>
                </a:solidFill>
              </a:rPr>
              <a:t> </a:t>
            </a:r>
            <a:r>
              <a:rPr lang="en-US" dirty="0">
                <a:solidFill>
                  <a:schemeClr val="tx1"/>
                </a:solidFill>
              </a:rPr>
              <a:t>b *</a:t>
            </a:r>
            <a:r>
              <a:rPr lang="en-US" dirty="0" smtClean="0">
                <a:solidFill>
                  <a:schemeClr val="tx1"/>
                </a:solidFill>
              </a:rPr>
              <a:t> </a:t>
            </a:r>
            <a:r>
              <a:rPr lang="en-US" dirty="0">
                <a:solidFill>
                  <a:schemeClr val="tx1"/>
                </a:solidFill>
              </a:rPr>
              <a:t>c +</a:t>
            </a:r>
            <a:r>
              <a:rPr lang="en-US" dirty="0" smtClean="0">
                <a:solidFill>
                  <a:schemeClr val="tx1"/>
                </a:solidFill>
              </a:rPr>
              <a:t> </a:t>
            </a:r>
            <a:r>
              <a:rPr lang="en-US" dirty="0">
                <a:solidFill>
                  <a:schemeClr val="tx1"/>
                </a:solidFill>
              </a:rPr>
              <a:t>d</a:t>
            </a:r>
            <a:br>
              <a:rPr lang="en-US" dirty="0">
                <a:solidFill>
                  <a:schemeClr val="tx1"/>
                </a:solidFill>
              </a:rPr>
            </a:br>
            <a:r>
              <a:rPr lang="en-US" dirty="0">
                <a:solidFill>
                  <a:schemeClr val="tx1"/>
                </a:solidFill>
              </a:rPr>
              <a:t>If op1 = +, op2 = *, op3 = +</a:t>
            </a:r>
          </a:p>
          <a:p>
            <a:pPr fontAlgn="base"/>
            <a:r>
              <a:rPr lang="en-US" dirty="0">
                <a:solidFill>
                  <a:schemeClr val="tx1"/>
                </a:solidFill>
              </a:rPr>
              <a:t>The compiler first scans the expression to evaluate the expression b * c, then again scan the expression to add a to it. The result is then added to d after another scan.</a:t>
            </a:r>
          </a:p>
          <a:p>
            <a:pPr fontAlgn="base"/>
            <a:r>
              <a:rPr lang="en-US" dirty="0">
                <a:solidFill>
                  <a:schemeClr val="tx1"/>
                </a:solidFill>
              </a:rPr>
              <a:t>The repeated scanning makes it very in-efficient. It is better to convert the expression to postfix(or prefix) form before evaluation.</a:t>
            </a:r>
          </a:p>
          <a:p>
            <a:pPr fontAlgn="base"/>
            <a:r>
              <a:rPr lang="en-US" dirty="0">
                <a:solidFill>
                  <a:schemeClr val="tx1"/>
                </a:solidFill>
              </a:rPr>
              <a:t>The corresponding expression in postfix form is: </a:t>
            </a:r>
            <a:r>
              <a:rPr lang="en-US" dirty="0" err="1">
                <a:solidFill>
                  <a:schemeClr val="tx1"/>
                </a:solidFill>
              </a:rPr>
              <a:t>abc</a:t>
            </a:r>
            <a:r>
              <a:rPr lang="en-US" dirty="0">
                <a:solidFill>
                  <a:schemeClr val="tx1"/>
                </a:solidFill>
              </a:rPr>
              <a:t>*+d+. The postfix expressions can be evaluated easily using a stack. </a:t>
            </a:r>
          </a:p>
        </p:txBody>
      </p:sp>
    </p:spTree>
    <p:extLst>
      <p:ext uri="{BB962C8B-B14F-4D97-AF65-F5344CB8AC3E}">
        <p14:creationId xmlns:p14="http://schemas.microsoft.com/office/powerpoint/2010/main" val="38300141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 precedence table</a:t>
            </a:r>
            <a:endParaRPr lang="en-US" dirty="0"/>
          </a:p>
        </p:txBody>
      </p:sp>
      <p:pic>
        <p:nvPicPr>
          <p:cNvPr id="4" name="Content Placeholder 3"/>
          <p:cNvPicPr>
            <a:picLocks noGrp="1" noChangeAspect="1"/>
          </p:cNvPicPr>
          <p:nvPr>
            <p:ph idx="1"/>
          </p:nvPr>
        </p:nvPicPr>
        <p:blipFill>
          <a:blip r:embed="rId3"/>
          <a:stretch>
            <a:fillRect/>
          </a:stretch>
        </p:blipFill>
        <p:spPr>
          <a:xfrm>
            <a:off x="1422493" y="1210236"/>
            <a:ext cx="7318095" cy="5365376"/>
          </a:xfrm>
          <a:prstGeom prst="rect">
            <a:avLst/>
          </a:prstGeom>
        </p:spPr>
      </p:pic>
    </p:spTree>
    <p:extLst>
      <p:ext uri="{BB962C8B-B14F-4D97-AF65-F5344CB8AC3E}">
        <p14:creationId xmlns:p14="http://schemas.microsoft.com/office/powerpoint/2010/main" val="15226418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fontAlgn="ctr"/>
            <a:r>
              <a:rPr lang="en-US" sz="2400" b="1" dirty="0" smtClean="0"/>
              <a:t>Infix </a:t>
            </a:r>
            <a:r>
              <a:rPr lang="en-US" sz="2400" b="1" dirty="0"/>
              <a:t>to Postfix </a:t>
            </a:r>
            <a:r>
              <a:rPr lang="en-US" sz="2400" b="1" dirty="0" smtClean="0"/>
              <a:t>conversion and </a:t>
            </a:r>
            <a:r>
              <a:rPr lang="en-US" sz="2400" dirty="0"/>
              <a:t/>
            </a:r>
            <a:br>
              <a:rPr lang="en-US" sz="2400" dirty="0"/>
            </a:br>
            <a:r>
              <a:rPr lang="en-US" sz="2400" b="1" dirty="0"/>
              <a:t>Postfix expression </a:t>
            </a:r>
            <a:r>
              <a:rPr lang="en-US" sz="2400" b="1" dirty="0" smtClean="0"/>
              <a:t>evaluation</a:t>
            </a:r>
            <a:endParaRPr lang="en-US" sz="2400" dirty="0"/>
          </a:p>
        </p:txBody>
      </p:sp>
      <p:sp>
        <p:nvSpPr>
          <p:cNvPr id="3" name="Content Placeholder 2"/>
          <p:cNvSpPr>
            <a:spLocks noGrp="1"/>
          </p:cNvSpPr>
          <p:nvPr>
            <p:ph idx="1"/>
          </p:nvPr>
        </p:nvSpPr>
        <p:spPr/>
        <p:txBody>
          <a:bodyPr/>
          <a:lstStyle/>
          <a:p>
            <a:pPr marL="0" indent="0">
              <a:buNone/>
            </a:pPr>
            <a:r>
              <a:rPr lang="pt-BR" dirty="0" smtClean="0">
                <a:solidFill>
                  <a:schemeClr val="tx1"/>
                </a:solidFill>
              </a:rPr>
              <a:t>1. </a:t>
            </a:r>
            <a:r>
              <a:rPr lang="pt-BR" dirty="0">
                <a:solidFill>
                  <a:schemeClr val="tx1"/>
                </a:solidFill>
              </a:rPr>
              <a:t> </a:t>
            </a:r>
            <a:r>
              <a:rPr lang="pt-BR" b="1" dirty="0">
                <a:solidFill>
                  <a:schemeClr val="tx1"/>
                </a:solidFill>
              </a:rPr>
              <a:t>infix: (A + B) * C + D / (E + F * G) - H</a:t>
            </a:r>
          </a:p>
          <a:p>
            <a:pPr marL="0" indent="0">
              <a:buNone/>
            </a:pPr>
            <a:r>
              <a:rPr lang="pt-BR" dirty="0">
                <a:solidFill>
                  <a:schemeClr val="tx1"/>
                </a:solidFill>
              </a:rPr>
              <a:t> </a:t>
            </a:r>
            <a:r>
              <a:rPr lang="pt-BR" dirty="0" smtClean="0">
                <a:solidFill>
                  <a:schemeClr val="tx1"/>
                </a:solidFill>
              </a:rPr>
              <a:t>    postfix</a:t>
            </a:r>
            <a:r>
              <a:rPr lang="pt-BR" dirty="0">
                <a:solidFill>
                  <a:schemeClr val="tx1"/>
                </a:solidFill>
              </a:rPr>
              <a:t>: A B + C * D E F G * + / + H - </a:t>
            </a:r>
          </a:p>
          <a:p>
            <a:pPr marL="0" indent="0">
              <a:buNone/>
            </a:pPr>
            <a:r>
              <a:rPr lang="pt-BR" dirty="0" smtClean="0">
                <a:solidFill>
                  <a:schemeClr val="tx1"/>
                </a:solidFill>
              </a:rPr>
              <a:t>2. </a:t>
            </a:r>
            <a:r>
              <a:rPr lang="pt-BR" b="1" dirty="0">
                <a:solidFill>
                  <a:schemeClr val="tx1"/>
                </a:solidFill>
              </a:rPr>
              <a:t>infix: A + ((B - C * D) / E ) + F - G / H </a:t>
            </a:r>
            <a:endParaRPr lang="pt-BR" b="1" dirty="0" smtClean="0">
              <a:solidFill>
                <a:schemeClr val="tx1"/>
              </a:solidFill>
            </a:endParaRPr>
          </a:p>
          <a:p>
            <a:pPr marL="0" indent="0">
              <a:buNone/>
            </a:pPr>
            <a:r>
              <a:rPr lang="pt-BR" dirty="0" smtClean="0">
                <a:solidFill>
                  <a:schemeClr val="tx1"/>
                </a:solidFill>
              </a:rPr>
              <a:t>     </a:t>
            </a:r>
            <a:r>
              <a:rPr lang="pt-BR" dirty="0">
                <a:solidFill>
                  <a:schemeClr val="tx1"/>
                </a:solidFill>
              </a:rPr>
              <a:t> postfix: A B C D * - E / + F + G H / </a:t>
            </a:r>
            <a:r>
              <a:rPr lang="pt-BR" dirty="0" smtClean="0">
                <a:solidFill>
                  <a:schemeClr val="tx1"/>
                </a:solidFill>
              </a:rPr>
              <a:t>-</a:t>
            </a:r>
          </a:p>
          <a:p>
            <a:pPr marL="0" indent="0">
              <a:buNone/>
            </a:pPr>
            <a:r>
              <a:rPr lang="pt-BR" dirty="0" smtClean="0">
                <a:solidFill>
                  <a:schemeClr val="tx1"/>
                </a:solidFill>
              </a:rPr>
              <a:t>3. </a:t>
            </a:r>
            <a:r>
              <a:rPr lang="pt-BR" b="1" dirty="0">
                <a:solidFill>
                  <a:schemeClr val="tx1"/>
                </a:solidFill>
              </a:rPr>
              <a:t>(A * B + C) / D - E / (F + G) </a:t>
            </a:r>
            <a:endParaRPr lang="pt-BR" b="1" dirty="0" smtClean="0">
              <a:solidFill>
                <a:schemeClr val="tx1"/>
              </a:solidFill>
            </a:endParaRPr>
          </a:p>
          <a:p>
            <a:pPr marL="0" indent="0">
              <a:buNone/>
            </a:pPr>
            <a:r>
              <a:rPr lang="en-US" dirty="0">
                <a:solidFill>
                  <a:schemeClr val="tx1"/>
                </a:solidFill>
              </a:rPr>
              <a:t> </a:t>
            </a:r>
            <a:r>
              <a:rPr lang="en-US" dirty="0" smtClean="0">
                <a:solidFill>
                  <a:schemeClr val="tx1"/>
                </a:solidFill>
              </a:rPr>
              <a:t>    postfix</a:t>
            </a:r>
            <a:r>
              <a:rPr lang="en-US" dirty="0">
                <a:solidFill>
                  <a:schemeClr val="tx1"/>
                </a:solidFill>
              </a:rPr>
              <a:t>: A B * C + D / E F G + / - </a:t>
            </a:r>
            <a:endParaRPr lang="en-US" dirty="0" smtClean="0">
              <a:solidFill>
                <a:schemeClr val="tx1"/>
              </a:solidFill>
            </a:endParaRPr>
          </a:p>
          <a:p>
            <a:pPr marL="0" indent="0">
              <a:buNone/>
            </a:pPr>
            <a:r>
              <a:rPr lang="en-US" dirty="0" smtClean="0">
                <a:solidFill>
                  <a:schemeClr val="tx1"/>
                </a:solidFill>
              </a:rPr>
              <a:t>4. </a:t>
            </a:r>
            <a:r>
              <a:rPr lang="en-US" b="1" dirty="0">
                <a:solidFill>
                  <a:schemeClr val="tx1"/>
                </a:solidFill>
              </a:rPr>
              <a:t>What is the value of the following postfix expression</a:t>
            </a:r>
            <a:r>
              <a:rPr lang="en-US" b="1" dirty="0" smtClean="0">
                <a:solidFill>
                  <a:schemeClr val="tx1"/>
                </a:solidFill>
              </a:rPr>
              <a:t>?</a:t>
            </a:r>
          </a:p>
          <a:p>
            <a:pPr marL="0" indent="0">
              <a:buNone/>
            </a:pPr>
            <a:r>
              <a:rPr lang="en-US" dirty="0">
                <a:solidFill>
                  <a:schemeClr val="tx1"/>
                </a:solidFill>
              </a:rPr>
              <a:t> 54     6    +    7    4    -    *    9    /    35    15    +    + </a:t>
            </a:r>
            <a:endParaRPr lang="en-US" dirty="0" smtClean="0">
              <a:solidFill>
                <a:schemeClr val="tx1"/>
              </a:solidFill>
            </a:endParaRPr>
          </a:p>
          <a:p>
            <a:pPr marL="0" indent="0">
              <a:buNone/>
            </a:pPr>
            <a:endParaRPr lang="en-US" dirty="0">
              <a:solidFill>
                <a:schemeClr val="tx1"/>
              </a:solidFill>
            </a:endParaRPr>
          </a:p>
          <a:p>
            <a:pPr marL="0" indent="0">
              <a:buNone/>
            </a:pPr>
            <a:endParaRPr lang="en-US" dirty="0" smtClean="0">
              <a:solidFill>
                <a:schemeClr val="tx1"/>
              </a:solidFill>
            </a:endParaRPr>
          </a:p>
          <a:p>
            <a:pPr marL="0" indent="0">
              <a:buNone/>
            </a:pPr>
            <a:r>
              <a:rPr lang="en-US" dirty="0"/>
              <a:t>http://csis.pace.edu/~wolf/CS122/exexpans.html</a:t>
            </a:r>
          </a:p>
          <a:p>
            <a:pPr marL="0" indent="0">
              <a:buNone/>
            </a:pPr>
            <a:endParaRPr lang="pt-BR" dirty="0">
              <a:solidFill>
                <a:schemeClr val="tx1"/>
              </a:solidFill>
            </a:endParaRPr>
          </a:p>
        </p:txBody>
      </p:sp>
    </p:spTree>
    <p:extLst>
      <p:ext uri="{BB962C8B-B14F-4D97-AF65-F5344CB8AC3E}">
        <p14:creationId xmlns:p14="http://schemas.microsoft.com/office/powerpoint/2010/main" val="27731964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8CDB750B-4F53-E067-B0FD-8D8C56DF6861}"/>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Evaluation of an Infix Expression</a:t>
            </a:r>
          </a:p>
        </p:txBody>
      </p:sp>
      <p:sp>
        <p:nvSpPr>
          <p:cNvPr id="25603" name="Rectangle 3">
            <a:extLst>
              <a:ext uri="{FF2B5EF4-FFF2-40B4-BE49-F238E27FC236}">
                <a16:creationId xmlns:a16="http://schemas.microsoft.com/office/drawing/2014/main" id="{689BB44C-7E57-BB29-7425-CE4AF63DB08E}"/>
              </a:ext>
            </a:extLst>
          </p:cNvPr>
          <p:cNvSpPr txBox="1">
            <a:spLocks noChangeArrowheads="1"/>
          </p:cNvSpPr>
          <p:nvPr/>
        </p:nvSpPr>
        <p:spPr bwMode="auto">
          <a:xfrm>
            <a:off x="2057400" y="1179514"/>
            <a:ext cx="8153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auto" latinLnBrk="0" hangingPunct="1">
              <a:lnSpc>
                <a:spcPct val="80000"/>
              </a:lnSpc>
              <a:spcBef>
                <a:spcPct val="20000"/>
              </a:spcBef>
              <a:spcAft>
                <a:spcPts val="0"/>
              </a:spcAft>
              <a:buClrTx/>
              <a:buSzTx/>
              <a:buFont typeface="Arial" panose="020B0604020202020204" pitchFamily="34" charset="0"/>
              <a:buNone/>
              <a:tabLst/>
              <a:defRPr/>
            </a:pPr>
            <a:r>
              <a:rPr kumimoji="0" lang="en-US" altLang="en-US" sz="20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STEP 1: Convert the infix expression into its equivalent postfix expression</a:t>
            </a:r>
          </a:p>
        </p:txBody>
      </p:sp>
      <p:sp>
        <p:nvSpPr>
          <p:cNvPr id="25604" name="Rectangle 1">
            <a:extLst>
              <a:ext uri="{FF2B5EF4-FFF2-40B4-BE49-F238E27FC236}">
                <a16:creationId xmlns:a16="http://schemas.microsoft.com/office/drawing/2014/main" id="{A5AD92B4-6BF1-618E-925C-8BE466A31CEB}"/>
              </a:ext>
            </a:extLst>
          </p:cNvPr>
          <p:cNvSpPr>
            <a:spLocks noChangeArrowheads="1"/>
          </p:cNvSpPr>
          <p:nvPr/>
        </p:nvSpPr>
        <p:spPr bwMode="auto">
          <a:xfrm>
            <a:off x="2057400" y="1639888"/>
            <a:ext cx="86106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Algorithm to convert an Infix notation into postfix notation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1: Add ‘)” to the end of the infix expression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2: Push “(“ on to the stack</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3: Repeat until each character in the infix notation is scanned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IF a “(“ is encountered, push it on the stack</a:t>
            </a:r>
          </a:p>
          <a:p>
            <a:pPr marL="457200" marR="0" lvl="1"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IF an operand (whether a digit or an alphabet) is encountered,  </a:t>
            </a:r>
          </a:p>
          <a:p>
            <a:pPr marL="457200" marR="0" lvl="1"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add it to the postfix expression.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IF a “)” is encountered, then;</a:t>
            </a:r>
          </a:p>
          <a:p>
            <a:pPr marL="914400" marR="0" lvl="2" indent="0" algn="l" defTabSz="914400" rtl="0" eaLnBrk="1" fontAlgn="auto" latinLnBrk="0" hangingPunct="1">
              <a:lnSpc>
                <a:spcPct val="100000"/>
              </a:lnSpc>
              <a:spcBef>
                <a:spcPct val="0"/>
              </a:spcBef>
              <a:spcAft>
                <a:spcPts val="0"/>
              </a:spcAft>
              <a:buClrTx/>
              <a:buSzTx/>
              <a:buFont typeface="Courier New" panose="02070309020205020404" pitchFamily="49" charset="0"/>
              <a:buChar char="a"/>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Repeatedly pop from stack and add it to the postfix expression until a “(” is encountered.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b. Discard the “(“. That is, remove the “(“ from stack and do not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add it to the postfix expression</a:t>
            </a:r>
          </a:p>
          <a:p>
            <a:pPr marL="457200" marR="0" lvl="1"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IF an operator X is encountered, then;</a:t>
            </a:r>
          </a:p>
          <a:p>
            <a:pPr marL="914400" marR="0" lvl="2" indent="0" algn="l" defTabSz="914400" rtl="0" eaLnBrk="1" fontAlgn="auto" latinLnBrk="0" hangingPunct="1">
              <a:lnSpc>
                <a:spcPct val="100000"/>
              </a:lnSpc>
              <a:spcBef>
                <a:spcPct val="0"/>
              </a:spcBef>
              <a:spcAft>
                <a:spcPts val="0"/>
              </a:spcAft>
              <a:buClrTx/>
              <a:buSzTx/>
              <a:buFont typeface="Courier New" panose="02070309020205020404" pitchFamily="49" charset="0"/>
              <a:buChar char="a"/>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Repeatedly pop from stack and add each operator (popped from the stack) to the postfix expression which has the same precedence or a higher precedence than X</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b. Push the operator X to the stack</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4: Repeatedly pop from the stack and add it to the postfix expression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until the stack is empty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5: EXIT</a:t>
            </a:r>
          </a:p>
        </p:txBody>
      </p:sp>
    </p:spTree>
    <p:extLst>
      <p:ext uri="{BB962C8B-B14F-4D97-AF65-F5344CB8AC3E}">
        <p14:creationId xmlns:p14="http://schemas.microsoft.com/office/powerpoint/2010/main" val="9902510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D2E1E3AB-FA83-3377-D315-70591762960D}"/>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Evaluation of an Infix Expression</a:t>
            </a:r>
          </a:p>
        </p:txBody>
      </p:sp>
      <p:sp>
        <p:nvSpPr>
          <p:cNvPr id="26627" name="Rectangle 2">
            <a:extLst>
              <a:ext uri="{FF2B5EF4-FFF2-40B4-BE49-F238E27FC236}">
                <a16:creationId xmlns:a16="http://schemas.microsoft.com/office/drawing/2014/main" id="{B1C0BE05-19B3-6DB6-D08D-AB304254DE97}"/>
              </a:ext>
            </a:extLst>
          </p:cNvPr>
          <p:cNvSpPr txBox="1">
            <a:spLocks noChangeArrowheads="1"/>
          </p:cNvSpPr>
          <p:nvPr/>
        </p:nvSpPr>
        <p:spPr bwMode="auto">
          <a:xfrm>
            <a:off x="2133600" y="1063626"/>
            <a:ext cx="790733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alibri" panose="020F0502020204030204" pitchFamily="34" charset="0"/>
                <a:ea typeface="+mn-ea"/>
                <a:cs typeface="+mn-cs"/>
              </a:rPr>
              <a:t>STEP 2: Evaluate the postfix expression </a:t>
            </a:r>
          </a:p>
        </p:txBody>
      </p:sp>
      <p:sp>
        <p:nvSpPr>
          <p:cNvPr id="26628" name="Rectangle 1">
            <a:extLst>
              <a:ext uri="{FF2B5EF4-FFF2-40B4-BE49-F238E27FC236}">
                <a16:creationId xmlns:a16="http://schemas.microsoft.com/office/drawing/2014/main" id="{6746EC63-388B-BB6C-C186-5ADF9623EBAB}"/>
              </a:ext>
            </a:extLst>
          </p:cNvPr>
          <p:cNvSpPr>
            <a:spLocks noChangeArrowheads="1"/>
          </p:cNvSpPr>
          <p:nvPr/>
        </p:nvSpPr>
        <p:spPr bwMode="auto">
          <a:xfrm>
            <a:off x="2209800" y="1752600"/>
            <a:ext cx="8001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Algorithm to evaluate a postfix expression</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1: Add a “)” at the end of the postfix expression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2: Scan every character of the postfix expression and  repeat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steps 3 and 4 until “)”is encountered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3: IF an operand is encountered, push it on the stack</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IF an operator X is encountered, then</a:t>
            </a:r>
          </a:p>
          <a:p>
            <a:pPr marL="914400" marR="0" lvl="2"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a. pop the top two elements from the stack as A and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b. Evaluate B X A, where A was the topmost element and B was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the element below 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          c. Push the result of evaluation on the stack</a:t>
            </a:r>
          </a:p>
          <a:p>
            <a:pPr marL="457200" marR="0" lvl="1"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[END OF IF]</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4: SET RESULT equal to the topmost element of the stack</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Courier New" panose="02070309020205020404" pitchFamily="49" charset="0"/>
                <a:ea typeface="+mn-ea"/>
                <a:cs typeface="+mn-cs"/>
              </a:rPr>
              <a:t>Step 5: EXIT</a:t>
            </a:r>
          </a:p>
        </p:txBody>
      </p:sp>
    </p:spTree>
    <p:extLst>
      <p:ext uri="{BB962C8B-B14F-4D97-AF65-F5344CB8AC3E}">
        <p14:creationId xmlns:p14="http://schemas.microsoft.com/office/powerpoint/2010/main" val="1668837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11B5525B-39B0-0A7A-7081-27BD60C3C8B3}"/>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4800" b="0" i="0" u="none" strike="noStrike" kern="1200" cap="none" spc="0" normalizeH="0" baseline="0" noProof="0">
                <a:ln>
                  <a:noFill/>
                </a:ln>
                <a:solidFill>
                  <a:prstClr val="white"/>
                </a:solidFill>
                <a:effectLst/>
                <a:uLnTx/>
                <a:uFillTx/>
                <a:latin typeface="Calibri" pitchFamily="34" charset="0"/>
                <a:ea typeface="+mn-ea"/>
                <a:cs typeface="Arial" charset="0"/>
              </a:rPr>
              <a:t>Evaluation of an Infix Expression</a:t>
            </a:r>
          </a:p>
        </p:txBody>
      </p:sp>
      <p:sp>
        <p:nvSpPr>
          <p:cNvPr id="27651" name="Rectangle 2">
            <a:extLst>
              <a:ext uri="{FF2B5EF4-FFF2-40B4-BE49-F238E27FC236}">
                <a16:creationId xmlns:a16="http://schemas.microsoft.com/office/drawing/2014/main" id="{4EF6EEB6-44F1-168A-25D4-8960427E6816}"/>
              </a:ext>
            </a:extLst>
          </p:cNvPr>
          <p:cNvSpPr>
            <a:spLocks noChangeArrowheads="1"/>
          </p:cNvSpPr>
          <p:nvPr/>
        </p:nvSpPr>
        <p:spPr bwMode="auto">
          <a:xfrm>
            <a:off x="1687513" y="1062038"/>
            <a:ext cx="899160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7145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1717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6289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0861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5433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0005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1" fontAlgn="auto" latinLnBrk="0" hangingPunct="1">
              <a:lnSpc>
                <a:spcPct val="12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Example:  evaluate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Times New Roman" panose="02020603050405020304" pitchFamily="18" charset="0"/>
                <a:cs typeface="Courier New" panose="02070309020205020404" pitchFamily="49" charset="0"/>
              </a:rPr>
              <a:t>“</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Times New Roman" panose="02020603050405020304" pitchFamily="18" charset="0"/>
                <a:cs typeface="Courier New" panose="02070309020205020404" pitchFamily="49" charset="0"/>
              </a:rPr>
              <a:t>9 - (( 3 * 4) + 8) / 4</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Times New Roman" panose="02020603050405020304" pitchFamily="18" charset="0"/>
                <a:cs typeface="Courier New" panose="02070309020205020404" pitchFamily="49" charset="0"/>
              </a:rPr>
              <a:t>”.</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 </a:t>
            </a:r>
          </a:p>
          <a:p>
            <a:pPr marL="342900" marR="0" lvl="0" indent="-342900" algn="l" defTabSz="914400" rtl="0" eaLnBrk="0" fontAlgn="auto" latinLnBrk="0" hangingPunct="0">
              <a:lnSpc>
                <a:spcPct val="12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Step 1  infix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Times New Roman" panose="02020603050405020304" pitchFamily="18" charset="0"/>
              </a:rPr>
              <a:t>(9 - (( 3 * 4) + 8) / 4)</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  =&gt; postfix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Times New Roman" panose="02020603050405020304" pitchFamily="18" charset="0"/>
              </a:rPr>
              <a:t>9 3 4 * 8 + 4 /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  </a:t>
            </a:r>
          </a:p>
          <a:p>
            <a:pPr marL="342900" marR="0" lvl="0" indent="-342900" algn="l" defTabSz="914400" rtl="0" eaLnBrk="0" fontAlgn="auto" latinLnBrk="0" hangingPunct="0">
              <a:lnSpc>
                <a:spcPct val="12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Step 2  evaluate “</a:t>
            </a:r>
            <a:r>
              <a:rPr kumimoji="0" lang="en-US" altLang="en-US" sz="2400" b="0" i="0" u="none" strike="noStrike" kern="1200" cap="none" spc="0" normalizeH="0" baseline="0" noProof="0">
                <a:ln>
                  <a:noFill/>
                </a:ln>
                <a:solidFill>
                  <a:srgbClr val="FF0000"/>
                </a:solidFill>
                <a:effectLst/>
                <a:uLnTx/>
                <a:uFillTx/>
                <a:latin typeface="Calibri" panose="020F0502020204030204" pitchFamily="34" charset="0"/>
                <a:ea typeface="+mn-ea"/>
                <a:cs typeface="Times New Roman" panose="02020603050405020304" pitchFamily="18" charset="0"/>
              </a:rPr>
              <a:t>9 3 4 * 8 + 4 / -</a:t>
            </a: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Times New Roman" panose="02020603050405020304" pitchFamily="18" charset="0"/>
              </a:rPr>
              <a:t>“  </a:t>
            </a:r>
          </a:p>
        </p:txBody>
      </p:sp>
      <p:graphicFrame>
        <p:nvGraphicFramePr>
          <p:cNvPr id="6" name="Group 3">
            <a:extLst>
              <a:ext uri="{FF2B5EF4-FFF2-40B4-BE49-F238E27FC236}">
                <a16:creationId xmlns:a16="http://schemas.microsoft.com/office/drawing/2014/main" id="{54880AEF-EA48-32FE-83E8-5FABD56B2923}"/>
              </a:ext>
            </a:extLst>
          </p:cNvPr>
          <p:cNvGraphicFramePr>
            <a:graphicFrameLocks noGrp="1"/>
          </p:cNvGraphicFramePr>
          <p:nvPr/>
        </p:nvGraphicFramePr>
        <p:xfrm>
          <a:off x="7086600" y="2486026"/>
          <a:ext cx="2895600" cy="3733803"/>
        </p:xfrm>
        <a:graphic>
          <a:graphicData uri="http://schemas.openxmlformats.org/drawingml/2006/table">
            <a:tbl>
              <a:tblPr/>
              <a:tblGrid>
                <a:gridCol w="1176874">
                  <a:extLst>
                    <a:ext uri="{9D8B030D-6E8A-4147-A177-3AD203B41FA5}">
                      <a16:colId xmlns:a16="http://schemas.microsoft.com/office/drawing/2014/main" val="20000"/>
                    </a:ext>
                  </a:extLst>
                </a:gridCol>
                <a:gridCol w="1718726">
                  <a:extLst>
                    <a:ext uri="{9D8B030D-6E8A-4147-A177-3AD203B41FA5}">
                      <a16:colId xmlns:a16="http://schemas.microsoft.com/office/drawing/2014/main" val="20001"/>
                    </a:ext>
                  </a:extLst>
                </a:gridCol>
              </a:tblGrid>
              <a:tr h="583407">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Character scanned</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Stack</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3</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9, 3</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4</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9, 3, 4</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9, 12</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8</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9, 12, 8</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9, 20</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4</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9, 20, 4</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9, 5</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r h="350044">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4</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9"/>
                  </a:ext>
                </a:extLst>
              </a:tr>
            </a:tbl>
          </a:graphicData>
        </a:graphic>
      </p:graphicFrame>
      <p:graphicFrame>
        <p:nvGraphicFramePr>
          <p:cNvPr id="5" name="Group 3">
            <a:extLst>
              <a:ext uri="{FF2B5EF4-FFF2-40B4-BE49-F238E27FC236}">
                <a16:creationId xmlns:a16="http://schemas.microsoft.com/office/drawing/2014/main" id="{5E62FD7D-5B75-5BF2-0131-DCFA717B86F5}"/>
              </a:ext>
            </a:extLst>
          </p:cNvPr>
          <p:cNvGraphicFramePr>
            <a:graphicFrameLocks noGrp="1"/>
          </p:cNvGraphicFramePr>
          <p:nvPr/>
        </p:nvGraphicFramePr>
        <p:xfrm>
          <a:off x="1981200" y="2468563"/>
          <a:ext cx="3749674" cy="4389440"/>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616074">
                  <a:extLst>
                    <a:ext uri="{9D8B030D-6E8A-4147-A177-3AD203B41FA5}">
                      <a16:colId xmlns:a16="http://schemas.microsoft.com/office/drawing/2014/main" val="20002"/>
                    </a:ext>
                  </a:extLst>
                </a:gridCol>
              </a:tblGrid>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infix</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A50021"/>
                          </a:solidFill>
                          <a:effectLst/>
                          <a:latin typeface="Courier New" pitchFamily="49" charset="0"/>
                          <a:ea typeface="Times New Roman" pitchFamily="18" charset="0"/>
                          <a:cs typeface="Courier New" pitchFamily="49" charset="0"/>
                        </a:rPr>
                        <a:t>Stack</a:t>
                      </a:r>
                      <a:endParaRPr kumimoji="0" lang="en-US" altLang="en-US" sz="1200" b="1" i="0" u="none" strike="noStrike" cap="none" normalizeH="0" baseline="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postfix</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9</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3</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4</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9"/>
                  </a:ext>
                </a:extLst>
              </a:tr>
              <a:tr h="274340">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Courier New" pitchFamily="49" charset="0"/>
                          <a:ea typeface="Times New Roman" pitchFamily="18" charset="0"/>
                          <a:cs typeface="Courier New" pitchFamily="49" charset="0"/>
                        </a:rPr>
                        <a:t>+</a:t>
                      </a: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0"/>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8</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8</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1"/>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8 +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2"/>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8 +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3"/>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8 + 4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4"/>
                  </a:ext>
                </a:extLst>
              </a:tr>
              <a:tr h="27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rgbClr val="A50021"/>
                          </a:solidFill>
                          <a:effectLst/>
                          <a:latin typeface="Arial" charset="0"/>
                          <a:ea typeface="Times New Roman" pitchFamily="18" charset="0"/>
                          <a:cs typeface="Courier New" pitchFamily="49" charset="0"/>
                        </a:rPr>
                        <a:t>9 3 4 * 8 + 4 / -</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238637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317D188-A247-4F50-4036-6E10DF82E1E7}"/>
              </a:ext>
            </a:extLst>
          </p:cNvPr>
          <p:cNvSpPr>
            <a:spLocks noGrp="1" noChangeArrowheads="1"/>
          </p:cNvSpPr>
          <p:nvPr>
            <p:ph type="title"/>
          </p:nvPr>
        </p:nvSpPr>
        <p:spPr/>
        <p:txBody>
          <a:bodyPr>
            <a:normAutofit fontScale="90000"/>
          </a:bodyPr>
          <a:lstStyle/>
          <a:p>
            <a:r>
              <a:rPr lang="en-US" altLang="en-US" dirty="0">
                <a:ea typeface="MS Mincho" panose="02020609040205080304" pitchFamily="49" charset="-128"/>
              </a:rPr>
              <a:t>    </a:t>
            </a:r>
            <a:br>
              <a:rPr lang="en-US" altLang="en-US" dirty="0">
                <a:ea typeface="MS Mincho" panose="02020609040205080304" pitchFamily="49" charset="-128"/>
              </a:rPr>
            </a:br>
            <a:r>
              <a:rPr lang="en-US" altLang="en-US" dirty="0">
                <a:ea typeface="MS Mincho" panose="02020609040205080304" pitchFamily="49" charset="-128"/>
              </a:rPr>
              <a:t>                   Example: postfix expressions (cont.)</a:t>
            </a:r>
          </a:p>
        </p:txBody>
      </p:sp>
      <p:pic>
        <p:nvPicPr>
          <p:cNvPr id="37891" name="Picture 3">
            <a:extLst>
              <a:ext uri="{FF2B5EF4-FFF2-40B4-BE49-F238E27FC236}">
                <a16:creationId xmlns:a16="http://schemas.microsoft.com/office/drawing/2014/main" id="{0AD11B19-5EAA-9365-792E-0A2BB4194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2438401"/>
            <a:ext cx="7407275" cy="277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3701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0F9E639-4902-5446-9BF0-CD8789FEC153}"/>
              </a:ext>
            </a:extLst>
          </p:cNvPr>
          <p:cNvSpPr>
            <a:spLocks noGrp="1" noChangeArrowheads="1"/>
          </p:cNvSpPr>
          <p:nvPr>
            <p:ph type="title"/>
          </p:nvPr>
        </p:nvSpPr>
        <p:spPr>
          <a:xfrm>
            <a:off x="840658" y="533400"/>
            <a:ext cx="10766323" cy="1143000"/>
          </a:xfrm>
        </p:spPr>
        <p:txBody>
          <a:bodyPr>
            <a:normAutofit fontScale="90000"/>
          </a:bodyPr>
          <a:lstStyle/>
          <a:p>
            <a:r>
              <a:rPr lang="en-US" altLang="en-US" dirty="0">
                <a:cs typeface="Times New Roman" panose="02020603050405020304" pitchFamily="18" charset="0"/>
              </a:rPr>
              <a:t>Postfix  expressions:</a:t>
            </a:r>
            <a:r>
              <a:rPr lang="en-US" altLang="en-US" dirty="0"/>
              <a:t> Algorithm using stacks (cont.)</a:t>
            </a:r>
          </a:p>
        </p:txBody>
      </p:sp>
      <p:pic>
        <p:nvPicPr>
          <p:cNvPr id="44035" name="Picture 3">
            <a:extLst>
              <a:ext uri="{FF2B5EF4-FFF2-40B4-BE49-F238E27FC236}">
                <a16:creationId xmlns:a16="http://schemas.microsoft.com/office/drawing/2014/main" id="{71E93828-6B90-55C9-36B2-AFE36A0F8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905000"/>
            <a:ext cx="8001000" cy="4389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7698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7C62D426-EDC4-8274-06EE-FBA5383E9095}"/>
              </a:ext>
            </a:extLst>
          </p:cNvPr>
          <p:cNvSpPr/>
          <p:nvPr/>
        </p:nvSpPr>
        <p:spPr>
          <a:xfrm>
            <a:off x="1524000" y="0"/>
            <a:ext cx="9144000" cy="1066800"/>
          </a:xfrm>
          <a:prstGeom prst="roundRect">
            <a:avLst>
              <a:gd name="adj" fmla="val 0"/>
            </a:avLst>
          </a:prstGeom>
          <a:solidFill>
            <a:schemeClr val="tx2">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lvl1pPr eaLnBrk="0" hangingPunct="0">
              <a:defRPr>
                <a:solidFill>
                  <a:schemeClr val="tx1"/>
                </a:solidFill>
                <a:latin typeface="Constantia" pitchFamily="18" charset="0"/>
                <a:cs typeface="Arial" charset="0"/>
              </a:defRPr>
            </a:lvl1pPr>
            <a:lvl2pPr marL="742950" indent="-285750" eaLnBrk="0" hangingPunct="0">
              <a:defRPr>
                <a:solidFill>
                  <a:schemeClr val="tx1"/>
                </a:solidFill>
                <a:latin typeface="Constantia" pitchFamily="18" charset="0"/>
                <a:cs typeface="Arial" charset="0"/>
              </a:defRPr>
            </a:lvl2pPr>
            <a:lvl3pPr marL="1143000" indent="-228600" eaLnBrk="0" hangingPunct="0">
              <a:defRPr>
                <a:solidFill>
                  <a:schemeClr val="tx1"/>
                </a:solidFill>
                <a:latin typeface="Constantia" pitchFamily="18" charset="0"/>
                <a:cs typeface="Arial" charset="0"/>
              </a:defRPr>
            </a:lvl3pPr>
            <a:lvl4pPr marL="1600200" indent="-228600" eaLnBrk="0" hangingPunct="0">
              <a:defRPr>
                <a:solidFill>
                  <a:schemeClr val="tx1"/>
                </a:solidFill>
                <a:latin typeface="Constantia" pitchFamily="18" charset="0"/>
                <a:cs typeface="Arial" charset="0"/>
              </a:defRPr>
            </a:lvl4pPr>
            <a:lvl5pPr marL="2057400" indent="-228600" eaLnBrk="0" hangingPunct="0">
              <a:defRPr>
                <a:solidFill>
                  <a:schemeClr val="tx1"/>
                </a:solidFill>
                <a:latin typeface="Constantia" pitchFamily="18" charset="0"/>
                <a:cs typeface="Arial" charset="0"/>
              </a:defRPr>
            </a:lvl5pPr>
            <a:lvl6pPr marL="2514600" indent="-228600" eaLnBrk="0" fontAlgn="base" hangingPunct="0">
              <a:spcBef>
                <a:spcPct val="0"/>
              </a:spcBef>
              <a:spcAft>
                <a:spcPct val="0"/>
              </a:spcAft>
              <a:defRPr>
                <a:solidFill>
                  <a:schemeClr val="tx1"/>
                </a:solidFill>
                <a:latin typeface="Constantia" pitchFamily="18" charset="0"/>
                <a:cs typeface="Arial" charset="0"/>
              </a:defRPr>
            </a:lvl6pPr>
            <a:lvl7pPr marL="2971800" indent="-228600" eaLnBrk="0" fontAlgn="base" hangingPunct="0">
              <a:spcBef>
                <a:spcPct val="0"/>
              </a:spcBef>
              <a:spcAft>
                <a:spcPct val="0"/>
              </a:spcAft>
              <a:defRPr>
                <a:solidFill>
                  <a:schemeClr val="tx1"/>
                </a:solidFill>
                <a:latin typeface="Constantia" pitchFamily="18" charset="0"/>
                <a:cs typeface="Arial" charset="0"/>
              </a:defRPr>
            </a:lvl7pPr>
            <a:lvl8pPr marL="3429000" indent="-228600" eaLnBrk="0" fontAlgn="base" hangingPunct="0">
              <a:spcBef>
                <a:spcPct val="0"/>
              </a:spcBef>
              <a:spcAft>
                <a:spcPct val="0"/>
              </a:spcAft>
              <a:defRPr>
                <a:solidFill>
                  <a:schemeClr val="tx1"/>
                </a:solidFill>
                <a:latin typeface="Constantia" pitchFamily="18" charset="0"/>
                <a:cs typeface="Arial" charset="0"/>
              </a:defRPr>
            </a:lvl8pPr>
            <a:lvl9pPr marL="3886200" indent="-228600" eaLnBrk="0" fontAlgn="base" hangingPunct="0">
              <a:spcBef>
                <a:spcPct val="0"/>
              </a:spcBef>
              <a:spcAft>
                <a:spcPct val="0"/>
              </a:spcAft>
              <a:defRPr>
                <a:solidFill>
                  <a:schemeClr val="tx1"/>
                </a:solidFill>
                <a:latin typeface="Constantia"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0" i="0" u="none" strike="noStrike" kern="1200" cap="none" spc="0" normalizeH="0" baseline="0" noProof="0" dirty="0">
                <a:ln>
                  <a:noFill/>
                </a:ln>
                <a:solidFill>
                  <a:prstClr val="white"/>
                </a:solidFill>
                <a:effectLst/>
                <a:uLnTx/>
                <a:uFillTx/>
                <a:latin typeface="Calibri" pitchFamily="34" charset="0"/>
                <a:ea typeface="+mn-ea"/>
                <a:cs typeface="Arial" charset="0"/>
              </a:rPr>
              <a:t>Convert Infix Expression into Prefix Expression</a:t>
            </a:r>
          </a:p>
        </p:txBody>
      </p:sp>
      <p:sp>
        <p:nvSpPr>
          <p:cNvPr id="28675" name="Text Box 5">
            <a:extLst>
              <a:ext uri="{FF2B5EF4-FFF2-40B4-BE49-F238E27FC236}">
                <a16:creationId xmlns:a16="http://schemas.microsoft.com/office/drawing/2014/main" id="{5ED11392-B350-BB48-AAFC-7CE50A496B99}"/>
              </a:ext>
            </a:extLst>
          </p:cNvPr>
          <p:cNvSpPr txBox="1">
            <a:spLocks noChangeArrowheads="1"/>
          </p:cNvSpPr>
          <p:nvPr/>
        </p:nvSpPr>
        <p:spPr bwMode="auto">
          <a:xfrm>
            <a:off x="1600200" y="1219201"/>
            <a:ext cx="8839200" cy="491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7145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171700" indent="-3429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6289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0861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5433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000500" indent="-3429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algn="l" defTabSz="914400" rtl="0" eaLnBrk="0" fontAlgn="auto" latinLnBrk="0" hangingPunct="0">
              <a:lnSpc>
                <a:spcPct val="11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Consider an infix expression: (A – B / C) * (A / K – L)</a:t>
            </a:r>
            <a:endParaRPr kumimoji="0" lang="en-US" altLang="en-US" sz="2400" b="0" i="1"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Step 1: Reverse the infix string. Note that while reversing the string you must interchange left and right parenthesis.</a:t>
            </a:r>
          </a:p>
          <a:p>
            <a:pPr marL="342900" marR="0" lvl="0" indent="-342900" algn="l" defTabSz="914400" rtl="0" eaLnBrk="0" fontAlgn="auto" latinLnBrk="0" hangingPunct="0">
              <a:lnSpc>
                <a:spcPct val="11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(L – K / A) * (C / B – A)</a:t>
            </a: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Step 2: Obtain the corresponding postfix expression of the infix expression obtained as a result of Step 1. </a:t>
            </a: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The expression is: (L – K / A) * (C / B – A)</a:t>
            </a: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Therefore, [L – (K A /)] * [ (C B /) - A  ]</a:t>
            </a:r>
          </a:p>
          <a:p>
            <a:pPr marL="342900" marR="0" lvl="0" indent="-342900" algn="l" defTabSz="914400" rtl="0" eaLnBrk="0" fontAlgn="auto" latinLnBrk="0" hangingPunct="0">
              <a:lnSpc>
                <a:spcPct val="11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  [LKA/-] * [ CB/A-]</a:t>
            </a:r>
          </a:p>
          <a:p>
            <a:pPr marL="342900" marR="0" lvl="0" indent="-342900" algn="l" defTabSz="914400" rtl="0" eaLnBrk="0" fontAlgn="auto" latinLnBrk="0" hangingPunct="0">
              <a:lnSpc>
                <a:spcPct val="11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 L K A / - C B / A - *	</a:t>
            </a: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Step 3: Reverse the postfix expression to get the prefix expression</a:t>
            </a:r>
          </a:p>
          <a:p>
            <a:pPr marL="342900" marR="0" lvl="0" indent="-342900" algn="l" defTabSz="914400" rtl="0" eaLnBrk="0" fontAlgn="auto" latinLnBrk="0" hangingPunct="0">
              <a:lnSpc>
                <a:spcPct val="110000"/>
              </a:lnSpc>
              <a:spcBef>
                <a:spcPct val="0"/>
              </a:spcBef>
              <a:spcAft>
                <a:spcPts val="0"/>
              </a:spcAft>
              <a:buClrTx/>
              <a:buSzTx/>
              <a:buFontTx/>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Therefore, the prefix expression is * - A / B C - / A K L</a:t>
            </a:r>
          </a:p>
        </p:txBody>
      </p:sp>
    </p:spTree>
    <p:extLst>
      <p:ext uri="{BB962C8B-B14F-4D97-AF65-F5344CB8AC3E}">
        <p14:creationId xmlns:p14="http://schemas.microsoft.com/office/powerpoint/2010/main" val="31062613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Infix to Prefix</a:t>
            </a:r>
            <a:endParaRPr lang="en-US" dirty="0"/>
          </a:p>
        </p:txBody>
      </p:sp>
      <p:sp>
        <p:nvSpPr>
          <p:cNvPr id="3" name="Content Placeholder 2"/>
          <p:cNvSpPr>
            <a:spLocks noGrp="1"/>
          </p:cNvSpPr>
          <p:nvPr>
            <p:ph idx="1"/>
          </p:nvPr>
        </p:nvSpPr>
        <p:spPr/>
        <p:txBody>
          <a:bodyPr/>
          <a:lstStyle/>
          <a:p>
            <a:r>
              <a:rPr lang="en-US" dirty="0" smtClean="0"/>
              <a:t>A*B+ C/D</a:t>
            </a:r>
          </a:p>
          <a:p>
            <a:pPr marL="0" indent="0">
              <a:buNone/>
            </a:pPr>
            <a:r>
              <a:rPr lang="en-US" dirty="0" smtClean="0"/>
              <a:t>Prefix: +*AB/CD</a:t>
            </a:r>
          </a:p>
          <a:p>
            <a:r>
              <a:rPr lang="en-US" dirty="0" smtClean="0"/>
              <a:t>(A*B)+C</a:t>
            </a:r>
          </a:p>
          <a:p>
            <a:pPr marL="0" indent="0">
              <a:buNone/>
            </a:pPr>
            <a:r>
              <a:rPr lang="en-US" dirty="0" smtClean="0"/>
              <a:t>Prefix: +*ABC</a:t>
            </a:r>
            <a:endParaRPr lang="en-US" dirty="0"/>
          </a:p>
        </p:txBody>
      </p:sp>
    </p:spTree>
    <p:extLst>
      <p:ext uri="{BB962C8B-B14F-4D97-AF65-F5344CB8AC3E}">
        <p14:creationId xmlns:p14="http://schemas.microsoft.com/office/powerpoint/2010/main" val="3144027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a:t>
            </a:r>
            <a:r>
              <a:rPr lang="en-US" dirty="0"/>
              <a:t>A &amp;&amp; B) || C || ! (E &gt; F</a:t>
            </a:r>
            <a:r>
              <a:rPr lang="en-US" dirty="0" smtClean="0"/>
              <a:t>)</a:t>
            </a:r>
          </a:p>
          <a:p>
            <a:r>
              <a:rPr lang="en-US" dirty="0" smtClean="0"/>
              <a:t>Prefix:</a:t>
            </a:r>
            <a:r>
              <a:rPr lang="pt-BR" dirty="0" smtClean="0"/>
              <a:t> </a:t>
            </a:r>
            <a:r>
              <a:rPr lang="pt-BR" dirty="0"/>
              <a:t>|| &amp;&amp; A B </a:t>
            </a:r>
            <a:r>
              <a:rPr lang="pt-BR" dirty="0" smtClean="0"/>
              <a:t>|| C </a:t>
            </a:r>
            <a:r>
              <a:rPr lang="pt-BR" dirty="0"/>
              <a:t>! &gt; E F</a:t>
            </a:r>
            <a:endParaRPr lang="en-US" dirty="0" smtClean="0"/>
          </a:p>
          <a:p>
            <a:r>
              <a:rPr lang="en-US" dirty="0" smtClean="0"/>
              <a:t>Postfix: </a:t>
            </a:r>
            <a:r>
              <a:rPr lang="en-US" dirty="0"/>
              <a:t> A B &amp;&amp; C || E F &gt; ! </a:t>
            </a:r>
            <a:r>
              <a:rPr lang="en-US" dirty="0" smtClean="0"/>
              <a:t>||</a:t>
            </a:r>
          </a:p>
          <a:p>
            <a:endParaRPr lang="en-US" dirty="0"/>
          </a:p>
          <a:p>
            <a:pPr marL="0" indent="0">
              <a:buNone/>
            </a:pPr>
            <a:r>
              <a:rPr lang="pt-BR" dirty="0"/>
              <a:t>! (A &amp;&amp; ! ((B &lt; C) || (C &gt; D))) || (C &lt; E)</a:t>
            </a:r>
          </a:p>
          <a:p>
            <a:r>
              <a:rPr lang="pt-BR" dirty="0"/>
              <a:t>postfix: A B C &lt; C D &gt; || ! &amp;&amp; ! C E &lt; </a:t>
            </a:r>
            <a:r>
              <a:rPr lang="pt-BR" dirty="0" smtClean="0"/>
              <a:t>||</a:t>
            </a:r>
            <a:endParaRPr lang="pt-BR" dirty="0"/>
          </a:p>
          <a:p>
            <a:r>
              <a:rPr lang="pt-BR" dirty="0" smtClean="0"/>
              <a:t>prefix</a:t>
            </a:r>
            <a:r>
              <a:rPr lang="pt-BR" dirty="0"/>
              <a:t>: || ! &amp;&amp; A ! || &lt; B C &gt; C D &lt; C E</a:t>
            </a:r>
          </a:p>
          <a:p>
            <a:pPr marL="0" indent="0">
              <a:buNone/>
            </a:pPr>
            <a:endParaRPr lang="en-US" dirty="0" smtClean="0"/>
          </a:p>
          <a:p>
            <a:endParaRPr lang="en-US" dirty="0"/>
          </a:p>
        </p:txBody>
      </p:sp>
    </p:spTree>
    <p:extLst>
      <p:ext uri="{BB962C8B-B14F-4D97-AF65-F5344CB8AC3E}">
        <p14:creationId xmlns:p14="http://schemas.microsoft.com/office/powerpoint/2010/main" val="21127246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p>
          <a:p>
            <a:pPr marL="0" indent="0">
              <a:buNone/>
            </a:pPr>
            <a:r>
              <a:rPr lang="en-US" dirty="0" smtClean="0"/>
              <a:t>                                             Practice MCQ questions </a:t>
            </a:r>
            <a:endParaRPr lang="en-US" dirty="0"/>
          </a:p>
        </p:txBody>
      </p:sp>
      <p:sp>
        <p:nvSpPr>
          <p:cNvPr id="4" name="Rectangle 3"/>
          <p:cNvSpPr/>
          <p:nvPr/>
        </p:nvSpPr>
        <p:spPr>
          <a:xfrm>
            <a:off x="904567" y="1306532"/>
            <a:ext cx="10255046" cy="2308324"/>
          </a:xfrm>
          <a:prstGeom prst="rect">
            <a:avLst/>
          </a:prstGeom>
        </p:spPr>
        <p:txBody>
          <a:bodyPr wrap="square">
            <a:spAutoFit/>
          </a:bodyPr>
          <a:lstStyle/>
          <a:p>
            <a:r>
              <a:rPr lang="en-US" dirty="0">
                <a:hlinkClick r:id="rId2"/>
              </a:rPr>
              <a:t>https://www.geeksforgeeks.org/data-structure-gq/top-mcqs-on-stack-data-strcuture-with-answers</a:t>
            </a:r>
            <a:r>
              <a:rPr lang="en-US" dirty="0" smtClean="0">
                <a:hlinkClick r:id="rId2"/>
              </a:rPr>
              <a:t>/</a:t>
            </a:r>
            <a:endParaRPr lang="en-US" dirty="0" smtClean="0"/>
          </a:p>
          <a:p>
            <a:endParaRPr lang="en-US" dirty="0"/>
          </a:p>
          <a:p>
            <a:endParaRPr lang="en-US" dirty="0" smtClean="0"/>
          </a:p>
          <a:p>
            <a:endParaRPr lang="en-US" dirty="0"/>
          </a:p>
          <a:p>
            <a:r>
              <a:rPr lang="en-US" b="1" dirty="0" smtClean="0"/>
              <a:t>Previous years GATE questions </a:t>
            </a:r>
          </a:p>
          <a:p>
            <a:r>
              <a:rPr lang="en-US" dirty="0">
                <a:hlinkClick r:id="rId3"/>
              </a:rPr>
              <a:t>https://</a:t>
            </a:r>
            <a:r>
              <a:rPr lang="en-US" dirty="0" smtClean="0">
                <a:hlinkClick r:id="rId3"/>
              </a:rPr>
              <a:t>questions.examside.com/past-years/gate/question/pconsider-the-queues-qsub1sub-containing-four-element-gate-cse-theory-of-computation-finite-automata-and-regular-language-sozflytewkqwhc7j</a:t>
            </a:r>
            <a:endParaRPr lang="en-US" dirty="0" smtClean="0"/>
          </a:p>
          <a:p>
            <a:endParaRPr lang="en-US" dirty="0"/>
          </a:p>
        </p:txBody>
      </p:sp>
    </p:spTree>
    <p:extLst>
      <p:ext uri="{BB962C8B-B14F-4D97-AF65-F5344CB8AC3E}">
        <p14:creationId xmlns:p14="http://schemas.microsoft.com/office/powerpoint/2010/main" val="15955446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dirty="0"/>
              <a:t> </a:t>
            </a:r>
            <a:r>
              <a:rPr lang="en-US" dirty="0" smtClean="0"/>
              <a:t>                                              Lab Experiments</a:t>
            </a:r>
          </a:p>
          <a:p>
            <a:pPr marL="0" indent="0">
              <a:buNone/>
            </a:pPr>
            <a:endParaRPr lang="en-US" dirty="0"/>
          </a:p>
          <a:p>
            <a:pPr marL="0" indent="0">
              <a:buNone/>
            </a:pPr>
            <a:r>
              <a:rPr lang="en-US" dirty="0" smtClean="0"/>
              <a:t>     1) Implement all stack operations using array and linked list: Push, Pop, Display.</a:t>
            </a:r>
          </a:p>
          <a:p>
            <a:pPr marL="0" indent="0">
              <a:buNone/>
            </a:pPr>
            <a:r>
              <a:rPr lang="en-US" dirty="0"/>
              <a:t> </a:t>
            </a:r>
            <a:r>
              <a:rPr lang="en-US" dirty="0" smtClean="0"/>
              <a:t>    2) Reverse string using stack</a:t>
            </a:r>
          </a:p>
          <a:p>
            <a:pPr marL="0" indent="0">
              <a:buNone/>
            </a:pPr>
            <a:r>
              <a:rPr lang="en-US" dirty="0"/>
              <a:t> </a:t>
            </a:r>
            <a:r>
              <a:rPr lang="en-US" dirty="0" smtClean="0"/>
              <a:t>    3) </a:t>
            </a:r>
            <a:r>
              <a:rPr lang="en-US" dirty="0"/>
              <a:t>Convert infix to postfix expression using stack and </a:t>
            </a:r>
            <a:r>
              <a:rPr lang="en-US" dirty="0" smtClean="0"/>
              <a:t>array</a:t>
            </a:r>
          </a:p>
          <a:p>
            <a:pPr marL="0" indent="0">
              <a:buNone/>
            </a:pPr>
            <a:r>
              <a:rPr lang="en-US" dirty="0"/>
              <a:t> </a:t>
            </a:r>
            <a:r>
              <a:rPr lang="en-US" dirty="0" smtClean="0"/>
              <a:t>    4) </a:t>
            </a:r>
            <a:r>
              <a:rPr lang="en-US" dirty="0"/>
              <a:t>Evaluate postfix expression using stack and array.</a:t>
            </a:r>
          </a:p>
          <a:p>
            <a:pPr marL="0" indent="0">
              <a:buNone/>
            </a:pP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30298047"/>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21146</TotalTime>
  <Words>2984</Words>
  <Application>Microsoft Office PowerPoint</Application>
  <PresentationFormat>Widescreen</PresentationFormat>
  <Paragraphs>333</Paragraphs>
  <Slides>43</Slides>
  <Notes>13</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56" baseType="lpstr">
      <vt:lpstr>Arial</vt:lpstr>
      <vt:lpstr>Calibri</vt:lpstr>
      <vt:lpstr>Calibri Light</vt:lpstr>
      <vt:lpstr>Constantia</vt:lpstr>
      <vt:lpstr>Courier New</vt:lpstr>
      <vt:lpstr>Georgia</vt:lpstr>
      <vt:lpstr>Gill Sans MT</vt:lpstr>
      <vt:lpstr>Monotype Sorts</vt:lpstr>
      <vt:lpstr>MS Mincho</vt:lpstr>
      <vt:lpstr>Times New Roman</vt:lpstr>
      <vt:lpstr>Badge</vt:lpstr>
      <vt:lpstr>1_Office Theme</vt:lpstr>
      <vt:lpstr>Packager Shell Object</vt:lpstr>
      <vt:lpstr>Stack &amp; Queue</vt:lpstr>
      <vt:lpstr>Stack Data Structure</vt:lpstr>
      <vt:lpstr>Stack Data Structure</vt:lpstr>
      <vt:lpstr>Stack Data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Stack implementation using Array</vt:lpstr>
      <vt:lpstr>Stack implementation using linked list</vt:lpstr>
      <vt:lpstr>The Polish Notation</vt:lpstr>
      <vt:lpstr>Infix  Notation</vt:lpstr>
      <vt:lpstr>Prefix Notation</vt:lpstr>
      <vt:lpstr>Postfix Notation</vt:lpstr>
      <vt:lpstr>PowerPoint Presentation</vt:lpstr>
      <vt:lpstr>Parentheses</vt:lpstr>
      <vt:lpstr>What about Prefix Notation?</vt:lpstr>
      <vt:lpstr>Postfix Notation</vt:lpstr>
      <vt:lpstr>Conclusion:</vt:lpstr>
      <vt:lpstr>Fully Parenthesized Expression</vt:lpstr>
      <vt:lpstr>PowerPoint Presentation</vt:lpstr>
      <vt:lpstr>PowerPoint Presentation</vt:lpstr>
      <vt:lpstr>PowerPoint Presentation</vt:lpstr>
      <vt:lpstr>PowerPoint Presentation</vt:lpstr>
      <vt:lpstr>Infix to Postfix conversion</vt:lpstr>
      <vt:lpstr>Operator precedence table</vt:lpstr>
      <vt:lpstr>Infix to Postfix conversion and  Postfix expression evaluation</vt:lpstr>
      <vt:lpstr>PowerPoint Presentation</vt:lpstr>
      <vt:lpstr>PowerPoint Presentation</vt:lpstr>
      <vt:lpstr>PowerPoint Presentation</vt:lpstr>
      <vt:lpstr>                        Example: postfix expressions (cont.)</vt:lpstr>
      <vt:lpstr>Postfix  expressions: Algorithm using stacks (cont.)</vt:lpstr>
      <vt:lpstr>PowerPoint Presentation</vt:lpstr>
      <vt:lpstr>Infix to Prefix</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 Joshi</dc:creator>
  <cp:lastModifiedBy>Shahina Anwarul</cp:lastModifiedBy>
  <cp:revision>358</cp:revision>
  <dcterms:created xsi:type="dcterms:W3CDTF">2017-11-09T22:54:09Z</dcterms:created>
  <dcterms:modified xsi:type="dcterms:W3CDTF">2026-03-16T08:20:23Z</dcterms:modified>
</cp:coreProperties>
</file>