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429" r:id="rId3"/>
    <p:sldId id="430" r:id="rId4"/>
    <p:sldId id="431" r:id="rId5"/>
    <p:sldId id="432" r:id="rId6"/>
    <p:sldId id="433" r:id="rId7"/>
    <p:sldId id="434" r:id="rId8"/>
    <p:sldId id="435" r:id="rId9"/>
    <p:sldId id="436" r:id="rId10"/>
    <p:sldId id="451" r:id="rId11"/>
    <p:sldId id="452" r:id="rId12"/>
    <p:sldId id="437" r:id="rId13"/>
    <p:sldId id="438" r:id="rId14"/>
    <p:sldId id="439" r:id="rId15"/>
    <p:sldId id="440" r:id="rId16"/>
    <p:sldId id="441" r:id="rId17"/>
    <p:sldId id="442" r:id="rId18"/>
    <p:sldId id="443" r:id="rId19"/>
    <p:sldId id="444" r:id="rId20"/>
    <p:sldId id="445" r:id="rId21"/>
    <p:sldId id="446" r:id="rId22"/>
    <p:sldId id="447" r:id="rId23"/>
    <p:sldId id="448" r:id="rId24"/>
    <p:sldId id="449" r:id="rId25"/>
    <p:sldId id="450"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883" autoAdjust="0"/>
  </p:normalViewPr>
  <p:slideViewPr>
    <p:cSldViewPr>
      <p:cViewPr varScale="1">
        <p:scale>
          <a:sx n="63" d="100"/>
          <a:sy n="63" d="100"/>
        </p:scale>
        <p:origin x="138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F7174-4669-498D-ABF4-7742B93763D8}" type="datetimeFigureOut">
              <a:rPr lang="en-IN" smtClean="0"/>
              <a:t>26-04-2026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C6DE39-288F-47F2-BA8C-AE8BCFC7B114}" type="slidenum">
              <a:rPr lang="en-IN" smtClean="0"/>
              <a:t>‹#›</a:t>
            </a:fld>
            <a:endParaRPr lang="en-IN"/>
          </a:p>
        </p:txBody>
      </p:sp>
    </p:spTree>
    <p:extLst>
      <p:ext uri="{BB962C8B-B14F-4D97-AF65-F5344CB8AC3E}">
        <p14:creationId xmlns:p14="http://schemas.microsoft.com/office/powerpoint/2010/main" val="3491294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E7577929-AE19-4616-9215-540172FCC40F}" type="datetimeFigureOut">
              <a:rPr lang="en-US" smtClean="0"/>
              <a:t>4/26/2026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472D444A-3CF8-4237-9BE3-778DFCA50DB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E7577929-AE19-4616-9215-540172FCC40F}" type="datetimeFigureOut">
              <a:rPr lang="en-US" smtClean="0"/>
              <a:t>4/26/2026</a:t>
            </a:fld>
            <a:endParaRPr lang="en-US"/>
          </a:p>
        </p:txBody>
      </p:sp>
      <p:sp>
        <p:nvSpPr>
          <p:cNvPr id="9" name="Slide Number Placeholder 8"/>
          <p:cNvSpPr>
            <a:spLocks noGrp="1"/>
          </p:cNvSpPr>
          <p:nvPr>
            <p:ph type="sldNum" sz="quarter" idx="15"/>
          </p:nvPr>
        </p:nvSpPr>
        <p:spPr/>
        <p:txBody>
          <a:bodyPr rtlCol="0"/>
          <a:lstStyle/>
          <a:p>
            <a:fld id="{472D444A-3CF8-4237-9BE3-778DFCA50DBB}"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E7577929-AE19-4616-9215-540172FCC40F}" type="datetimeFigureOut">
              <a:rPr lang="en-US" smtClean="0"/>
              <a:t>4/26/2026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472D444A-3CF8-4237-9BE3-778DFCA50DB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E7577929-AE19-4616-9215-540172FCC40F}"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2D444A-3CF8-4237-9BE3-778DFCA50DBB}"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E7577929-AE19-4616-9215-540172FCC40F}"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2D444A-3CF8-4237-9BE3-778DFCA50DBB}"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E7577929-AE19-4616-9215-540172FCC40F}" type="datetimeFigureOut">
              <a:rPr lang="en-US" smtClean="0"/>
              <a:t>4/26/2026</a:t>
            </a:fld>
            <a:endParaRPr lang="en-US"/>
          </a:p>
        </p:txBody>
      </p:sp>
      <p:sp>
        <p:nvSpPr>
          <p:cNvPr id="7" name="Slide Number Placeholder 6"/>
          <p:cNvSpPr>
            <a:spLocks noGrp="1"/>
          </p:cNvSpPr>
          <p:nvPr>
            <p:ph type="sldNum" sz="quarter" idx="11"/>
          </p:nvPr>
        </p:nvSpPr>
        <p:spPr/>
        <p:txBody>
          <a:bodyPr rtlCol="0"/>
          <a:lstStyle/>
          <a:p>
            <a:fld id="{472D444A-3CF8-4237-9BE3-778DFCA50DBB}"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577929-AE19-4616-9215-540172FCC40F}"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E7577929-AE19-4616-9215-540172FCC40F}" type="datetimeFigureOut">
              <a:rPr lang="en-US" smtClean="0"/>
              <a:t>4/26/2026</a:t>
            </a:fld>
            <a:endParaRPr lang="en-US"/>
          </a:p>
        </p:txBody>
      </p:sp>
      <p:sp>
        <p:nvSpPr>
          <p:cNvPr id="22" name="Slide Number Placeholder 21"/>
          <p:cNvSpPr>
            <a:spLocks noGrp="1"/>
          </p:cNvSpPr>
          <p:nvPr>
            <p:ph type="sldNum" sz="quarter" idx="15"/>
          </p:nvPr>
        </p:nvSpPr>
        <p:spPr/>
        <p:txBody>
          <a:bodyPr rtlCol="0"/>
          <a:lstStyle/>
          <a:p>
            <a:fld id="{472D444A-3CF8-4237-9BE3-778DFCA50DBB}"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7577929-AE19-4616-9215-540172FCC40F}" type="datetimeFigureOut">
              <a:rPr lang="en-US" smtClean="0"/>
              <a:t>4/26/2026</a:t>
            </a:fld>
            <a:endParaRPr lang="en-US"/>
          </a:p>
        </p:txBody>
      </p:sp>
      <p:sp>
        <p:nvSpPr>
          <p:cNvPr id="18" name="Slide Number Placeholder 17"/>
          <p:cNvSpPr>
            <a:spLocks noGrp="1"/>
          </p:cNvSpPr>
          <p:nvPr>
            <p:ph type="sldNum" sz="quarter" idx="11"/>
          </p:nvPr>
        </p:nvSpPr>
        <p:spPr/>
        <p:txBody>
          <a:bodyPr rtlCol="0"/>
          <a:lstStyle/>
          <a:p>
            <a:fld id="{472D444A-3CF8-4237-9BE3-778DFCA50DBB}"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77929-AE19-4616-9215-540172FCC40F}"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577929-AE19-4616-9215-540172FCC40F}"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2D444A-3CF8-4237-9BE3-778DFCA50DB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7577929-AE19-4616-9215-540172FCC40F}" type="datetimeFigureOut">
              <a:rPr lang="en-US" smtClean="0"/>
              <a:t>4/26/2026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472D444A-3CF8-4237-9BE3-778DFCA50DB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133600"/>
            <a:ext cx="6172200" cy="1219200"/>
          </a:xfrm>
        </p:spPr>
        <p:txBody>
          <a:bodyPr>
            <a:normAutofit/>
          </a:bodyPr>
          <a:lstStyle/>
          <a:p>
            <a:r>
              <a:rPr lang="en-US" sz="5400" dirty="0" smtClean="0"/>
              <a:t>Hashing</a:t>
            </a:r>
            <a:endParaRPr lang="en-US" sz="54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54607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Hashing?</a:t>
            </a:r>
            <a:endParaRPr lang="en-US" dirty="0"/>
          </a:p>
        </p:txBody>
      </p:sp>
      <p:sp>
        <p:nvSpPr>
          <p:cNvPr id="3" name="Content Placeholder 2"/>
          <p:cNvSpPr>
            <a:spLocks noGrp="1"/>
          </p:cNvSpPr>
          <p:nvPr>
            <p:ph sz="quarter" idx="1"/>
          </p:nvPr>
        </p:nvSpPr>
        <p:spPr/>
        <p:txBody>
          <a:bodyPr/>
          <a:lstStyle/>
          <a:p>
            <a:r>
              <a:rPr lang="en-US" dirty="0"/>
              <a:t>H</a:t>
            </a:r>
            <a:r>
              <a:rPr lang="en-US" dirty="0" smtClean="0"/>
              <a:t>ashing </a:t>
            </a:r>
            <a:r>
              <a:rPr lang="en-US" dirty="0"/>
              <a:t>is a technique for performing almost constant time in case of </a:t>
            </a:r>
            <a:r>
              <a:rPr lang="en-US" dirty="0" smtClean="0"/>
              <a:t>insertion, deletion </a:t>
            </a:r>
            <a:r>
              <a:rPr lang="en-US" dirty="0"/>
              <a:t>and find operation.</a:t>
            </a:r>
          </a:p>
          <a:p>
            <a:r>
              <a:rPr lang="en-US" dirty="0"/>
              <a:t>Hashing is a technique that is used to uniquely identify a specific object from a group of similar objects.</a:t>
            </a:r>
          </a:p>
          <a:p>
            <a:r>
              <a:rPr lang="en-US" dirty="0"/>
              <a:t>Mapping key must be simple to compute and must help in identifying the associated records.</a:t>
            </a:r>
          </a:p>
          <a:p>
            <a:endParaRPr lang="en-US" dirty="0"/>
          </a:p>
        </p:txBody>
      </p:sp>
    </p:spTree>
    <p:extLst>
      <p:ext uri="{BB962C8B-B14F-4D97-AF65-F5344CB8AC3E}">
        <p14:creationId xmlns:p14="http://schemas.microsoft.com/office/powerpoint/2010/main" val="1569595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Hashing</a:t>
            </a:r>
            <a:endParaRPr lang="en-US" dirty="0"/>
          </a:p>
        </p:txBody>
      </p:sp>
      <p:sp>
        <p:nvSpPr>
          <p:cNvPr id="3" name="Content Placeholder 2"/>
          <p:cNvSpPr>
            <a:spLocks noGrp="1"/>
          </p:cNvSpPr>
          <p:nvPr>
            <p:ph sz="quarter" idx="1"/>
          </p:nvPr>
        </p:nvSpPr>
        <p:spPr/>
        <p:txBody>
          <a:bodyPr>
            <a:normAutofit lnSpcReduction="10000"/>
          </a:bodyPr>
          <a:lstStyle/>
          <a:p>
            <a:r>
              <a:rPr lang="en-US" dirty="0"/>
              <a:t>Hashing is the process of mapping large amount of data item to a smaller table with the help of a hashing function. </a:t>
            </a:r>
            <a:endParaRPr lang="en-US" dirty="0" smtClean="0"/>
          </a:p>
          <a:p>
            <a:r>
              <a:rPr lang="en-US" dirty="0" smtClean="0"/>
              <a:t>The </a:t>
            </a:r>
            <a:r>
              <a:rPr lang="en-US" dirty="0"/>
              <a:t>essence of hashing is to facilitate the next level searching method when compared with the linear or binary search. </a:t>
            </a:r>
            <a:endParaRPr lang="en-US" dirty="0" smtClean="0"/>
          </a:p>
          <a:p>
            <a:r>
              <a:rPr lang="en-US" dirty="0" smtClean="0"/>
              <a:t>The </a:t>
            </a:r>
            <a:r>
              <a:rPr lang="en-US" dirty="0"/>
              <a:t>advantage of this searching method is its efficiency to hand vast amount of data items in a given collection (i.e. collection size). </a:t>
            </a:r>
            <a:endParaRPr lang="en-US" dirty="0" smtClean="0"/>
          </a:p>
          <a:p>
            <a:r>
              <a:rPr lang="en-US" dirty="0" smtClean="0"/>
              <a:t>Due </a:t>
            </a:r>
            <a:r>
              <a:rPr lang="en-US" dirty="0"/>
              <a:t>to this hashing process, the result is a Hash data structure that can store or retrieve data items in an average time disregard to the collection size.</a:t>
            </a:r>
          </a:p>
        </p:txBody>
      </p:sp>
    </p:spTree>
    <p:extLst>
      <p:ext uri="{BB962C8B-B14F-4D97-AF65-F5344CB8AC3E}">
        <p14:creationId xmlns:p14="http://schemas.microsoft.com/office/powerpoint/2010/main" val="337790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fontAlgn="base"/>
            <a:r>
              <a:rPr lang="en-US" dirty="0"/>
              <a:t>Suppose we want to design a system for storing employee records keyed using phone numbers. </a:t>
            </a:r>
            <a:endParaRPr lang="en-US" dirty="0" smtClean="0"/>
          </a:p>
          <a:p>
            <a:pPr fontAlgn="base"/>
            <a:r>
              <a:rPr lang="en-US" dirty="0" smtClean="0"/>
              <a:t>And </a:t>
            </a:r>
            <a:r>
              <a:rPr lang="en-US" dirty="0"/>
              <a:t>we want following queries to be performed efficiently:</a:t>
            </a:r>
          </a:p>
          <a:p>
            <a:pPr fontAlgn="base"/>
            <a:r>
              <a:rPr lang="en-US" dirty="0"/>
              <a:t>Insert a phone number and corresponding information.</a:t>
            </a:r>
          </a:p>
          <a:p>
            <a:pPr fontAlgn="base"/>
            <a:r>
              <a:rPr lang="en-US" dirty="0"/>
              <a:t>Search a phone number and fetch the information.</a:t>
            </a:r>
          </a:p>
          <a:p>
            <a:pPr fontAlgn="base"/>
            <a:r>
              <a:rPr lang="en-US" dirty="0"/>
              <a:t>Delete a phone number and related information.</a:t>
            </a:r>
          </a:p>
          <a:p>
            <a:endParaRPr lang="en-US" dirty="0"/>
          </a:p>
        </p:txBody>
      </p:sp>
    </p:spTree>
    <p:extLst>
      <p:ext uri="{BB962C8B-B14F-4D97-AF65-F5344CB8AC3E}">
        <p14:creationId xmlns:p14="http://schemas.microsoft.com/office/powerpoint/2010/main" val="1525019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fontAlgn="base"/>
            <a:r>
              <a:rPr lang="en-US" dirty="0"/>
              <a:t>We can think of using the following data structures to maintain information about different phone numbers.</a:t>
            </a:r>
          </a:p>
          <a:p>
            <a:pPr fontAlgn="base"/>
            <a:r>
              <a:rPr lang="en-US" dirty="0"/>
              <a:t>Array of phone numbers and records.</a:t>
            </a:r>
          </a:p>
          <a:p>
            <a:pPr fontAlgn="base"/>
            <a:r>
              <a:rPr lang="en-US" dirty="0"/>
              <a:t>Linked List of phone numbers and records.</a:t>
            </a:r>
          </a:p>
          <a:p>
            <a:pPr fontAlgn="base"/>
            <a:r>
              <a:rPr lang="en-US" dirty="0"/>
              <a:t>Balanced binary search tree with phone numbers as keys.</a:t>
            </a:r>
          </a:p>
          <a:p>
            <a:pPr fontAlgn="base"/>
            <a:r>
              <a:rPr lang="en-US" dirty="0"/>
              <a:t>Direct Access Table.</a:t>
            </a:r>
          </a:p>
          <a:p>
            <a:endParaRPr lang="en-US" dirty="0"/>
          </a:p>
        </p:txBody>
      </p:sp>
    </p:spTree>
    <p:extLst>
      <p:ext uri="{BB962C8B-B14F-4D97-AF65-F5344CB8AC3E}">
        <p14:creationId xmlns:p14="http://schemas.microsoft.com/office/powerpoint/2010/main" val="1996696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fontAlgn="base"/>
            <a:r>
              <a:rPr lang="en-US" dirty="0"/>
              <a:t>For </a:t>
            </a:r>
            <a:r>
              <a:rPr lang="en-US" b="1" dirty="0"/>
              <a:t>arrays and linked lists</a:t>
            </a:r>
            <a:r>
              <a:rPr lang="en-US" dirty="0"/>
              <a:t>, we need to search in a linear fashion, which can be costly in practice. If we use arrays and keep the data sorted, then a phone number can be searched in </a:t>
            </a:r>
            <a:r>
              <a:rPr lang="en-US" dirty="0" smtClean="0"/>
              <a:t>O(Log n</a:t>
            </a:r>
            <a:r>
              <a:rPr lang="en-US" dirty="0"/>
              <a:t>) time using Binary Search, but insert and delete operations become costly as we have to maintain sorted order.</a:t>
            </a:r>
          </a:p>
          <a:p>
            <a:pPr fontAlgn="base"/>
            <a:r>
              <a:rPr lang="en-US" dirty="0"/>
              <a:t>With</a:t>
            </a:r>
            <a:r>
              <a:rPr lang="en-US" b="1" dirty="0"/>
              <a:t> balanced binary search tree</a:t>
            </a:r>
            <a:r>
              <a:rPr lang="en-US" dirty="0"/>
              <a:t>, we get moderate search, insert and delete times. All of these operations can be guaranteed to be in </a:t>
            </a:r>
            <a:r>
              <a:rPr lang="en-US" dirty="0" smtClean="0"/>
              <a:t>O(Log n</a:t>
            </a:r>
            <a:r>
              <a:rPr lang="en-US" dirty="0"/>
              <a:t>) time.</a:t>
            </a:r>
          </a:p>
          <a:p>
            <a:endParaRPr lang="en-US" dirty="0"/>
          </a:p>
        </p:txBody>
      </p:sp>
    </p:spTree>
    <p:extLst>
      <p:ext uri="{BB962C8B-B14F-4D97-AF65-F5344CB8AC3E}">
        <p14:creationId xmlns:p14="http://schemas.microsoft.com/office/powerpoint/2010/main" val="2545828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fontAlgn="base"/>
            <a:r>
              <a:rPr lang="en-US" b="1" dirty="0" smtClean="0"/>
              <a:t>Hashing</a:t>
            </a:r>
            <a:r>
              <a:rPr lang="en-US" dirty="0"/>
              <a:t> is the solution that can be used in almost all such situations and performs extremely well compared to above data structures like Array, Linked List, Balanced BST in practice. With hashing we get O(1) search time on average (under reasonable assumptions) and O(n) in worst case.</a:t>
            </a:r>
          </a:p>
          <a:p>
            <a:pPr fontAlgn="base"/>
            <a:r>
              <a:rPr lang="en-US" i="1" dirty="0"/>
              <a:t>Hashing is an improvement over Direct Access Table. The idea is to use hash function that converts a given phone number or any other key to a smaller number and uses the small number as index in a table called hash table.</a:t>
            </a:r>
            <a:endParaRPr lang="en-US" dirty="0"/>
          </a:p>
          <a:p>
            <a:endParaRPr lang="en-US" dirty="0"/>
          </a:p>
        </p:txBody>
      </p:sp>
    </p:spTree>
    <p:extLst>
      <p:ext uri="{BB962C8B-B14F-4D97-AF65-F5344CB8AC3E}">
        <p14:creationId xmlns:p14="http://schemas.microsoft.com/office/powerpoint/2010/main" val="272921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 Function</a:t>
            </a:r>
            <a:endParaRPr lang="en-US" dirty="0"/>
          </a:p>
        </p:txBody>
      </p:sp>
      <p:sp>
        <p:nvSpPr>
          <p:cNvPr id="3" name="Content Placeholder 2"/>
          <p:cNvSpPr>
            <a:spLocks noGrp="1"/>
          </p:cNvSpPr>
          <p:nvPr>
            <p:ph sz="quarter" idx="1"/>
          </p:nvPr>
        </p:nvSpPr>
        <p:spPr/>
        <p:txBody>
          <a:bodyPr>
            <a:normAutofit fontScale="92500" lnSpcReduction="10000"/>
          </a:bodyPr>
          <a:lstStyle/>
          <a:p>
            <a:pPr fontAlgn="base"/>
            <a:r>
              <a:rPr lang="en-US" dirty="0"/>
              <a:t>A function that converts a given big phone number to a small practical integer value. The mapped integer value is used as an index in hash table. In simple terms, a hash function maps a big number or string to a small integer that can be used as index in hash table.</a:t>
            </a:r>
            <a:br>
              <a:rPr lang="en-US" dirty="0"/>
            </a:br>
            <a:r>
              <a:rPr lang="en-US" dirty="0"/>
              <a:t>A good hash function should have following properties</a:t>
            </a:r>
            <a:br>
              <a:rPr lang="en-US" dirty="0"/>
            </a:br>
            <a:r>
              <a:rPr lang="en-US" dirty="0"/>
              <a:t>1) Efficiently computable.</a:t>
            </a:r>
            <a:br>
              <a:rPr lang="en-US" dirty="0"/>
            </a:br>
            <a:r>
              <a:rPr lang="en-US" dirty="0"/>
              <a:t>2) Should uniformly distribute the keys (Each table position equally likely for each key)</a:t>
            </a:r>
          </a:p>
          <a:p>
            <a:pPr fontAlgn="base"/>
            <a:r>
              <a:rPr lang="en-US" dirty="0"/>
              <a:t>For example for phone numbers a bad hash function is to take first three digits. A better function is consider last three digits. Please note that this may not be the best hash function. There may be better ways.</a:t>
            </a:r>
          </a:p>
          <a:p>
            <a:endParaRPr lang="en-US" dirty="0"/>
          </a:p>
        </p:txBody>
      </p:sp>
    </p:spTree>
    <p:extLst>
      <p:ext uri="{BB962C8B-B14F-4D97-AF65-F5344CB8AC3E}">
        <p14:creationId xmlns:p14="http://schemas.microsoft.com/office/powerpoint/2010/main" val="1843817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 Table</a:t>
            </a:r>
            <a:endParaRPr lang="en-US" dirty="0"/>
          </a:p>
        </p:txBody>
      </p:sp>
      <p:sp>
        <p:nvSpPr>
          <p:cNvPr id="3" name="Content Placeholder 2"/>
          <p:cNvSpPr>
            <a:spLocks noGrp="1"/>
          </p:cNvSpPr>
          <p:nvPr>
            <p:ph sz="quarter" idx="1"/>
          </p:nvPr>
        </p:nvSpPr>
        <p:spPr/>
        <p:txBody>
          <a:bodyPr/>
          <a:lstStyle/>
          <a:p>
            <a:r>
              <a:rPr lang="en-US" dirty="0"/>
              <a:t>An array that stores pointers to records corresponding to a given phone number. An entry in hash table is NIL if no existing phone number has hash function value equal to the index for the entry.</a:t>
            </a:r>
          </a:p>
        </p:txBody>
      </p:sp>
    </p:spTree>
    <p:extLst>
      <p:ext uri="{BB962C8B-B14F-4D97-AF65-F5344CB8AC3E}">
        <p14:creationId xmlns:p14="http://schemas.microsoft.com/office/powerpoint/2010/main" val="3767073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 Factor in Hashing</a:t>
            </a:r>
            <a:endParaRPr lang="en-US" dirty="0"/>
          </a:p>
        </p:txBody>
      </p:sp>
      <p:sp>
        <p:nvSpPr>
          <p:cNvPr id="3" name="Content Placeholder 2"/>
          <p:cNvSpPr>
            <a:spLocks noGrp="1"/>
          </p:cNvSpPr>
          <p:nvPr>
            <p:ph sz="quarter" idx="1"/>
          </p:nvPr>
        </p:nvSpPr>
        <p:spPr>
          <a:xfrm>
            <a:off x="457200" y="1600200"/>
            <a:ext cx="8001000" cy="4873752"/>
          </a:xfrm>
        </p:spPr>
        <p:txBody>
          <a:bodyPr>
            <a:normAutofit fontScale="92500" lnSpcReduction="20000"/>
          </a:bodyPr>
          <a:lstStyle/>
          <a:p>
            <a:r>
              <a:rPr lang="en-US" dirty="0"/>
              <a:t>Load factor in a hash table measures how full the table is</a:t>
            </a:r>
            <a:r>
              <a:rPr lang="en-US" dirty="0" smtClean="0"/>
              <a:t>.</a:t>
            </a:r>
          </a:p>
          <a:p>
            <a:r>
              <a:rPr lang="en-US" dirty="0"/>
              <a:t>Load Factor (α</a:t>
            </a:r>
            <a:r>
              <a:rPr lang="en-US" dirty="0" smtClean="0"/>
              <a:t>)=Number</a:t>
            </a:r>
            <a:r>
              <a:rPr lang="en-US" dirty="0"/>
              <a:t> of </a:t>
            </a:r>
            <a:r>
              <a:rPr lang="en-US" dirty="0" smtClean="0"/>
              <a:t>                                                          </a:t>
            </a:r>
            <a:r>
              <a:rPr lang="en-US" dirty="0" smtClean="0"/>
              <a:t>elements</a:t>
            </a:r>
            <a:r>
              <a:rPr lang="en-US" dirty="0"/>
              <a:t> (n)</a:t>
            </a:r>
            <a:r>
              <a:rPr lang="en-US" dirty="0"/>
              <a:t>​/ Size of hash table (m</a:t>
            </a:r>
            <a:r>
              <a:rPr lang="en-US" dirty="0" smtClean="0"/>
              <a:t>)</a:t>
            </a:r>
            <a:endParaRPr lang="en-US" dirty="0" smtClean="0"/>
          </a:p>
          <a:p>
            <a:r>
              <a:rPr lang="en-US" dirty="0"/>
              <a:t>Maintaining load factor means keeping this ratio within an optimal range to ensure efficient performance</a:t>
            </a:r>
            <a:r>
              <a:rPr lang="en-US" dirty="0" smtClean="0"/>
              <a:t>.</a:t>
            </a:r>
          </a:p>
          <a:p>
            <a:endParaRPr lang="en-US" dirty="0"/>
          </a:p>
          <a:p>
            <a:r>
              <a:rPr lang="en-US" b="1" dirty="0"/>
              <a:t>Why it </a:t>
            </a:r>
            <a:r>
              <a:rPr lang="en-US" b="1" dirty="0" smtClean="0"/>
              <a:t>matters?</a:t>
            </a:r>
            <a:endParaRPr lang="en-US" b="1" dirty="0"/>
          </a:p>
          <a:p>
            <a:r>
              <a:rPr lang="en-US" b="1" dirty="0"/>
              <a:t>If load factor is too high (α → 1 or more)</a:t>
            </a:r>
          </a:p>
          <a:p>
            <a:r>
              <a:rPr lang="en-US" dirty="0"/>
              <a:t>Table is crowded </a:t>
            </a:r>
          </a:p>
          <a:p>
            <a:r>
              <a:rPr lang="en-US" dirty="0"/>
              <a:t>More </a:t>
            </a:r>
            <a:r>
              <a:rPr lang="en-US" b="1" dirty="0"/>
              <a:t>collisions</a:t>
            </a:r>
            <a:r>
              <a:rPr lang="en-US" dirty="0"/>
              <a:t> occur </a:t>
            </a:r>
          </a:p>
          <a:p>
            <a:r>
              <a:rPr lang="en-US" dirty="0"/>
              <a:t>Slower search, insert, delete </a:t>
            </a:r>
          </a:p>
          <a:p>
            <a:r>
              <a:rPr lang="en-US" b="1" dirty="0"/>
              <a:t>If load factor is too low (α → 0)</a:t>
            </a:r>
          </a:p>
          <a:p>
            <a:r>
              <a:rPr lang="en-US" dirty="0"/>
              <a:t>Memory is wasted </a:t>
            </a:r>
          </a:p>
          <a:p>
            <a:r>
              <a:rPr lang="en-US" dirty="0"/>
              <a:t>Table is underutilized</a:t>
            </a:r>
          </a:p>
          <a:p>
            <a:endParaRPr lang="en-US" dirty="0"/>
          </a:p>
        </p:txBody>
      </p:sp>
    </p:spTree>
    <p:extLst>
      <p:ext uri="{BB962C8B-B14F-4D97-AF65-F5344CB8AC3E}">
        <p14:creationId xmlns:p14="http://schemas.microsoft.com/office/powerpoint/2010/main" val="2077787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460342" y="1438848"/>
            <a:ext cx="7540658" cy="4873752"/>
          </a:xfrm>
        </p:spPr>
        <p:txBody>
          <a:bodyPr>
            <a:normAutofit fontScale="85000" lnSpcReduction="20000"/>
          </a:bodyPr>
          <a:lstStyle/>
          <a:p>
            <a:r>
              <a:rPr lang="en-US" b="1" dirty="0"/>
              <a:t>How we maintain </a:t>
            </a:r>
            <a:r>
              <a:rPr lang="en-US" b="1" dirty="0" smtClean="0"/>
              <a:t>it?</a:t>
            </a:r>
            <a:endParaRPr lang="en-US" b="1" dirty="0"/>
          </a:p>
          <a:p>
            <a:r>
              <a:rPr lang="en-US" b="1" dirty="0" smtClean="0"/>
              <a:t> </a:t>
            </a:r>
            <a:r>
              <a:rPr lang="en-US" b="1" dirty="0"/>
              <a:t>Rehashing (Most important)</a:t>
            </a:r>
          </a:p>
          <a:p>
            <a:r>
              <a:rPr lang="en-US" dirty="0"/>
              <a:t>When load factor exceeds a threshold (e.g., 0.7 or 0.75): </a:t>
            </a:r>
          </a:p>
          <a:p>
            <a:pPr lvl="1"/>
            <a:r>
              <a:rPr lang="en-US" dirty="0"/>
              <a:t>Increase table size </a:t>
            </a:r>
          </a:p>
          <a:p>
            <a:pPr lvl="1"/>
            <a:r>
              <a:rPr lang="en-US" dirty="0" err="1"/>
              <a:t>Recompute</a:t>
            </a:r>
            <a:r>
              <a:rPr lang="en-US" dirty="0"/>
              <a:t> hash for all elements</a:t>
            </a:r>
          </a:p>
          <a:p>
            <a:endParaRPr lang="en-US" dirty="0" smtClean="0"/>
          </a:p>
          <a:p>
            <a:r>
              <a:rPr lang="en-US" b="1" dirty="0"/>
              <a:t>Example</a:t>
            </a:r>
          </a:p>
          <a:p>
            <a:r>
              <a:rPr lang="en-US" dirty="0"/>
              <a:t>Elements = 7 </a:t>
            </a:r>
          </a:p>
          <a:p>
            <a:r>
              <a:rPr lang="en-US" dirty="0"/>
              <a:t>Table size = 10 </a:t>
            </a:r>
          </a:p>
          <a:p>
            <a:r>
              <a:rPr lang="en-US" dirty="0" smtClean="0"/>
              <a:t>α=7/10=0.7 </a:t>
            </a:r>
          </a:p>
          <a:p>
            <a:r>
              <a:rPr lang="en-US" dirty="0" smtClean="0"/>
              <a:t>This </a:t>
            </a:r>
            <a:r>
              <a:rPr lang="en-US" dirty="0"/>
              <a:t>is a </a:t>
            </a:r>
            <a:r>
              <a:rPr lang="en-US" b="1" dirty="0"/>
              <a:t>good load factor</a:t>
            </a:r>
            <a:r>
              <a:rPr lang="en-US" dirty="0"/>
              <a:t> (balanced</a:t>
            </a:r>
            <a:r>
              <a:rPr lang="en-US" dirty="0" smtClean="0"/>
              <a:t>)</a:t>
            </a:r>
          </a:p>
          <a:p>
            <a:endParaRPr lang="en-US" dirty="0"/>
          </a:p>
          <a:p>
            <a:r>
              <a:rPr lang="en-US" dirty="0"/>
              <a:t>Maintaining load factor in hashing means keeping the ratio of stored elements to table size within an optimal limit (typically around 0.7) to minimize collisions and ensure efficient performance.</a:t>
            </a:r>
          </a:p>
          <a:p>
            <a:endParaRPr lang="en-US" dirty="0"/>
          </a:p>
        </p:txBody>
      </p:sp>
    </p:spTree>
    <p:extLst>
      <p:ext uri="{BB962C8B-B14F-4D97-AF65-F5344CB8AC3E}">
        <p14:creationId xmlns:p14="http://schemas.microsoft.com/office/powerpoint/2010/main" val="2082466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Collision handling</a:t>
            </a:r>
            <a:endParaRPr lang="en-US" dirty="0"/>
          </a:p>
        </p:txBody>
      </p:sp>
      <p:sp>
        <p:nvSpPr>
          <p:cNvPr id="3" name="Content Placeholder 2"/>
          <p:cNvSpPr>
            <a:spLocks noGrp="1"/>
          </p:cNvSpPr>
          <p:nvPr>
            <p:ph sz="quarter" idx="1"/>
          </p:nvPr>
        </p:nvSpPr>
        <p:spPr/>
        <p:txBody>
          <a:bodyPr>
            <a:normAutofit fontScale="92500" lnSpcReduction="20000"/>
          </a:bodyPr>
          <a:lstStyle/>
          <a:p>
            <a:pPr fontAlgn="base"/>
            <a:r>
              <a:rPr lang="en-US" dirty="0"/>
              <a:t>Since a hash function gets us a small number for a big key, there is possibility that two keys result in same value. The situation where a newly inserted key maps to an already occupied slot in hash table is called collision and must be handled using some collision handling technique. Following are the ways to handle collisions:</a:t>
            </a:r>
          </a:p>
          <a:p>
            <a:pPr fontAlgn="base"/>
            <a:r>
              <a:rPr lang="en-US" b="1" dirty="0"/>
              <a:t>Chaining</a:t>
            </a:r>
            <a:r>
              <a:rPr lang="en-US" b="1" dirty="0" smtClean="0"/>
              <a:t>: </a:t>
            </a:r>
            <a:r>
              <a:rPr lang="en-US" dirty="0" smtClean="0"/>
              <a:t>The </a:t>
            </a:r>
            <a:r>
              <a:rPr lang="en-US" dirty="0"/>
              <a:t>idea is to make each cell of hash table point to a linked list of records that have same hash function value. Chaining is simple, but requires additional memory outside the table.</a:t>
            </a:r>
          </a:p>
          <a:p>
            <a:pPr fontAlgn="base"/>
            <a:r>
              <a:rPr lang="en-US" b="1" dirty="0"/>
              <a:t>Open Addressing: </a:t>
            </a:r>
            <a:r>
              <a:rPr lang="en-US" dirty="0"/>
              <a:t>In open addressing, all elements are stored in the hash table itself. Each table entry contains either a record or NIL. When searching for an element, we one by one examine table slots until the desired element is found or it is clear that the element is not in the table.</a:t>
            </a:r>
          </a:p>
          <a:p>
            <a:endParaRPr lang="en-US" dirty="0"/>
          </a:p>
        </p:txBody>
      </p:sp>
    </p:spTree>
    <p:extLst>
      <p:ext uri="{BB962C8B-B14F-4D97-AF65-F5344CB8AC3E}">
        <p14:creationId xmlns:p14="http://schemas.microsoft.com/office/powerpoint/2010/main" val="4086020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techniques or Hashing Collision resolution Techniques</a:t>
            </a:r>
            <a:endParaRPr lang="en-US" dirty="0"/>
          </a:p>
        </p:txBody>
      </p:sp>
      <p:sp>
        <p:nvSpPr>
          <p:cNvPr id="3" name="Content Placeholder 2"/>
          <p:cNvSpPr>
            <a:spLocks noGrp="1"/>
          </p:cNvSpPr>
          <p:nvPr>
            <p:ph sz="quarter" idx="1"/>
          </p:nvPr>
        </p:nvSpPr>
        <p:spPr/>
        <p:txBody>
          <a:bodyPr/>
          <a:lstStyle/>
          <a:p>
            <a:r>
              <a:rPr lang="en-US" dirty="0" smtClean="0"/>
              <a:t>Hashing with chaining or separate chaining</a:t>
            </a:r>
          </a:p>
          <a:p>
            <a:r>
              <a:rPr lang="en-US" dirty="0" smtClean="0"/>
              <a:t>Open Addressing</a:t>
            </a:r>
          </a:p>
          <a:p>
            <a:pPr lvl="1"/>
            <a:r>
              <a:rPr lang="en-US" dirty="0" smtClean="0"/>
              <a:t>Linear Probing</a:t>
            </a:r>
          </a:p>
          <a:p>
            <a:pPr lvl="1"/>
            <a:r>
              <a:rPr lang="en-US" dirty="0" smtClean="0"/>
              <a:t>Quadratic Probing </a:t>
            </a:r>
          </a:p>
          <a:p>
            <a:pPr lvl="1"/>
            <a:r>
              <a:rPr lang="en-US" dirty="0" smtClean="0"/>
              <a:t>Double Hashing</a:t>
            </a:r>
          </a:p>
          <a:p>
            <a:endParaRPr lang="en-US" dirty="0" smtClean="0"/>
          </a:p>
          <a:p>
            <a:endParaRPr lang="en-US" dirty="0" smtClean="0"/>
          </a:p>
          <a:p>
            <a:endParaRPr lang="en-US" dirty="0"/>
          </a:p>
        </p:txBody>
      </p:sp>
    </p:spTree>
    <p:extLst>
      <p:ext uri="{BB962C8B-B14F-4D97-AF65-F5344CB8AC3E}">
        <p14:creationId xmlns:p14="http://schemas.microsoft.com/office/powerpoint/2010/main" val="1616127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with Chains</a:t>
            </a:r>
            <a:endParaRPr lang="en-US" dirty="0"/>
          </a:p>
        </p:txBody>
      </p:sp>
      <p:pic>
        <p:nvPicPr>
          <p:cNvPr id="1026" name="Picture 2" descr="C:\Users\sanwarul\Desktop\h1.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7467600" cy="5218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9880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C:\Users\sanwarul\Desktop\h2.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914400" y="1600200"/>
            <a:ext cx="7391400"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849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with Linear Probe</a:t>
            </a:r>
            <a:endParaRPr lang="en-US" dirty="0"/>
          </a:p>
        </p:txBody>
      </p:sp>
      <p:sp>
        <p:nvSpPr>
          <p:cNvPr id="3" name="Content Placeholder 2"/>
          <p:cNvSpPr>
            <a:spLocks noGrp="1"/>
          </p:cNvSpPr>
          <p:nvPr>
            <p:ph sz="quarter" idx="1"/>
          </p:nvPr>
        </p:nvSpPr>
        <p:spPr/>
        <p:txBody>
          <a:bodyPr/>
          <a:lstStyle/>
          <a:p>
            <a:r>
              <a:rPr lang="en-US" dirty="0"/>
              <a:t>When using a linear probe, the item will be stored in the next available slot in the table, assuming that the table is not already full.</a:t>
            </a:r>
          </a:p>
          <a:p>
            <a:r>
              <a:rPr lang="en-US" dirty="0"/>
              <a:t>This is implemented via a linear search for an empty slot, from the point of collision. If the physical end of table is reached during the linear search, the search will wrap around to the beginning of the table and continue from there.</a:t>
            </a:r>
          </a:p>
          <a:p>
            <a:r>
              <a:rPr lang="en-US" dirty="0"/>
              <a:t>If an empty slot is not found before reaching the point of collision, the table is full.</a:t>
            </a:r>
          </a:p>
          <a:p>
            <a:endParaRPr lang="en-US" dirty="0"/>
          </a:p>
        </p:txBody>
      </p:sp>
    </p:spTree>
    <p:extLst>
      <p:ext uri="{BB962C8B-B14F-4D97-AF65-F5344CB8AC3E}">
        <p14:creationId xmlns:p14="http://schemas.microsoft.com/office/powerpoint/2010/main" val="2155197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descr="C:\Users\sanwarul\Desktop\h3.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033022" y="2079352"/>
            <a:ext cx="6315956" cy="3915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234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r>
              <a:rPr lang="en-US" dirty="0"/>
              <a:t>A problem with the linear probe method is that it is possible for blocks of data to form when collisions are resolved. This is known as </a:t>
            </a:r>
            <a:r>
              <a:rPr lang="en-US" b="1" dirty="0"/>
              <a:t>primary clustering</a:t>
            </a:r>
            <a:r>
              <a:rPr lang="en-US" dirty="0"/>
              <a:t>.</a:t>
            </a:r>
          </a:p>
          <a:p>
            <a:r>
              <a:rPr lang="en-US" dirty="0"/>
              <a:t>In linear probing, when a collision occurs, the algorithm checks the next slot sequentially (i.e., h(k) + 1, h(k) + 2, ...). Over time, this leads to contiguous blocks of occupied slots forming in the hash </a:t>
            </a:r>
            <a:r>
              <a:rPr lang="en-US" dirty="0" err="1"/>
              <a:t>table.This</a:t>
            </a:r>
            <a:r>
              <a:rPr lang="en-US" dirty="0"/>
              <a:t> phenomenon is called primary </a:t>
            </a:r>
            <a:r>
              <a:rPr lang="en-US" dirty="0" err="1"/>
              <a:t>clustering:Once</a:t>
            </a:r>
            <a:r>
              <a:rPr lang="en-US" dirty="0"/>
              <a:t> a cluster starts forming, new elements are more likely to join the same cluster rather than being distributed </a:t>
            </a:r>
            <a:r>
              <a:rPr lang="en-US" dirty="0" err="1"/>
              <a:t>evenly.The</a:t>
            </a:r>
            <a:r>
              <a:rPr lang="en-US" dirty="0"/>
              <a:t> cluster keeps growing, increasing the number of probes required for insertion and </a:t>
            </a:r>
            <a:r>
              <a:rPr lang="en-US" dirty="0" err="1"/>
              <a:t>search.This</a:t>
            </a:r>
            <a:r>
              <a:rPr lang="en-US" dirty="0"/>
              <a:t> degrades performance toward O(n) in the worst case</a:t>
            </a:r>
            <a:r>
              <a:rPr lang="en-US" dirty="0" smtClean="0"/>
              <a:t>.</a:t>
            </a:r>
          </a:p>
          <a:p>
            <a:r>
              <a:rPr lang="en-US" dirty="0" smtClean="0"/>
              <a:t>For </a:t>
            </a:r>
            <a:r>
              <a:rPr lang="en-US" dirty="0"/>
              <a:t>example, insert the nodes 89, 18, 49, 58, and 69 into a hash table that holds 10 items using the division method:</a:t>
            </a:r>
          </a:p>
          <a:p>
            <a:endParaRPr lang="en-US" dirty="0"/>
          </a:p>
        </p:txBody>
      </p:sp>
    </p:spTree>
    <p:extLst>
      <p:ext uri="{BB962C8B-B14F-4D97-AF65-F5344CB8AC3E}">
        <p14:creationId xmlns:p14="http://schemas.microsoft.com/office/powerpoint/2010/main" val="121992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C:\Users\sanwarul\Desktop\h4.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362200" y="1600200"/>
            <a:ext cx="4038600" cy="4858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284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with Quadratic Probe</a:t>
            </a:r>
            <a:endParaRPr lang="en-US" dirty="0"/>
          </a:p>
        </p:txBody>
      </p:sp>
      <p:sp>
        <p:nvSpPr>
          <p:cNvPr id="3" name="Content Placeholder 2"/>
          <p:cNvSpPr>
            <a:spLocks noGrp="1"/>
          </p:cNvSpPr>
          <p:nvPr>
            <p:ph sz="quarter" idx="1"/>
          </p:nvPr>
        </p:nvSpPr>
        <p:spPr/>
        <p:txBody>
          <a:bodyPr/>
          <a:lstStyle/>
          <a:p>
            <a:r>
              <a:rPr lang="en-US" dirty="0"/>
              <a:t>To resolve the primary clustering problem, </a:t>
            </a:r>
            <a:r>
              <a:rPr lang="en-US" b="1" dirty="0"/>
              <a:t>quadratic probing</a:t>
            </a:r>
            <a:r>
              <a:rPr lang="en-US" dirty="0"/>
              <a:t> can be used. With quadratic probing, rather than always moving one spot, move i</a:t>
            </a:r>
            <a:r>
              <a:rPr lang="en-US" baseline="30000" dirty="0"/>
              <a:t>2</a:t>
            </a:r>
            <a:r>
              <a:rPr lang="en-US" dirty="0"/>
              <a:t> spots from the point of collision, where </a:t>
            </a:r>
            <a:r>
              <a:rPr lang="en-US" dirty="0" err="1"/>
              <a:t>i</a:t>
            </a:r>
            <a:r>
              <a:rPr lang="en-US" dirty="0"/>
              <a:t> is the number of attempts to resolve the collision</a:t>
            </a:r>
            <a:r>
              <a:rPr lang="en-US" dirty="0" smtClean="0"/>
              <a:t>.</a:t>
            </a:r>
          </a:p>
          <a:p>
            <a:endParaRPr lang="en-US" dirty="0"/>
          </a:p>
          <a:p>
            <a:r>
              <a:rPr lang="en-US" dirty="0"/>
              <a:t>h(</a:t>
            </a:r>
            <a:r>
              <a:rPr lang="en-US" dirty="0" err="1"/>
              <a:t>k,i</a:t>
            </a:r>
            <a:r>
              <a:rPr lang="en-US" dirty="0"/>
              <a:t>)=(h(k</a:t>
            </a:r>
            <a:r>
              <a:rPr lang="en-US" dirty="0" smtClean="0"/>
              <a:t>)+</a:t>
            </a:r>
            <a:r>
              <a:rPr lang="en-US" dirty="0"/>
              <a:t> </a:t>
            </a:r>
            <a:r>
              <a:rPr lang="en-US" dirty="0" smtClean="0"/>
              <a:t>i</a:t>
            </a:r>
            <a:r>
              <a:rPr lang="en-US" baseline="30000" dirty="0" smtClean="0"/>
              <a:t>2</a:t>
            </a:r>
            <a:r>
              <a:rPr lang="en-US" dirty="0" smtClean="0"/>
              <a:t>)mod n</a:t>
            </a:r>
            <a:endParaRPr lang="en-US" dirty="0"/>
          </a:p>
          <a:p>
            <a:pPr marL="0" indent="0">
              <a:buNone/>
            </a:pPr>
            <a:r>
              <a:rPr lang="en-US" dirty="0"/>
              <a:t/>
            </a:r>
            <a:br>
              <a:rPr lang="en-US" dirty="0"/>
            </a:br>
            <a:endParaRPr lang="en-US" dirty="0"/>
          </a:p>
        </p:txBody>
      </p:sp>
    </p:spTree>
    <p:extLst>
      <p:ext uri="{BB962C8B-B14F-4D97-AF65-F5344CB8AC3E}">
        <p14:creationId xmlns:p14="http://schemas.microsoft.com/office/powerpoint/2010/main" val="609363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C:\Users\sanwarul\Desktop\hash_ex.PN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647205" y="1600200"/>
            <a:ext cx="7429995"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8015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Limitation: at most half of the table can be used as alternative locations to resolve collisions.</a:t>
            </a:r>
          </a:p>
          <a:p>
            <a:r>
              <a:rPr lang="en-US" dirty="0"/>
              <a:t>This means that once the table is more than half full, it's difficult to find an empty spot. This new problem is known as </a:t>
            </a:r>
            <a:r>
              <a:rPr lang="en-US" b="1" dirty="0"/>
              <a:t>secondary clustering</a:t>
            </a:r>
            <a:r>
              <a:rPr lang="en-US" dirty="0"/>
              <a:t> because elements that hash to the same hash key will always probe the same alternative cells.</a:t>
            </a:r>
          </a:p>
          <a:p>
            <a:endParaRPr lang="en-US" dirty="0"/>
          </a:p>
        </p:txBody>
      </p:sp>
    </p:spTree>
    <p:extLst>
      <p:ext uri="{BB962C8B-B14F-4D97-AF65-F5344CB8AC3E}">
        <p14:creationId xmlns:p14="http://schemas.microsoft.com/office/powerpoint/2010/main" val="844823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with Double Hashing</a:t>
            </a:r>
            <a:endParaRPr lang="en-US" dirty="0"/>
          </a:p>
        </p:txBody>
      </p:sp>
      <p:sp>
        <p:nvSpPr>
          <p:cNvPr id="3" name="Content Placeholder 2"/>
          <p:cNvSpPr>
            <a:spLocks noGrp="1"/>
          </p:cNvSpPr>
          <p:nvPr>
            <p:ph sz="quarter" idx="1"/>
          </p:nvPr>
        </p:nvSpPr>
        <p:spPr/>
        <p:txBody>
          <a:bodyPr/>
          <a:lstStyle/>
          <a:p>
            <a:r>
              <a:rPr lang="en-US" dirty="0"/>
              <a:t>Double hashing uses the idea of applying a second hash function to the key when a collision occurs. The result of the second hash function will be the number of positions </a:t>
            </a:r>
            <a:r>
              <a:rPr lang="en-US" dirty="0" smtClean="0"/>
              <a:t>from </a:t>
            </a:r>
            <a:r>
              <a:rPr lang="en-US" dirty="0"/>
              <a:t>the point of collision to insert.</a:t>
            </a:r>
          </a:p>
          <a:p>
            <a:r>
              <a:rPr lang="en-US" dirty="0" smtClean="0"/>
              <a:t>A </a:t>
            </a:r>
            <a:r>
              <a:rPr lang="en-US" dirty="0"/>
              <a:t>popular second hash function is: Hash</a:t>
            </a:r>
            <a:r>
              <a:rPr lang="en-US" baseline="-25000" dirty="0"/>
              <a:t>2</a:t>
            </a:r>
            <a:r>
              <a:rPr lang="en-US" dirty="0"/>
              <a:t>(key) = R - ( key % R ) where R is a prime number that is smaller than the size of the table.</a:t>
            </a:r>
          </a:p>
          <a:p>
            <a:endParaRPr lang="en-US" dirty="0"/>
          </a:p>
        </p:txBody>
      </p:sp>
    </p:spTree>
    <p:extLst>
      <p:ext uri="{BB962C8B-B14F-4D97-AF65-F5344CB8AC3E}">
        <p14:creationId xmlns:p14="http://schemas.microsoft.com/office/powerpoint/2010/main" val="1355502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2050" name="Picture 2" descr="C:\Users\sanwarul\Desktop\hash-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438" y="457200"/>
            <a:ext cx="7650161" cy="5943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293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sz="quarter" idx="1"/>
          </p:nvPr>
        </p:nvSpPr>
        <p:spPr/>
        <p:txBody>
          <a:bodyPr/>
          <a:lstStyle/>
          <a:p>
            <a:r>
              <a:rPr lang="en-US" dirty="0" smtClean="0"/>
              <a:t>Consider </a:t>
            </a:r>
            <a:r>
              <a:rPr lang="en-US" dirty="0"/>
              <a:t>the following insertion of element </a:t>
            </a:r>
            <a:r>
              <a:rPr lang="en-US" i="1" dirty="0"/>
              <a:t>5, 28, 19, 15, 20, 33, 12, 17, 10</a:t>
            </a:r>
            <a:r>
              <a:rPr lang="en-US" dirty="0"/>
              <a:t> into a chained hash table. The hash table has nine slots and function being h(k) = k mod 9.</a:t>
            </a:r>
          </a:p>
        </p:txBody>
      </p:sp>
    </p:spTree>
    <p:extLst>
      <p:ext uri="{BB962C8B-B14F-4D97-AF65-F5344CB8AC3E}">
        <p14:creationId xmlns:p14="http://schemas.microsoft.com/office/powerpoint/2010/main" val="27995248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9138</TotalTime>
  <Words>1511</Words>
  <Application>Microsoft Office PowerPoint</Application>
  <PresentationFormat>On-screen Show (4:3)</PresentationFormat>
  <Paragraphs>86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Century Schoolbook</vt:lpstr>
      <vt:lpstr>Wingdings</vt:lpstr>
      <vt:lpstr>Wingdings 2</vt:lpstr>
      <vt:lpstr>Oriel</vt:lpstr>
      <vt:lpstr>Hashing</vt:lpstr>
      <vt:lpstr>What Is Hashing?</vt:lpstr>
      <vt:lpstr>Need Of Hashing</vt:lpstr>
      <vt:lpstr>PowerPoint Presentation</vt:lpstr>
      <vt:lpstr>PowerPoint Presentation</vt:lpstr>
      <vt:lpstr>PowerPoint Presentation</vt:lpstr>
      <vt:lpstr>PowerPoint Presentation</vt:lpstr>
      <vt:lpstr>Hash Function</vt:lpstr>
      <vt:lpstr>Hash Table</vt:lpstr>
      <vt:lpstr>Load Factor in Hashing</vt:lpstr>
      <vt:lpstr>PowerPoint Presentation</vt:lpstr>
      <vt:lpstr>Collision handling</vt:lpstr>
      <vt:lpstr>Hashing techniques or Hashing Collision resolution Techniques</vt:lpstr>
      <vt:lpstr>Hashing with Chains</vt:lpstr>
      <vt:lpstr>PowerPoint Presentation</vt:lpstr>
      <vt:lpstr>Hashing with Linear Probe</vt:lpstr>
      <vt:lpstr>PowerPoint Presentation</vt:lpstr>
      <vt:lpstr>PowerPoint Presentation</vt:lpstr>
      <vt:lpstr>PowerPoint Presentation</vt:lpstr>
      <vt:lpstr>Hashing with Quadratic Probe</vt:lpstr>
      <vt:lpstr>PowerPoint Presentation</vt:lpstr>
      <vt:lpstr>PowerPoint Presentation</vt:lpstr>
      <vt:lpstr>Hashing with Double Hashing</vt:lpstr>
      <vt:lpstr>PowerPoint Presentation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AVL TREE</dc:title>
  <dc:creator>Shahina Anwarul</dc:creator>
  <cp:lastModifiedBy>Shahina Anwarul</cp:lastModifiedBy>
  <cp:revision>69</cp:revision>
  <dcterms:created xsi:type="dcterms:W3CDTF">2018-04-08T10:17:27Z</dcterms:created>
  <dcterms:modified xsi:type="dcterms:W3CDTF">2026-04-26T17:36:40Z</dcterms:modified>
</cp:coreProperties>
</file>