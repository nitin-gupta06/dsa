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9"/>
  </p:notesMasterIdLst>
  <p:sldIdLst>
    <p:sldId id="256" r:id="rId3"/>
    <p:sldId id="269" r:id="rId4"/>
    <p:sldId id="268" r:id="rId5"/>
    <p:sldId id="267" r:id="rId6"/>
    <p:sldId id="266" r:id="rId7"/>
    <p:sldId id="274" r:id="rId8"/>
    <p:sldId id="265" r:id="rId9"/>
    <p:sldId id="264" r:id="rId10"/>
    <p:sldId id="263" r:id="rId11"/>
    <p:sldId id="262" r:id="rId12"/>
    <p:sldId id="261" r:id="rId13"/>
    <p:sldId id="257" r:id="rId14"/>
    <p:sldId id="260" r:id="rId15"/>
    <p:sldId id="259" r:id="rId16"/>
    <p:sldId id="258" r:id="rId17"/>
    <p:sldId id="273" r:id="rId18"/>
    <p:sldId id="272" r:id="rId19"/>
    <p:sldId id="271" r:id="rId20"/>
    <p:sldId id="270" r:id="rId21"/>
    <p:sldId id="281" r:id="rId22"/>
    <p:sldId id="280" r:id="rId23"/>
    <p:sldId id="279" r:id="rId24"/>
    <p:sldId id="278" r:id="rId25"/>
    <p:sldId id="277" r:id="rId26"/>
    <p:sldId id="275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282" r:id="rId48"/>
    <p:sldId id="283" r:id="rId49"/>
    <p:sldId id="307" r:id="rId50"/>
    <p:sldId id="308" r:id="rId51"/>
    <p:sldId id="309" r:id="rId52"/>
    <p:sldId id="310" r:id="rId53"/>
    <p:sldId id="312" r:id="rId54"/>
    <p:sldId id="306" r:id="rId55"/>
    <p:sldId id="304" r:id="rId56"/>
    <p:sldId id="311" r:id="rId57"/>
    <p:sldId id="305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3112" autoAdjust="0"/>
  </p:normalViewPr>
  <p:slideViewPr>
    <p:cSldViewPr>
      <p:cViewPr varScale="1">
        <p:scale>
          <a:sx n="68" d="100"/>
          <a:sy n="68" d="100"/>
        </p:scale>
        <p:origin x="124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F7174-4669-498D-ABF4-7742B93763D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6DE39-288F-47F2-BA8C-AE8BCFC7B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9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Above LL exist, LR exist but</a:t>
            </a:r>
          </a:p>
          <a:p>
            <a:r>
              <a:rPr lang="en-US" dirty="0" smtClean="0"/>
              <a:t>Consider</a:t>
            </a:r>
            <a:r>
              <a:rPr lang="en-US" baseline="0" dirty="0" smtClean="0"/>
              <a:t> that side where height is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DE39-288F-47F2-BA8C-AE8BCFC7B11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93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Consider that subtree whose height is larger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DE39-288F-47F2-BA8C-AE8BCFC7B11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947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 14, 11, 7 will be considered because at left</a:t>
            </a:r>
            <a:r>
              <a:rPr lang="en-US" baseline="0" dirty="0" smtClean="0"/>
              <a:t> subtree number of nodes are large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DE39-288F-47F2-BA8C-AE8BCFC7B114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44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DE39-288F-47F2-BA8C-AE8BCFC7B114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69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is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6DE39-288F-47F2-BA8C-AE8BCFC7B114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8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E695E-9995-4A43-8CA8-2342DE9E937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665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AB71C-C81F-4D9E-9EF5-D7E3A141CF4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41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93929E-F94B-481E-9A5E-578E3D020DD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236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C5248-1279-4B1F-9FAE-FAA1083AC09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877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D5F596-15BB-4042-9602-B82D2D032C0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405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190613-336B-479B-83D0-0BA1A5AF972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353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9E32E3-ADDD-40A6-9715-FC9B9409774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3235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5AF53-B9E1-4FC4-BAA0-2E34B53C5DD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384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98391-0684-4F43-A964-F5A5C9C1F04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295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060FA-749F-448B-AC42-74AFC88AE3F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26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EB3FD-9587-48EF-B4A9-1C98F006C04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79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577929-AE19-4616-9215-540172FCC4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80FCFF-9B8C-441D-A555-C24489D13FA2}" type="slidenum">
              <a:rPr lang="en-US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9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vl-tree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cs.washington.edu/courses/cse373/11au/lectures/AVL-proof-and-code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gate-gate-cs-2009-question-37/" TargetMode="External"/><Relationship Id="rId2" Type="http://schemas.openxmlformats.org/officeDocument/2006/relationships/hyperlink" Target="https://www.geeksforgeeks.org/practice-questions-height-balancedavl-tre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acticepaper.in/gate-cse/avl-tree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133600"/>
            <a:ext cx="6172200" cy="1219200"/>
          </a:xfrm>
        </p:spPr>
        <p:txBody>
          <a:bodyPr>
            <a:normAutofit/>
          </a:bodyPr>
          <a:lstStyle/>
          <a:p>
            <a:r>
              <a:rPr lang="en-US" sz="5400" dirty="0"/>
              <a:t>AVL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0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disadvantage of a binary search tree is that its height can be as large as N-1</a:t>
            </a:r>
          </a:p>
          <a:p>
            <a:r>
              <a:rPr lang="en-US" dirty="0"/>
              <a:t>This means that the time needed to perform insertion and deletion and many other operations can be O(N) in the worst case </a:t>
            </a:r>
          </a:p>
          <a:p>
            <a:r>
              <a:rPr lang="en-US" dirty="0"/>
              <a:t>We want a tree with small height</a:t>
            </a:r>
          </a:p>
          <a:p>
            <a:r>
              <a:rPr lang="en-US" dirty="0"/>
              <a:t>A binary tree with N node has height at least </a:t>
            </a:r>
          </a:p>
          <a:p>
            <a:pPr marL="0" indent="0">
              <a:buNone/>
            </a:pPr>
            <a:r>
              <a:rPr lang="en-US" dirty="0"/>
              <a:t>    θ(log N) </a:t>
            </a:r>
          </a:p>
          <a:p>
            <a:r>
              <a:rPr lang="en-US" dirty="0"/>
              <a:t>Thus, our goal is to keep the height of a binary search tree O(log N) </a:t>
            </a:r>
          </a:p>
          <a:p>
            <a:r>
              <a:rPr lang="en-US" dirty="0"/>
              <a:t>Such trees are called balanced binary search trees.  </a:t>
            </a:r>
          </a:p>
          <a:p>
            <a:r>
              <a:rPr lang="en-US" dirty="0"/>
              <a:t>Examples are AVL tree, red-black tree.</a:t>
            </a:r>
          </a:p>
        </p:txBody>
      </p:sp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Tree- Best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is the best case tree? </a:t>
            </a:r>
          </a:p>
          <a:p>
            <a:r>
              <a:rPr lang="en-US" dirty="0"/>
              <a:t>What is the worst case tree? </a:t>
            </a:r>
          </a:p>
          <a:p>
            <a:r>
              <a:rPr lang="en-US" dirty="0"/>
              <a:t>So, best case running time of BST operations is O(log N)</a:t>
            </a:r>
          </a:p>
          <a:p>
            <a:r>
              <a:rPr lang="en-US" dirty="0"/>
              <a:t>Worst case running time is O(N)</a:t>
            </a:r>
          </a:p>
          <a:p>
            <a:r>
              <a:rPr lang="en-US" dirty="0"/>
              <a:t>What happens when you Insert elements in ascending order?</a:t>
            </a:r>
          </a:p>
          <a:p>
            <a:r>
              <a:rPr lang="en-US" dirty="0"/>
              <a:t>Insert: 2, 4, 6, 8, 10, 12 into an empty BST</a:t>
            </a:r>
          </a:p>
          <a:p>
            <a:r>
              <a:rPr lang="en-US" dirty="0"/>
              <a:t>Problem: Lack of “balance”:</a:t>
            </a:r>
          </a:p>
          <a:p>
            <a:r>
              <a:rPr lang="en-US" dirty="0"/>
              <a:t>Compare depths of left and right subtree</a:t>
            </a:r>
          </a:p>
          <a:p>
            <a:r>
              <a:rPr lang="en-US" dirty="0"/>
              <a:t>Unbalanced degenerate tree</a:t>
            </a:r>
          </a:p>
        </p:txBody>
      </p:sp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&amp; Unbalanced BST</a:t>
            </a:r>
          </a:p>
        </p:txBody>
      </p:sp>
      <p:pic>
        <p:nvPicPr>
          <p:cNvPr id="1026" name="Picture 2" descr="C:\Users\sanwarul\Desktop\avl1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8973"/>
            <a:ext cx="7467600" cy="451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Binary Search Trees</a:t>
            </a:r>
          </a:p>
        </p:txBody>
      </p:sp>
      <p:pic>
        <p:nvPicPr>
          <p:cNvPr id="2050" name="Picture 2" descr="C:\Users\sanwarul\Desktop\avl2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1"/>
            <a:ext cx="7467600" cy="425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AVL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Most of the BST operations (e.g., search, max, min, insert, delete.. etc.) take O(h) time where h is the height of the BST. </a:t>
            </a:r>
          </a:p>
          <a:p>
            <a:r>
              <a:rPr lang="en-US" dirty="0"/>
              <a:t>The cost of these operations may become O(n) for a skewed Binary </a:t>
            </a:r>
            <a:r>
              <a:rPr lang="en-US" dirty="0" smtClean="0"/>
              <a:t>Search tree</a:t>
            </a:r>
            <a:r>
              <a:rPr lang="en-US" dirty="0"/>
              <a:t>. </a:t>
            </a:r>
          </a:p>
          <a:p>
            <a:r>
              <a:rPr lang="en-US" dirty="0"/>
              <a:t>If we make sure that height of the tree remains O(Log n) after every insertion and deletion, then we can guarantee an upper bound of O(Log n) for all these operations. </a:t>
            </a:r>
          </a:p>
          <a:p>
            <a:r>
              <a:rPr lang="en-US" dirty="0"/>
              <a:t>The height of an AVL tree is always O(Log n) where n is the number of nodes in the tree</a:t>
            </a:r>
          </a:p>
        </p:txBody>
      </p:sp>
    </p:spTree>
    <p:extLst>
      <p:ext uri="{BB962C8B-B14F-4D97-AF65-F5344CB8AC3E}">
        <p14:creationId xmlns:p14="http://schemas.microsoft.com/office/powerpoint/2010/main" val="214738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</a:t>
            </a:r>
          </a:p>
        </p:txBody>
      </p:sp>
      <p:pic>
        <p:nvPicPr>
          <p:cNvPr id="3074" name="Picture 2" descr="C:\Users\sanwarul\Desktop\avl3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467600" cy="3854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66800" y="5466960"/>
            <a:ext cx="678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https://www.geeksforgeeks.org/introduction-to-avl-tree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Balanced Tree</a:t>
            </a:r>
          </a:p>
        </p:txBody>
      </p:sp>
      <p:pic>
        <p:nvPicPr>
          <p:cNvPr id="4098" name="Picture 2" descr="C:\Users\sanwarul\Desktop\avl4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7467600" cy="350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AVL Tree</a:t>
            </a:r>
          </a:p>
        </p:txBody>
      </p:sp>
      <p:pic>
        <p:nvPicPr>
          <p:cNvPr id="5122" name="Picture 2" descr="C:\Users\sanwarul\Desktop\avl5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7467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Tree?</a:t>
            </a:r>
          </a:p>
        </p:txBody>
      </p:sp>
      <p:pic>
        <p:nvPicPr>
          <p:cNvPr id="6146" name="Picture 2" descr="C:\Users\sanwarul\Desktop\avl6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87375"/>
            <a:ext cx="7467600" cy="429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:\Users\sanwarul\Desktop\avl7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1"/>
            <a:ext cx="7467600" cy="450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 In AVL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balance itself, an AVL tree may perform the following four kinds of rotations −</a:t>
            </a:r>
          </a:p>
          <a:p>
            <a:r>
              <a:rPr lang="en-US" dirty="0"/>
              <a:t>Left rotation</a:t>
            </a:r>
          </a:p>
          <a:p>
            <a:r>
              <a:rPr lang="en-US" dirty="0"/>
              <a:t>Right rotation</a:t>
            </a:r>
          </a:p>
          <a:p>
            <a:r>
              <a:rPr lang="en-US" dirty="0"/>
              <a:t>Left-Right rotation</a:t>
            </a:r>
          </a:p>
          <a:p>
            <a:r>
              <a:rPr lang="en-US" dirty="0"/>
              <a:t>Right-Left rotation</a:t>
            </a:r>
          </a:p>
          <a:p>
            <a:r>
              <a:rPr lang="en-US" dirty="0"/>
              <a:t>The first two rotations are single rotations and the next two rotations are double rotations. To have an unbalanced tree, we at least need a tree of height 2.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62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p:pic>
        <p:nvPicPr>
          <p:cNvPr id="8194" name="Picture 2" descr="C:\Users\sanwarul\Desktop\avl8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7620000" cy="426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29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</a:t>
            </a:r>
          </a:p>
        </p:txBody>
      </p:sp>
      <p:pic>
        <p:nvPicPr>
          <p:cNvPr id="9218" name="Picture 2" descr="C:\Users\sanwarul\Desktop\avl9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7086599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96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Left-Right Rotation</a:t>
            </a:r>
          </a:p>
        </p:txBody>
      </p:sp>
      <p:pic>
        <p:nvPicPr>
          <p:cNvPr id="10242" name="Picture 2" descr="C:\Users\sanwarul\Desktop\avl10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03062"/>
            <a:ext cx="7620000" cy="466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89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C:\Users\sanwarul\Desktop\avl11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31641"/>
            <a:ext cx="7391400" cy="461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23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Right-Left Rotation</a:t>
            </a:r>
          </a:p>
        </p:txBody>
      </p:sp>
      <p:pic>
        <p:nvPicPr>
          <p:cNvPr id="12290" name="Picture 2" descr="C:\Users\sanwarul\Desktop\avl12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37688"/>
            <a:ext cx="7315199" cy="456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3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:\Users\sanwarul\Desktop\avl13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31641"/>
            <a:ext cx="7239000" cy="461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71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make sure that the given tree remains AVL after every insertion, we must augment the standard BST insert operation to perform some re-balancing.</a:t>
            </a:r>
          </a:p>
          <a:p>
            <a:r>
              <a:rPr lang="en-US" dirty="0"/>
              <a:t>Insertion will be take place same as BST</a:t>
            </a:r>
          </a:p>
          <a:p>
            <a:r>
              <a:rPr lang="en-US" dirty="0"/>
              <a:t>After every insertion we have to balance the tree</a:t>
            </a:r>
          </a:p>
        </p:txBody>
      </p:sp>
    </p:spTree>
    <p:extLst>
      <p:ext uri="{BB962C8B-B14F-4D97-AF65-F5344CB8AC3E}">
        <p14:creationId xmlns:p14="http://schemas.microsoft.com/office/powerpoint/2010/main" val="66882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4338" name="Picture 2" descr="C:\Users\sanwarul\Desktop\ex1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467600" cy="431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28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C:\Users\sanwarul\Desktop\ex2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7696200" cy="411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12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C:\Users\sanwarul\Desktop\ex3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69746"/>
            <a:ext cx="7467600" cy="453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15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C:\Users\sanwarul\Desktop\ex4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3535"/>
            <a:ext cx="7086600" cy="468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86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C:\Users\sanwarul\Desktop\ex5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93535"/>
            <a:ext cx="7543800" cy="468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8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Deletion will be same as BST</a:t>
            </a:r>
          </a:p>
          <a:p>
            <a:r>
              <a:rPr lang="en-US" dirty="0"/>
              <a:t>After each deletion we have to re-balance the tree with the help of rotations</a:t>
            </a:r>
          </a:p>
        </p:txBody>
      </p:sp>
    </p:spTree>
    <p:extLst>
      <p:ext uri="{BB962C8B-B14F-4D97-AF65-F5344CB8AC3E}">
        <p14:creationId xmlns:p14="http://schemas.microsoft.com/office/powerpoint/2010/main" val="393965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Insert 14, 17, 11, 7, 53, 4, 13 into an empty AVL tree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4102" name="AutoShape 6"/>
          <p:cNvCxnSpPr>
            <a:cxnSpLocks noChangeShapeType="1"/>
            <a:stCxn id="4099" idx="2"/>
            <a:endCxn id="4101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03" name="AutoShape 7"/>
          <p:cNvCxnSpPr>
            <a:cxnSpLocks noChangeShapeType="1"/>
            <a:stCxn id="4099" idx="2"/>
            <a:endCxn id="4100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4105" name="AutoShape 9"/>
          <p:cNvCxnSpPr>
            <a:cxnSpLocks noChangeShapeType="1"/>
            <a:stCxn id="4101" idx="2"/>
            <a:endCxn id="4104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4107" name="AutoShape 11"/>
          <p:cNvCxnSpPr>
            <a:cxnSpLocks noChangeShapeType="1"/>
            <a:stCxn id="4100" idx="2"/>
            <a:endCxn id="4106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08" name="Oval 12"/>
          <p:cNvSpPr>
            <a:spLocks noChangeArrowheads="1"/>
          </p:cNvSpPr>
          <p:nvPr/>
        </p:nvSpPr>
        <p:spPr bwMode="auto">
          <a:xfrm>
            <a:off x="1905000" y="2057400"/>
            <a:ext cx="2133600" cy="2819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20574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4110" name="AutoShape 14"/>
          <p:cNvCxnSpPr>
            <a:cxnSpLocks noChangeShapeType="1"/>
            <a:endCxn id="4109" idx="0"/>
          </p:cNvCxnSpPr>
          <p:nvPr/>
        </p:nvCxnSpPr>
        <p:spPr bwMode="auto">
          <a:xfrm flipH="1">
            <a:off x="2324100" y="35814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878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/>
      <p:bldP spid="4100" grpId="0" animBg="1"/>
      <p:bldP spid="4101" grpId="0" animBg="1"/>
      <p:bldP spid="4104" grpId="0" animBg="1"/>
      <p:bldP spid="4106" grpId="0" animBg="1"/>
      <p:bldP spid="4108" grpId="0" animBg="1"/>
      <p:bldP spid="410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Insert 14, 17, 11, 7, 53, 4, 13 into an empty AVL tree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5126" name="AutoShape 6"/>
          <p:cNvCxnSpPr>
            <a:cxnSpLocks noChangeShapeType="1"/>
            <a:stCxn id="5123" idx="2"/>
            <a:endCxn id="5125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7" name="AutoShape 7"/>
          <p:cNvCxnSpPr>
            <a:cxnSpLocks noChangeShapeType="1"/>
            <a:stCxn id="5123" idx="2"/>
            <a:endCxn id="5124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5129" name="AutoShape 9"/>
          <p:cNvCxnSpPr>
            <a:cxnSpLocks noChangeShapeType="1"/>
            <a:stCxn id="5125" idx="2"/>
            <a:endCxn id="5128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5131" name="AutoShape 11"/>
          <p:cNvCxnSpPr>
            <a:cxnSpLocks noChangeShapeType="1"/>
            <a:stCxn id="5124" idx="2"/>
            <a:endCxn id="5130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5133" name="AutoShape 13"/>
          <p:cNvCxnSpPr>
            <a:cxnSpLocks noChangeShapeType="1"/>
            <a:stCxn id="5125" idx="2"/>
            <a:endCxn id="5132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42672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5135" name="AutoShape 15"/>
          <p:cNvCxnSpPr>
            <a:cxnSpLocks noChangeShapeType="1"/>
            <a:endCxn id="5134" idx="0"/>
          </p:cNvCxnSpPr>
          <p:nvPr/>
        </p:nvCxnSpPr>
        <p:spPr bwMode="auto">
          <a:xfrm>
            <a:off x="40767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4675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insert 12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6150" name="AutoShape 6"/>
          <p:cNvCxnSpPr>
            <a:cxnSpLocks noChangeShapeType="1"/>
            <a:stCxn id="6147" idx="2"/>
            <a:endCxn id="6149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51" name="AutoShape 7"/>
          <p:cNvCxnSpPr>
            <a:cxnSpLocks noChangeShapeType="1"/>
            <a:stCxn id="6147" idx="2"/>
            <a:endCxn id="6148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6153" name="AutoShape 9"/>
          <p:cNvCxnSpPr>
            <a:cxnSpLocks noChangeShapeType="1"/>
            <a:stCxn id="6149" idx="2"/>
            <a:endCxn id="6152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6155" name="AutoShape 11"/>
          <p:cNvCxnSpPr>
            <a:cxnSpLocks noChangeShapeType="1"/>
            <a:stCxn id="6148" idx="2"/>
            <a:endCxn id="6154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6157" name="AutoShape 13"/>
          <p:cNvCxnSpPr>
            <a:cxnSpLocks noChangeShapeType="1"/>
            <a:stCxn id="6149" idx="2"/>
            <a:endCxn id="6156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42672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6159" name="AutoShape 15"/>
          <p:cNvCxnSpPr>
            <a:cxnSpLocks noChangeShapeType="1"/>
            <a:stCxn id="6156" idx="2"/>
            <a:endCxn id="6158" idx="0"/>
          </p:cNvCxnSpPr>
          <p:nvPr/>
        </p:nvCxnSpPr>
        <p:spPr bwMode="auto">
          <a:xfrm>
            <a:off x="40767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3810000" y="4876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6161" name="AutoShape 17"/>
          <p:cNvCxnSpPr>
            <a:cxnSpLocks noChangeShapeType="1"/>
            <a:endCxn id="6160" idx="0"/>
          </p:cNvCxnSpPr>
          <p:nvPr/>
        </p:nvCxnSpPr>
        <p:spPr bwMode="auto">
          <a:xfrm flipH="1">
            <a:off x="4076700" y="44196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62" name="Oval 18"/>
          <p:cNvSpPr>
            <a:spLocks noChangeArrowheads="1"/>
          </p:cNvSpPr>
          <p:nvPr/>
        </p:nvSpPr>
        <p:spPr bwMode="auto">
          <a:xfrm>
            <a:off x="3124200" y="2971800"/>
            <a:ext cx="2133600" cy="2819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7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0" grpId="0" animBg="1"/>
      <p:bldP spid="616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insert 12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7174" name="AutoShape 6"/>
          <p:cNvCxnSpPr>
            <a:cxnSpLocks noChangeShapeType="1"/>
            <a:stCxn id="7171" idx="2"/>
            <a:endCxn id="7173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75" name="AutoShape 7"/>
          <p:cNvCxnSpPr>
            <a:cxnSpLocks noChangeShapeType="1"/>
            <a:stCxn id="7171" idx="2"/>
            <a:endCxn id="7172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7177" name="AutoShape 9"/>
          <p:cNvCxnSpPr>
            <a:cxnSpLocks noChangeShapeType="1"/>
            <a:stCxn id="7173" idx="2"/>
            <a:endCxn id="7176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7179" name="AutoShape 11"/>
          <p:cNvCxnSpPr>
            <a:cxnSpLocks noChangeShapeType="1"/>
            <a:stCxn id="7172" idx="2"/>
            <a:endCxn id="7178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7181" name="AutoShape 13"/>
          <p:cNvCxnSpPr>
            <a:cxnSpLocks noChangeShapeType="1"/>
            <a:stCxn id="7173" idx="2"/>
            <a:endCxn id="7180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4114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7183" name="AutoShape 15"/>
          <p:cNvCxnSpPr>
            <a:cxnSpLocks noChangeShapeType="1"/>
            <a:stCxn id="7180" idx="2"/>
            <a:endCxn id="7182" idx="0"/>
          </p:cNvCxnSpPr>
          <p:nvPr/>
        </p:nvCxnSpPr>
        <p:spPr bwMode="auto">
          <a:xfrm>
            <a:off x="4076700" y="3581400"/>
            <a:ext cx="304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4419600" y="4876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7185" name="AutoShape 17"/>
          <p:cNvCxnSpPr>
            <a:cxnSpLocks noChangeShapeType="1"/>
            <a:stCxn id="7182" idx="2"/>
            <a:endCxn id="7184" idx="0"/>
          </p:cNvCxnSpPr>
          <p:nvPr/>
        </p:nvCxnSpPr>
        <p:spPr bwMode="auto">
          <a:xfrm>
            <a:off x="4381500" y="4419600"/>
            <a:ext cx="304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6" name="Oval 18"/>
          <p:cNvSpPr>
            <a:spLocks noChangeArrowheads="1"/>
          </p:cNvSpPr>
          <p:nvPr/>
        </p:nvSpPr>
        <p:spPr bwMode="auto">
          <a:xfrm>
            <a:off x="3124200" y="2971800"/>
            <a:ext cx="2133600" cy="2819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53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the AVL tree is balanced.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8198" name="AutoShape 6"/>
          <p:cNvCxnSpPr>
            <a:cxnSpLocks noChangeShapeType="1"/>
            <a:stCxn id="8195" idx="2"/>
            <a:endCxn id="8197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99" name="AutoShape 7"/>
          <p:cNvCxnSpPr>
            <a:cxnSpLocks noChangeShapeType="1"/>
            <a:stCxn id="8195" idx="2"/>
            <a:endCxn id="8196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8201" name="AutoShape 9"/>
          <p:cNvCxnSpPr>
            <a:cxnSpLocks noChangeShapeType="1"/>
            <a:stCxn id="8197" idx="2"/>
            <a:endCxn id="8200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8203" name="AutoShape 11"/>
          <p:cNvCxnSpPr>
            <a:cxnSpLocks noChangeShapeType="1"/>
            <a:stCxn id="8196" idx="2"/>
            <a:endCxn id="8202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8205" name="AutoShape 13"/>
          <p:cNvCxnSpPr>
            <a:cxnSpLocks noChangeShapeType="1"/>
            <a:stCxn id="8197" idx="2"/>
            <a:endCxn id="8204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42672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8207" name="AutoShape 15"/>
          <p:cNvCxnSpPr>
            <a:cxnSpLocks noChangeShapeType="1"/>
            <a:stCxn id="8204" idx="2"/>
            <a:endCxn id="8206" idx="0"/>
          </p:cNvCxnSpPr>
          <p:nvPr/>
        </p:nvCxnSpPr>
        <p:spPr bwMode="auto">
          <a:xfrm>
            <a:off x="40767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3352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8209" name="AutoShape 17"/>
          <p:cNvCxnSpPr>
            <a:cxnSpLocks noChangeShapeType="1"/>
            <a:stCxn id="8204" idx="2"/>
            <a:endCxn id="8208" idx="0"/>
          </p:cNvCxnSpPr>
          <p:nvPr/>
        </p:nvCxnSpPr>
        <p:spPr bwMode="auto">
          <a:xfrm flipH="1">
            <a:off x="36195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2541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insert 8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9222" name="AutoShape 6"/>
          <p:cNvCxnSpPr>
            <a:cxnSpLocks noChangeShapeType="1"/>
            <a:stCxn id="9219" idx="2"/>
            <a:endCxn id="9221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3" name="AutoShape 7"/>
          <p:cNvCxnSpPr>
            <a:cxnSpLocks noChangeShapeType="1"/>
            <a:stCxn id="9219" idx="2"/>
            <a:endCxn id="9220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9225" name="AutoShape 9"/>
          <p:cNvCxnSpPr>
            <a:cxnSpLocks noChangeShapeType="1"/>
            <a:stCxn id="9221" idx="2"/>
            <a:endCxn id="9224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9227" name="AutoShape 11"/>
          <p:cNvCxnSpPr>
            <a:cxnSpLocks noChangeShapeType="1"/>
            <a:stCxn id="9220" idx="2"/>
            <a:endCxn id="9226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9229" name="AutoShape 13"/>
          <p:cNvCxnSpPr>
            <a:cxnSpLocks noChangeShapeType="1"/>
            <a:stCxn id="9221" idx="2"/>
            <a:endCxn id="9228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42672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9231" name="AutoShape 15"/>
          <p:cNvCxnSpPr>
            <a:cxnSpLocks noChangeShapeType="1"/>
            <a:stCxn id="9228" idx="2"/>
            <a:endCxn id="9230" idx="0"/>
          </p:cNvCxnSpPr>
          <p:nvPr/>
        </p:nvCxnSpPr>
        <p:spPr bwMode="auto">
          <a:xfrm>
            <a:off x="40767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3352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9233" name="AutoShape 17"/>
          <p:cNvCxnSpPr>
            <a:cxnSpLocks noChangeShapeType="1"/>
            <a:stCxn id="9228" idx="2"/>
            <a:endCxn id="9232" idx="0"/>
          </p:cNvCxnSpPr>
          <p:nvPr/>
        </p:nvCxnSpPr>
        <p:spPr bwMode="auto">
          <a:xfrm flipH="1">
            <a:off x="36195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2971800" y="4800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9235" name="AutoShape 19"/>
          <p:cNvCxnSpPr>
            <a:cxnSpLocks noChangeShapeType="1"/>
            <a:stCxn id="9232" idx="2"/>
            <a:endCxn id="9234" idx="0"/>
          </p:cNvCxnSpPr>
          <p:nvPr/>
        </p:nvCxnSpPr>
        <p:spPr bwMode="auto">
          <a:xfrm flipH="1">
            <a:off x="3238500" y="4419600"/>
            <a:ext cx="3810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6" name="Oval 20"/>
          <p:cNvSpPr>
            <a:spLocks noChangeArrowheads="1"/>
          </p:cNvSpPr>
          <p:nvPr/>
        </p:nvSpPr>
        <p:spPr bwMode="auto">
          <a:xfrm>
            <a:off x="2514600" y="2209800"/>
            <a:ext cx="2362200" cy="3429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4" grpId="0" animBg="1"/>
      <p:bldP spid="92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insert 8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10246" name="AutoShape 6"/>
          <p:cNvCxnSpPr>
            <a:cxnSpLocks noChangeShapeType="1"/>
            <a:stCxn id="10243" idx="2"/>
            <a:endCxn id="10245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47" name="AutoShape 7"/>
          <p:cNvCxnSpPr>
            <a:cxnSpLocks noChangeShapeType="1"/>
            <a:stCxn id="10243" idx="2"/>
            <a:endCxn id="10244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2667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10249" name="AutoShape 9"/>
          <p:cNvCxnSpPr>
            <a:cxnSpLocks noChangeShapeType="1"/>
            <a:stCxn id="10245" idx="2"/>
            <a:endCxn id="10248" idx="0"/>
          </p:cNvCxnSpPr>
          <p:nvPr/>
        </p:nvCxnSpPr>
        <p:spPr bwMode="auto">
          <a:xfrm flipH="1">
            <a:off x="29337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10251" name="AutoShape 11"/>
          <p:cNvCxnSpPr>
            <a:cxnSpLocks noChangeShapeType="1"/>
            <a:stCxn id="10244" idx="2"/>
            <a:endCxn id="10250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cxnSp>
        <p:nvCxnSpPr>
          <p:cNvPr id="10253" name="AutoShape 13"/>
          <p:cNvCxnSpPr>
            <a:cxnSpLocks noChangeShapeType="1"/>
            <a:stCxn id="10245" idx="2"/>
            <a:endCxn id="10252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42672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0255" name="AutoShape 15"/>
          <p:cNvCxnSpPr>
            <a:cxnSpLocks noChangeShapeType="1"/>
            <a:stCxn id="10252" idx="2"/>
            <a:endCxn id="10254" idx="0"/>
          </p:cNvCxnSpPr>
          <p:nvPr/>
        </p:nvCxnSpPr>
        <p:spPr bwMode="auto">
          <a:xfrm>
            <a:off x="40767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3352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10257" name="AutoShape 17"/>
          <p:cNvCxnSpPr>
            <a:cxnSpLocks noChangeShapeType="1"/>
            <a:stCxn id="10252" idx="2"/>
            <a:endCxn id="10256" idx="0"/>
          </p:cNvCxnSpPr>
          <p:nvPr/>
        </p:nvCxnSpPr>
        <p:spPr bwMode="auto">
          <a:xfrm flipH="1">
            <a:off x="3619500" y="35814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4648200" y="4800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0259" name="AutoShape 19"/>
          <p:cNvCxnSpPr>
            <a:cxnSpLocks noChangeShapeType="1"/>
            <a:stCxn id="10254" idx="2"/>
            <a:endCxn id="10258" idx="0"/>
          </p:cNvCxnSpPr>
          <p:nvPr/>
        </p:nvCxnSpPr>
        <p:spPr bwMode="auto">
          <a:xfrm>
            <a:off x="4533900" y="4419600"/>
            <a:ext cx="3810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60" name="Oval 20"/>
          <p:cNvSpPr>
            <a:spLocks noChangeArrowheads="1"/>
          </p:cNvSpPr>
          <p:nvPr/>
        </p:nvSpPr>
        <p:spPr bwMode="auto">
          <a:xfrm>
            <a:off x="2514600" y="2209800"/>
            <a:ext cx="2743200" cy="3581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50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the AVL tree is balanced.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2590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11270" name="AutoShape 6"/>
          <p:cNvCxnSpPr>
            <a:cxnSpLocks noChangeShapeType="1"/>
            <a:stCxn id="11267" idx="2"/>
            <a:endCxn id="11268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209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11273" name="AutoShape 9"/>
          <p:cNvCxnSpPr>
            <a:cxnSpLocks noChangeShapeType="1"/>
            <a:stCxn id="11268" idx="2"/>
            <a:endCxn id="11272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1276" name="AutoShape 12"/>
          <p:cNvCxnSpPr>
            <a:cxnSpLocks noChangeShapeType="1"/>
            <a:stCxn id="11274" idx="2"/>
            <a:endCxn id="11275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2971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11278" name="AutoShape 14"/>
          <p:cNvCxnSpPr>
            <a:cxnSpLocks noChangeShapeType="1"/>
            <a:stCxn id="11269" idx="2"/>
            <a:endCxn id="11277" idx="0"/>
          </p:cNvCxnSpPr>
          <p:nvPr/>
        </p:nvCxnSpPr>
        <p:spPr bwMode="auto">
          <a:xfrm>
            <a:off x="28575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41910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1280" name="AutoShape 16"/>
          <p:cNvCxnSpPr>
            <a:cxnSpLocks noChangeShapeType="1"/>
            <a:stCxn id="11269" idx="2"/>
            <a:endCxn id="11271" idx="0"/>
          </p:cNvCxnSpPr>
          <p:nvPr/>
        </p:nvCxnSpPr>
        <p:spPr bwMode="auto">
          <a:xfrm flipH="1">
            <a:off x="24765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81" name="AutoShape 17"/>
          <p:cNvCxnSpPr>
            <a:cxnSpLocks noChangeShapeType="1"/>
            <a:stCxn id="11274" idx="2"/>
            <a:endCxn id="11269" idx="0"/>
          </p:cNvCxnSpPr>
          <p:nvPr/>
        </p:nvCxnSpPr>
        <p:spPr bwMode="auto">
          <a:xfrm flipH="1">
            <a:off x="2857500" y="2743200"/>
            <a:ext cx="685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82" name="AutoShape 18"/>
          <p:cNvCxnSpPr>
            <a:cxnSpLocks noChangeShapeType="1"/>
            <a:stCxn id="11267" idx="2"/>
            <a:endCxn id="11274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83" name="AutoShape 19"/>
          <p:cNvCxnSpPr>
            <a:cxnSpLocks noChangeShapeType="1"/>
            <a:stCxn id="11275" idx="2"/>
            <a:endCxn id="11279" idx="0"/>
          </p:cNvCxnSpPr>
          <p:nvPr/>
        </p:nvCxnSpPr>
        <p:spPr bwMode="auto">
          <a:xfrm>
            <a:off x="40767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9751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remove 53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2590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12294" name="AutoShape 6"/>
          <p:cNvCxnSpPr>
            <a:cxnSpLocks noChangeShapeType="1"/>
            <a:stCxn id="12291" idx="2"/>
            <a:endCxn id="12292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2209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257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53</a:t>
            </a:r>
          </a:p>
        </p:txBody>
      </p:sp>
      <p:cxnSp>
        <p:nvCxnSpPr>
          <p:cNvPr id="12297" name="AutoShape 9"/>
          <p:cNvCxnSpPr>
            <a:cxnSpLocks noChangeShapeType="1"/>
            <a:stCxn id="12292" idx="2"/>
            <a:endCxn id="12296" idx="0"/>
          </p:cNvCxnSpPr>
          <p:nvPr/>
        </p:nvCxnSpPr>
        <p:spPr bwMode="auto">
          <a:xfrm>
            <a:off x="49149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2300" name="AutoShape 12"/>
          <p:cNvCxnSpPr>
            <a:cxnSpLocks noChangeShapeType="1"/>
            <a:stCxn id="12298" idx="2"/>
            <a:endCxn id="12299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2971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12302" name="AutoShape 14"/>
          <p:cNvCxnSpPr>
            <a:cxnSpLocks noChangeShapeType="1"/>
            <a:stCxn id="12293" idx="2"/>
            <a:endCxn id="12301" idx="0"/>
          </p:cNvCxnSpPr>
          <p:nvPr/>
        </p:nvCxnSpPr>
        <p:spPr bwMode="auto">
          <a:xfrm>
            <a:off x="28575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41910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2304" name="AutoShape 16"/>
          <p:cNvCxnSpPr>
            <a:cxnSpLocks noChangeShapeType="1"/>
            <a:stCxn id="12293" idx="2"/>
            <a:endCxn id="12295" idx="0"/>
          </p:cNvCxnSpPr>
          <p:nvPr/>
        </p:nvCxnSpPr>
        <p:spPr bwMode="auto">
          <a:xfrm flipH="1">
            <a:off x="24765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05" name="AutoShape 17"/>
          <p:cNvCxnSpPr>
            <a:cxnSpLocks noChangeShapeType="1"/>
            <a:stCxn id="12298" idx="2"/>
            <a:endCxn id="12293" idx="0"/>
          </p:cNvCxnSpPr>
          <p:nvPr/>
        </p:nvCxnSpPr>
        <p:spPr bwMode="auto">
          <a:xfrm flipH="1">
            <a:off x="2857500" y="2743200"/>
            <a:ext cx="685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06" name="AutoShape 18"/>
          <p:cNvCxnSpPr>
            <a:cxnSpLocks noChangeShapeType="1"/>
            <a:stCxn id="12291" idx="2"/>
            <a:endCxn id="12298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07" name="AutoShape 19"/>
          <p:cNvCxnSpPr>
            <a:cxnSpLocks noChangeShapeType="1"/>
            <a:stCxn id="12299" idx="2"/>
            <a:endCxn id="12303" idx="0"/>
          </p:cNvCxnSpPr>
          <p:nvPr/>
        </p:nvCxnSpPr>
        <p:spPr bwMode="auto">
          <a:xfrm>
            <a:off x="40767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1236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Now remove 53, unbalanced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962400" y="160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648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590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13318" name="AutoShape 6"/>
          <p:cNvCxnSpPr>
            <a:cxnSpLocks noChangeShapeType="1"/>
            <a:stCxn id="13315" idx="2"/>
            <a:endCxn id="13316" idx="0"/>
          </p:cNvCxnSpPr>
          <p:nvPr/>
        </p:nvCxnSpPr>
        <p:spPr bwMode="auto">
          <a:xfrm>
            <a:off x="42291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209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3276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3322" name="AutoShape 10"/>
          <p:cNvCxnSpPr>
            <a:cxnSpLocks noChangeShapeType="1"/>
            <a:stCxn id="13320" idx="2"/>
            <a:endCxn id="13321" idx="0"/>
          </p:cNvCxnSpPr>
          <p:nvPr/>
        </p:nvCxnSpPr>
        <p:spPr bwMode="auto">
          <a:xfrm>
            <a:off x="35433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2971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13324" name="AutoShape 12"/>
          <p:cNvCxnSpPr>
            <a:cxnSpLocks noChangeShapeType="1"/>
            <a:stCxn id="13317" idx="2"/>
            <a:endCxn id="13323" idx="0"/>
          </p:cNvCxnSpPr>
          <p:nvPr/>
        </p:nvCxnSpPr>
        <p:spPr bwMode="auto">
          <a:xfrm>
            <a:off x="28575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41910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3326" name="AutoShape 14"/>
          <p:cNvCxnSpPr>
            <a:cxnSpLocks noChangeShapeType="1"/>
            <a:stCxn id="13317" idx="2"/>
            <a:endCxn id="13319" idx="0"/>
          </p:cNvCxnSpPr>
          <p:nvPr/>
        </p:nvCxnSpPr>
        <p:spPr bwMode="auto">
          <a:xfrm flipH="1">
            <a:off x="24765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7" name="AutoShape 15"/>
          <p:cNvCxnSpPr>
            <a:cxnSpLocks noChangeShapeType="1"/>
            <a:stCxn id="13320" idx="2"/>
            <a:endCxn id="13317" idx="0"/>
          </p:cNvCxnSpPr>
          <p:nvPr/>
        </p:nvCxnSpPr>
        <p:spPr bwMode="auto">
          <a:xfrm flipH="1">
            <a:off x="2857500" y="2743200"/>
            <a:ext cx="685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8" name="AutoShape 16"/>
          <p:cNvCxnSpPr>
            <a:cxnSpLocks noChangeShapeType="1"/>
            <a:stCxn id="13315" idx="2"/>
            <a:endCxn id="13320" idx="0"/>
          </p:cNvCxnSpPr>
          <p:nvPr/>
        </p:nvCxnSpPr>
        <p:spPr bwMode="auto">
          <a:xfrm flipH="1">
            <a:off x="3543300" y="1981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9" name="AutoShape 17"/>
          <p:cNvCxnSpPr>
            <a:cxnSpLocks noChangeShapeType="1"/>
            <a:stCxn id="13321" idx="2"/>
            <a:endCxn id="13325" idx="0"/>
          </p:cNvCxnSpPr>
          <p:nvPr/>
        </p:nvCxnSpPr>
        <p:spPr bwMode="auto">
          <a:xfrm>
            <a:off x="4076700" y="3581400"/>
            <a:ext cx="3810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30" name="Oval 18"/>
          <p:cNvSpPr>
            <a:spLocks noChangeArrowheads="1"/>
          </p:cNvSpPr>
          <p:nvPr/>
        </p:nvSpPr>
        <p:spPr bwMode="auto">
          <a:xfrm>
            <a:off x="1905000" y="1219200"/>
            <a:ext cx="3581400" cy="4267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1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162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Balanced!    Remove 11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029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5626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0480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14342" name="AutoShape 6"/>
          <p:cNvCxnSpPr>
            <a:cxnSpLocks noChangeShapeType="1"/>
            <a:stCxn id="14339" idx="2"/>
            <a:endCxn id="14340" idx="0"/>
          </p:cNvCxnSpPr>
          <p:nvPr/>
        </p:nvCxnSpPr>
        <p:spPr bwMode="auto">
          <a:xfrm>
            <a:off x="52959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590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962400" y="152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4572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4346" name="AutoShape 10"/>
          <p:cNvCxnSpPr>
            <a:cxnSpLocks noChangeShapeType="1"/>
            <a:stCxn id="14344" idx="2"/>
            <a:endCxn id="14339" idx="0"/>
          </p:cNvCxnSpPr>
          <p:nvPr/>
        </p:nvCxnSpPr>
        <p:spPr bwMode="auto">
          <a:xfrm>
            <a:off x="4229100" y="1905000"/>
            <a:ext cx="1066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35052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14348" name="AutoShape 12"/>
          <p:cNvCxnSpPr>
            <a:cxnSpLocks noChangeShapeType="1"/>
            <a:stCxn id="14341" idx="2"/>
            <a:endCxn id="14347" idx="0"/>
          </p:cNvCxnSpPr>
          <p:nvPr/>
        </p:nvCxnSpPr>
        <p:spPr bwMode="auto">
          <a:xfrm>
            <a:off x="3314700" y="27432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876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4350" name="AutoShape 14"/>
          <p:cNvCxnSpPr>
            <a:cxnSpLocks noChangeShapeType="1"/>
            <a:stCxn id="14341" idx="2"/>
            <a:endCxn id="14343" idx="0"/>
          </p:cNvCxnSpPr>
          <p:nvPr/>
        </p:nvCxnSpPr>
        <p:spPr bwMode="auto">
          <a:xfrm flipH="1">
            <a:off x="2857500" y="27432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1" name="AutoShape 15"/>
          <p:cNvCxnSpPr>
            <a:cxnSpLocks noChangeShapeType="1"/>
            <a:stCxn id="14344" idx="2"/>
            <a:endCxn id="14341" idx="0"/>
          </p:cNvCxnSpPr>
          <p:nvPr/>
        </p:nvCxnSpPr>
        <p:spPr bwMode="auto">
          <a:xfrm flipH="1">
            <a:off x="3314700" y="1905000"/>
            <a:ext cx="914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2" name="AutoShape 16"/>
          <p:cNvCxnSpPr>
            <a:cxnSpLocks noChangeShapeType="1"/>
            <a:stCxn id="14345" idx="2"/>
            <a:endCxn id="14349" idx="0"/>
          </p:cNvCxnSpPr>
          <p:nvPr/>
        </p:nvCxnSpPr>
        <p:spPr bwMode="auto">
          <a:xfrm>
            <a:off x="4838700" y="3581400"/>
            <a:ext cx="304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3" name="AutoShape 17"/>
          <p:cNvCxnSpPr>
            <a:cxnSpLocks noChangeShapeType="1"/>
            <a:stCxn id="14339" idx="2"/>
            <a:endCxn id="14345" idx="0"/>
          </p:cNvCxnSpPr>
          <p:nvPr/>
        </p:nvCxnSpPr>
        <p:spPr bwMode="auto">
          <a:xfrm flipH="1">
            <a:off x="4838700" y="27432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7778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6962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Remove 11, replace it with the largest in its left branch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029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5626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0480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15366" name="AutoShape 6"/>
          <p:cNvCxnSpPr>
            <a:cxnSpLocks noChangeShapeType="1"/>
            <a:stCxn id="15363" idx="2"/>
            <a:endCxn id="15364" idx="0"/>
          </p:cNvCxnSpPr>
          <p:nvPr/>
        </p:nvCxnSpPr>
        <p:spPr bwMode="auto">
          <a:xfrm>
            <a:off x="52959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2590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3962400" y="152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4572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5370" name="AutoShape 10"/>
          <p:cNvCxnSpPr>
            <a:cxnSpLocks noChangeShapeType="1"/>
            <a:stCxn id="15368" idx="2"/>
            <a:endCxn id="15363" idx="0"/>
          </p:cNvCxnSpPr>
          <p:nvPr/>
        </p:nvCxnSpPr>
        <p:spPr bwMode="auto">
          <a:xfrm>
            <a:off x="4229100" y="1905000"/>
            <a:ext cx="1066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4876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5372" name="AutoShape 12"/>
          <p:cNvCxnSpPr>
            <a:cxnSpLocks noChangeShapeType="1"/>
            <a:stCxn id="15365" idx="2"/>
            <a:endCxn id="15367" idx="0"/>
          </p:cNvCxnSpPr>
          <p:nvPr/>
        </p:nvCxnSpPr>
        <p:spPr bwMode="auto">
          <a:xfrm flipH="1">
            <a:off x="2857500" y="27432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73" name="AutoShape 13"/>
          <p:cNvCxnSpPr>
            <a:cxnSpLocks noChangeShapeType="1"/>
            <a:stCxn id="15368" idx="2"/>
            <a:endCxn id="15365" idx="0"/>
          </p:cNvCxnSpPr>
          <p:nvPr/>
        </p:nvCxnSpPr>
        <p:spPr bwMode="auto">
          <a:xfrm flipH="1">
            <a:off x="3314700" y="1905000"/>
            <a:ext cx="914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74" name="AutoShape 14"/>
          <p:cNvCxnSpPr>
            <a:cxnSpLocks noChangeShapeType="1"/>
            <a:stCxn id="15369" idx="2"/>
            <a:endCxn id="15371" idx="0"/>
          </p:cNvCxnSpPr>
          <p:nvPr/>
        </p:nvCxnSpPr>
        <p:spPr bwMode="auto">
          <a:xfrm>
            <a:off x="4838700" y="3581400"/>
            <a:ext cx="304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75" name="AutoShape 15"/>
          <p:cNvCxnSpPr>
            <a:cxnSpLocks noChangeShapeType="1"/>
            <a:stCxn id="15363" idx="2"/>
            <a:endCxn id="15369" idx="0"/>
          </p:cNvCxnSpPr>
          <p:nvPr/>
        </p:nvCxnSpPr>
        <p:spPr bwMode="auto">
          <a:xfrm flipH="1">
            <a:off x="4838700" y="27432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3815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6962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Remove 8, unbalanced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5029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55626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30480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16390" name="AutoShape 6"/>
          <p:cNvCxnSpPr>
            <a:cxnSpLocks noChangeShapeType="1"/>
            <a:stCxn id="16387" idx="2"/>
            <a:endCxn id="16388" idx="0"/>
          </p:cNvCxnSpPr>
          <p:nvPr/>
        </p:nvCxnSpPr>
        <p:spPr bwMode="auto">
          <a:xfrm>
            <a:off x="5295900" y="27432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3962400" y="152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4572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cxnSp>
        <p:nvCxnSpPr>
          <p:cNvPr id="16393" name="AutoShape 9"/>
          <p:cNvCxnSpPr>
            <a:cxnSpLocks noChangeShapeType="1"/>
            <a:stCxn id="16391" idx="2"/>
            <a:endCxn id="16387" idx="0"/>
          </p:cNvCxnSpPr>
          <p:nvPr/>
        </p:nvCxnSpPr>
        <p:spPr bwMode="auto">
          <a:xfrm>
            <a:off x="4229100" y="1905000"/>
            <a:ext cx="1066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48768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6395" name="AutoShape 11"/>
          <p:cNvCxnSpPr>
            <a:cxnSpLocks noChangeShapeType="1"/>
            <a:stCxn id="16391" idx="2"/>
            <a:endCxn id="16389" idx="0"/>
          </p:cNvCxnSpPr>
          <p:nvPr/>
        </p:nvCxnSpPr>
        <p:spPr bwMode="auto">
          <a:xfrm flipH="1">
            <a:off x="3314700" y="1905000"/>
            <a:ext cx="914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6" name="AutoShape 12"/>
          <p:cNvCxnSpPr>
            <a:cxnSpLocks noChangeShapeType="1"/>
            <a:stCxn id="16392" idx="2"/>
            <a:endCxn id="16394" idx="0"/>
          </p:cNvCxnSpPr>
          <p:nvPr/>
        </p:nvCxnSpPr>
        <p:spPr bwMode="auto">
          <a:xfrm>
            <a:off x="4838700" y="3581400"/>
            <a:ext cx="304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7" name="AutoShape 13"/>
          <p:cNvCxnSpPr>
            <a:cxnSpLocks noChangeShapeType="1"/>
            <a:stCxn id="16387" idx="2"/>
            <a:endCxn id="16392" idx="0"/>
          </p:cNvCxnSpPr>
          <p:nvPr/>
        </p:nvCxnSpPr>
        <p:spPr bwMode="auto">
          <a:xfrm flipH="1">
            <a:off x="4838700" y="2743200"/>
            <a:ext cx="4572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8" name="Oval 14"/>
          <p:cNvSpPr>
            <a:spLocks noChangeArrowheads="1"/>
          </p:cNvSpPr>
          <p:nvPr/>
        </p:nvSpPr>
        <p:spPr bwMode="auto">
          <a:xfrm>
            <a:off x="2743200" y="990600"/>
            <a:ext cx="3581400" cy="4267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67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6962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Remove 8, unbalanced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54864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096000" y="4114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0480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962400" y="152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48768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029200" y="4114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7417" name="AutoShape 9"/>
          <p:cNvCxnSpPr>
            <a:cxnSpLocks noChangeShapeType="1"/>
            <a:stCxn id="17414" idx="2"/>
            <a:endCxn id="17413" idx="0"/>
          </p:cNvCxnSpPr>
          <p:nvPr/>
        </p:nvCxnSpPr>
        <p:spPr bwMode="auto">
          <a:xfrm flipH="1">
            <a:off x="3314700" y="1905000"/>
            <a:ext cx="914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8" name="AutoShape 10"/>
          <p:cNvCxnSpPr>
            <a:cxnSpLocks noChangeShapeType="1"/>
            <a:stCxn id="17414" idx="2"/>
            <a:endCxn id="17415" idx="0"/>
          </p:cNvCxnSpPr>
          <p:nvPr/>
        </p:nvCxnSpPr>
        <p:spPr bwMode="auto">
          <a:xfrm>
            <a:off x="4229100" y="1905000"/>
            <a:ext cx="914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9" name="AutoShape 11"/>
          <p:cNvCxnSpPr>
            <a:cxnSpLocks noChangeShapeType="1"/>
            <a:stCxn id="17415" idx="2"/>
            <a:endCxn id="17411" idx="0"/>
          </p:cNvCxnSpPr>
          <p:nvPr/>
        </p:nvCxnSpPr>
        <p:spPr bwMode="auto">
          <a:xfrm>
            <a:off x="5143500" y="2743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0" name="AutoShape 12"/>
          <p:cNvCxnSpPr>
            <a:cxnSpLocks noChangeShapeType="1"/>
            <a:stCxn id="17411" idx="2"/>
            <a:endCxn id="17416" idx="0"/>
          </p:cNvCxnSpPr>
          <p:nvPr/>
        </p:nvCxnSpPr>
        <p:spPr bwMode="auto">
          <a:xfrm flipH="1">
            <a:off x="5295900" y="3581400"/>
            <a:ext cx="4572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1" name="AutoShape 13"/>
          <p:cNvCxnSpPr>
            <a:cxnSpLocks noChangeShapeType="1"/>
            <a:stCxn id="17411" idx="2"/>
            <a:endCxn id="17412" idx="0"/>
          </p:cNvCxnSpPr>
          <p:nvPr/>
        </p:nvCxnSpPr>
        <p:spPr bwMode="auto">
          <a:xfrm>
            <a:off x="5753100" y="3581400"/>
            <a:ext cx="609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22" name="Oval 14"/>
          <p:cNvSpPr>
            <a:spLocks noChangeArrowheads="1"/>
          </p:cNvSpPr>
          <p:nvPr/>
        </p:nvSpPr>
        <p:spPr bwMode="auto">
          <a:xfrm>
            <a:off x="3124200" y="1219200"/>
            <a:ext cx="3581400" cy="4267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29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76962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AVL Tree Example: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solidFill>
                  <a:srgbClr val="000000"/>
                </a:solidFill>
              </a:rPr>
              <a:t> Balanced!!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343400" y="2209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953000" y="3124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2438400" y="3048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3048000" y="2209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3733800" y="1371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3886200" y="3124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18441" name="AutoShape 9"/>
          <p:cNvCxnSpPr>
            <a:cxnSpLocks noChangeShapeType="1"/>
            <a:stCxn id="18438" idx="2"/>
            <a:endCxn id="18437" idx="0"/>
          </p:cNvCxnSpPr>
          <p:nvPr/>
        </p:nvCxnSpPr>
        <p:spPr bwMode="auto">
          <a:xfrm flipH="1">
            <a:off x="2705100" y="25908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2" name="AutoShape 10"/>
          <p:cNvCxnSpPr>
            <a:cxnSpLocks noChangeShapeType="1"/>
            <a:stCxn id="18439" idx="2"/>
            <a:endCxn id="18435" idx="0"/>
          </p:cNvCxnSpPr>
          <p:nvPr/>
        </p:nvCxnSpPr>
        <p:spPr bwMode="auto">
          <a:xfrm>
            <a:off x="4000500" y="17526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3" name="AutoShape 11"/>
          <p:cNvCxnSpPr>
            <a:cxnSpLocks noChangeShapeType="1"/>
            <a:stCxn id="18435" idx="2"/>
            <a:endCxn id="18440" idx="0"/>
          </p:cNvCxnSpPr>
          <p:nvPr/>
        </p:nvCxnSpPr>
        <p:spPr bwMode="auto">
          <a:xfrm flipH="1">
            <a:off x="4152900" y="2590800"/>
            <a:ext cx="4572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4" name="AutoShape 12"/>
          <p:cNvCxnSpPr>
            <a:cxnSpLocks noChangeShapeType="1"/>
            <a:stCxn id="18435" idx="2"/>
            <a:endCxn id="18436" idx="0"/>
          </p:cNvCxnSpPr>
          <p:nvPr/>
        </p:nvCxnSpPr>
        <p:spPr bwMode="auto">
          <a:xfrm>
            <a:off x="4610100" y="2590800"/>
            <a:ext cx="6096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5" name="AutoShape 13"/>
          <p:cNvCxnSpPr>
            <a:cxnSpLocks noChangeShapeType="1"/>
            <a:stCxn id="18439" idx="2"/>
            <a:endCxn id="18438" idx="0"/>
          </p:cNvCxnSpPr>
          <p:nvPr/>
        </p:nvCxnSpPr>
        <p:spPr bwMode="auto">
          <a:xfrm flipH="1">
            <a:off x="3314700" y="1752600"/>
            <a:ext cx="6858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8896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 Class Exercises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altLang="en-US"/>
              <a:t>Build an AVL tree with the following values:</a:t>
            </a:r>
          </a:p>
          <a:p>
            <a:pPr lvl="1">
              <a:buFontTx/>
              <a:buNone/>
            </a:pPr>
            <a:r>
              <a:rPr lang="en-US" altLang="en-US"/>
              <a:t>15, 20, 24, 10, 13, 7, 30, 36, 25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16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447800" y="838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762000" y="0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15, 20, 24, 10, 13, 7, 30, 36, 25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2057400" y="152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0488" name="AutoShape 8"/>
          <p:cNvCxnSpPr>
            <a:cxnSpLocks noChangeShapeType="1"/>
            <a:stCxn id="20484" idx="2"/>
            <a:endCxn id="20487" idx="0"/>
          </p:cNvCxnSpPr>
          <p:nvPr/>
        </p:nvCxnSpPr>
        <p:spPr bwMode="auto">
          <a:xfrm>
            <a:off x="1714500" y="12192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667000" y="2209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0490" name="AutoShape 10"/>
          <p:cNvCxnSpPr>
            <a:cxnSpLocks noChangeShapeType="1"/>
            <a:stCxn id="20487" idx="2"/>
            <a:endCxn id="20489" idx="0"/>
          </p:cNvCxnSpPr>
          <p:nvPr/>
        </p:nvCxnSpPr>
        <p:spPr bwMode="auto">
          <a:xfrm>
            <a:off x="2324100" y="19050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5943600" y="1143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6553200" y="304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0493" name="AutoShape 13"/>
          <p:cNvCxnSpPr>
            <a:cxnSpLocks noChangeShapeType="1"/>
            <a:stCxn id="20491" idx="0"/>
            <a:endCxn id="20492" idx="2"/>
          </p:cNvCxnSpPr>
          <p:nvPr/>
        </p:nvCxnSpPr>
        <p:spPr bwMode="auto">
          <a:xfrm flipV="1">
            <a:off x="6210300" y="6858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7162800" y="1143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0495" name="AutoShape 15"/>
          <p:cNvCxnSpPr>
            <a:cxnSpLocks noChangeShapeType="1"/>
            <a:stCxn id="20492" idx="2"/>
            <a:endCxn id="20494" idx="0"/>
          </p:cNvCxnSpPr>
          <p:nvPr/>
        </p:nvCxnSpPr>
        <p:spPr bwMode="auto">
          <a:xfrm>
            <a:off x="6819900" y="6858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96" name="AutoShape 16"/>
          <p:cNvSpPr>
            <a:spLocks noChangeArrowheads="1"/>
          </p:cNvSpPr>
          <p:nvPr/>
        </p:nvSpPr>
        <p:spPr bwMode="auto">
          <a:xfrm>
            <a:off x="3429000" y="13716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497" name="Rectangle 17"/>
          <p:cNvSpPr>
            <a:spLocks noChangeArrowheads="1"/>
          </p:cNvSpPr>
          <p:nvPr/>
        </p:nvSpPr>
        <p:spPr bwMode="auto">
          <a:xfrm>
            <a:off x="53340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0498" name="AutoShape 18"/>
          <p:cNvCxnSpPr>
            <a:cxnSpLocks noChangeShapeType="1"/>
            <a:stCxn id="20491" idx="2"/>
            <a:endCxn id="20497" idx="0"/>
          </p:cNvCxnSpPr>
          <p:nvPr/>
        </p:nvCxnSpPr>
        <p:spPr bwMode="auto">
          <a:xfrm flipH="1">
            <a:off x="5600700" y="1524000"/>
            <a:ext cx="6096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5943600" y="2743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20500" name="AutoShape 20"/>
          <p:cNvCxnSpPr>
            <a:cxnSpLocks noChangeShapeType="1"/>
            <a:stCxn id="20497" idx="2"/>
            <a:endCxn id="20499" idx="0"/>
          </p:cNvCxnSpPr>
          <p:nvPr/>
        </p:nvCxnSpPr>
        <p:spPr bwMode="auto">
          <a:xfrm>
            <a:off x="5600700" y="22860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01" name="AutoShape 21"/>
          <p:cNvSpPr>
            <a:spLocks noChangeArrowheads="1"/>
          </p:cNvSpPr>
          <p:nvPr/>
        </p:nvSpPr>
        <p:spPr bwMode="auto">
          <a:xfrm>
            <a:off x="7315200" y="2590800"/>
            <a:ext cx="457200" cy="76200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5943600" y="4419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0504" name="Rectangle 24"/>
          <p:cNvSpPr>
            <a:spLocks noChangeArrowheads="1"/>
          </p:cNvSpPr>
          <p:nvPr/>
        </p:nvSpPr>
        <p:spPr bwMode="auto">
          <a:xfrm>
            <a:off x="6553200" y="3581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0505" name="AutoShape 25"/>
          <p:cNvCxnSpPr>
            <a:cxnSpLocks noChangeShapeType="1"/>
            <a:stCxn id="20503" idx="0"/>
            <a:endCxn id="20504" idx="2"/>
          </p:cNvCxnSpPr>
          <p:nvPr/>
        </p:nvCxnSpPr>
        <p:spPr bwMode="auto">
          <a:xfrm flipV="1">
            <a:off x="6210300" y="39624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06" name="Rectangle 26"/>
          <p:cNvSpPr>
            <a:spLocks noChangeArrowheads="1"/>
          </p:cNvSpPr>
          <p:nvPr/>
        </p:nvSpPr>
        <p:spPr bwMode="auto">
          <a:xfrm>
            <a:off x="7162800" y="4419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0507" name="AutoShape 27"/>
          <p:cNvCxnSpPr>
            <a:cxnSpLocks noChangeShapeType="1"/>
            <a:stCxn id="20504" idx="2"/>
            <a:endCxn id="20506" idx="0"/>
          </p:cNvCxnSpPr>
          <p:nvPr/>
        </p:nvCxnSpPr>
        <p:spPr bwMode="auto">
          <a:xfrm>
            <a:off x="6819900" y="39624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5334000" y="5181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cxnSp>
        <p:nvCxnSpPr>
          <p:cNvPr id="20509" name="AutoShape 29"/>
          <p:cNvCxnSpPr>
            <a:cxnSpLocks noChangeShapeType="1"/>
            <a:stCxn id="20503" idx="2"/>
            <a:endCxn id="20508" idx="0"/>
          </p:cNvCxnSpPr>
          <p:nvPr/>
        </p:nvCxnSpPr>
        <p:spPr bwMode="auto">
          <a:xfrm flipH="1">
            <a:off x="5600700" y="4800600"/>
            <a:ext cx="6096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0" name="Rectangle 30"/>
          <p:cNvSpPr>
            <a:spLocks noChangeArrowheads="1"/>
          </p:cNvSpPr>
          <p:nvPr/>
        </p:nvSpPr>
        <p:spPr bwMode="auto">
          <a:xfrm>
            <a:off x="4800600" y="6019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0511" name="AutoShape 31"/>
          <p:cNvCxnSpPr>
            <a:cxnSpLocks noChangeShapeType="1"/>
            <a:stCxn id="20508" idx="2"/>
            <a:endCxn id="20510" idx="0"/>
          </p:cNvCxnSpPr>
          <p:nvPr/>
        </p:nvCxnSpPr>
        <p:spPr bwMode="auto">
          <a:xfrm flipH="1">
            <a:off x="5067300" y="5562600"/>
            <a:ext cx="5334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2" name="Rectangle 32"/>
          <p:cNvSpPr>
            <a:spLocks noChangeArrowheads="1"/>
          </p:cNvSpPr>
          <p:nvPr/>
        </p:nvSpPr>
        <p:spPr bwMode="auto">
          <a:xfrm>
            <a:off x="1600200" y="4419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0513" name="Rectangle 33"/>
          <p:cNvSpPr>
            <a:spLocks noChangeArrowheads="1"/>
          </p:cNvSpPr>
          <p:nvPr/>
        </p:nvSpPr>
        <p:spPr bwMode="auto">
          <a:xfrm>
            <a:off x="2209800" y="3581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0514" name="AutoShape 34"/>
          <p:cNvCxnSpPr>
            <a:cxnSpLocks noChangeShapeType="1"/>
            <a:stCxn id="20512" idx="0"/>
            <a:endCxn id="20513" idx="2"/>
          </p:cNvCxnSpPr>
          <p:nvPr/>
        </p:nvCxnSpPr>
        <p:spPr bwMode="auto">
          <a:xfrm flipV="1">
            <a:off x="1866900" y="39624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5" name="Rectangle 35"/>
          <p:cNvSpPr>
            <a:spLocks noChangeArrowheads="1"/>
          </p:cNvSpPr>
          <p:nvPr/>
        </p:nvSpPr>
        <p:spPr bwMode="auto">
          <a:xfrm>
            <a:off x="2819400" y="4419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0516" name="AutoShape 36"/>
          <p:cNvCxnSpPr>
            <a:cxnSpLocks noChangeShapeType="1"/>
            <a:stCxn id="20513" idx="2"/>
            <a:endCxn id="20515" idx="0"/>
          </p:cNvCxnSpPr>
          <p:nvPr/>
        </p:nvCxnSpPr>
        <p:spPr bwMode="auto">
          <a:xfrm>
            <a:off x="2476500" y="39624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7" name="Rectangle 37"/>
          <p:cNvSpPr>
            <a:spLocks noChangeArrowheads="1"/>
          </p:cNvSpPr>
          <p:nvPr/>
        </p:nvSpPr>
        <p:spPr bwMode="auto">
          <a:xfrm>
            <a:off x="2057400" y="5181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0518" name="AutoShape 38"/>
          <p:cNvCxnSpPr>
            <a:cxnSpLocks noChangeShapeType="1"/>
            <a:stCxn id="20512" idx="2"/>
            <a:endCxn id="20517" idx="0"/>
          </p:cNvCxnSpPr>
          <p:nvPr/>
        </p:nvCxnSpPr>
        <p:spPr bwMode="auto">
          <a:xfrm>
            <a:off x="1866900" y="4800600"/>
            <a:ext cx="4572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19" name="Rectangle 39"/>
          <p:cNvSpPr>
            <a:spLocks noChangeArrowheads="1"/>
          </p:cNvSpPr>
          <p:nvPr/>
        </p:nvSpPr>
        <p:spPr bwMode="auto">
          <a:xfrm>
            <a:off x="1143000" y="5181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0520" name="AutoShape 40"/>
          <p:cNvCxnSpPr>
            <a:cxnSpLocks noChangeShapeType="1"/>
            <a:stCxn id="20512" idx="2"/>
            <a:endCxn id="20519" idx="0"/>
          </p:cNvCxnSpPr>
          <p:nvPr/>
        </p:nvCxnSpPr>
        <p:spPr bwMode="auto">
          <a:xfrm flipH="1">
            <a:off x="1409700" y="4800600"/>
            <a:ext cx="4572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21" name="AutoShape 41"/>
          <p:cNvSpPr>
            <a:spLocks noChangeArrowheads="1"/>
          </p:cNvSpPr>
          <p:nvPr/>
        </p:nvSpPr>
        <p:spPr bwMode="auto">
          <a:xfrm>
            <a:off x="4191000" y="4267200"/>
            <a:ext cx="914400" cy="381000"/>
          </a:xfrm>
          <a:prstGeom prst="lef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91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  <p:bldP spid="20487" grpId="0" animBg="1"/>
      <p:bldP spid="20489" grpId="0" animBg="1"/>
      <p:bldP spid="20491" grpId="0" animBg="1"/>
      <p:bldP spid="20492" grpId="0" animBg="1"/>
      <p:bldP spid="20494" grpId="0" animBg="1"/>
      <p:bldP spid="20496" grpId="0" animBg="1"/>
      <p:bldP spid="20497" grpId="0" animBg="1"/>
      <p:bldP spid="20499" grpId="0" animBg="1"/>
      <p:bldP spid="20501" grpId="0" animBg="1"/>
      <p:bldP spid="20503" grpId="0" animBg="1"/>
      <p:bldP spid="20504" grpId="0" animBg="1"/>
      <p:bldP spid="20506" grpId="0" animBg="1"/>
      <p:bldP spid="20508" grpId="0" animBg="1"/>
      <p:bldP spid="20510" grpId="0" animBg="1"/>
      <p:bldP spid="20512" grpId="0" animBg="1"/>
      <p:bldP spid="20513" grpId="0" animBg="1"/>
      <p:bldP spid="20515" grpId="0" animBg="1"/>
      <p:bldP spid="20517" grpId="0" animBg="1"/>
      <p:bldP spid="20519" grpId="0" animBg="1"/>
      <p:bldP spid="205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143000" y="1295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1752600" y="457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1510" name="AutoShape 6"/>
          <p:cNvCxnSpPr>
            <a:cxnSpLocks noChangeShapeType="1"/>
            <a:stCxn id="21508" idx="0"/>
            <a:endCxn id="21509" idx="2"/>
          </p:cNvCxnSpPr>
          <p:nvPr/>
        </p:nvCxnSpPr>
        <p:spPr bwMode="auto">
          <a:xfrm flipV="1">
            <a:off x="1409700" y="838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2362200" y="1295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1512" name="AutoShape 8"/>
          <p:cNvCxnSpPr>
            <a:cxnSpLocks noChangeShapeType="1"/>
            <a:stCxn id="21509" idx="2"/>
            <a:endCxn id="21511" idx="0"/>
          </p:cNvCxnSpPr>
          <p:nvPr/>
        </p:nvCxnSpPr>
        <p:spPr bwMode="auto">
          <a:xfrm>
            <a:off x="2019300" y="838200"/>
            <a:ext cx="6096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1600200" y="205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1514" name="AutoShape 10"/>
          <p:cNvCxnSpPr>
            <a:cxnSpLocks noChangeShapeType="1"/>
            <a:stCxn id="21508" idx="2"/>
            <a:endCxn id="21513" idx="0"/>
          </p:cNvCxnSpPr>
          <p:nvPr/>
        </p:nvCxnSpPr>
        <p:spPr bwMode="auto">
          <a:xfrm>
            <a:off x="1409700" y="1676400"/>
            <a:ext cx="4572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685800" y="205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1516" name="AutoShape 12"/>
          <p:cNvCxnSpPr>
            <a:cxnSpLocks noChangeShapeType="1"/>
            <a:stCxn id="21508" idx="2"/>
            <a:endCxn id="21515" idx="0"/>
          </p:cNvCxnSpPr>
          <p:nvPr/>
        </p:nvCxnSpPr>
        <p:spPr bwMode="auto">
          <a:xfrm flipH="1">
            <a:off x="952500" y="1676400"/>
            <a:ext cx="4572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762000" y="0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15, 20, 24, 10, 13, 7, 30, 36, 25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152400" y="2819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1519" name="AutoShape 15"/>
          <p:cNvCxnSpPr>
            <a:cxnSpLocks noChangeShapeType="1"/>
            <a:stCxn id="21515" idx="2"/>
            <a:endCxn id="21518" idx="0"/>
          </p:cNvCxnSpPr>
          <p:nvPr/>
        </p:nvCxnSpPr>
        <p:spPr bwMode="auto">
          <a:xfrm flipH="1">
            <a:off x="419100" y="2438400"/>
            <a:ext cx="5334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20" name="AutoShape 16"/>
          <p:cNvSpPr>
            <a:spLocks noChangeArrowheads="1"/>
          </p:cNvSpPr>
          <p:nvPr/>
        </p:nvSpPr>
        <p:spPr bwMode="auto">
          <a:xfrm>
            <a:off x="3429000" y="13716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5715000" y="762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6400800" y="1371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1523" name="AutoShape 19"/>
          <p:cNvCxnSpPr>
            <a:cxnSpLocks noChangeShapeType="1"/>
            <a:stCxn id="21521" idx="2"/>
            <a:endCxn id="21522" idx="0"/>
          </p:cNvCxnSpPr>
          <p:nvPr/>
        </p:nvCxnSpPr>
        <p:spPr bwMode="auto">
          <a:xfrm>
            <a:off x="5981700" y="11430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7010400" y="205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1525" name="AutoShape 21"/>
          <p:cNvCxnSpPr>
            <a:cxnSpLocks noChangeShapeType="1"/>
            <a:stCxn id="21522" idx="2"/>
            <a:endCxn id="21524" idx="0"/>
          </p:cNvCxnSpPr>
          <p:nvPr/>
        </p:nvCxnSpPr>
        <p:spPr bwMode="auto">
          <a:xfrm>
            <a:off x="6667500" y="17526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5867400" y="205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1527" name="AutoShape 23"/>
          <p:cNvCxnSpPr>
            <a:cxnSpLocks noChangeShapeType="1"/>
            <a:stCxn id="21521" idx="2"/>
            <a:endCxn id="21528" idx="0"/>
          </p:cNvCxnSpPr>
          <p:nvPr/>
        </p:nvCxnSpPr>
        <p:spPr bwMode="auto">
          <a:xfrm flipH="1">
            <a:off x="5372100" y="11430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5105400" y="1371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1529" name="AutoShape 25"/>
          <p:cNvCxnSpPr>
            <a:cxnSpLocks noChangeShapeType="1"/>
            <a:stCxn id="21522" idx="2"/>
            <a:endCxn id="21526" idx="0"/>
          </p:cNvCxnSpPr>
          <p:nvPr/>
        </p:nvCxnSpPr>
        <p:spPr bwMode="auto">
          <a:xfrm flipH="1">
            <a:off x="6134100" y="17526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4495800" y="205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1531" name="AutoShape 27"/>
          <p:cNvCxnSpPr>
            <a:cxnSpLocks noChangeShapeType="1"/>
            <a:stCxn id="21528" idx="2"/>
            <a:endCxn id="21530" idx="0"/>
          </p:cNvCxnSpPr>
          <p:nvPr/>
        </p:nvCxnSpPr>
        <p:spPr bwMode="auto">
          <a:xfrm flipH="1">
            <a:off x="4762500" y="17526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7543800" y="2743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cxnSp>
        <p:nvCxnSpPr>
          <p:cNvPr id="21533" name="AutoShape 29"/>
          <p:cNvCxnSpPr>
            <a:cxnSpLocks noChangeShapeType="1"/>
            <a:stCxn id="21524" idx="2"/>
            <a:endCxn id="21532" idx="0"/>
          </p:cNvCxnSpPr>
          <p:nvPr/>
        </p:nvCxnSpPr>
        <p:spPr bwMode="auto">
          <a:xfrm>
            <a:off x="7277100" y="24384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8077200" y="3429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cxnSp>
        <p:nvCxnSpPr>
          <p:cNvPr id="21535" name="AutoShape 31"/>
          <p:cNvCxnSpPr>
            <a:cxnSpLocks noChangeShapeType="1"/>
            <a:stCxn id="21532" idx="2"/>
            <a:endCxn id="21534" idx="0"/>
          </p:cNvCxnSpPr>
          <p:nvPr/>
        </p:nvCxnSpPr>
        <p:spPr bwMode="auto">
          <a:xfrm>
            <a:off x="7810500" y="31242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6" name="Rectangle 32"/>
          <p:cNvSpPr>
            <a:spLocks noChangeArrowheads="1"/>
          </p:cNvSpPr>
          <p:nvPr/>
        </p:nvSpPr>
        <p:spPr bwMode="auto">
          <a:xfrm>
            <a:off x="3505200" y="3429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1537" name="Rectangle 33"/>
          <p:cNvSpPr>
            <a:spLocks noChangeArrowheads="1"/>
          </p:cNvSpPr>
          <p:nvPr/>
        </p:nvSpPr>
        <p:spPr bwMode="auto">
          <a:xfrm>
            <a:off x="41910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1538" name="AutoShape 34"/>
          <p:cNvCxnSpPr>
            <a:cxnSpLocks noChangeShapeType="1"/>
            <a:stCxn id="21536" idx="2"/>
            <a:endCxn id="21537" idx="0"/>
          </p:cNvCxnSpPr>
          <p:nvPr/>
        </p:nvCxnSpPr>
        <p:spPr bwMode="auto">
          <a:xfrm>
            <a:off x="3771900" y="38100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9" name="Rectangle 35"/>
          <p:cNvSpPr>
            <a:spLocks noChangeArrowheads="1"/>
          </p:cNvSpPr>
          <p:nvPr/>
        </p:nvSpPr>
        <p:spPr bwMode="auto">
          <a:xfrm>
            <a:off x="48006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cxnSp>
        <p:nvCxnSpPr>
          <p:cNvPr id="21540" name="AutoShape 36"/>
          <p:cNvCxnSpPr>
            <a:cxnSpLocks noChangeShapeType="1"/>
            <a:stCxn id="21537" idx="2"/>
            <a:endCxn id="21539" idx="0"/>
          </p:cNvCxnSpPr>
          <p:nvPr/>
        </p:nvCxnSpPr>
        <p:spPr bwMode="auto">
          <a:xfrm>
            <a:off x="4457700" y="44196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36576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1542" name="AutoShape 38"/>
          <p:cNvCxnSpPr>
            <a:cxnSpLocks noChangeShapeType="1"/>
            <a:stCxn id="21536" idx="2"/>
            <a:endCxn id="21543" idx="0"/>
          </p:cNvCxnSpPr>
          <p:nvPr/>
        </p:nvCxnSpPr>
        <p:spPr bwMode="auto">
          <a:xfrm flipH="1">
            <a:off x="3162300" y="38100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43" name="Rectangle 39"/>
          <p:cNvSpPr>
            <a:spLocks noChangeArrowheads="1"/>
          </p:cNvSpPr>
          <p:nvPr/>
        </p:nvSpPr>
        <p:spPr bwMode="auto">
          <a:xfrm>
            <a:off x="28956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1544" name="AutoShape 40"/>
          <p:cNvCxnSpPr>
            <a:cxnSpLocks noChangeShapeType="1"/>
            <a:stCxn id="21537" idx="2"/>
            <a:endCxn id="21541" idx="0"/>
          </p:cNvCxnSpPr>
          <p:nvPr/>
        </p:nvCxnSpPr>
        <p:spPr bwMode="auto">
          <a:xfrm flipH="1">
            <a:off x="3924300" y="44196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45" name="Rectangle 41"/>
          <p:cNvSpPr>
            <a:spLocks noChangeArrowheads="1"/>
          </p:cNvSpPr>
          <p:nvPr/>
        </p:nvSpPr>
        <p:spPr bwMode="auto">
          <a:xfrm>
            <a:off x="22860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1546" name="AutoShape 42"/>
          <p:cNvCxnSpPr>
            <a:cxnSpLocks noChangeShapeType="1"/>
            <a:stCxn id="21543" idx="2"/>
            <a:endCxn id="21545" idx="0"/>
          </p:cNvCxnSpPr>
          <p:nvPr/>
        </p:nvCxnSpPr>
        <p:spPr bwMode="auto">
          <a:xfrm flipH="1">
            <a:off x="2552700" y="44196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47" name="Rectangle 43"/>
          <p:cNvSpPr>
            <a:spLocks noChangeArrowheads="1"/>
          </p:cNvSpPr>
          <p:nvPr/>
        </p:nvSpPr>
        <p:spPr bwMode="auto">
          <a:xfrm>
            <a:off x="53340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cxnSp>
        <p:nvCxnSpPr>
          <p:cNvPr id="21548" name="AutoShape 44"/>
          <p:cNvCxnSpPr>
            <a:cxnSpLocks noChangeShapeType="1"/>
            <a:stCxn id="21539" idx="2"/>
            <a:endCxn id="21547" idx="0"/>
          </p:cNvCxnSpPr>
          <p:nvPr/>
        </p:nvCxnSpPr>
        <p:spPr bwMode="auto">
          <a:xfrm>
            <a:off x="5067300" y="51054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49" name="Rectangle 45"/>
          <p:cNvSpPr>
            <a:spLocks noChangeArrowheads="1"/>
          </p:cNvSpPr>
          <p:nvPr/>
        </p:nvSpPr>
        <p:spPr bwMode="auto">
          <a:xfrm>
            <a:off x="44196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1550" name="AutoShape 46"/>
          <p:cNvCxnSpPr>
            <a:cxnSpLocks noChangeShapeType="1"/>
            <a:stCxn id="21539" idx="2"/>
            <a:endCxn id="21549" idx="0"/>
          </p:cNvCxnSpPr>
          <p:nvPr/>
        </p:nvCxnSpPr>
        <p:spPr bwMode="auto">
          <a:xfrm flipH="1">
            <a:off x="4686300" y="51054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51" name="AutoShape 47"/>
          <p:cNvSpPr>
            <a:spLocks noChangeArrowheads="1"/>
          </p:cNvSpPr>
          <p:nvPr/>
        </p:nvSpPr>
        <p:spPr bwMode="auto">
          <a:xfrm>
            <a:off x="5410200" y="3124200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9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8" grpId="0" animBg="1"/>
      <p:bldP spid="21520" grpId="0" animBg="1"/>
      <p:bldP spid="21521" grpId="0" animBg="1"/>
      <p:bldP spid="21522" grpId="0" animBg="1"/>
      <p:bldP spid="21524" grpId="0" animBg="1"/>
      <p:bldP spid="21526" grpId="0" animBg="1"/>
      <p:bldP spid="21528" grpId="0" animBg="1"/>
      <p:bldP spid="21530" grpId="0" animBg="1"/>
      <p:bldP spid="21532" grpId="0" animBg="1"/>
      <p:bldP spid="21534" grpId="0" animBg="1"/>
      <p:bldP spid="21536" grpId="0" animBg="1"/>
      <p:bldP spid="21537" grpId="0" animBg="1"/>
      <p:bldP spid="21539" grpId="0" animBg="1"/>
      <p:bldP spid="21541" grpId="0" animBg="1"/>
      <p:bldP spid="21543" grpId="0" animBg="1"/>
      <p:bldP spid="21545" grpId="0" animBg="1"/>
      <p:bldP spid="21547" grpId="0" animBg="1"/>
      <p:bldP spid="21549" grpId="0" animBg="1"/>
      <p:bldP spid="2155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447800" y="609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2133600" y="121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2534" name="AutoShape 6"/>
          <p:cNvCxnSpPr>
            <a:cxnSpLocks noChangeShapeType="1"/>
            <a:stCxn id="22532" idx="2"/>
            <a:endCxn id="22533" idx="0"/>
          </p:cNvCxnSpPr>
          <p:nvPr/>
        </p:nvCxnSpPr>
        <p:spPr bwMode="auto">
          <a:xfrm>
            <a:off x="1714500" y="9906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27432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cxnSp>
        <p:nvCxnSpPr>
          <p:cNvPr id="22536" name="AutoShape 8"/>
          <p:cNvCxnSpPr>
            <a:cxnSpLocks noChangeShapeType="1"/>
            <a:stCxn id="22533" idx="2"/>
            <a:endCxn id="22535" idx="0"/>
          </p:cNvCxnSpPr>
          <p:nvPr/>
        </p:nvCxnSpPr>
        <p:spPr bwMode="auto">
          <a:xfrm>
            <a:off x="2400300" y="16002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16002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2538" name="AutoShape 10"/>
          <p:cNvCxnSpPr>
            <a:cxnSpLocks noChangeShapeType="1"/>
            <a:stCxn id="22532" idx="2"/>
            <a:endCxn id="22539" idx="0"/>
          </p:cNvCxnSpPr>
          <p:nvPr/>
        </p:nvCxnSpPr>
        <p:spPr bwMode="auto">
          <a:xfrm flipH="1">
            <a:off x="1104900" y="9906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838200" y="121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2540" name="AutoShape 12"/>
          <p:cNvCxnSpPr>
            <a:cxnSpLocks noChangeShapeType="1"/>
            <a:stCxn id="22533" idx="2"/>
            <a:endCxn id="22537" idx="0"/>
          </p:cNvCxnSpPr>
          <p:nvPr/>
        </p:nvCxnSpPr>
        <p:spPr bwMode="auto">
          <a:xfrm flipH="1">
            <a:off x="1866900" y="16002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2286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2542" name="AutoShape 14"/>
          <p:cNvCxnSpPr>
            <a:cxnSpLocks noChangeShapeType="1"/>
            <a:stCxn id="22539" idx="2"/>
            <a:endCxn id="22541" idx="0"/>
          </p:cNvCxnSpPr>
          <p:nvPr/>
        </p:nvCxnSpPr>
        <p:spPr bwMode="auto">
          <a:xfrm flipH="1">
            <a:off x="495300" y="16002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3" name="Rectangle 15"/>
          <p:cNvSpPr>
            <a:spLocks noChangeArrowheads="1"/>
          </p:cNvSpPr>
          <p:nvPr/>
        </p:nvSpPr>
        <p:spPr bwMode="auto">
          <a:xfrm>
            <a:off x="3276600" y="2590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cxnSp>
        <p:nvCxnSpPr>
          <p:cNvPr id="22544" name="AutoShape 16"/>
          <p:cNvCxnSpPr>
            <a:cxnSpLocks noChangeShapeType="1"/>
            <a:stCxn id="22535" idx="2"/>
            <a:endCxn id="22543" idx="0"/>
          </p:cNvCxnSpPr>
          <p:nvPr/>
        </p:nvCxnSpPr>
        <p:spPr bwMode="auto">
          <a:xfrm>
            <a:off x="3009900" y="22860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5" name="Rectangle 17"/>
          <p:cNvSpPr>
            <a:spLocks noChangeArrowheads="1"/>
          </p:cNvSpPr>
          <p:nvPr/>
        </p:nvSpPr>
        <p:spPr bwMode="auto">
          <a:xfrm>
            <a:off x="2362200" y="2590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2546" name="AutoShape 18"/>
          <p:cNvCxnSpPr>
            <a:cxnSpLocks noChangeShapeType="1"/>
            <a:stCxn id="22535" idx="2"/>
            <a:endCxn id="22545" idx="0"/>
          </p:cNvCxnSpPr>
          <p:nvPr/>
        </p:nvCxnSpPr>
        <p:spPr bwMode="auto">
          <a:xfrm flipH="1">
            <a:off x="2628900" y="22860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762000" y="0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15, 20, 24, 10, 13, 7, 30, 36, 25</a:t>
            </a:r>
          </a:p>
        </p:txBody>
      </p:sp>
      <p:sp>
        <p:nvSpPr>
          <p:cNvPr id="22548" name="Rectangle 20"/>
          <p:cNvSpPr>
            <a:spLocks noChangeArrowheads="1"/>
          </p:cNvSpPr>
          <p:nvPr/>
        </p:nvSpPr>
        <p:spPr bwMode="auto">
          <a:xfrm>
            <a:off x="2743200" y="3352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cxnSp>
        <p:nvCxnSpPr>
          <p:cNvPr id="22549" name="AutoShape 21"/>
          <p:cNvCxnSpPr>
            <a:cxnSpLocks noChangeShapeType="1"/>
            <a:stCxn id="22545" idx="2"/>
            <a:endCxn id="22548" idx="0"/>
          </p:cNvCxnSpPr>
          <p:nvPr/>
        </p:nvCxnSpPr>
        <p:spPr bwMode="auto">
          <a:xfrm>
            <a:off x="2628900" y="2971800"/>
            <a:ext cx="3810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0" name="AutoShape 22"/>
          <p:cNvSpPr>
            <a:spLocks noChangeArrowheads="1"/>
          </p:cNvSpPr>
          <p:nvPr/>
        </p:nvSpPr>
        <p:spPr bwMode="auto">
          <a:xfrm>
            <a:off x="3429000" y="13716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5791200" y="609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2552" name="Rectangle 24"/>
          <p:cNvSpPr>
            <a:spLocks noChangeArrowheads="1"/>
          </p:cNvSpPr>
          <p:nvPr/>
        </p:nvSpPr>
        <p:spPr bwMode="auto">
          <a:xfrm>
            <a:off x="6477000" y="121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2553" name="AutoShape 25"/>
          <p:cNvCxnSpPr>
            <a:cxnSpLocks noChangeShapeType="1"/>
            <a:stCxn id="22551" idx="2"/>
            <a:endCxn id="22552" idx="0"/>
          </p:cNvCxnSpPr>
          <p:nvPr/>
        </p:nvCxnSpPr>
        <p:spPr bwMode="auto">
          <a:xfrm>
            <a:off x="6057900" y="9906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7620000" y="2590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2556" name="Rectangle 28"/>
          <p:cNvSpPr>
            <a:spLocks noChangeArrowheads="1"/>
          </p:cNvSpPr>
          <p:nvPr/>
        </p:nvSpPr>
        <p:spPr bwMode="auto">
          <a:xfrm>
            <a:off x="59436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2557" name="AutoShape 29"/>
          <p:cNvCxnSpPr>
            <a:cxnSpLocks noChangeShapeType="1"/>
            <a:stCxn id="22551" idx="2"/>
            <a:endCxn id="22558" idx="0"/>
          </p:cNvCxnSpPr>
          <p:nvPr/>
        </p:nvCxnSpPr>
        <p:spPr bwMode="auto">
          <a:xfrm flipH="1">
            <a:off x="5448300" y="9906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5181600" y="121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2559" name="AutoShape 31"/>
          <p:cNvCxnSpPr>
            <a:cxnSpLocks noChangeShapeType="1"/>
            <a:stCxn id="22552" idx="2"/>
            <a:endCxn id="22556" idx="0"/>
          </p:cNvCxnSpPr>
          <p:nvPr/>
        </p:nvCxnSpPr>
        <p:spPr bwMode="auto">
          <a:xfrm flipH="1">
            <a:off x="6210300" y="16002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45720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2561" name="AutoShape 33"/>
          <p:cNvCxnSpPr>
            <a:cxnSpLocks noChangeShapeType="1"/>
            <a:stCxn id="22558" idx="2"/>
            <a:endCxn id="22560" idx="0"/>
          </p:cNvCxnSpPr>
          <p:nvPr/>
        </p:nvCxnSpPr>
        <p:spPr bwMode="auto">
          <a:xfrm flipH="1">
            <a:off x="4838700" y="16002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8153400" y="3352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sp>
        <p:nvSpPr>
          <p:cNvPr id="22564" name="Rectangle 36"/>
          <p:cNvSpPr>
            <a:spLocks noChangeArrowheads="1"/>
          </p:cNvSpPr>
          <p:nvPr/>
        </p:nvSpPr>
        <p:spPr bwMode="auto">
          <a:xfrm>
            <a:off x="7010400" y="1905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sp>
        <p:nvSpPr>
          <p:cNvPr id="22566" name="Rectangle 38"/>
          <p:cNvSpPr>
            <a:spLocks noChangeArrowheads="1"/>
          </p:cNvSpPr>
          <p:nvPr/>
        </p:nvSpPr>
        <p:spPr bwMode="auto">
          <a:xfrm>
            <a:off x="7086600" y="3352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cxnSp>
        <p:nvCxnSpPr>
          <p:cNvPr id="22568" name="AutoShape 40"/>
          <p:cNvCxnSpPr>
            <a:cxnSpLocks noChangeShapeType="1"/>
            <a:stCxn id="22564" idx="2"/>
            <a:endCxn id="22554" idx="0"/>
          </p:cNvCxnSpPr>
          <p:nvPr/>
        </p:nvCxnSpPr>
        <p:spPr bwMode="auto">
          <a:xfrm>
            <a:off x="7277100" y="22860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69" name="AutoShape 41"/>
          <p:cNvCxnSpPr>
            <a:cxnSpLocks noChangeShapeType="1"/>
            <a:stCxn id="22552" idx="2"/>
            <a:endCxn id="22564" idx="0"/>
          </p:cNvCxnSpPr>
          <p:nvPr/>
        </p:nvCxnSpPr>
        <p:spPr bwMode="auto">
          <a:xfrm>
            <a:off x="6743700" y="16002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0" name="AutoShape 42"/>
          <p:cNvCxnSpPr>
            <a:cxnSpLocks noChangeShapeType="1"/>
            <a:stCxn id="22554" idx="2"/>
            <a:endCxn id="22566" idx="0"/>
          </p:cNvCxnSpPr>
          <p:nvPr/>
        </p:nvCxnSpPr>
        <p:spPr bwMode="auto">
          <a:xfrm flipH="1">
            <a:off x="7353300" y="2971800"/>
            <a:ext cx="5334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71" name="AutoShape 43"/>
          <p:cNvCxnSpPr>
            <a:cxnSpLocks noChangeShapeType="1"/>
            <a:stCxn id="22554" idx="2"/>
            <a:endCxn id="22562" idx="0"/>
          </p:cNvCxnSpPr>
          <p:nvPr/>
        </p:nvCxnSpPr>
        <p:spPr bwMode="auto">
          <a:xfrm>
            <a:off x="7886700" y="2971800"/>
            <a:ext cx="5334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72" name="Rectangle 44"/>
          <p:cNvSpPr>
            <a:spLocks noChangeArrowheads="1"/>
          </p:cNvSpPr>
          <p:nvPr/>
        </p:nvSpPr>
        <p:spPr bwMode="auto">
          <a:xfrm>
            <a:off x="4648200" y="3429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2573" name="Rectangle 45"/>
          <p:cNvSpPr>
            <a:spLocks noChangeArrowheads="1"/>
          </p:cNvSpPr>
          <p:nvPr/>
        </p:nvSpPr>
        <p:spPr bwMode="auto">
          <a:xfrm>
            <a:off x="53340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2574" name="AutoShape 46"/>
          <p:cNvCxnSpPr>
            <a:cxnSpLocks noChangeShapeType="1"/>
            <a:stCxn id="22572" idx="2"/>
            <a:endCxn id="22573" idx="0"/>
          </p:cNvCxnSpPr>
          <p:nvPr/>
        </p:nvCxnSpPr>
        <p:spPr bwMode="auto">
          <a:xfrm>
            <a:off x="4914900" y="38100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75" name="Rectangle 47"/>
          <p:cNvSpPr>
            <a:spLocks noChangeArrowheads="1"/>
          </p:cNvSpPr>
          <p:nvPr/>
        </p:nvSpPr>
        <p:spPr bwMode="auto">
          <a:xfrm>
            <a:off x="64770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sp>
        <p:nvSpPr>
          <p:cNvPr id="22576" name="Rectangle 48"/>
          <p:cNvSpPr>
            <a:spLocks noChangeArrowheads="1"/>
          </p:cNvSpPr>
          <p:nvPr/>
        </p:nvSpPr>
        <p:spPr bwMode="auto">
          <a:xfrm>
            <a:off x="48006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2577" name="AutoShape 49"/>
          <p:cNvCxnSpPr>
            <a:cxnSpLocks noChangeShapeType="1"/>
            <a:stCxn id="22572" idx="2"/>
            <a:endCxn id="22578" idx="0"/>
          </p:cNvCxnSpPr>
          <p:nvPr/>
        </p:nvCxnSpPr>
        <p:spPr bwMode="auto">
          <a:xfrm flipH="1">
            <a:off x="4305300" y="38100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78" name="Rectangle 50"/>
          <p:cNvSpPr>
            <a:spLocks noChangeArrowheads="1"/>
          </p:cNvSpPr>
          <p:nvPr/>
        </p:nvSpPr>
        <p:spPr bwMode="auto">
          <a:xfrm>
            <a:off x="4038600" y="4038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2579" name="AutoShape 51"/>
          <p:cNvCxnSpPr>
            <a:cxnSpLocks noChangeShapeType="1"/>
            <a:stCxn id="22573" idx="2"/>
            <a:endCxn id="22576" idx="0"/>
          </p:cNvCxnSpPr>
          <p:nvPr/>
        </p:nvCxnSpPr>
        <p:spPr bwMode="auto">
          <a:xfrm flipH="1">
            <a:off x="5067300" y="44196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80" name="Rectangle 52"/>
          <p:cNvSpPr>
            <a:spLocks noChangeArrowheads="1"/>
          </p:cNvSpPr>
          <p:nvPr/>
        </p:nvSpPr>
        <p:spPr bwMode="auto">
          <a:xfrm>
            <a:off x="34290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2581" name="AutoShape 53"/>
          <p:cNvCxnSpPr>
            <a:cxnSpLocks noChangeShapeType="1"/>
            <a:stCxn id="22578" idx="2"/>
            <a:endCxn id="22580" idx="0"/>
          </p:cNvCxnSpPr>
          <p:nvPr/>
        </p:nvCxnSpPr>
        <p:spPr bwMode="auto">
          <a:xfrm flipH="1">
            <a:off x="3695700" y="44196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82" name="Rectangle 54"/>
          <p:cNvSpPr>
            <a:spLocks noChangeArrowheads="1"/>
          </p:cNvSpPr>
          <p:nvPr/>
        </p:nvSpPr>
        <p:spPr bwMode="auto">
          <a:xfrm>
            <a:off x="55626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2583" name="Rectangle 55"/>
          <p:cNvSpPr>
            <a:spLocks noChangeArrowheads="1"/>
          </p:cNvSpPr>
          <p:nvPr/>
        </p:nvSpPr>
        <p:spPr bwMode="auto">
          <a:xfrm>
            <a:off x="58674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2584" name="Rectangle 56"/>
          <p:cNvSpPr>
            <a:spLocks noChangeArrowheads="1"/>
          </p:cNvSpPr>
          <p:nvPr/>
        </p:nvSpPr>
        <p:spPr bwMode="auto">
          <a:xfrm>
            <a:off x="44196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2585" name="AutoShape 57"/>
          <p:cNvCxnSpPr>
            <a:cxnSpLocks noChangeShapeType="1"/>
            <a:stCxn id="22583" idx="2"/>
            <a:endCxn id="22575" idx="0"/>
          </p:cNvCxnSpPr>
          <p:nvPr/>
        </p:nvCxnSpPr>
        <p:spPr bwMode="auto">
          <a:xfrm>
            <a:off x="6134100" y="51054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86" name="AutoShape 58"/>
          <p:cNvCxnSpPr>
            <a:cxnSpLocks noChangeShapeType="1"/>
            <a:stCxn id="22573" idx="2"/>
            <a:endCxn id="22583" idx="0"/>
          </p:cNvCxnSpPr>
          <p:nvPr/>
        </p:nvCxnSpPr>
        <p:spPr bwMode="auto">
          <a:xfrm>
            <a:off x="5600700" y="44196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87" name="AutoShape 59"/>
          <p:cNvCxnSpPr>
            <a:cxnSpLocks noChangeShapeType="1"/>
            <a:stCxn id="22576" idx="2"/>
            <a:endCxn id="22584" idx="0"/>
          </p:cNvCxnSpPr>
          <p:nvPr/>
        </p:nvCxnSpPr>
        <p:spPr bwMode="auto">
          <a:xfrm flipH="1">
            <a:off x="4686300" y="51054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88" name="AutoShape 60"/>
          <p:cNvCxnSpPr>
            <a:cxnSpLocks noChangeShapeType="1"/>
            <a:stCxn id="22583" idx="2"/>
            <a:endCxn id="22582" idx="0"/>
          </p:cNvCxnSpPr>
          <p:nvPr/>
        </p:nvCxnSpPr>
        <p:spPr bwMode="auto">
          <a:xfrm flipH="1">
            <a:off x="5829300" y="5105400"/>
            <a:ext cx="304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89" name="AutoShape 61"/>
          <p:cNvSpPr>
            <a:spLocks noChangeArrowheads="1"/>
          </p:cNvSpPr>
          <p:nvPr/>
        </p:nvSpPr>
        <p:spPr bwMode="auto">
          <a:xfrm>
            <a:off x="5715000" y="2895600"/>
            <a:ext cx="304800" cy="762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49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8" grpId="0" animBg="1"/>
      <p:bldP spid="22550" grpId="0" animBg="1"/>
      <p:bldP spid="22551" grpId="0" animBg="1"/>
      <p:bldP spid="22552" grpId="0" animBg="1"/>
      <p:bldP spid="22554" grpId="0" animBg="1"/>
      <p:bldP spid="22556" grpId="0" animBg="1"/>
      <p:bldP spid="22558" grpId="0" animBg="1"/>
      <p:bldP spid="22560" grpId="0" animBg="1"/>
      <p:bldP spid="22562" grpId="0" animBg="1"/>
      <p:bldP spid="22564" grpId="0" animBg="1"/>
      <p:bldP spid="22566" grpId="0" animBg="1"/>
      <p:bldP spid="22572" grpId="0" animBg="1"/>
      <p:bldP spid="22573" grpId="0" animBg="1"/>
      <p:bldP spid="22575" grpId="0" animBg="1"/>
      <p:bldP spid="22576" grpId="0" animBg="1"/>
      <p:bldP spid="22578" grpId="0" animBg="1"/>
      <p:bldP spid="22580" grpId="0" animBg="1"/>
      <p:bldP spid="22582" grpId="0" animBg="1"/>
      <p:bldP spid="22583" grpId="0" animBg="1"/>
      <p:bldP spid="22584" grpId="0" animBg="1"/>
      <p:bldP spid="2258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762000" y="0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Remove 24 and 20 from the AVL tree.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1752600" y="838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438400" y="1447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24</a:t>
            </a:r>
          </a:p>
        </p:txBody>
      </p:sp>
      <p:cxnSp>
        <p:nvCxnSpPr>
          <p:cNvPr id="23560" name="AutoShape 8"/>
          <p:cNvCxnSpPr>
            <a:cxnSpLocks noChangeShapeType="1"/>
            <a:stCxn id="23558" idx="2"/>
            <a:endCxn id="23559" idx="0"/>
          </p:cNvCxnSpPr>
          <p:nvPr/>
        </p:nvCxnSpPr>
        <p:spPr bwMode="auto">
          <a:xfrm>
            <a:off x="2019300" y="12192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352800" y="2819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1905000" y="2133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3563" name="AutoShape 11"/>
          <p:cNvCxnSpPr>
            <a:cxnSpLocks noChangeShapeType="1"/>
            <a:stCxn id="23558" idx="2"/>
            <a:endCxn id="23564" idx="0"/>
          </p:cNvCxnSpPr>
          <p:nvPr/>
        </p:nvCxnSpPr>
        <p:spPr bwMode="auto">
          <a:xfrm flipH="1">
            <a:off x="1409700" y="12192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1143000" y="1447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3565" name="AutoShape 13"/>
          <p:cNvCxnSpPr>
            <a:cxnSpLocks noChangeShapeType="1"/>
            <a:stCxn id="23559" idx="2"/>
            <a:endCxn id="23562" idx="0"/>
          </p:cNvCxnSpPr>
          <p:nvPr/>
        </p:nvCxnSpPr>
        <p:spPr bwMode="auto">
          <a:xfrm flipH="1">
            <a:off x="2171700" y="18288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533400" y="2133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3567" name="AutoShape 15"/>
          <p:cNvCxnSpPr>
            <a:cxnSpLocks noChangeShapeType="1"/>
            <a:stCxn id="23564" idx="2"/>
            <a:endCxn id="23566" idx="0"/>
          </p:cNvCxnSpPr>
          <p:nvPr/>
        </p:nvCxnSpPr>
        <p:spPr bwMode="auto">
          <a:xfrm flipH="1">
            <a:off x="800100" y="18288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819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2971800" y="2133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1524000" y="2819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3571" name="AutoShape 19"/>
          <p:cNvCxnSpPr>
            <a:cxnSpLocks noChangeShapeType="1"/>
            <a:stCxn id="23569" idx="2"/>
            <a:endCxn id="23561" idx="0"/>
          </p:cNvCxnSpPr>
          <p:nvPr/>
        </p:nvCxnSpPr>
        <p:spPr bwMode="auto">
          <a:xfrm>
            <a:off x="3238500" y="25146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2" name="AutoShape 20"/>
          <p:cNvCxnSpPr>
            <a:cxnSpLocks noChangeShapeType="1"/>
            <a:stCxn id="23559" idx="2"/>
            <a:endCxn id="23569" idx="0"/>
          </p:cNvCxnSpPr>
          <p:nvPr/>
        </p:nvCxnSpPr>
        <p:spPr bwMode="auto">
          <a:xfrm>
            <a:off x="2705100" y="18288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3" name="AutoShape 21"/>
          <p:cNvCxnSpPr>
            <a:cxnSpLocks noChangeShapeType="1"/>
            <a:stCxn id="23562" idx="2"/>
            <a:endCxn id="23570" idx="0"/>
          </p:cNvCxnSpPr>
          <p:nvPr/>
        </p:nvCxnSpPr>
        <p:spPr bwMode="auto">
          <a:xfrm flipH="1">
            <a:off x="1790700" y="25146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4" name="AutoShape 22"/>
          <p:cNvCxnSpPr>
            <a:cxnSpLocks noChangeShapeType="1"/>
            <a:stCxn id="23569" idx="2"/>
            <a:endCxn id="23568" idx="0"/>
          </p:cNvCxnSpPr>
          <p:nvPr/>
        </p:nvCxnSpPr>
        <p:spPr bwMode="auto">
          <a:xfrm flipH="1">
            <a:off x="2933700" y="2514600"/>
            <a:ext cx="304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6400800" y="838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7010400" y="1447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20</a:t>
            </a:r>
          </a:p>
        </p:txBody>
      </p:sp>
      <p:cxnSp>
        <p:nvCxnSpPr>
          <p:cNvPr id="23577" name="AutoShape 25"/>
          <p:cNvCxnSpPr>
            <a:cxnSpLocks noChangeShapeType="1"/>
            <a:stCxn id="23575" idx="2"/>
            <a:endCxn id="23576" idx="0"/>
          </p:cNvCxnSpPr>
          <p:nvPr/>
        </p:nvCxnSpPr>
        <p:spPr bwMode="auto">
          <a:xfrm>
            <a:off x="6667500" y="12192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7924800" y="2819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6477000" y="2133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3580" name="AutoShape 28"/>
          <p:cNvCxnSpPr>
            <a:cxnSpLocks noChangeShapeType="1"/>
            <a:stCxn id="23575" idx="2"/>
            <a:endCxn id="23581" idx="0"/>
          </p:cNvCxnSpPr>
          <p:nvPr/>
        </p:nvCxnSpPr>
        <p:spPr bwMode="auto">
          <a:xfrm flipH="1">
            <a:off x="5981700" y="12192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5715000" y="1447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3582" name="AutoShape 30"/>
          <p:cNvCxnSpPr>
            <a:cxnSpLocks noChangeShapeType="1"/>
            <a:stCxn id="23576" idx="2"/>
            <a:endCxn id="23579" idx="0"/>
          </p:cNvCxnSpPr>
          <p:nvPr/>
        </p:nvCxnSpPr>
        <p:spPr bwMode="auto">
          <a:xfrm flipH="1">
            <a:off x="6743700" y="18288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5105400" y="2133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3584" name="AutoShape 32"/>
          <p:cNvCxnSpPr>
            <a:cxnSpLocks noChangeShapeType="1"/>
            <a:stCxn id="23581" idx="2"/>
            <a:endCxn id="23583" idx="0"/>
          </p:cNvCxnSpPr>
          <p:nvPr/>
        </p:nvCxnSpPr>
        <p:spPr bwMode="auto">
          <a:xfrm flipH="1">
            <a:off x="5372100" y="18288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7239000" y="2819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3586" name="Rectangle 34"/>
          <p:cNvSpPr>
            <a:spLocks noChangeArrowheads="1"/>
          </p:cNvSpPr>
          <p:nvPr/>
        </p:nvSpPr>
        <p:spPr bwMode="auto">
          <a:xfrm>
            <a:off x="7543800" y="2133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cxnSp>
        <p:nvCxnSpPr>
          <p:cNvPr id="23588" name="AutoShape 36"/>
          <p:cNvCxnSpPr>
            <a:cxnSpLocks noChangeShapeType="1"/>
            <a:stCxn id="23586" idx="2"/>
            <a:endCxn id="23578" idx="0"/>
          </p:cNvCxnSpPr>
          <p:nvPr/>
        </p:nvCxnSpPr>
        <p:spPr bwMode="auto">
          <a:xfrm>
            <a:off x="7810500" y="25146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89" name="AutoShape 37"/>
          <p:cNvCxnSpPr>
            <a:cxnSpLocks noChangeShapeType="1"/>
            <a:stCxn id="23576" idx="2"/>
            <a:endCxn id="23586" idx="0"/>
          </p:cNvCxnSpPr>
          <p:nvPr/>
        </p:nvCxnSpPr>
        <p:spPr bwMode="auto">
          <a:xfrm>
            <a:off x="7277100" y="18288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91" name="AutoShape 39"/>
          <p:cNvCxnSpPr>
            <a:cxnSpLocks noChangeShapeType="1"/>
            <a:stCxn id="23586" idx="2"/>
            <a:endCxn id="23585" idx="0"/>
          </p:cNvCxnSpPr>
          <p:nvPr/>
        </p:nvCxnSpPr>
        <p:spPr bwMode="auto">
          <a:xfrm flipH="1">
            <a:off x="7505700" y="2514600"/>
            <a:ext cx="304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92" name="AutoShape 40"/>
          <p:cNvSpPr>
            <a:spLocks noChangeArrowheads="1"/>
          </p:cNvSpPr>
          <p:nvPr/>
        </p:nvSpPr>
        <p:spPr bwMode="auto">
          <a:xfrm>
            <a:off x="3962400" y="1524000"/>
            <a:ext cx="762000" cy="4572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6400800" y="4114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70104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3595" name="AutoShape 43"/>
          <p:cNvCxnSpPr>
            <a:cxnSpLocks noChangeShapeType="1"/>
            <a:stCxn id="23593" idx="2"/>
            <a:endCxn id="23594" idx="0"/>
          </p:cNvCxnSpPr>
          <p:nvPr/>
        </p:nvCxnSpPr>
        <p:spPr bwMode="auto">
          <a:xfrm>
            <a:off x="6667500" y="44958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96" name="Rectangle 44"/>
          <p:cNvSpPr>
            <a:spLocks noChangeArrowheads="1"/>
          </p:cNvSpPr>
          <p:nvPr/>
        </p:nvSpPr>
        <p:spPr bwMode="auto">
          <a:xfrm>
            <a:off x="7924800" y="6096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cxnSp>
        <p:nvCxnSpPr>
          <p:cNvPr id="23598" name="AutoShape 46"/>
          <p:cNvCxnSpPr>
            <a:cxnSpLocks noChangeShapeType="1"/>
            <a:stCxn id="23593" idx="2"/>
            <a:endCxn id="23599" idx="0"/>
          </p:cNvCxnSpPr>
          <p:nvPr/>
        </p:nvCxnSpPr>
        <p:spPr bwMode="auto">
          <a:xfrm flipH="1">
            <a:off x="5981700" y="44958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99" name="Rectangle 47"/>
          <p:cNvSpPr>
            <a:spLocks noChangeArrowheads="1"/>
          </p:cNvSpPr>
          <p:nvPr/>
        </p:nvSpPr>
        <p:spPr bwMode="auto">
          <a:xfrm>
            <a:off x="57150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3601" name="Rectangle 49"/>
          <p:cNvSpPr>
            <a:spLocks noChangeArrowheads="1"/>
          </p:cNvSpPr>
          <p:nvPr/>
        </p:nvSpPr>
        <p:spPr bwMode="auto">
          <a:xfrm>
            <a:off x="51054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3602" name="AutoShape 50"/>
          <p:cNvCxnSpPr>
            <a:cxnSpLocks noChangeShapeType="1"/>
            <a:stCxn id="23599" idx="2"/>
            <a:endCxn id="23601" idx="0"/>
          </p:cNvCxnSpPr>
          <p:nvPr/>
        </p:nvCxnSpPr>
        <p:spPr bwMode="auto">
          <a:xfrm flipH="1">
            <a:off x="5372100" y="51054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603" name="Rectangle 51"/>
          <p:cNvSpPr>
            <a:spLocks noChangeArrowheads="1"/>
          </p:cNvSpPr>
          <p:nvPr/>
        </p:nvSpPr>
        <p:spPr bwMode="auto">
          <a:xfrm>
            <a:off x="7239000" y="6096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3604" name="Rectangle 52"/>
          <p:cNvSpPr>
            <a:spLocks noChangeArrowheads="1"/>
          </p:cNvSpPr>
          <p:nvPr/>
        </p:nvSpPr>
        <p:spPr bwMode="auto">
          <a:xfrm>
            <a:off x="75438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cxnSp>
        <p:nvCxnSpPr>
          <p:cNvPr id="23605" name="AutoShape 53"/>
          <p:cNvCxnSpPr>
            <a:cxnSpLocks noChangeShapeType="1"/>
            <a:stCxn id="23604" idx="2"/>
            <a:endCxn id="23596" idx="0"/>
          </p:cNvCxnSpPr>
          <p:nvPr/>
        </p:nvCxnSpPr>
        <p:spPr bwMode="auto">
          <a:xfrm>
            <a:off x="7810500" y="57912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06" name="AutoShape 54"/>
          <p:cNvCxnSpPr>
            <a:cxnSpLocks noChangeShapeType="1"/>
            <a:stCxn id="23594" idx="2"/>
            <a:endCxn id="23604" idx="0"/>
          </p:cNvCxnSpPr>
          <p:nvPr/>
        </p:nvCxnSpPr>
        <p:spPr bwMode="auto">
          <a:xfrm>
            <a:off x="7277100" y="5105400"/>
            <a:ext cx="5334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07" name="AutoShape 55"/>
          <p:cNvCxnSpPr>
            <a:cxnSpLocks noChangeShapeType="1"/>
            <a:stCxn id="23604" idx="2"/>
            <a:endCxn id="23603" idx="0"/>
          </p:cNvCxnSpPr>
          <p:nvPr/>
        </p:nvCxnSpPr>
        <p:spPr bwMode="auto">
          <a:xfrm flipH="1">
            <a:off x="7505700" y="5791200"/>
            <a:ext cx="3048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608" name="AutoShape 56"/>
          <p:cNvSpPr>
            <a:spLocks noChangeArrowheads="1"/>
          </p:cNvSpPr>
          <p:nvPr/>
        </p:nvSpPr>
        <p:spPr bwMode="auto">
          <a:xfrm>
            <a:off x="5867400" y="2971800"/>
            <a:ext cx="457200" cy="6858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3612" name="Rectangle 60"/>
          <p:cNvSpPr>
            <a:spLocks noChangeArrowheads="1"/>
          </p:cNvSpPr>
          <p:nvPr/>
        </p:nvSpPr>
        <p:spPr bwMode="auto">
          <a:xfrm>
            <a:off x="1752600" y="4114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3613" name="Rectangle 61"/>
          <p:cNvSpPr>
            <a:spLocks noChangeArrowheads="1"/>
          </p:cNvSpPr>
          <p:nvPr/>
        </p:nvSpPr>
        <p:spPr bwMode="auto">
          <a:xfrm>
            <a:off x="23622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30</a:t>
            </a:r>
          </a:p>
        </p:txBody>
      </p:sp>
      <p:cxnSp>
        <p:nvCxnSpPr>
          <p:cNvPr id="23614" name="AutoShape 62"/>
          <p:cNvCxnSpPr>
            <a:cxnSpLocks noChangeShapeType="1"/>
            <a:stCxn id="23612" idx="2"/>
            <a:endCxn id="23613" idx="0"/>
          </p:cNvCxnSpPr>
          <p:nvPr/>
        </p:nvCxnSpPr>
        <p:spPr bwMode="auto">
          <a:xfrm>
            <a:off x="2019300" y="44958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615" name="Rectangle 63"/>
          <p:cNvSpPr>
            <a:spLocks noChangeArrowheads="1"/>
          </p:cNvSpPr>
          <p:nvPr/>
        </p:nvSpPr>
        <p:spPr bwMode="auto">
          <a:xfrm>
            <a:off x="28194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36</a:t>
            </a:r>
          </a:p>
        </p:txBody>
      </p:sp>
      <p:cxnSp>
        <p:nvCxnSpPr>
          <p:cNvPr id="23616" name="AutoShape 64"/>
          <p:cNvCxnSpPr>
            <a:cxnSpLocks noChangeShapeType="1"/>
            <a:stCxn id="23612" idx="2"/>
            <a:endCxn id="23617" idx="0"/>
          </p:cNvCxnSpPr>
          <p:nvPr/>
        </p:nvCxnSpPr>
        <p:spPr bwMode="auto">
          <a:xfrm flipH="1">
            <a:off x="1333500" y="4495800"/>
            <a:ext cx="685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617" name="Rectangle 65"/>
          <p:cNvSpPr>
            <a:spLocks noChangeArrowheads="1"/>
          </p:cNvSpPr>
          <p:nvPr/>
        </p:nvSpPr>
        <p:spPr bwMode="auto">
          <a:xfrm>
            <a:off x="1066800" y="4724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3618" name="Rectangle 66"/>
          <p:cNvSpPr>
            <a:spLocks noChangeArrowheads="1"/>
          </p:cNvSpPr>
          <p:nvPr/>
        </p:nvSpPr>
        <p:spPr bwMode="auto">
          <a:xfrm>
            <a:off x="4572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23619" name="AutoShape 67"/>
          <p:cNvCxnSpPr>
            <a:cxnSpLocks noChangeShapeType="1"/>
            <a:stCxn id="23617" idx="2"/>
            <a:endCxn id="23618" idx="0"/>
          </p:cNvCxnSpPr>
          <p:nvPr/>
        </p:nvCxnSpPr>
        <p:spPr bwMode="auto">
          <a:xfrm flipH="1">
            <a:off x="723900" y="5105400"/>
            <a:ext cx="6096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620" name="Rectangle 68"/>
          <p:cNvSpPr>
            <a:spLocks noChangeArrowheads="1"/>
          </p:cNvSpPr>
          <p:nvPr/>
        </p:nvSpPr>
        <p:spPr bwMode="auto">
          <a:xfrm>
            <a:off x="2362200" y="6096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3621" name="Rectangle 69"/>
          <p:cNvSpPr>
            <a:spLocks noChangeArrowheads="1"/>
          </p:cNvSpPr>
          <p:nvPr/>
        </p:nvSpPr>
        <p:spPr bwMode="auto">
          <a:xfrm>
            <a:off x="1981200" y="5410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00"/>
                </a:solidFill>
              </a:rPr>
              <a:t>15</a:t>
            </a:r>
          </a:p>
        </p:txBody>
      </p:sp>
      <p:cxnSp>
        <p:nvCxnSpPr>
          <p:cNvPr id="23622" name="AutoShape 70"/>
          <p:cNvCxnSpPr>
            <a:cxnSpLocks noChangeShapeType="1"/>
            <a:stCxn id="23613" idx="2"/>
            <a:endCxn id="23615" idx="0"/>
          </p:cNvCxnSpPr>
          <p:nvPr/>
        </p:nvCxnSpPr>
        <p:spPr bwMode="auto">
          <a:xfrm>
            <a:off x="2628900" y="5105400"/>
            <a:ext cx="4572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23" name="AutoShape 71"/>
          <p:cNvCxnSpPr>
            <a:cxnSpLocks noChangeShapeType="1"/>
            <a:stCxn id="23613" idx="2"/>
            <a:endCxn id="23621" idx="0"/>
          </p:cNvCxnSpPr>
          <p:nvPr/>
        </p:nvCxnSpPr>
        <p:spPr bwMode="auto">
          <a:xfrm flipH="1">
            <a:off x="2247900" y="51054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624" name="AutoShape 72"/>
          <p:cNvCxnSpPr>
            <a:cxnSpLocks noChangeShapeType="1"/>
            <a:stCxn id="23621" idx="2"/>
            <a:endCxn id="23620" idx="0"/>
          </p:cNvCxnSpPr>
          <p:nvPr/>
        </p:nvCxnSpPr>
        <p:spPr bwMode="auto">
          <a:xfrm>
            <a:off x="2247900" y="5791200"/>
            <a:ext cx="3810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625" name="AutoShape 73"/>
          <p:cNvSpPr>
            <a:spLocks noChangeArrowheads="1"/>
          </p:cNvSpPr>
          <p:nvPr/>
        </p:nvSpPr>
        <p:spPr bwMode="auto">
          <a:xfrm>
            <a:off x="3810000" y="4495800"/>
            <a:ext cx="762000" cy="381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5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5" grpId="0" animBg="1"/>
      <p:bldP spid="23576" grpId="0" animBg="1"/>
      <p:bldP spid="23578" grpId="0" animBg="1"/>
      <p:bldP spid="23579" grpId="0" animBg="1"/>
      <p:bldP spid="23581" grpId="0" animBg="1"/>
      <p:bldP spid="23583" grpId="0" animBg="1"/>
      <p:bldP spid="23585" grpId="0" animBg="1"/>
      <p:bldP spid="23586" grpId="0" animBg="1"/>
      <p:bldP spid="23592" grpId="0" animBg="1"/>
      <p:bldP spid="23593" grpId="0" animBg="1"/>
      <p:bldP spid="23594" grpId="0" animBg="1"/>
      <p:bldP spid="23596" grpId="0" animBg="1"/>
      <p:bldP spid="23599" grpId="0" animBg="1"/>
      <p:bldP spid="23601" grpId="0" animBg="1"/>
      <p:bldP spid="23603" grpId="0" animBg="1"/>
      <p:bldP spid="23604" grpId="0" animBg="1"/>
      <p:bldP spid="23608" grpId="0" animBg="1"/>
      <p:bldP spid="23612" grpId="0" animBg="1"/>
      <p:bldP spid="23613" grpId="0" animBg="1"/>
      <p:bldP spid="23615" grpId="0" animBg="1"/>
      <p:bldP spid="23617" grpId="0" animBg="1"/>
      <p:bldP spid="23618" grpId="0" animBg="1"/>
      <p:bldP spid="23620" grpId="0" animBg="1"/>
      <p:bldP spid="23621" grpId="0" animBg="1"/>
      <p:bldP spid="236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In AVL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Searching in AVL tree is same as BST tree</a:t>
            </a:r>
          </a:p>
          <a:p>
            <a:r>
              <a:rPr lang="en-US" dirty="0"/>
              <a:t>If an element is greater than root node then it will be present at the right of the node otherwise it will be present at the left of the node.</a:t>
            </a:r>
          </a:p>
        </p:txBody>
      </p:sp>
    </p:spTree>
    <p:extLst>
      <p:ext uri="{BB962C8B-B14F-4D97-AF65-F5344CB8AC3E}">
        <p14:creationId xmlns:p14="http://schemas.microsoft.com/office/powerpoint/2010/main" val="13656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AVL Tree</a:t>
            </a:r>
          </a:p>
        </p:txBody>
      </p:sp>
      <p:pic>
        <p:nvPicPr>
          <p:cNvPr id="19458" name="Picture 2" descr="C:\Users\sanwarul\Desktop\lim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315200" cy="380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54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and Disadvantages of AVL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Advantages of AVL Tree:</a:t>
            </a:r>
          </a:p>
          <a:p>
            <a:pPr algn="just" fontAlgn="base"/>
            <a:r>
              <a:rPr lang="en-US" dirty="0"/>
              <a:t>AVL trees can self-balance themselves.</a:t>
            </a:r>
          </a:p>
          <a:p>
            <a:pPr algn="just" fontAlgn="base"/>
            <a:r>
              <a:rPr lang="en-US" dirty="0"/>
              <a:t>It is surely not skewed.</a:t>
            </a:r>
          </a:p>
          <a:p>
            <a:pPr algn="just" fontAlgn="base"/>
            <a:r>
              <a:rPr lang="en-US" dirty="0"/>
              <a:t>It provides faster lookups than Red-Black Trees</a:t>
            </a:r>
          </a:p>
          <a:p>
            <a:pPr algn="just" fontAlgn="base"/>
            <a:r>
              <a:rPr lang="en-US" dirty="0"/>
              <a:t>Better searching time complexity compared to other trees like binary tree.</a:t>
            </a:r>
          </a:p>
          <a:p>
            <a:pPr algn="just" fontAlgn="base"/>
            <a:r>
              <a:rPr lang="en-US" dirty="0"/>
              <a:t>Height cannot exceed log(N), where, N is the total number of nodes in the tree.</a:t>
            </a:r>
          </a:p>
          <a:p>
            <a:pPr marL="0" indent="0" algn="just" fontAlgn="base">
              <a:buNone/>
            </a:pPr>
            <a:r>
              <a:rPr lang="en-US" b="1" dirty="0"/>
              <a:t>Disadvantages of AVL Tree:</a:t>
            </a:r>
          </a:p>
          <a:p>
            <a:pPr algn="just" fontAlgn="base"/>
            <a:r>
              <a:rPr lang="en-US" dirty="0"/>
              <a:t>It is difficult to implement.</a:t>
            </a:r>
          </a:p>
          <a:p>
            <a:pPr algn="just" fontAlgn="base"/>
            <a:r>
              <a:rPr lang="en-US" dirty="0"/>
              <a:t>It has high constant factors for some of the operations.</a:t>
            </a:r>
          </a:p>
          <a:p>
            <a:pPr algn="just" fontAlgn="base"/>
            <a:r>
              <a:rPr lang="en-US" dirty="0"/>
              <a:t>Less used compared to Red-Black trees.</a:t>
            </a:r>
          </a:p>
          <a:p>
            <a:pPr algn="just" fontAlgn="base"/>
            <a:r>
              <a:rPr lang="en-US" dirty="0"/>
              <a:t>Due to its rather strict balance, AVL trees provide complicated insertion and removal operations as more rotations are performed.</a:t>
            </a:r>
          </a:p>
          <a:p>
            <a:pPr algn="just" fontAlgn="base"/>
            <a:r>
              <a:rPr lang="en-US" dirty="0"/>
              <a:t>Take more processing for balancing.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25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AVL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/>
              <a:t>It is used to index huge records in a database and also to efficiently search in that.</a:t>
            </a:r>
          </a:p>
          <a:p>
            <a:pPr fontAlgn="base"/>
            <a:r>
              <a:rPr lang="en-US" dirty="0" smtClean="0"/>
              <a:t>Database </a:t>
            </a:r>
            <a:r>
              <a:rPr lang="en-US" dirty="0"/>
              <a:t>applications, where insertions and deletions are less common but frequent data lookups are necessary</a:t>
            </a:r>
          </a:p>
          <a:p>
            <a:pPr fontAlgn="base"/>
            <a:r>
              <a:rPr lang="en-US" dirty="0"/>
              <a:t>Software that needs optimized 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50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AVL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Property 1:</a:t>
            </a:r>
            <a:r>
              <a:rPr lang="en-US" dirty="0"/>
              <a:t> The most number of nodes an AVL tree of height H might have</a:t>
            </a:r>
          </a:p>
          <a:p>
            <a:r>
              <a:rPr lang="en-US" dirty="0"/>
              <a:t>= 2</a:t>
            </a:r>
            <a:r>
              <a:rPr lang="en-US" baseline="30000" dirty="0"/>
              <a:t>H+1</a:t>
            </a:r>
            <a:r>
              <a:rPr lang="en-US" dirty="0"/>
              <a:t> - 1</a:t>
            </a:r>
          </a:p>
          <a:p>
            <a:r>
              <a:rPr lang="en-US" dirty="0"/>
              <a:t>Maximum possible number of nodes in AVL tree of </a:t>
            </a:r>
            <a:r>
              <a:rPr lang="en-US" dirty="0" smtClean="0"/>
              <a:t>height-3. 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: 15</a:t>
            </a:r>
          </a:p>
          <a:p>
            <a:endParaRPr lang="en-US" dirty="0"/>
          </a:p>
          <a:p>
            <a:r>
              <a:rPr lang="en-US" b="1" dirty="0"/>
              <a:t>Property 2:</a:t>
            </a:r>
            <a:r>
              <a:rPr lang="en-US" dirty="0"/>
              <a:t> A recursive relation determines the minimum number of nodes in an AVL Tree of height H</a:t>
            </a:r>
            <a:r>
              <a:rPr lang="en-US" dirty="0" smtClean="0"/>
              <a:t>. </a:t>
            </a:r>
          </a:p>
          <a:p>
            <a:r>
              <a:rPr lang="pt-BR" dirty="0" smtClean="0"/>
              <a:t>N(H</a:t>
            </a:r>
            <a:r>
              <a:rPr lang="pt-BR" dirty="0"/>
              <a:t>) = N(H-1) + N(H-2) + 1</a:t>
            </a:r>
          </a:p>
          <a:p>
            <a:r>
              <a:rPr lang="pt-BR" dirty="0"/>
              <a:t>Base conditions for this recursive relation are-</a:t>
            </a:r>
          </a:p>
          <a:p>
            <a:pPr marL="0" indent="0">
              <a:buNone/>
            </a:pPr>
            <a:r>
              <a:rPr lang="pt-BR" dirty="0"/>
              <a:t>N(0) = </a:t>
            </a:r>
            <a:r>
              <a:rPr lang="pt-BR" dirty="0" smtClean="0"/>
              <a:t>1, N(1</a:t>
            </a:r>
            <a:r>
              <a:rPr lang="pt-BR" dirty="0"/>
              <a:t>) = 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5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 dirty="0"/>
              <a:t>Property 3:</a:t>
            </a:r>
            <a:r>
              <a:rPr lang="en-US" dirty="0"/>
              <a:t> The AVL Tree's smallest feasible height with N nodes</a:t>
            </a:r>
          </a:p>
          <a:p>
            <a:pPr algn="just"/>
            <a:r>
              <a:rPr lang="en-US" dirty="0"/>
              <a:t>= [</a:t>
            </a:r>
            <a:r>
              <a:rPr lang="en-US" dirty="0" smtClean="0"/>
              <a:t>log N]</a:t>
            </a:r>
          </a:p>
          <a:p>
            <a:pPr algn="just"/>
            <a:r>
              <a:rPr lang="en-US" dirty="0"/>
              <a:t>Minimum possible height of AVL Tree using 8 nodes</a:t>
            </a:r>
          </a:p>
          <a:p>
            <a:pPr algn="just"/>
            <a:r>
              <a:rPr lang="en-US" dirty="0"/>
              <a:t>= [</a:t>
            </a:r>
            <a:r>
              <a:rPr lang="en-US" dirty="0" smtClean="0"/>
              <a:t>log 8] =3 </a:t>
            </a:r>
            <a:endParaRPr lang="en-US" b="1" dirty="0" smtClean="0"/>
          </a:p>
          <a:p>
            <a:pPr algn="just"/>
            <a:r>
              <a:rPr lang="en-US" b="1" dirty="0" smtClean="0"/>
              <a:t>Property </a:t>
            </a:r>
            <a:r>
              <a:rPr lang="en-US" b="1" dirty="0"/>
              <a:t>4:</a:t>
            </a:r>
            <a:r>
              <a:rPr lang="en-US" dirty="0"/>
              <a:t> Using recursive relation, the maximum height of an AVL tree with N nodes is computed</a:t>
            </a:r>
            <a:r>
              <a:rPr lang="en-US" dirty="0" smtClean="0"/>
              <a:t>.</a:t>
            </a:r>
          </a:p>
          <a:p>
            <a:pPr algn="just"/>
            <a:r>
              <a:rPr lang="pt-BR" dirty="0"/>
              <a:t>N(H) = N(H-1) + N(H-2) + 1</a:t>
            </a:r>
          </a:p>
          <a:p>
            <a:pPr algn="just"/>
            <a:r>
              <a:rPr lang="pt-BR" dirty="0"/>
              <a:t>Base conditions for this recursive relation are-</a:t>
            </a:r>
          </a:p>
          <a:p>
            <a:pPr algn="just"/>
            <a:r>
              <a:rPr lang="pt-BR" dirty="0"/>
              <a:t>N(0) = 1</a:t>
            </a:r>
          </a:p>
          <a:p>
            <a:pPr algn="just"/>
            <a:r>
              <a:rPr lang="pt-BR" dirty="0"/>
              <a:t>N(1) = 2</a:t>
            </a:r>
          </a:p>
          <a:p>
            <a:pPr marL="0" indent="0" algn="jus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4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If there are n nodes in AVL tree, minimum height of AVL tree is </a:t>
            </a:r>
            <a:r>
              <a:rPr lang="en-US" dirty="0" smtClean="0"/>
              <a:t>floor(log</a:t>
            </a:r>
            <a:r>
              <a:rPr lang="en-US" baseline="-25000" dirty="0" smtClean="0"/>
              <a:t>2 </a:t>
            </a:r>
            <a:r>
              <a:rPr lang="en-US" dirty="0" smtClean="0"/>
              <a:t>(n+1)). 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If there are n nodes in AVL tree, maximum height can't exceed 1.44*log</a:t>
            </a:r>
            <a:r>
              <a:rPr lang="en-US" baseline="-25000" dirty="0"/>
              <a:t>2</a:t>
            </a:r>
            <a:r>
              <a:rPr lang="en-US" dirty="0"/>
              <a:t>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Proof of height </a:t>
            </a:r>
          </a:p>
          <a:p>
            <a:r>
              <a:rPr lang="en-US" dirty="0">
                <a:hlinkClick r:id="rId3"/>
              </a:rPr>
              <a:t>https://courses.cs.washington.edu/courses/cse373/11au/lectures/AVL-proof-and-code.pdf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2526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questions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https://www.geeksforgeeks.org/practice-questions-height-balancedavl-tree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>
                <a:hlinkClick r:id="rId3"/>
              </a:rPr>
              <a:t>https://www.geeksforgeeks.org/gate-gate-cs-2009-question-37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practicepaper.in/gate-cse/avl-tree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3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AVL Tree</a:t>
            </a:r>
          </a:p>
        </p:txBody>
      </p:sp>
      <p:pic>
        <p:nvPicPr>
          <p:cNvPr id="4" name="Picture 2" descr="C:\Users\sanwarul\Desktop\1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7467600" cy="41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85800" y="5794155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A Fibonacci tree of order n has the Fibonacci trees of orders n − 1 and n − 2 as left and right subtrees.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46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Problem 1: Find the bare minimum of nodes needed to build an AVL tree with height = 3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 err="1" smtClean="0"/>
              <a:t>Ans</a:t>
            </a:r>
            <a:r>
              <a:rPr lang="en-US" b="1" dirty="0" smtClean="0"/>
              <a:t>: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2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What is the maximum height of any AVL-tree with 7 nodes? Assume that the height of a tree with a single node is 0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 err="1" smtClean="0"/>
              <a:t>Ans</a:t>
            </a:r>
            <a:r>
              <a:rPr lang="en-US" b="1" dirty="0" smtClean="0"/>
              <a:t>: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27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13131</TotalTime>
  <Words>1490</Words>
  <Application>Microsoft Office PowerPoint</Application>
  <PresentationFormat>On-screen Show (4:3)</PresentationFormat>
  <Paragraphs>374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Century Schoolbook</vt:lpstr>
      <vt:lpstr>Google Sans</vt:lpstr>
      <vt:lpstr>Wingdings</vt:lpstr>
      <vt:lpstr>Wingdings 2</vt:lpstr>
      <vt:lpstr>Oriel</vt:lpstr>
      <vt:lpstr>Default Design</vt:lpstr>
      <vt:lpstr>AVL TREE</vt:lpstr>
      <vt:lpstr>Balanced Binary Tree</vt:lpstr>
      <vt:lpstr>Binary search Tree- Best Time?</vt:lpstr>
      <vt:lpstr>Balanced &amp; Unbalanced BST</vt:lpstr>
      <vt:lpstr>Balancing Binary Search Trees</vt:lpstr>
      <vt:lpstr>Why AVL Tree?</vt:lpstr>
      <vt:lpstr>AVL Tree</vt:lpstr>
      <vt:lpstr>Definition of Balanced Tree</vt:lpstr>
      <vt:lpstr>Properties of AVL Tree</vt:lpstr>
      <vt:lpstr>AVL Tree?</vt:lpstr>
      <vt:lpstr>PowerPoint Presentation</vt:lpstr>
      <vt:lpstr>Rotations In AVL Tree</vt:lpstr>
      <vt:lpstr>Left Rotation</vt:lpstr>
      <vt:lpstr>Right Rotation</vt:lpstr>
      <vt:lpstr>Left-Right Rotation</vt:lpstr>
      <vt:lpstr>PowerPoint Presentation</vt:lpstr>
      <vt:lpstr>Right-Left Rotation</vt:lpstr>
      <vt:lpstr>PowerPoint Presentation</vt:lpstr>
      <vt:lpstr>AVL Tree Insertion</vt:lpstr>
      <vt:lpstr>Example</vt:lpstr>
      <vt:lpstr>PowerPoint Presentation</vt:lpstr>
      <vt:lpstr>PowerPoint Presentation</vt:lpstr>
      <vt:lpstr>PowerPoint Presentation</vt:lpstr>
      <vt:lpstr>PowerPoint Presentation</vt:lpstr>
      <vt:lpstr>AVL Tree Deletion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Exercises</vt:lpstr>
      <vt:lpstr>PowerPoint Presentation</vt:lpstr>
      <vt:lpstr>PowerPoint Presentation</vt:lpstr>
      <vt:lpstr>PowerPoint Presentation</vt:lpstr>
      <vt:lpstr>PowerPoint Presentation</vt:lpstr>
      <vt:lpstr>Search In AVL Tree</vt:lpstr>
      <vt:lpstr>Limitations of AVL Tree</vt:lpstr>
      <vt:lpstr>Advantages and Disadvantages of AVL Tree</vt:lpstr>
      <vt:lpstr>Applications of AVL tree</vt:lpstr>
      <vt:lpstr>Properties of AVL Tree</vt:lpstr>
      <vt:lpstr>PowerPoint Presentation</vt:lpstr>
      <vt:lpstr>Key Points</vt:lpstr>
      <vt:lpstr>Practice questions </vt:lpstr>
      <vt:lpstr>Height of AVL Tree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TREE</dc:title>
  <dc:creator>Shahina Anwarul</dc:creator>
  <cp:lastModifiedBy>Shahina Anwarul</cp:lastModifiedBy>
  <cp:revision>38</cp:revision>
  <dcterms:created xsi:type="dcterms:W3CDTF">2018-04-08T10:17:27Z</dcterms:created>
  <dcterms:modified xsi:type="dcterms:W3CDTF">2026-04-07T10:51:13Z</dcterms:modified>
</cp:coreProperties>
</file>